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d8b97bd9a143a0" /><Relationship Type="http://schemas.openxmlformats.org/officeDocument/2006/relationships/extended-properties" Target="/docProps/app.xml" Id="Rac02ae9e121e4bc8" /><Relationship Type="http://schemas.openxmlformats.org/officeDocument/2006/relationships/officeDocument" Target="/ppt/presentation.xml" Id="R55ee1fc8e25b44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699d9c8ed41c4"/>
  </p:sldMasterIdLst>
  <p:notesMasterIdLst>
    <p:notesMasterId xmlns:r="http://schemas.openxmlformats.org/officeDocument/2006/relationships" r:id="Rf2218e0420cb44fb"/>
  </p:notesMasterIdLst>
  <p:sldIdLst>
    <p:sldId xmlns:r="http://schemas.openxmlformats.org/officeDocument/2006/relationships" id="256" r:id="Rb90d5cc5f14c425f"/>
    <p:sldId xmlns:r="http://schemas.openxmlformats.org/officeDocument/2006/relationships" id="257" r:id="R601f2a5c233c49da"/>
    <p:sldId xmlns:r="http://schemas.openxmlformats.org/officeDocument/2006/relationships" id="258" r:id="R27fb21707a5d43c6"/>
    <p:sldId xmlns:r="http://schemas.openxmlformats.org/officeDocument/2006/relationships" id="259" r:id="R016d70bfd13c4727"/>
    <p:sldId xmlns:r="http://schemas.openxmlformats.org/officeDocument/2006/relationships" id="260" r:id="R0ef0e14ca5d942a1"/>
    <p:sldId xmlns:r="http://schemas.openxmlformats.org/officeDocument/2006/relationships" id="261" r:id="Red3a69f8e8aa46e8"/>
    <p:sldId xmlns:r="http://schemas.openxmlformats.org/officeDocument/2006/relationships" id="262" r:id="Rab44ff7e0f74486b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0e7a6920cd44ec" /><Relationship Type="http://schemas.openxmlformats.org/officeDocument/2006/relationships/slideMaster" Target="/ppt/slideMasters/slideMaster1.xml" Id="Rae3699d9c8ed41c4" /><Relationship Type="http://schemas.openxmlformats.org/officeDocument/2006/relationships/notesMaster" Target="/ppt/notesMasters/notesMaster1.xml" Id="Rf2218e0420cb44fb" /><Relationship Type="http://schemas.openxmlformats.org/officeDocument/2006/relationships/presProps" Target="/ppt/presProps.xml" Id="R84cf80adffc849eb" /><Relationship Type="http://schemas.openxmlformats.org/officeDocument/2006/relationships/tableStyles" Target="/ppt/tableStyles.xml" Id="R382408d9eb7e4aa8" /><Relationship Type="http://schemas.openxmlformats.org/officeDocument/2006/relationships/slide" Target="/ppt/slides/slide1.xml" Id="Rb90d5cc5f14c425f" /><Relationship Type="http://schemas.openxmlformats.org/officeDocument/2006/relationships/slide" Target="/ppt/slides/slide2.xml" Id="R601f2a5c233c49da" /><Relationship Type="http://schemas.openxmlformats.org/officeDocument/2006/relationships/slide" Target="/ppt/slides/slide3.xml" Id="R27fb21707a5d43c6" /><Relationship Type="http://schemas.openxmlformats.org/officeDocument/2006/relationships/slide" Target="/ppt/slides/slide4.xml" Id="R016d70bfd13c4727" /><Relationship Type="http://schemas.openxmlformats.org/officeDocument/2006/relationships/slide" Target="/ppt/slides/slide5.xml" Id="R0ef0e14ca5d942a1" /><Relationship Type="http://schemas.openxmlformats.org/officeDocument/2006/relationships/slide" Target="/ppt/slides/slide6.xml" Id="Red3a69f8e8aa46e8" /><Relationship Type="http://schemas.openxmlformats.org/officeDocument/2006/relationships/slide" Target="/ppt/slides/slide7.xml" Id="Rab44ff7e0f7448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0eca38e29f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5c143f9acd4fe2" /><Relationship Type="http://schemas.openxmlformats.org/officeDocument/2006/relationships/notesMaster" Target="/ppt/notesMasters/notesMaster1.xml" Id="Rbc8c2c59ff43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09c1b8c12a4b8d" /><Relationship Type="http://schemas.openxmlformats.org/officeDocument/2006/relationships/notesMaster" Target="/ppt/notesMasters/notesMaster1.xml" Id="R5543e59e372c43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8887b84ddb41bc" /><Relationship Type="http://schemas.openxmlformats.org/officeDocument/2006/relationships/notesMaster" Target="/ppt/notesMasters/notesMaster1.xml" Id="R7755b008e1f4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0e26d593c14248" /><Relationship Type="http://schemas.openxmlformats.org/officeDocument/2006/relationships/notesMaster" Target="/ppt/notesMasters/notesMaster1.xml" Id="Rc6b05bcb496146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d458dac1734d25" /><Relationship Type="http://schemas.openxmlformats.org/officeDocument/2006/relationships/notesMaster" Target="/ppt/notesMasters/notesMaster1.xml" Id="R7a0ad129e52749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ba695940b6453c" /><Relationship Type="http://schemas.openxmlformats.org/officeDocument/2006/relationships/notesMaster" Target="/ppt/notesMasters/notesMaster1.xml" Id="Rb19ce0ee9a3243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9bdb8c079e43ba" /><Relationship Type="http://schemas.openxmlformats.org/officeDocument/2006/relationships/notesMaster" Target="/ppt/notesMasters/notesMaster1.xml" Id="R47ffe37375be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บทความนี้ของ Ron Pechuk และ Jeffrey Heer จากมหาวิทยาลัยวอชิงตัน ใน IEEE VIS 2025 ศึกษาว่าเว็บภาพข้อมูลจะเปิดได้เร็วขึ้นอย่างไร หากย้ายงานที่ผู้ใช้ทุกคนต้องทำซ้ำไปเตรียมตอนเผยแพร่ การทดลองแยกเวลาเห็นภาพออกจากเวลาพร้อมโต้ตอบ เพื่อประเมินผลของการเตรียมงานแต่ละส่วนครับ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เวลาเปิดเว็บมีทั้งการโหลดข้อมูล การคำนวณ และการวาดภาพ แคชที่สร้างตอนใช้งานยังให้ผู้ใช้คนแรกจ่ายต้นทุนนี้ ผู้วิจัยจึงแยก TTR คือเวลาจนเห็น visualization ครบ กับ TTA คือเวลาจนใช้การกรองหรือเลือกข้อมูลได้ ภาพที่มาเร็วอาจยังใช้งานไม่ได้ การทดลองจึงรายงานทั้งสองเวลา พร้อมพื้นที่ทรัพยากรที่เพิ่มขึ้นครับ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ภาพแสดงงานสามกลุ่มที่ย้ายไปก่อนผู้ใช้เปิดหน้า ได้แก่เตรียมข้อมูล เตรียมแคชและผลรวม และวาดภาพเริ่มต้น ตัว Publisher อ่าน YAML เป็น AST แล้วกระตุ้นอินพุตบน virtual DOM เพื่อค้นคิวรี จากนั้น DuckDB คำนวณและเก็บผล ก่อน rewrite ส่วนข้อมูลและสร้าง JavaScript สำหรับเริ่มระบบ ฝั่ง runtime มี coordinator ใช้แคชและจัดการคิวรีของ views จุดนี้ช่วยรักษาวิธีเขียนภาพเดิมไว้ครับ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 Flowchart is a preparer summary, not a source-code call graph.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ถ้า view ไม่มีการโต้ตอบ ระบบส่งภาพที่วาดไว้ได้เลย แต่ view ที่โต้ตอบยังต้องเริ่มคอมโพเนนต์และโหลดผลที่เตรียมไว้ กราฟนี้ใช้ข้อมูลสิบล้านแถว สีแดงคือ Hydration ซึ่งยังมีต้นทุนเกือบเท่าการเรนเดอร์เต็มชุด ภาพเริ่มต้นจึงมาเร็ว แต่ความพร้อมโต้ตอบไม่ได้ดีขึ้นเท่ากัน ผู้วิจัยยังใช้ client-side rendering ตามปกติ ส่วน Hydration ที่ละเอียดขึ้นเป็นงานอนาคตครับ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 No progressive hydration benchmark is reported.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กราฟแถวบนวัด TTR แถวล่างวัด TTA เส้นคือ median และแรเงาคือ IQR จากห้ารูปแบบภาพที่ข้อมูลหนึ่งหมื่นถึงสิบล้านแถว ส่วนตารางเป็นค่าเฉลี่ยเปอร์เซ็นต์เปลี่ยนแปลงพร้อมส่วนเบี่ยงเบนมาตรฐาน ชุดรวมลด TTR 83.7 เปอร์เซ็นต์ แต่ลด TTA 33.3 เปอร์เซ็นต์ และเพิ่มพื้นที่ 21.2 เปอร์เซ็นต์ แคชลด TTA ไปแล้ว 32.3 เปอร์เซ็นต์ จึงเห็นว่าภาพล่วงหน้าช่วยเวลาที่เห็นภาพเป็นหลัก ผลทั้งหมดเทียบกับ none และเป็นค่าเฉลี่ยของชุดทดลองในบทความครับ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label +most is retained; Section 5 and figures use +prerender. Table values: mean ± sigma across specifications and dataset sizes. Additional TTA reduction of 1.0 percentage point is computed by the preparer.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จุดแข็งคือมี baseline และเพิ่มเทคนิคเป็นขั้น มีรูปแบบการโต้ตอบหลายแบบ และรายงานทั้งความเร็วกับพื้นที่ แต่ Hydration ยังมีงานซ้ำ ข้อมูลเปลี่ยนแล้วต้องสร้างทรัพยากรใหม่ และพื้นที่เพิ่มแตกต่างมากระหว่างเงื่อนไข อีกด้านหนึ่งคือทดสอบบน laptop เครื่องเดียวกับ local server ยังไม่ครอบคลุมมือถือหรือเน็ตช้า และไม่แจกแจงจำนวนรอบทำซ้ำ ขอบเขตผลจึงยังจำกัดอยู่ในสภาพทดลองที่รายงานครับ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3.2–3.4, 4.3, 5 and 6, PDF pages 2–4. Device/network generalization and missing repeat-count observations are the preparer’s critique.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จากผลทดลอง แคชลดงานก่อนเปิดการโต้ตอบ ส่วนภาพล่วงหน้าลดเวลารอเห็นภาพ แต่ยังเหลือ Hydration และพื้นที่ที่เพิ่มขึ้นครับ ทีมวิจัยมองว่าวิธีนี้มีโอกาสกับข้อมูลคงที่และรูปแบบการโต้ตอบที่คาดหมายได้ จึงเสนอศึกษาวิธี hydration ที่ละเอียดขึ้น กลยุทธ์ผสมช่วงเผยแพร่กับ runtime การสร้างทรัพยากรใหม่แบบ incremental และการเลือกชุดปรับปรุงอัตโนมัติจากข้อมูลกับข้อกำหนดภาพ ทั้งหมดเป็นแนวทางอนาคต ยังไม่ได้เป็นผลทดลองในบทความครับ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Left column: reader synthesis of Figure 4 and Table 1, Section 5. Right column: authors’ future work in Sections 5–6, PDF page 4. Finer-grained hydration, hybrid strategies, incremental regeneration and automatic configuration selection are proposed future directions, not evaluated methods.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a8b9aa806943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ab541a31ef4f12" /><Relationship Type="http://schemas.openxmlformats.org/officeDocument/2006/relationships/slideLayout" Target="/ppt/slideLayouts/slideLayout1.xml" Id="Rc82ecd2c86134b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2ecd2c86134b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c8a45b6614d31" /><Relationship Type="http://schemas.openxmlformats.org/officeDocument/2006/relationships/notesSlide" Target="/ppt/notesSlides/notesSlide1.xml" Id="R26097cc1451e40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1877ca19f480f" /><Relationship Type="http://schemas.openxmlformats.org/officeDocument/2006/relationships/notesSlide" Target="/ppt/notesSlides/notesSlide2.xml" Id="Re05f50edf9b44b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af043f9e045f5" /><Relationship Type="http://schemas.openxmlformats.org/officeDocument/2006/relationships/image" Target="/ppt/media/image.png" Id="R55feb707b57e439d" /><Relationship Type="http://schemas.openxmlformats.org/officeDocument/2006/relationships/notesSlide" Target="/ppt/notesSlides/notesSlide3.xml" Id="R6ab3420cfe4e45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157b9358e49bd" /><Relationship Type="http://schemas.openxmlformats.org/officeDocument/2006/relationships/image" Target="/ppt/media/image2.png" Id="R94328fae9010458b" /><Relationship Type="http://schemas.openxmlformats.org/officeDocument/2006/relationships/notesSlide" Target="/ppt/notesSlides/notesSlide4.xml" Id="Rc9ee9b1904b142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8fa8c0933431e" /><Relationship Type="http://schemas.openxmlformats.org/officeDocument/2006/relationships/image" Target="/ppt/media/image3.png" Id="R1f476e2b7e9c4c21" /><Relationship Type="http://schemas.openxmlformats.org/officeDocument/2006/relationships/notesSlide" Target="/ppt/notesSlides/notesSlide5.xml" Id="R1f077d784724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83751ea74471" /><Relationship Type="http://schemas.openxmlformats.org/officeDocument/2006/relationships/notesSlide" Target="/ppt/notesSlides/notesSlide6.xml" Id="R75a6071a903247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c11bc642c4d52" /><Relationship Type="http://schemas.openxmlformats.org/officeDocument/2006/relationships/notesSlide" Target="/ppt/notesSlides/notesSlide7.xml" Id="Rb7851be46469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5B53A11-E4EB-4CC3-8EE5-BE4C06D8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9725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427DEAC-C260-442A-9D35-BA9F255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1196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F3D30CE-FE32-410B-9A66-9198D2E0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12344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การเตรียมงานตอนเผยแพร่เพื่อเพิ่มประสิทธิภาพเว็บแสดงภาพข้อมูล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E9CAD4DC-5E06-4315-B452-81E938FA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4340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8D509A4-AE4D-4756-B72E-85869C24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11963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254626F-9F87-4BF1-B81A-F171A10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7889487-D552-47AE-8EC9-C73554EA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1253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3E60CC52-EE59-4225-8FE6-98294C7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762750"/>
            <a:ext cx="1196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901962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hape-9">
            <a:extLst xmlns:a="http://schemas.openxmlformats.org/drawingml/2006/main">
              <a:ext uri="{FF2B5EF4-FFF2-40B4-BE49-F238E27FC236}">
                <a16:creationId xmlns:a16="http://schemas.microsoft.com/office/drawing/2014/main" id="{CBA46F77-F0C0-4F32-8E7F-971AF319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D5F8BC27-FD7E-4F56-9D50-51E610DF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ปัญหาและตัวชี้วัดของการเปิดเว็บ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BD9E7E69-3AA1-45E5-B5D4-868A738E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179A76A6-F39F-4029-851B-43FCFB7D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6C18C6EA-D55C-44FE-9E67-039F60E0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C7923551-4FC9-404C-B20E-D59B203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0555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57DBE403-DDBC-4B43-AF9E-37F63722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3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งานที่ผู้ใช้ครั้งแรกยังต้องรอ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E7D4FF50-5544-44C8-B2B4-B4E1CF1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63522883-351E-4AEB-A7D1-18EE0751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9075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โหลดและคำนวณข้อมูล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97F4F3F4-3037-4D5D-913B-0B50096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คิวรีเริ่มต้นและการวาดภาพเกิดหลังเปิดหน้า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3A9DEB6C-3245-46F7-A02E-DD989E15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240E9C16-6D43-476B-A542-F25540FF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D13BEE49-A6EA-4FEA-9BBD-84B86AD9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สร้างแคชตอนใช้งาน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3354D111-2F2E-4D20-B445-14D96B48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ผู้ใช้ครั้งแรกยังต้องสร้างผลที่คนอื่นใช้ซ้ำ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F5406CFC-8B57-4B7B-B686-C417978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83D875DC-85AE-413C-B2E5-D5BA243D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01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42225524-D51B-4C44-9ADE-EB0578B5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0100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ภาพกับระบบโต้ตอบพร้อมต่างเวลา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47FA9EF9-05FF-4D9B-942F-535EE42D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ภาพเริ่มต้นอาจมาแล้ว แต่ยังรับอินพุตไม่ได้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E147B119-FE63-4F0B-8075-A8BA97A2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054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52405EA2-5F05-47A8-8CFB-39963310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9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0A2001DA-6543-4B52-960A-47291AB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819775"/>
            <a:ext cx="527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ทรัพยากรล่วงหน้ามีต้นทุน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37A6AF0E-7A51-4D27-B9B7-74A99CA1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19825"/>
            <a:ext cx="527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ต้องแลกพื้นที่และจังหวะสร้างข้อมูลใหม่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0215A1DC-9B6A-4A19-AACC-99F7FCE8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13335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C1B37E0E-4972-4159-8CD5-109F10B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15716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 เวลาเห็นภาพ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2BB11A72-9F81-4580-A46D-540D7BB0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จากร้องขอหน้า จนเห็น visualization ครบ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2F56D378-D9A0-4E58-ADF7-C3B5C617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นับเนื้อหาภาพที่มีความหมาย ไม่ใช่เพียง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C0606EF1-62C3-4C14-8F71-F2F2E042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505200"/>
            <a:ext cx="63436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B2B864C7-8FCB-4FE1-B0F6-C513B52E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37433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 เวลาพร้อมโต้ตอบ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BE9A900B-D751-4704-A675-1EE934B4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48150"/>
            <a:ext cx="571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จนระบบตอบ filter, zoom หรือ selection ได้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543FBFFF-4EF7-4114-A33B-40E7ADC8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4347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วัดความพร้อมเริ่มใช้งาน แยกจากเวลาเห็นภาพ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F06650A9-30BF-4AEA-BD28-66AB1F63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5676900"/>
            <a:ext cx="6343650" cy="1771650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3B534768-8299-41CB-904F-015A2F6B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540" y="5915025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 พื้นที่ทรัพยากรที่เผยแพร่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9418A116-F570-4366-AEB1-9BFEB6A9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419850"/>
            <a:ext cx="571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พิจารณาพื้นที่ร่วมกับผลต่อการโหลดและหน่วยความจำ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20B9B076-800E-430D-A2C2-9337EE82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24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 3.1, หน้า PDF 2</a:t>
            </a:r>
          </a:p>
        </p:txBody>
      </p:sp>
    </p:spTree>
    <p:extLst>
      <p:ext uri="{BB962C8B-B14F-4D97-AF65-F5344CB8AC3E}">
        <p14:creationId xmlns:p14="http://schemas.microsoft.com/office/powerpoint/2010/main" val="118471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43">
            <a:extLst xmlns:a="http://schemas.openxmlformats.org/drawingml/2006/main">
              <a:ext uri="{FF2B5EF4-FFF2-40B4-BE49-F238E27FC236}">
                <a16:creationId xmlns:a16="http://schemas.microsoft.com/office/drawing/2014/main" id="{874EB937-0C64-48A1-B198-BB8FA3C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9C0EF6FA-FFF3-429A-AF5E-CE17A1C7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 Mosaic Publisher</a:t>
            </a:r>
          </a:p>
        </p:txBody>
      </p:sp>
      <p:sp>
        <p:nvSpPr>
          <p:cNvPr id="3" name="shape-45">
            <a:extLst xmlns:a="http://schemas.openxmlformats.org/drawingml/2006/main">
              <a:ext uri="{FF2B5EF4-FFF2-40B4-BE49-F238E27FC236}">
                <a16:creationId xmlns:a16="http://schemas.microsoft.com/office/drawing/2014/main" id="{DE865DE2-BF53-47C0-83FE-B751BFF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57163897-FAAB-4CCC-AE65-38B449F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B7D7F0AC-8E94-4DE0-B4C4-E7EF9AA7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8">
            <a:extLst xmlns:a="http://schemas.openxmlformats.org/drawingml/2006/main">
              <a:ext uri="{FF2B5EF4-FFF2-40B4-BE49-F238E27FC236}">
                <a16:creationId xmlns:a16="http://schemas.microsoft.com/office/drawing/2014/main" id="{B34BFCF4-5636-40B4-BC03-430BC7B8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229600" cy="37623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D020B105-9836-4F47-9575-3A2B5419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กลยุทธ์ก่อน user request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eb707b57e439d"/>
          <a:stretch xmlns:a="http://schemas.openxmlformats.org/drawingml/2006/main"/>
        </p:blipFill>
        <p:spPr>
          <a:xfrm xmlns:a="http://schemas.openxmlformats.org/drawingml/2006/main">
            <a:off x="1055699" y="2114550"/>
            <a:ext cx="776602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text-50">
            <a:extLst xmlns:a="http://schemas.openxmlformats.org/drawingml/2006/main">
              <a:ext uri="{FF2B5EF4-FFF2-40B4-BE49-F238E27FC236}">
                <a16:creationId xmlns:a16="http://schemas.microsoft.com/office/drawing/2014/main" id="{0BA93DE7-D496-4B6A-BAF2-208CF7D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72025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งานสามกลุ่มที่ย้ายไปช่วงเผยแพร่ (หน้า PDF 1)</a:t>
            </a:r>
          </a:p>
        </p:txBody>
      </p:sp>
      <p:sp>
        <p:nvSpPr>
          <p:cNvPr id="10" name="shape-51">
            <a:extLst xmlns:a="http://schemas.openxmlformats.org/drawingml/2006/main">
              <a:ext uri="{FF2B5EF4-FFF2-40B4-BE49-F238E27FC236}">
                <a16:creationId xmlns:a16="http://schemas.microsoft.com/office/drawing/2014/main" id="{3CA26B84-754D-4A75-9CA7-FA5A5BC9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34000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2">
            <a:extLst xmlns:a="http://schemas.openxmlformats.org/drawingml/2006/main">
              <a:ext uri="{FF2B5EF4-FFF2-40B4-BE49-F238E27FC236}">
                <a16:creationId xmlns:a16="http://schemas.microsoft.com/office/drawing/2014/main" id="{108FCB5C-9B00-49B8-8A14-00A1ADBD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5572125"/>
            <a:ext cx="765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กระบวนการของ Publisher</a:t>
            </a:r>
          </a:p>
        </p:txBody>
      </p:sp>
      <p:sp>
        <p:nvSpPr>
          <p:cNvPr id="12" name="shape-53">
            <a:extLst xmlns:a="http://schemas.openxmlformats.org/drawingml/2006/main">
              <a:ext uri="{FF2B5EF4-FFF2-40B4-BE49-F238E27FC236}">
                <a16:creationId xmlns:a16="http://schemas.microsoft.com/office/drawing/2014/main" id="{ABA2ACCC-FDDA-44B9-B104-E6B466A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CD1502E9-621C-42CF-950C-1C02B034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จำลองอินพุต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virtual DOM</a:t>
            </a:r>
          </a:p>
        </p:txBody>
      </p:sp>
      <p:sp>
        <p:nvSpPr>
          <p:cNvPr id="14" name="shape-55">
            <a:extLst xmlns:a="http://schemas.openxmlformats.org/drawingml/2006/main">
              <a:ext uri="{FF2B5EF4-FFF2-40B4-BE49-F238E27FC236}">
                <a16:creationId xmlns:a16="http://schemas.microsoft.com/office/drawing/2014/main" id="{D16F5866-CFE2-409B-8327-64F73DD1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6">
            <a:extLst xmlns:a="http://schemas.openxmlformats.org/drawingml/2006/main">
              <a:ext uri="{FF2B5EF4-FFF2-40B4-BE49-F238E27FC236}">
                <a16:creationId xmlns:a16="http://schemas.microsoft.com/office/drawing/2014/main" id="{0D508300-CAA9-4A45-90D2-0CA36A76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4807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7">
            <a:extLst xmlns:a="http://schemas.openxmlformats.org/drawingml/2006/main">
              <a:ext uri="{FF2B5EF4-FFF2-40B4-BE49-F238E27FC236}">
                <a16:creationId xmlns:a16="http://schemas.microsoft.com/office/drawing/2014/main" id="{29D7706C-DE56-4DCD-ADDA-D1C68309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8">
            <a:extLst xmlns:a="http://schemas.openxmlformats.org/drawingml/2006/main">
              <a:ext uri="{FF2B5EF4-FFF2-40B4-BE49-F238E27FC236}">
                <a16:creationId xmlns:a16="http://schemas.microsoft.com/office/drawing/2014/main" id="{3F0B913A-002B-4360-8D7E-5A9A831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คำนวณและเก็บผล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DuckDB</a:t>
            </a:r>
          </a:p>
        </p:txBody>
      </p:sp>
      <p:sp>
        <p:nvSpPr>
          <p:cNvPr id="18" name="shape-59">
            <a:extLst xmlns:a="http://schemas.openxmlformats.org/drawingml/2006/main">
              <a:ext uri="{FF2B5EF4-FFF2-40B4-BE49-F238E27FC236}">
                <a16:creationId xmlns:a16="http://schemas.microsoft.com/office/drawing/2014/main" id="{7251311C-67A5-4829-8998-1E298DE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4103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0">
            <a:extLst xmlns:a="http://schemas.openxmlformats.org/drawingml/2006/main">
              <a:ext uri="{FF2B5EF4-FFF2-40B4-BE49-F238E27FC236}">
                <a16:creationId xmlns:a16="http://schemas.microsoft.com/office/drawing/2014/main" id="{02A40170-B8DB-4B64-AF65-00B60F29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6025" y="6372225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1">
            <a:extLst xmlns:a="http://schemas.openxmlformats.org/drawingml/2006/main">
              <a:ext uri="{FF2B5EF4-FFF2-40B4-BE49-F238E27FC236}">
                <a16:creationId xmlns:a16="http://schemas.microsoft.com/office/drawing/2014/main" id="{F3B33514-1E6F-40B7-8CDA-0E198723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000750"/>
            <a:ext cx="23812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2">
            <a:extLst xmlns:a="http://schemas.openxmlformats.org/drawingml/2006/main">
              <a:ext uri="{FF2B5EF4-FFF2-40B4-BE49-F238E27FC236}">
                <a16:creationId xmlns:a16="http://schemas.microsoft.com/office/drawing/2014/main" id="{597F1035-E18F-434C-806D-A2E84D95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617220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rewrite AST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assets และ JS</a:t>
            </a:r>
          </a:p>
        </p:txBody>
      </p:sp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5262287B-FB4E-47E8-B402-4FCDDFAA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7096125"/>
            <a:ext cx="767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สรุปกลไกจาก Sections 4.1–4.3, หน้า PDF 3</a:t>
            </a:r>
          </a:p>
        </p:txBody>
      </p:sp>
      <p:sp>
        <p:nvSpPr>
          <p:cNvPr id="23" name="shape-64">
            <a:extLst xmlns:a="http://schemas.openxmlformats.org/drawingml/2006/main">
              <a:ext uri="{FF2B5EF4-FFF2-40B4-BE49-F238E27FC236}">
                <a16:creationId xmlns:a16="http://schemas.microsoft.com/office/drawing/2014/main" id="{1ED18AAA-2444-4090-BFDE-DFA530B4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35" y="1333500"/>
            <a:ext cx="4419600" cy="6115050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5">
            <a:extLst xmlns:a="http://schemas.openxmlformats.org/drawingml/2006/main">
              <a:ext uri="{FF2B5EF4-FFF2-40B4-BE49-F238E27FC236}">
                <a16:creationId xmlns:a16="http://schemas.microsoft.com/office/drawing/2014/main" id="{C9A305D5-E1CE-48AE-A47A-765128C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1571625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ทรัพยากรที่ส่งให้ runtime</a:t>
            </a:r>
          </a:p>
        </p:txBody>
      </p:sp>
      <p:sp>
        <p:nvSpPr>
          <p:cNvPr id="25" name="text-66">
            <a:extLst xmlns:a="http://schemas.openxmlformats.org/drawingml/2006/main">
              <a:ext uri="{FF2B5EF4-FFF2-40B4-BE49-F238E27FC236}">
                <a16:creationId xmlns:a16="http://schemas.microsoft.com/office/drawing/2014/main" id="{637987CD-8029-4AAE-90BB-3F0FBE54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7">
            <a:extLst xmlns:a="http://schemas.openxmlformats.org/drawingml/2006/main">
              <a:ext uri="{FF2B5EF4-FFF2-40B4-BE49-F238E27FC236}">
                <a16:creationId xmlns:a16="http://schemas.microsoft.com/office/drawing/2014/main" id="{5E71D9C3-E5CC-4E1E-9D54-D5FC562B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ข้อมูลที่เตรียมไว้</a:t>
            </a:r>
          </a:p>
        </p:txBody>
      </p:sp>
      <p:sp>
        <p:nvSpPr>
          <p:cNvPr id="27" name="text-68">
            <a:extLst xmlns:a="http://schemas.openxmlformats.org/drawingml/2006/main">
              <a:ext uri="{FF2B5EF4-FFF2-40B4-BE49-F238E27FC236}">
                <a16:creationId xmlns:a16="http://schemas.microsoft.com/office/drawing/2014/main" id="{A8949B87-AB31-43C8-A4BB-3B50BBF3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670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เลือกคอลัมน์และแปลงข้อมูล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ลดงานเตรียมตอนเปิดหน้า</a:t>
            </a:r>
          </a:p>
        </p:txBody>
      </p:sp>
      <p:sp>
        <p:nvSpPr>
          <p:cNvPr id="28" name="shape-69">
            <a:extLst xmlns:a="http://schemas.openxmlformats.org/drawingml/2006/main">
              <a:ext uri="{FF2B5EF4-FFF2-40B4-BE49-F238E27FC236}">
                <a16:creationId xmlns:a16="http://schemas.microsoft.com/office/drawing/2014/main" id="{EF3AC587-D62D-4C3C-842A-A9844D34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0">
            <a:extLst xmlns:a="http://schemas.openxmlformats.org/drawingml/2006/main">
              <a:ext uri="{FF2B5EF4-FFF2-40B4-BE49-F238E27FC236}">
                <a16:creationId xmlns:a16="http://schemas.microsoft.com/office/drawing/2014/main" id="{7DE549BB-C838-4016-9681-7CA57CFF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671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1">
            <a:extLst xmlns:a="http://schemas.openxmlformats.org/drawingml/2006/main">
              <a:ext uri="{FF2B5EF4-FFF2-40B4-BE49-F238E27FC236}">
                <a16:creationId xmlns:a16="http://schemas.microsoft.com/office/drawing/2014/main" id="{203882CC-3F6E-4F71-B42D-76F15528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671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ผลคิวรีและ aggregates</a:t>
            </a:r>
          </a:p>
        </p:txBody>
      </p:sp>
      <p:sp>
        <p:nvSpPr>
          <p:cNvPr id="31" name="text-72">
            <a:extLst xmlns:a="http://schemas.openxmlformats.org/drawingml/2006/main">
              <a:ext uri="{FF2B5EF4-FFF2-40B4-BE49-F238E27FC236}">
                <a16:creationId xmlns:a16="http://schemas.microsoft.com/office/drawing/2014/main" id="{E2AE8C42-D98C-4B93-9DEE-747371E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67225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 cache และ database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ผ่าน coordinator ของ Mosaic</a:t>
            </a:r>
          </a:p>
        </p:txBody>
      </p:sp>
      <p:sp>
        <p:nvSpPr>
          <p:cNvPr id="32" name="shape-73">
            <a:extLst xmlns:a="http://schemas.openxmlformats.org/drawingml/2006/main">
              <a:ext uri="{FF2B5EF4-FFF2-40B4-BE49-F238E27FC236}">
                <a16:creationId xmlns:a16="http://schemas.microsoft.com/office/drawing/2014/main" id="{06410155-18F1-4C47-A7C8-27C50CD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3829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4">
            <a:extLst xmlns:a="http://schemas.openxmlformats.org/drawingml/2006/main">
              <a:ext uri="{FF2B5EF4-FFF2-40B4-BE49-F238E27FC236}">
                <a16:creationId xmlns:a16="http://schemas.microsoft.com/office/drawing/2014/main" id="{2249E191-6A57-45D1-9756-049ABE82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8674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5">
            <a:extLst xmlns:a="http://schemas.openxmlformats.org/drawingml/2006/main">
              <a:ext uri="{FF2B5EF4-FFF2-40B4-BE49-F238E27FC236}">
                <a16:creationId xmlns:a16="http://schemas.microsoft.com/office/drawing/2014/main" id="{01C521C2-A78B-470C-A4FD-21D7C20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867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 JavaScript</a:t>
            </a:r>
          </a:p>
        </p:txBody>
      </p:sp>
      <p:sp>
        <p:nvSpPr>
          <p:cNvPr id="35" name="text-76">
            <a:extLst xmlns:a="http://schemas.openxmlformats.org/drawingml/2006/main">
              <a:ext uri="{FF2B5EF4-FFF2-40B4-BE49-F238E27FC236}">
                <a16:creationId xmlns:a16="http://schemas.microsoft.com/office/drawing/2014/main" id="{31937120-A6D2-4A7F-9977-6F0DB5C4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26745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แสดงภาพก่อน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แล้วเริ่มคอมโพเนนต์โต้ตอบ</a:t>
            </a:r>
          </a:p>
        </p:txBody>
      </p:sp>
    </p:spTree>
    <p:extLst>
      <p:ext uri="{BB962C8B-B14F-4D97-AF65-F5344CB8AC3E}">
        <p14:creationId xmlns:p14="http://schemas.microsoft.com/office/powerpoint/2010/main" val="4378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7">
            <a:extLst xmlns:a="http://schemas.openxmlformats.org/drawingml/2006/main">
              <a:ext uri="{FF2B5EF4-FFF2-40B4-BE49-F238E27FC236}">
                <a16:creationId xmlns:a16="http://schemas.microsoft.com/office/drawing/2014/main" id="{304FAC4A-4766-4FED-9434-972BBEC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F9F37F4F-E26A-4D29-BFAA-4E467AE0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Pre-rendering และต้นทุน Hydration</a:t>
            </a:r>
          </a:p>
        </p:txBody>
      </p:sp>
      <p:sp>
        <p:nvSpPr>
          <p:cNvPr id="3" name="shape-79">
            <a:extLst xmlns:a="http://schemas.openxmlformats.org/drawingml/2006/main">
              <a:ext uri="{FF2B5EF4-FFF2-40B4-BE49-F238E27FC236}">
                <a16:creationId xmlns:a16="http://schemas.microsoft.com/office/drawing/2014/main" id="{2958535E-2FF3-4351-88C4-FB37CFDD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112FAECC-4DA4-4F87-A52D-E6DF5779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1">
            <a:extLst xmlns:a="http://schemas.openxmlformats.org/drawingml/2006/main">
              <a:ext uri="{FF2B5EF4-FFF2-40B4-BE49-F238E27FC236}">
                <a16:creationId xmlns:a16="http://schemas.microsoft.com/office/drawing/2014/main" id="{95299BA5-6B76-4D04-A95F-708086E0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2">
            <a:extLst xmlns:a="http://schemas.openxmlformats.org/drawingml/2006/main">
              <a:ext uri="{FF2B5EF4-FFF2-40B4-BE49-F238E27FC236}">
                <a16:creationId xmlns:a16="http://schemas.microsoft.com/office/drawing/2014/main" id="{CD7AD93E-69A4-4E99-BB3F-A20D72C7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7677150" cy="3171825"/>
          </a:xfrm>
          <a:prstGeom xmlns:a="http://schemas.openxmlformats.org/drawingml/2006/main" prst="roundRect">
            <a:avLst>
              <a:gd name="adj" fmla="val 30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D063505A-342B-48FD-9AFA-1A2457C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งานที่ยังเหลือเมื่อมีภาพล่วงหน้า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28fae9010458b"/>
          <a:stretch xmlns:a="http://schemas.openxmlformats.org/drawingml/2006/main"/>
        </p:blipFill>
        <p:spPr>
          <a:xfrm xmlns:a="http://schemas.openxmlformats.org/drawingml/2006/main">
            <a:off x="1973123" y="2152650"/>
            <a:ext cx="5378730" cy="1762125"/>
          </a:xfrm>
          <a:prstGeom xmlns:a="http://schemas.openxmlformats.org/drawingml/2006/main" prst="rect">
            <a:avLst/>
          </a:prstGeom>
        </p:spPr>
      </p:pic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70FAB358-7E4A-41C3-B5FE-8960561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718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ค่าเฉลี่ย 5 specifications ที่ข้อมูล 10M แถว (หน้า PDF 4)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B90FEE69-1017-41EE-A4FB-0A0DFAB9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7051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70242E60-467F-45FA-8BA7-B9FA7B2F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981575"/>
            <a:ext cx="710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ภาพเริ่มต้นกับระบบโต้ตอบ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F20CD0B8-283D-498D-9A56-9860D34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F66C8F43-64F3-41A3-A66D-3B42A413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เห็นภาพเริ่มต้น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</a:t>
            </a:r>
          </a:p>
        </p:txBody>
      </p:sp>
      <p:sp>
        <p:nvSpPr>
          <p:cNvPr id="14" name="shape-89">
            <a:extLst xmlns:a="http://schemas.openxmlformats.org/drawingml/2006/main">
              <a:ext uri="{FF2B5EF4-FFF2-40B4-BE49-F238E27FC236}">
                <a16:creationId xmlns:a16="http://schemas.microsoft.com/office/drawing/2014/main" id="{F7A122D2-76F1-41F7-894E-52EC7623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9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0">
            <a:extLst xmlns:a="http://schemas.openxmlformats.org/drawingml/2006/main">
              <a:ext uri="{FF2B5EF4-FFF2-40B4-BE49-F238E27FC236}">
                <a16:creationId xmlns:a16="http://schemas.microsoft.com/office/drawing/2014/main" id="{4555451E-AA8C-4832-842A-499664BD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02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07332F80-2648-4BCF-9ED1-91B54939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2">
            <a:extLst xmlns:a="http://schemas.openxmlformats.org/drawingml/2006/main">
              <a:ext uri="{FF2B5EF4-FFF2-40B4-BE49-F238E27FC236}">
                <a16:creationId xmlns:a16="http://schemas.microsoft.com/office/drawing/2014/main" id="{8FE53926-D6C7-48D6-BA63-5F913F76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7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เริ่มคอมโพเนนต์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Hydration</a:t>
            </a:r>
          </a:p>
        </p:txBody>
      </p:sp>
      <p:sp>
        <p:nvSpPr>
          <p:cNvPr id="18" name="shape-93">
            <a:extLst xmlns:a="http://schemas.openxmlformats.org/drawingml/2006/main">
              <a:ext uri="{FF2B5EF4-FFF2-40B4-BE49-F238E27FC236}">
                <a16:creationId xmlns:a16="http://schemas.microsoft.com/office/drawing/2014/main" id="{E0A7FA58-F362-4A95-BC4C-E06D2A9F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025" y="6053138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4">
            <a:extLst xmlns:a="http://schemas.openxmlformats.org/drawingml/2006/main">
              <a:ext uri="{FF2B5EF4-FFF2-40B4-BE49-F238E27FC236}">
                <a16:creationId xmlns:a16="http://schemas.microsoft.com/office/drawing/2014/main" id="{74FE0C7F-83E3-46BE-9A90-E9D53431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1375" y="6015038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5">
            <a:extLst xmlns:a="http://schemas.openxmlformats.org/drawingml/2006/main">
              <a:ext uri="{FF2B5EF4-FFF2-40B4-BE49-F238E27FC236}">
                <a16:creationId xmlns:a16="http://schemas.microsoft.com/office/drawing/2014/main" id="{4A9254E0-15EA-437F-BC4F-F6BC7EC8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625" y="5591175"/>
            <a:ext cx="2184400" cy="923925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6">
            <a:extLst xmlns:a="http://schemas.openxmlformats.org/drawingml/2006/main">
              <a:ext uri="{FF2B5EF4-FFF2-40B4-BE49-F238E27FC236}">
                <a16:creationId xmlns:a16="http://schemas.microsoft.com/office/drawing/2014/main" id="{74B606C8-4D83-441D-8EE7-1000E4CE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825" y="5762625"/>
            <a:ext cx="2032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พร้อมรับอินพุต</a:t>
            </a:r>
          </a:p>
          <a:p xmlns:a="http://schemas.openxmlformats.org/drawingml/2006/main">
            <a:pPr algn="ctr">
              <a:def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</a:t>
            </a:r>
          </a:p>
        </p:txBody>
      </p:sp>
      <p:sp>
        <p:nvSpPr>
          <p:cNvPr id="22" name="text-97">
            <a:extLst xmlns:a="http://schemas.openxmlformats.org/drawingml/2006/main">
              <a:ext uri="{FF2B5EF4-FFF2-40B4-BE49-F238E27FC236}">
                <a16:creationId xmlns:a16="http://schemas.microsoft.com/office/drawing/2014/main" id="{323611F0-F44A-41A6-90EB-F79A9000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00875"/>
            <a:ext cx="710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ผังสรุปจาก Section 4.3 แสดงเหตุการณ์ ไม่ใช่เวลา benchmark</a:t>
            </a:r>
          </a:p>
        </p:txBody>
      </p:sp>
      <p:sp>
        <p:nvSpPr>
          <p:cNvPr id="23" name="shape-98">
            <a:extLst xmlns:a="http://schemas.openxmlformats.org/drawingml/2006/main">
              <a:ext uri="{FF2B5EF4-FFF2-40B4-BE49-F238E27FC236}">
                <a16:creationId xmlns:a16="http://schemas.microsoft.com/office/drawing/2014/main" id="{B806E2C2-1206-4559-B174-0344388B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485" y="1333500"/>
            <a:ext cx="4972050" cy="6115050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99">
            <a:extLst xmlns:a="http://schemas.openxmlformats.org/drawingml/2006/main">
              <a:ext uri="{FF2B5EF4-FFF2-40B4-BE49-F238E27FC236}">
                <a16:creationId xmlns:a16="http://schemas.microsoft.com/office/drawing/2014/main" id="{B83649A9-244A-4C98-9FDE-63CA359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9235" y="15716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รูปแบบ view และข้อจำกัด</a:t>
            </a:r>
          </a:p>
        </p:txBody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3DDED926-75FF-4447-A6DA-ABA9F4E0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38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1">
            <a:extLst xmlns:a="http://schemas.openxmlformats.org/drawingml/2006/main">
              <a:ext uri="{FF2B5EF4-FFF2-40B4-BE49-F238E27FC236}">
                <a16:creationId xmlns:a16="http://schemas.microsoft.com/office/drawing/2014/main" id="{271CB328-C9CA-4A6E-BDEB-ECA02D78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View ที่ไม่โต้ตอบ</a:t>
            </a:r>
          </a:p>
        </p:txBody>
      </p:sp>
      <p:sp>
        <p:nvSpPr>
          <p:cNvPr id="27" name="text-102">
            <a:extLst xmlns:a="http://schemas.openxmlformats.org/drawingml/2006/main">
              <a:ext uri="{FF2B5EF4-FFF2-40B4-BE49-F238E27FC236}">
                <a16:creationId xmlns:a16="http://schemas.microsoft.com/office/drawing/2014/main" id="{D33B4516-554B-4370-83EB-B790D6A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38425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ส่งเฉพาะเนื้อหาที่เรนเดอร์ไว้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ไม่ต้องเพิ่มตรรกะ runtime</a:t>
            </a:r>
          </a:p>
        </p:txBody>
      </p:sp>
      <p:sp>
        <p:nvSpPr>
          <p:cNvPr id="28" name="shape-103">
            <a:extLst xmlns:a="http://schemas.openxmlformats.org/drawingml/2006/main">
              <a:ext uri="{FF2B5EF4-FFF2-40B4-BE49-F238E27FC236}">
                <a16:creationId xmlns:a16="http://schemas.microsoft.com/office/drawing/2014/main" id="{4078A017-6BC4-4AE5-85BA-422CF772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0045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4">
            <a:extLst xmlns:a="http://schemas.openxmlformats.org/drawingml/2006/main">
              <a:ext uri="{FF2B5EF4-FFF2-40B4-BE49-F238E27FC236}">
                <a16:creationId xmlns:a16="http://schemas.microsoft.com/office/drawing/2014/main" id="{D233C10D-13B2-40F2-9E67-77874B4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43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5">
            <a:extLst xmlns:a="http://schemas.openxmlformats.org/drawingml/2006/main">
              <a:ext uri="{FF2B5EF4-FFF2-40B4-BE49-F238E27FC236}">
                <a16:creationId xmlns:a16="http://schemas.microsoft.com/office/drawing/2014/main" id="{76238D8C-EC37-4C28-958F-65E7DA9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943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View ที่โต้ตอบ</a:t>
            </a:r>
          </a:p>
        </p:txBody>
      </p:sp>
      <p:sp>
        <p:nvSpPr>
          <p:cNvPr id="31" name="text-106">
            <a:extLst xmlns:a="http://schemas.openxmlformats.org/drawingml/2006/main">
              <a:ext uri="{FF2B5EF4-FFF2-40B4-BE49-F238E27FC236}">
                <a16:creationId xmlns:a16="http://schemas.microsoft.com/office/drawing/2014/main" id="{5988CF90-4611-44EB-8AFE-7CE1D79D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34340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 initial view พร้อม JavaScript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เติมแคชและเริ่มส่วนโต้ตอบ</a:t>
            </a:r>
          </a:p>
        </p:txBody>
      </p:sp>
      <p:sp>
        <p:nvSpPr>
          <p:cNvPr id="32" name="shape-107">
            <a:extLst xmlns:a="http://schemas.openxmlformats.org/drawingml/2006/main">
              <a:ext uri="{FF2B5EF4-FFF2-40B4-BE49-F238E27FC236}">
                <a16:creationId xmlns:a16="http://schemas.microsoft.com/office/drawing/2014/main" id="{F7680FFF-86E5-4C61-9D96-C17C8BC9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295900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08">
            <a:extLst xmlns:a="http://schemas.openxmlformats.org/drawingml/2006/main">
              <a:ext uri="{FF2B5EF4-FFF2-40B4-BE49-F238E27FC236}">
                <a16:creationId xmlns:a16="http://schemas.microsoft.com/office/drawing/2014/main" id="{D71731F9-752C-415A-9DA8-4242CD08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09">
            <a:extLst xmlns:a="http://schemas.openxmlformats.org/drawingml/2006/main">
              <a:ext uri="{FF2B5EF4-FFF2-40B4-BE49-F238E27FC236}">
                <a16:creationId xmlns:a16="http://schemas.microsoft.com/office/drawing/2014/main" id="{A1242582-4885-45DB-BB3F-B68F6FD1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638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ยังมีต้นทุนสูง</a:t>
            </a:r>
          </a:p>
        </p:txBody>
      </p:sp>
      <p:sp>
        <p:nvSpPr>
          <p:cNvPr id="35" name="text-110">
            <a:extLst xmlns:a="http://schemas.openxmlformats.org/drawingml/2006/main">
              <a:ext uri="{FF2B5EF4-FFF2-40B4-BE49-F238E27FC236}">
                <a16:creationId xmlns:a16="http://schemas.microsoft.com/office/drawing/2014/main" id="{483B2771-D984-4B48-BD6D-C7E9C40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6038850"/>
            <a:ext cx="4000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เกือบเท่า full client-side render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วิธีที่ละเอียดขึ้นเป็น future work</a:t>
            </a:r>
          </a:p>
        </p:txBody>
      </p:sp>
      <p:sp>
        <p:nvSpPr>
          <p:cNvPr id="36" name="text-111">
            <a:extLst xmlns:a="http://schemas.openxmlformats.org/drawingml/2006/main">
              <a:ext uri="{FF2B5EF4-FFF2-40B4-BE49-F238E27FC236}">
                <a16:creationId xmlns:a16="http://schemas.microsoft.com/office/drawing/2014/main" id="{64198AAE-9E26-4D70-B517-3A6B7E26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7134225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5, หน้า PDF 3–4</a:t>
            </a:r>
          </a:p>
        </p:txBody>
      </p:sp>
    </p:spTree>
    <p:extLst>
      <p:ext uri="{BB962C8B-B14F-4D97-AF65-F5344CB8AC3E}">
        <p14:creationId xmlns:p14="http://schemas.microsoft.com/office/powerpoint/2010/main" val="98426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-112">
            <a:extLst xmlns:a="http://schemas.openxmlformats.org/drawingml/2006/main">
              <a:ext uri="{FF2B5EF4-FFF2-40B4-BE49-F238E27FC236}">
                <a16:creationId xmlns:a16="http://schemas.microsoft.com/office/drawing/2014/main" id="{CA1657A0-E6B2-49AC-9459-27EFD2BC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3">
            <a:extLst xmlns:a="http://schemas.openxmlformats.org/drawingml/2006/main">
              <a:ext uri="{FF2B5EF4-FFF2-40B4-BE49-F238E27FC236}">
                <a16:creationId xmlns:a16="http://schemas.microsoft.com/office/drawing/2014/main" id="{2A30D627-BAFF-4C62-9264-AE0AE30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ผลการทดลองและการแลกพื้นที่กับความหน่วง</a:t>
            </a:r>
          </a:p>
        </p:txBody>
      </p:sp>
      <p:sp>
        <p:nvSpPr>
          <p:cNvPr id="3" name="shape-114">
            <a:extLst xmlns:a="http://schemas.openxmlformats.org/drawingml/2006/main">
              <a:ext uri="{FF2B5EF4-FFF2-40B4-BE49-F238E27FC236}">
                <a16:creationId xmlns:a16="http://schemas.microsoft.com/office/drawing/2014/main" id="{343B3DAD-8F4F-4EA8-A9D0-598FCEB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5">
            <a:extLst xmlns:a="http://schemas.openxmlformats.org/drawingml/2006/main">
              <a:ext uri="{FF2B5EF4-FFF2-40B4-BE49-F238E27FC236}">
                <a16:creationId xmlns:a16="http://schemas.microsoft.com/office/drawing/2014/main" id="{FA32B1B8-AD1A-48B9-BC16-AA120129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E98A08C9-ACFE-4A90-A7D7-BC798CBB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7">
            <a:extLst xmlns:a="http://schemas.openxmlformats.org/drawingml/2006/main">
              <a:ext uri="{FF2B5EF4-FFF2-40B4-BE49-F238E27FC236}">
                <a16:creationId xmlns:a16="http://schemas.microsoft.com/office/drawing/2014/main" id="{4D5F82BE-C2E9-4C87-B828-58A02D2A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8105775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D48F6C0B-72C7-4876-B6EE-AE48887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7534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และ TTA ตามขนาดข้อมูล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76e2b7e9c4c21"/>
          <a:stretch xmlns:a="http://schemas.openxmlformats.org/drawingml/2006/main"/>
        </p:blipFill>
        <p:spPr>
          <a:xfrm xmlns:a="http://schemas.openxmlformats.org/drawingml/2006/main">
            <a:off x="1055241" y="1981200"/>
            <a:ext cx="7633592" cy="2314575"/>
          </a:xfrm>
          <a:prstGeom xmlns:a="http://schemas.openxmlformats.org/drawingml/2006/main" prst="rect">
            <a:avLst/>
          </a:prstGeom>
        </p:spPr>
      </p:pic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E1858586-0DE6-4B4B-96C4-E3BCD18A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467225"/>
            <a:ext cx="7610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 median, แรเงา IQR, ข้อมูล 10k–10M แถว (หน้า PDF 4)</a:t>
            </a:r>
          </a:p>
        </p:txBody>
      </p:sp>
      <p:sp>
        <p:nvSpPr>
          <p:cNvPr id="10" name="shape-120">
            <a:extLst xmlns:a="http://schemas.openxmlformats.org/drawingml/2006/main">
              <a:ext uri="{FF2B5EF4-FFF2-40B4-BE49-F238E27FC236}">
                <a16:creationId xmlns:a16="http://schemas.microsoft.com/office/drawing/2014/main" id="{87EEDE0A-F5BA-4576-9E2E-D238DA92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1333500"/>
            <a:ext cx="4572000" cy="3505200"/>
          </a:xfrm>
          <a:prstGeom xmlns:a="http://schemas.openxmlformats.org/drawingml/2006/main" prst="roundRect">
            <a:avLst>
              <a:gd name="adj" fmla="val 2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31FC7E45-2922-4520-B40D-AB5908FF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285" y="15716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ค่าเฉลี่ยเปลี่ยนแปลงเทียบ none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9448800" y="2133600"/>
          <a:ext xmlns:a="http://schemas.openxmlformats.org/drawingml/2006/main" cx="4143375" cy="1733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1550"/>
                <a:gridCol w="1057275"/>
                <a:gridCol w="1057275"/>
                <a:gridCol w="1057275"/>
              </a:tblGrid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66675" marB="66675" anchor="ctr">
                    <a:solidFill>
                      <a:srgbClr val="0F2D4A"/>
                    </a:solidFill>
                  </a:tcPr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66675" marB="66675" anchor="ctr"/>
                </a:tc>
              </a:tr>
              <a:tr h="43338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66675" marB="6667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38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66675" marB="66675" anchor="ctr"/>
                </a:tc>
              </a:tr>
            </a:tbl>
          </a:graphicData>
        </a:graphic>
      </p:graphicFrame>
      <p:sp>
        <p:nvSpPr>
          <p:cNvPr id="13" name="text-122">
            <a:extLst xmlns:a="http://schemas.openxmlformats.org/drawingml/2006/main">
              <a:ext uri="{FF2B5EF4-FFF2-40B4-BE49-F238E27FC236}">
                <a16:creationId xmlns:a16="http://schemas.microsoft.com/office/drawing/2014/main" id="{3C5230EA-AFF6-4203-BF59-50270138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8622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mean ± σ ข้ามรูปแบบและขนาดข้อมูล</a:t>
            </a:r>
          </a:p>
        </p:txBody>
      </p:sp>
      <p:sp>
        <p:nvSpPr>
          <p:cNvPr id="14" name="text-123">
            <a:extLst xmlns:a="http://schemas.openxmlformats.org/drawingml/2006/main">
              <a:ext uri="{FF2B5EF4-FFF2-40B4-BE49-F238E27FC236}">
                <a16:creationId xmlns:a16="http://schemas.microsoft.com/office/drawing/2014/main" id="{40EB1D4F-6535-487F-8180-7C7C5B4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00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</a:t>
            </a:r>
          </a:p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กราฟและข้อความใช้ชื่อ +prerender</a:t>
            </a:r>
          </a:p>
        </p:txBody>
      </p:sp>
      <p:sp>
        <p:nvSpPr>
          <p:cNvPr id="15" name="shape-124">
            <a:extLst xmlns:a="http://schemas.openxmlformats.org/drawingml/2006/main">
              <a:ext uri="{FF2B5EF4-FFF2-40B4-BE49-F238E27FC236}">
                <a16:creationId xmlns:a16="http://schemas.microsoft.com/office/drawing/2014/main" id="{1C0CC5C3-B0E4-4FF1-8F76-6833351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5">
            <a:extLst xmlns:a="http://schemas.openxmlformats.org/drawingml/2006/main">
              <a:ext uri="{FF2B5EF4-FFF2-40B4-BE49-F238E27FC236}">
                <a16:creationId xmlns:a16="http://schemas.microsoft.com/office/drawing/2014/main" id="{FED65A54-DFBF-4BFF-A90F-BD2148C5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6">
            <a:extLst xmlns:a="http://schemas.openxmlformats.org/drawingml/2006/main">
              <a:ext uri="{FF2B5EF4-FFF2-40B4-BE49-F238E27FC236}">
                <a16:creationId xmlns:a16="http://schemas.microsoft.com/office/drawing/2014/main" id="{84B0A4F6-811C-4EFD-97ED-E7077427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เวลาเห็นภาพ TTR</a:t>
            </a:r>
          </a:p>
        </p:txBody>
      </p:sp>
      <p:sp>
        <p:nvSpPr>
          <p:cNvPr id="18" name="text-127">
            <a:extLst xmlns:a="http://schemas.openxmlformats.org/drawingml/2006/main">
              <a:ext uri="{FF2B5EF4-FFF2-40B4-BE49-F238E27FC236}">
                <a16:creationId xmlns:a16="http://schemas.microsoft.com/office/drawing/2014/main" id="{650E9536-887F-4DE5-9E78-416A41C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  (Table 1, ชุดรวม)</a:t>
            </a:r>
          </a:p>
        </p:txBody>
      </p:sp>
      <p:sp>
        <p:nvSpPr>
          <p:cNvPr id="19" name="shape-128">
            <a:extLst xmlns:a="http://schemas.openxmlformats.org/drawingml/2006/main">
              <a:ext uri="{FF2B5EF4-FFF2-40B4-BE49-F238E27FC236}">
                <a16:creationId xmlns:a16="http://schemas.microsoft.com/office/drawing/2014/main" id="{53E05F0C-158B-4B42-8FFB-15B7D68A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29">
            <a:extLst xmlns:a="http://schemas.openxmlformats.org/drawingml/2006/main">
              <a:ext uri="{FF2B5EF4-FFF2-40B4-BE49-F238E27FC236}">
                <a16:creationId xmlns:a16="http://schemas.microsoft.com/office/drawing/2014/main" id="{6F7F912A-2A11-4A38-A511-EA6824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0">
            <a:extLst xmlns:a="http://schemas.openxmlformats.org/drawingml/2006/main">
              <a:ext uri="{FF2B5EF4-FFF2-40B4-BE49-F238E27FC236}">
                <a16:creationId xmlns:a16="http://schemas.microsoft.com/office/drawing/2014/main" id="{ED3C12E2-FE1B-42CD-A442-1F27787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TTA</a:t>
            </a:r>
          </a:p>
        </p:txBody>
      </p:sp>
      <p:sp>
        <p:nvSpPr>
          <p:cNvPr id="22" name="text-131">
            <a:extLst xmlns:a="http://schemas.openxmlformats.org/drawingml/2006/main">
              <a:ext uri="{FF2B5EF4-FFF2-40B4-BE49-F238E27FC236}">
                <a16:creationId xmlns:a16="http://schemas.microsoft.com/office/drawing/2014/main" id="{55BF4BE3-C386-4E91-B4AB-B00EAFE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  (Table 1, ชุดรวม)</a:t>
            </a:r>
          </a:p>
        </p:txBody>
      </p:sp>
      <p:sp>
        <p:nvSpPr>
          <p:cNvPr id="23" name="shape-132">
            <a:extLst xmlns:a="http://schemas.openxmlformats.org/drawingml/2006/main">
              <a:ext uri="{FF2B5EF4-FFF2-40B4-BE49-F238E27FC236}">
                <a16:creationId xmlns:a16="http://schemas.microsoft.com/office/drawing/2014/main" id="{897DEF82-2EA2-4B74-9EDF-901EA948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5095875"/>
            <a:ext cx="4114800" cy="1543050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3">
            <a:extLst xmlns:a="http://schemas.openxmlformats.org/drawingml/2006/main">
              <a:ext uri="{FF2B5EF4-FFF2-40B4-BE49-F238E27FC236}">
                <a16:creationId xmlns:a16="http://schemas.microsoft.com/office/drawing/2014/main" id="{CA8B9C9C-C0E2-4751-80F7-56BA80F0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267325"/>
            <a:ext cx="3590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0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F10E51D0-E570-4B3A-8DF0-89BE94FE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848350"/>
            <a:ext cx="35909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พื้นที่เผยแพร่ SC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E6C88685-D489-4952-9F25-F0A5F013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628650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  (Table 1, ชุดรวม)</a:t>
            </a:r>
          </a:p>
        </p:txBody>
      </p:sp>
      <p:sp>
        <p:nvSpPr>
          <p:cNvPr id="27" name="text-136">
            <a:extLst xmlns:a="http://schemas.openxmlformats.org/drawingml/2006/main">
              <a:ext uri="{FF2B5EF4-FFF2-40B4-BE49-F238E27FC236}">
                <a16:creationId xmlns:a16="http://schemas.microsoft.com/office/drawing/2014/main" id="{8219D901-5BCD-448E-AFE0-98A75DDB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77050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5 specifications   M1 Pro / RAM 16 GB   Node 22.9.0   local server / DuckDB-WASM</a:t>
            </a:r>
          </a:p>
        </p:txBody>
      </p:sp>
      <p:sp>
        <p:nvSpPr>
          <p:cNvPr id="28" name="text-137">
            <a:extLst xmlns:a="http://schemas.openxmlformats.org/drawingml/2006/main">
              <a:ext uri="{FF2B5EF4-FFF2-40B4-BE49-F238E27FC236}">
                <a16:creationId xmlns:a16="http://schemas.microsoft.com/office/drawing/2014/main" id="{47BD8396-86AF-4F13-8ED2-6620661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67575"/>
            <a:ext cx="1295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 TTA แล้ว 32.3%   ผลชุดรวมเพิ่มการลดอีก 1.0 จุดเปอร์เซ็นต์จาก baseline เดียวกัน</a:t>
            </a:r>
          </a:p>
        </p:txBody>
      </p:sp>
    </p:spTree>
    <p:extLst>
      <p:ext uri="{BB962C8B-B14F-4D97-AF65-F5344CB8AC3E}">
        <p14:creationId xmlns:p14="http://schemas.microsoft.com/office/powerpoint/2010/main" val="1428947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38">
            <a:extLst xmlns:a="http://schemas.openxmlformats.org/drawingml/2006/main">
              <a:ext uri="{FF2B5EF4-FFF2-40B4-BE49-F238E27FC236}">
                <a16:creationId xmlns:a16="http://schemas.microsoft.com/office/drawing/2014/main" id="{706CFEFF-A723-472B-B983-D3DA3808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39">
            <a:extLst xmlns:a="http://schemas.openxmlformats.org/drawingml/2006/main">
              <a:ext uri="{FF2B5EF4-FFF2-40B4-BE49-F238E27FC236}">
                <a16:creationId xmlns:a16="http://schemas.microsoft.com/office/drawing/2014/main" id="{D9CC0BA6-EAF5-4C2B-B076-56D5C28F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คุณูปการและข้อจำกัดของบทความ</a:t>
            </a:r>
          </a:p>
        </p:txBody>
      </p:sp>
      <p:sp>
        <p:nvSpPr>
          <p:cNvPr id="3" name="shape-140">
            <a:extLst xmlns:a="http://schemas.openxmlformats.org/drawingml/2006/main">
              <a:ext uri="{FF2B5EF4-FFF2-40B4-BE49-F238E27FC236}">
                <a16:creationId xmlns:a16="http://schemas.microsoft.com/office/drawing/2014/main" id="{43FEB475-87E9-4377-90ED-E0786EF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1">
            <a:extLst xmlns:a="http://schemas.openxmlformats.org/drawingml/2006/main">
              <a:ext uri="{FF2B5EF4-FFF2-40B4-BE49-F238E27FC236}">
                <a16:creationId xmlns:a16="http://schemas.microsoft.com/office/drawing/2014/main" id="{770AA784-CDF6-4F15-B6B7-836B7AB6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2">
            <a:extLst xmlns:a="http://schemas.openxmlformats.org/drawingml/2006/main">
              <a:ext uri="{FF2B5EF4-FFF2-40B4-BE49-F238E27FC236}">
                <a16:creationId xmlns:a16="http://schemas.microsoft.com/office/drawing/2014/main" id="{8FFE86FB-89C6-4D0A-9CF7-EB9EE924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3">
            <a:extLst xmlns:a="http://schemas.openxmlformats.org/drawingml/2006/main">
              <a:ext uri="{FF2B5EF4-FFF2-40B4-BE49-F238E27FC236}">
                <a16:creationId xmlns:a16="http://schemas.microsoft.com/office/drawing/2014/main" id="{195038C0-C2E1-40F2-BC8A-5D2296AA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4">
            <a:extLst xmlns:a="http://schemas.openxmlformats.org/drawingml/2006/main">
              <a:ext uri="{FF2B5EF4-FFF2-40B4-BE49-F238E27FC236}">
                <a16:creationId xmlns:a16="http://schemas.microsoft.com/office/drawing/2014/main" id="{8A09715E-F910-48CC-890A-FECAF8C0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คุณูปการและจุดแข็ง</a:t>
            </a:r>
          </a:p>
        </p:txBody>
      </p:sp>
      <p:sp>
        <p:nvSpPr>
          <p:cNvPr id="8" name="shape-145">
            <a:extLst xmlns:a="http://schemas.openxmlformats.org/drawingml/2006/main">
              <a:ext uri="{FF2B5EF4-FFF2-40B4-BE49-F238E27FC236}">
                <a16:creationId xmlns:a16="http://schemas.microsoft.com/office/drawing/2014/main" id="{24C64121-9DAB-480F-8683-748EB446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46">
            <a:extLst xmlns:a="http://schemas.openxmlformats.org/drawingml/2006/main">
              <a:ext uri="{FF2B5EF4-FFF2-40B4-BE49-F238E27FC236}">
                <a16:creationId xmlns:a16="http://schemas.microsoft.com/office/drawing/2014/main" id="{FD61D52A-D229-42E7-879C-32BA457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</a:t>
            </a:r>
          </a:p>
        </p:txBody>
      </p:sp>
      <p:sp>
        <p:nvSpPr>
          <p:cNvPr id="10" name="text-147">
            <a:extLst xmlns:a="http://schemas.openxmlformats.org/drawingml/2006/main">
              <a:ext uri="{FF2B5EF4-FFF2-40B4-BE49-F238E27FC236}">
                <a16:creationId xmlns:a16="http://schemas.microsoft.com/office/drawing/2014/main" id="{F085F8FE-97CB-4916-93C6-0E46CD15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48">
            <a:extLst xmlns:a="http://schemas.openxmlformats.org/drawingml/2006/main">
              <a:ext uri="{FF2B5EF4-FFF2-40B4-BE49-F238E27FC236}">
                <a16:creationId xmlns:a16="http://schemas.microsoft.com/office/drawing/2014/main" id="{0D72ED7A-229A-460A-90B4-2F70C7F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มี baseline และเพิ่มกลยุทธ์เป็นขั้น</a:t>
            </a:r>
          </a:p>
        </p:txBody>
      </p:sp>
      <p:sp>
        <p:nvSpPr>
          <p:cNvPr id="12" name="text-149">
            <a:extLst xmlns:a="http://schemas.openxmlformats.org/drawingml/2006/main">
              <a:ext uri="{FF2B5EF4-FFF2-40B4-BE49-F238E27FC236}">
                <a16:creationId xmlns:a16="http://schemas.microsoft.com/office/drawing/2014/main" id="{57600AFC-7446-4B64-B1A1-4EA3283A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แยกผลของงานเตรียม แคช และภาพล่วงหน้า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โดยคงวิธีเขียน specification เดิม</a:t>
            </a:r>
          </a:p>
        </p:txBody>
      </p:sp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6676AF46-8275-4B39-966C-41ED5CD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51">
            <a:extLst xmlns:a="http://schemas.openxmlformats.org/drawingml/2006/main">
              <a:ext uri="{FF2B5EF4-FFF2-40B4-BE49-F238E27FC236}">
                <a16:creationId xmlns:a16="http://schemas.microsoft.com/office/drawing/2014/main" id="{08932B67-3B86-4121-8C2B-F78BF55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Hydration ยังทำงานมาก</a:t>
            </a:r>
          </a:p>
        </p:txBody>
      </p:sp>
      <p:sp>
        <p:nvSpPr>
          <p:cNvPr id="15" name="text-152">
            <a:extLst xmlns:a="http://schemas.openxmlformats.org/drawingml/2006/main">
              <a:ext uri="{FF2B5EF4-FFF2-40B4-BE49-F238E27FC236}">
                <a16:creationId xmlns:a16="http://schemas.microsoft.com/office/drawing/2014/main" id="{091D185D-4F71-4BF3-B498-EA283EAE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สร้างคอมโพเนนต์แบบ client-side rendering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ยังไม่ทดลอง progressive hydration</a:t>
            </a:r>
          </a:p>
        </p:txBody>
      </p:sp>
      <p:sp>
        <p:nvSpPr>
          <p:cNvPr id="16" name="shape-153">
            <a:extLst xmlns:a="http://schemas.openxmlformats.org/drawingml/2006/main">
              <a:ext uri="{FF2B5EF4-FFF2-40B4-BE49-F238E27FC236}">
                <a16:creationId xmlns:a16="http://schemas.microsoft.com/office/drawing/2014/main" id="{1060A4DD-1B77-46FB-B744-4C4A9A8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54">
            <a:extLst xmlns:a="http://schemas.openxmlformats.org/drawingml/2006/main">
              <a:ext uri="{FF2B5EF4-FFF2-40B4-BE49-F238E27FC236}">
                <a16:creationId xmlns:a16="http://schemas.microsoft.com/office/drawing/2014/main" id="{CB31E0F4-A43D-4039-BBE2-E6DC95CA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55">
            <a:extLst xmlns:a="http://schemas.openxmlformats.org/drawingml/2006/main">
              <a:ext uri="{FF2B5EF4-FFF2-40B4-BE49-F238E27FC236}">
                <a16:creationId xmlns:a16="http://schemas.microsoft.com/office/drawing/2014/main" id="{10FF987B-9E43-4C57-A67A-806A7CD8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56">
            <a:extLst xmlns:a="http://schemas.openxmlformats.org/drawingml/2006/main">
              <a:ext uri="{FF2B5EF4-FFF2-40B4-BE49-F238E27FC236}">
                <a16:creationId xmlns:a16="http://schemas.microsoft.com/office/drawing/2014/main" id="{17B2B981-2CC5-4461-9E5C-54E41DB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ประเมินการโต้ตอบหลายรูปแบบ</a:t>
            </a:r>
          </a:p>
        </p:txBody>
      </p:sp>
      <p:sp>
        <p:nvSpPr>
          <p:cNvPr id="20" name="text-157">
            <a:extLst xmlns:a="http://schemas.openxmlformats.org/drawingml/2006/main">
              <a:ext uri="{FF2B5EF4-FFF2-40B4-BE49-F238E27FC236}">
                <a16:creationId xmlns:a16="http://schemas.microsoft.com/office/drawing/2014/main" id="{82E19E14-1842-4233-808D-086D1B62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5 specifications, ข้อมูล 10k–10M แถว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ทั้ง view เดียวและ dashboard หลาย view</a:t>
            </a:r>
          </a:p>
        </p:txBody>
      </p:sp>
      <p:sp>
        <p:nvSpPr>
          <p:cNvPr id="21" name="text-158">
            <a:extLst xmlns:a="http://schemas.openxmlformats.org/drawingml/2006/main">
              <a:ext uri="{FF2B5EF4-FFF2-40B4-BE49-F238E27FC236}">
                <a16:creationId xmlns:a16="http://schemas.microsoft.com/office/drawing/2014/main" id="{7E3B26EF-6FE0-4C44-9C0C-B983964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59">
            <a:extLst xmlns:a="http://schemas.openxmlformats.org/drawingml/2006/main">
              <a:ext uri="{FF2B5EF4-FFF2-40B4-BE49-F238E27FC236}">
                <a16:creationId xmlns:a16="http://schemas.microsoft.com/office/drawing/2014/main" id="{9EE1D658-381C-4DA7-ACAF-4CE3FA3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ทรัพยากรเก่าและพื้นที่เพิ่ม</a:t>
            </a:r>
          </a:p>
        </p:txBody>
      </p:sp>
      <p:sp>
        <p:nvSpPr>
          <p:cNvPr id="23" name="text-160">
            <a:extLst xmlns:a="http://schemas.openxmlformats.org/drawingml/2006/main">
              <a:ext uri="{FF2B5EF4-FFF2-40B4-BE49-F238E27FC236}">
                <a16:creationId xmlns:a16="http://schemas.microsoft.com/office/drawing/2014/main" id="{8CDD55D0-C2D6-49E1-AF85-8E6117C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ข้อมูลเปลี่ยนต้องสร้างใหม่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+21.2% มี σ สูงถึง 29.9</a:t>
            </a:r>
          </a:p>
        </p:txBody>
      </p:sp>
      <p:sp>
        <p:nvSpPr>
          <p:cNvPr id="24" name="shape-161">
            <a:extLst xmlns:a="http://schemas.openxmlformats.org/drawingml/2006/main">
              <a:ext uri="{FF2B5EF4-FFF2-40B4-BE49-F238E27FC236}">
                <a16:creationId xmlns:a16="http://schemas.microsoft.com/office/drawing/2014/main" id="{7A66E645-B9C7-419A-851C-55D3BAA6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62">
            <a:extLst xmlns:a="http://schemas.openxmlformats.org/drawingml/2006/main">
              <a:ext uri="{FF2B5EF4-FFF2-40B4-BE49-F238E27FC236}">
                <a16:creationId xmlns:a16="http://schemas.microsoft.com/office/drawing/2014/main" id="{4ACEE77B-7D34-4C67-A981-714D72D2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63">
            <a:extLst xmlns:a="http://schemas.openxmlformats.org/drawingml/2006/main">
              <a:ext uri="{FF2B5EF4-FFF2-40B4-BE49-F238E27FC236}">
                <a16:creationId xmlns:a16="http://schemas.microsoft.com/office/drawing/2014/main" id="{7C4EB838-79A8-4433-B800-FD8975F3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64">
            <a:extLst xmlns:a="http://schemas.openxmlformats.org/drawingml/2006/main">
              <a:ext uri="{FF2B5EF4-FFF2-40B4-BE49-F238E27FC236}">
                <a16:creationId xmlns:a16="http://schemas.microsoft.com/office/drawing/2014/main" id="{E3ECD944-D1A9-44EE-A831-001A2F6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วัดทั้งผลและต้นทุน</a:t>
            </a:r>
          </a:p>
        </p:txBody>
      </p:sp>
      <p:sp>
        <p:nvSpPr>
          <p:cNvPr id="28" name="text-165">
            <a:extLst xmlns:a="http://schemas.openxmlformats.org/drawingml/2006/main">
              <a:ext uri="{FF2B5EF4-FFF2-40B4-BE49-F238E27FC236}">
                <a16:creationId xmlns:a16="http://schemas.microsoft.com/office/drawing/2014/main" id="{288E8CD4-FF71-46A2-A5EC-B6AB828D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TTR กับ TTA แสดงความพร้อมคนละช่วง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ทำให้เห็นพื้นที่ที่ต้องแลก</a:t>
            </a:r>
          </a:p>
        </p:txBody>
      </p:sp>
      <p:sp>
        <p:nvSpPr>
          <p:cNvPr id="29" name="text-166">
            <a:extLst xmlns:a="http://schemas.openxmlformats.org/drawingml/2006/main">
              <a:ext uri="{FF2B5EF4-FFF2-40B4-BE49-F238E27FC236}">
                <a16:creationId xmlns:a16="http://schemas.microsoft.com/office/drawing/2014/main" id="{80CB76FF-D294-48FB-A62B-868720FD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67">
            <a:extLst xmlns:a="http://schemas.openxmlformats.org/drawingml/2006/main">
              <a:ext uri="{FF2B5EF4-FFF2-40B4-BE49-F238E27FC236}">
                <a16:creationId xmlns:a16="http://schemas.microsoft.com/office/drawing/2014/main" id="{242315C4-23E7-4D40-B43C-1E20081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ขอบเขตการทดลองยังจำกัด</a:t>
            </a:r>
          </a:p>
        </p:txBody>
      </p:sp>
      <p:sp>
        <p:nvSpPr>
          <p:cNvPr id="31" name="text-168">
            <a:extLst xmlns:a="http://schemas.openxmlformats.org/drawingml/2006/main">
              <a:ext uri="{FF2B5EF4-FFF2-40B4-BE49-F238E27FC236}">
                <a16:creationId xmlns:a16="http://schemas.microsoft.com/office/drawing/2014/main" id="{ACE2589C-8306-4B5D-A105-9CC3E18E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laptop เครื่องเดียวและ local server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ไม่แจกแจงจำนวนรอบทำซ้ำ</a:t>
            </a:r>
          </a:p>
        </p:txBody>
      </p:sp>
      <p:sp>
        <p:nvSpPr>
          <p:cNvPr id="32" name="text-169">
            <a:extLst xmlns:a="http://schemas.openxmlformats.org/drawingml/2006/main">
              <a:ext uri="{FF2B5EF4-FFF2-40B4-BE49-F238E27FC236}">
                <a16:creationId xmlns:a16="http://schemas.microsoft.com/office/drawing/2014/main" id="{B646F6E4-BBFD-44F2-B7C1-E1E167B1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3–6 และ Table 1, หน้า PDF 2–4</a:t>
            </a:r>
          </a:p>
        </p:txBody>
      </p:sp>
    </p:spTree>
    <p:extLst>
      <p:ext uri="{BB962C8B-B14F-4D97-AF65-F5344CB8AC3E}">
        <p14:creationId xmlns:p14="http://schemas.microsoft.com/office/powerpoint/2010/main" val="1208692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0">
            <a:extLst xmlns:a="http://schemas.openxmlformats.org/drawingml/2006/main">
              <a:ext uri="{FF2B5EF4-FFF2-40B4-BE49-F238E27FC236}">
                <a16:creationId xmlns:a16="http://schemas.microsoft.com/office/drawing/2014/main" id="{4E518477-7913-4E67-AA31-6E8F755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1">
            <a:extLst xmlns:a="http://schemas.openxmlformats.org/drawingml/2006/main">
              <a:ext uri="{FF2B5EF4-FFF2-40B4-BE49-F238E27FC236}">
                <a16:creationId xmlns:a16="http://schemas.microsoft.com/office/drawing/2014/main" id="{981DE09F-AAE9-4BD8-B71F-37BDC69F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ข้อสรุปและแนวทางวิจัยต่อ</a:t>
            </a:r>
          </a:p>
        </p:txBody>
      </p:sp>
      <p:sp>
        <p:nvSpPr>
          <p:cNvPr id="3" name="shape-172">
            <a:extLst xmlns:a="http://schemas.openxmlformats.org/drawingml/2006/main">
              <a:ext uri="{FF2B5EF4-FFF2-40B4-BE49-F238E27FC236}">
                <a16:creationId xmlns:a16="http://schemas.microsoft.com/office/drawing/2014/main" id="{3B32BD6B-513C-4843-AF11-3F133FE4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3">
            <a:extLst xmlns:a="http://schemas.openxmlformats.org/drawingml/2006/main">
              <a:ext uri="{FF2B5EF4-FFF2-40B4-BE49-F238E27FC236}">
                <a16:creationId xmlns:a16="http://schemas.microsoft.com/office/drawing/2014/main" id="{0A8EBDE8-C59E-4CC3-A54A-5436BB6F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19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4">
            <a:extLst xmlns:a="http://schemas.openxmlformats.org/drawingml/2006/main">
              <a:ext uri="{FF2B5EF4-FFF2-40B4-BE49-F238E27FC236}">
                <a16:creationId xmlns:a16="http://schemas.microsoft.com/office/drawing/2014/main" id="{7AB602A6-3CA0-4A2E-90CF-5AD0AAB5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953375"/>
            <a:ext cx="57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5">
            <a:extLst xmlns:a="http://schemas.openxmlformats.org/drawingml/2006/main">
              <a:ext uri="{FF2B5EF4-FFF2-40B4-BE49-F238E27FC236}">
                <a16:creationId xmlns:a16="http://schemas.microsoft.com/office/drawing/2014/main" id="{A5911096-3619-4C41-A597-380E4581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76">
            <a:extLst xmlns:a="http://schemas.openxmlformats.org/drawingml/2006/main">
              <a:ext uri="{FF2B5EF4-FFF2-40B4-BE49-F238E27FC236}">
                <a16:creationId xmlns:a16="http://schemas.microsoft.com/office/drawing/2014/main" id="{AF170412-D5E3-4356-A34C-01FA5744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ข้อสรุปจากการอ่าน</a:t>
            </a:r>
          </a:p>
        </p:txBody>
      </p:sp>
      <p:sp>
        <p:nvSpPr>
          <p:cNvPr id="8" name="shape-177">
            <a:extLst xmlns:a="http://schemas.openxmlformats.org/drawingml/2006/main">
              <a:ext uri="{FF2B5EF4-FFF2-40B4-BE49-F238E27FC236}">
                <a16:creationId xmlns:a16="http://schemas.microsoft.com/office/drawing/2014/main" id="{42EE52B9-DB9E-4C5F-8D22-592BB1B8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935" y="1333500"/>
            <a:ext cx="6324600" cy="6115050"/>
          </a:xfrm>
          <a:prstGeom xmlns:a="http://schemas.openxmlformats.org/drawingml/2006/main" prst="roundRect">
            <a:avLst>
              <a:gd name="adj" fmla="val 1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text-178">
            <a:extLst xmlns:a="http://schemas.openxmlformats.org/drawingml/2006/main">
              <a:ext uri="{FF2B5EF4-FFF2-40B4-BE49-F238E27FC236}">
                <a16:creationId xmlns:a16="http://schemas.microsoft.com/office/drawing/2014/main" id="{351BB7CB-3A1A-4929-941F-EF21EF2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685" y="1571625"/>
            <a:ext cx="575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แนวทางที่ทีมวิจัยเสนอ</a:t>
            </a:r>
          </a:p>
        </p:txBody>
      </p:sp>
      <p:sp>
        <p:nvSpPr>
          <p:cNvPr id="10" name="text-179">
            <a:extLst xmlns:a="http://schemas.openxmlformats.org/drawingml/2006/main">
              <a:ext uri="{FF2B5EF4-FFF2-40B4-BE49-F238E27FC236}">
                <a16:creationId xmlns:a16="http://schemas.microsoft.com/office/drawing/2014/main" id="{16B71016-C18F-4039-853D-4D6E8F5C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1" name="text-180">
            <a:extLst xmlns:a="http://schemas.openxmlformats.org/drawingml/2006/main">
              <a:ext uri="{FF2B5EF4-FFF2-40B4-BE49-F238E27FC236}">
                <a16:creationId xmlns:a16="http://schemas.microsoft.com/office/drawing/2014/main" id="{0CBE059A-262B-4F71-ABC6-38265F1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แคชลดงานก่อนเปิดการโต้ตอบ</a:t>
            </a:r>
          </a:p>
        </p:txBody>
      </p:sp>
      <p:sp>
        <p:nvSpPr>
          <p:cNvPr id="12" name="text-181">
            <a:extLst xmlns:a="http://schemas.openxmlformats.org/drawingml/2006/main">
              <a:ext uri="{FF2B5EF4-FFF2-40B4-BE49-F238E27FC236}">
                <a16:creationId xmlns:a16="http://schemas.microsoft.com/office/drawing/2014/main" id="{61BF190A-32E7-40C4-B986-E57A3AA5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+cache ลด TTA เฉลี่ย 32.3%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เทียบกับ none</a:t>
            </a:r>
          </a:p>
        </p:txBody>
      </p:sp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B1AC2441-6CD4-4847-960A-E2D23FF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669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D9F692F1-DFC9-4ACF-9C64-7F866C16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ลดต้นทุน Hydration</a:t>
            </a:r>
          </a:p>
        </p:txBody>
      </p:sp>
      <p:sp>
        <p:nvSpPr>
          <p:cNvPr id="15" name="text-184">
            <a:extLst xmlns:a="http://schemas.openxmlformats.org/drawingml/2006/main">
              <a:ext uri="{FF2B5EF4-FFF2-40B4-BE49-F238E27FC236}">
                <a16:creationId xmlns:a16="http://schemas.microsoft.com/office/drawing/2014/main" id="{D2F3002A-72F2-4F72-A552-D3B978C2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ศึกษาวิธี hydration ที่ละเอียดขึ้น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เพื่อลดงานเริ่มส่วนโต้ตอบ</a:t>
            </a:r>
          </a:p>
        </p:txBody>
      </p:sp>
      <p:sp>
        <p:nvSpPr>
          <p:cNvPr id="16" name="shape-185">
            <a:extLst xmlns:a="http://schemas.openxmlformats.org/drawingml/2006/main">
              <a:ext uri="{FF2B5EF4-FFF2-40B4-BE49-F238E27FC236}">
                <a16:creationId xmlns:a16="http://schemas.microsoft.com/office/drawing/2014/main" id="{C6FB7366-D0C3-46A0-830E-86EA9D2A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7" name="shape-186">
            <a:extLst xmlns:a="http://schemas.openxmlformats.org/drawingml/2006/main">
              <a:ext uri="{FF2B5EF4-FFF2-40B4-BE49-F238E27FC236}">
                <a16:creationId xmlns:a16="http://schemas.microsoft.com/office/drawing/2014/main" id="{0FF94FF0-4333-4C44-B5C8-3F296862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8" name="text-187">
            <a:extLst xmlns:a="http://schemas.openxmlformats.org/drawingml/2006/main">
              <a:ext uri="{FF2B5EF4-FFF2-40B4-BE49-F238E27FC236}">
                <a16:creationId xmlns:a16="http://schemas.microsoft.com/office/drawing/2014/main" id="{2BF675F8-EA11-4ABA-A7A9-4C84A74B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9" name="text-188">
            <a:extLst xmlns:a="http://schemas.openxmlformats.org/drawingml/2006/main">
              <a:ext uri="{FF2B5EF4-FFF2-40B4-BE49-F238E27FC236}">
                <a16:creationId xmlns:a16="http://schemas.microsoft.com/office/drawing/2014/main" id="{2491A452-6910-40A3-9BCF-3D035066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ภาพล่วงหน้าลดเวลารอเห็นภาพ</a:t>
            </a:r>
          </a:p>
        </p:txBody>
      </p:sp>
      <p:sp>
        <p:nvSpPr>
          <p:cNvPr id="20" name="text-189">
            <a:extLst xmlns:a="http://schemas.openxmlformats.org/drawingml/2006/main">
              <a:ext uri="{FF2B5EF4-FFF2-40B4-BE49-F238E27FC236}">
                <a16:creationId xmlns:a16="http://schemas.microsoft.com/office/drawing/2014/main" id="{0DE54BF0-8CE4-4785-A627-3CEEE61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ชุดรวมลด TTR 83.7% แต่ TTA 33.3%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ยังเหลือต้นทุน Hydration</a:t>
            </a:r>
          </a:p>
        </p:txBody>
      </p:sp>
      <p:sp>
        <p:nvSpPr>
          <p:cNvPr id="21" name="text-190">
            <a:extLst xmlns:a="http://schemas.openxmlformats.org/drawingml/2006/main">
              <a:ext uri="{FF2B5EF4-FFF2-40B4-BE49-F238E27FC236}">
                <a16:creationId xmlns:a16="http://schemas.microsoft.com/office/drawing/2014/main" id="{D33CD0D4-CD56-4A0E-B5D5-E2879AC3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2" name="text-191">
            <a:extLst xmlns:a="http://schemas.openxmlformats.org/drawingml/2006/main">
              <a:ext uri="{FF2B5EF4-FFF2-40B4-BE49-F238E27FC236}">
                <a16:creationId xmlns:a16="http://schemas.microsoft.com/office/drawing/2014/main" id="{3148860A-8ADD-4B65-8BF2-ED4420A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52875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ผสาน Publish time กับ Runtime</a:t>
            </a:r>
          </a:p>
        </p:txBody>
      </p:sp>
      <p:sp>
        <p:nvSpPr>
          <p:cNvPr id="23" name="text-192">
            <a:extLst xmlns:a="http://schemas.openxmlformats.org/drawingml/2006/main">
              <a:ext uri="{FF2B5EF4-FFF2-40B4-BE49-F238E27FC236}">
                <a16:creationId xmlns:a16="http://schemas.microsoft.com/office/drawing/2014/main" id="{FEA7B0CE-9221-40BB-BD04-6A4425F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52925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Hybrid strategies และ incremental regeneration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เป็นแนวทางขยายวิธีปรับปรุง</a:t>
            </a:r>
          </a:p>
        </p:txBody>
      </p:sp>
      <p:sp>
        <p:nvSpPr>
          <p:cNvPr id="24" name="shape-193">
            <a:extLst xmlns:a="http://schemas.openxmlformats.org/drawingml/2006/main">
              <a:ext uri="{FF2B5EF4-FFF2-40B4-BE49-F238E27FC236}">
                <a16:creationId xmlns:a16="http://schemas.microsoft.com/office/drawing/2014/main" id="{2E30D93C-E46D-4603-B048-E97E0659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shape-194">
            <a:extLst xmlns:a="http://schemas.openxmlformats.org/drawingml/2006/main">
              <a:ext uri="{FF2B5EF4-FFF2-40B4-BE49-F238E27FC236}">
                <a16:creationId xmlns:a16="http://schemas.microsoft.com/office/drawing/2014/main" id="{E1BFCD6C-EBC8-46ED-A89E-0531C313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57825"/>
            <a:ext cx="5705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6" name="text-195">
            <a:extLst xmlns:a="http://schemas.openxmlformats.org/drawingml/2006/main">
              <a:ext uri="{FF2B5EF4-FFF2-40B4-BE49-F238E27FC236}">
                <a16:creationId xmlns:a16="http://schemas.microsoft.com/office/drawing/2014/main" id="{CC07983F-A370-42E0-8B0F-2AD53175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27" name="text-196">
            <a:extLst xmlns:a="http://schemas.openxmlformats.org/drawingml/2006/main">
              <a:ext uri="{FF2B5EF4-FFF2-40B4-BE49-F238E27FC236}">
                <a16:creationId xmlns:a16="http://schemas.microsoft.com/office/drawing/2014/main" id="{12A64B5A-2BBE-46FE-9639-638948C6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พื้นที่ทรัพยากรเพิ่มขึ้น</a:t>
            </a:r>
          </a:p>
        </p:txBody>
      </p:sp>
      <p:sp>
        <p:nvSpPr>
          <p:cNvPr id="28" name="text-197">
            <a:extLst xmlns:a="http://schemas.openxmlformats.org/drawingml/2006/main">
              <a:ext uri="{FF2B5EF4-FFF2-40B4-BE49-F238E27FC236}">
                <a16:creationId xmlns:a16="http://schemas.microsoft.com/office/drawing/2014/main" id="{81FD3B4F-A618-4D4A-987C-0811A39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SC เพิ่ม 21.2% ± 29.9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พื้นที่เพิ่มต่างกันระหว่างเงื่อนไข</a:t>
            </a:r>
          </a:p>
        </p:txBody>
      </p:sp>
      <p:sp>
        <p:nvSpPr>
          <p:cNvPr id="29" name="text-198">
            <a:extLst xmlns:a="http://schemas.openxmlformats.org/drawingml/2006/main">
              <a:ext uri="{FF2B5EF4-FFF2-40B4-BE49-F238E27FC236}">
                <a16:creationId xmlns:a16="http://schemas.microsoft.com/office/drawing/2014/main" id="{E47EBE14-7E4B-4115-A0BB-3793F35C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99">
            <a:extLst xmlns:a="http://schemas.openxmlformats.org/drawingml/2006/main">
              <a:ext uri="{FF2B5EF4-FFF2-40B4-BE49-F238E27FC236}">
                <a16:creationId xmlns:a16="http://schemas.microsoft.com/office/drawing/2014/main" id="{6C640C20-9D64-4E21-8830-46D2CF12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38800"/>
            <a:ext cx="5305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เลือกการปรับปรุงโดยอัตโนมัติ</a:t>
            </a:r>
          </a:p>
        </p:txBody>
      </p:sp>
      <p:sp>
        <p:nvSpPr>
          <p:cNvPr id="31" name="text-200">
            <a:extLst xmlns:a="http://schemas.openxmlformats.org/drawingml/2006/main">
              <a:ext uri="{FF2B5EF4-FFF2-40B4-BE49-F238E27FC236}">
                <a16:creationId xmlns:a16="http://schemas.microsoft.com/office/drawing/2014/main" id="{8F5C2912-D97E-44BA-83DC-99A21F45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38850"/>
            <a:ext cx="53054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พัฒนาวิธีเลือก optimization configuration</a:t>
            </a:r>
          </a:p>
          <a:p xmlns:a="http://schemas.openxmlformats.org/drawingml/2006/main">
            <a:pPr algn="l">
              <a:def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จากข้อมูลและข้อกำหนดภาพ</a:t>
            </a:r>
          </a:p>
        </p:txBody>
      </p:sp>
      <p:sp>
        <p:nvSpPr>
          <p:cNvPr id="32" name="text-201">
            <a:extLst xmlns:a="http://schemas.openxmlformats.org/drawingml/2006/main">
              <a:ext uri="{FF2B5EF4-FFF2-40B4-BE49-F238E27FC236}">
                <a16:creationId xmlns:a16="http://schemas.microsoft.com/office/drawing/2014/main" id="{C280A255-9006-4137-8B94-4EA9802E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181850"/>
            <a:ext cx="1228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ข้อสรุป: Figure 4 / Table 1   แนวทางผู้วิจัย: Sections 5–6, หน้า PDF 4</a:t>
            </a:r>
          </a:p>
        </p:txBody>
      </p:sp>
    </p:spTree>
    <p:extLst>
      <p:ext uri="{BB962C8B-B14F-4D97-AF65-F5344CB8AC3E}">
        <p14:creationId xmlns:p14="http://schemas.microsoft.com/office/powerpoint/2010/main" val="928549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2026-10-05T07:57:42.8670000Z</dcterms:created>
  <dcterms:modified xsi:type="dcterms:W3CDTF">2026-10-05T07:57:42.8670000Z</dcterms:modified>
</coreProperties>
</file>