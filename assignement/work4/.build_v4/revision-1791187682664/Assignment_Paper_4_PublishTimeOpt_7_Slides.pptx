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82cf3d0b994633" /><Relationship Type="http://schemas.openxmlformats.org/officeDocument/2006/relationships/extended-properties" Target="/docProps/app.xml" Id="R59ff1fdefb6e44b0" /><Relationship Type="http://schemas.openxmlformats.org/officeDocument/2006/relationships/officeDocument" Target="/ppt/presentation.xml" Id="R4ad3c9a2d8204b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179873d9184885"/>
  </p:sldMasterIdLst>
  <p:notesMasterIdLst>
    <p:notesMasterId xmlns:r="http://schemas.openxmlformats.org/officeDocument/2006/relationships" r:id="R590b1f2ea4924dd1"/>
  </p:notesMasterIdLst>
  <p:sldIdLst>
    <p:sldId xmlns:r="http://schemas.openxmlformats.org/officeDocument/2006/relationships" id="256" r:id="R99971b5d1bde41f3"/>
    <p:sldId xmlns:r="http://schemas.openxmlformats.org/officeDocument/2006/relationships" id="257" r:id="R8eca3fac8de54bff"/>
    <p:sldId xmlns:r="http://schemas.openxmlformats.org/officeDocument/2006/relationships" id="258" r:id="Ra92efee5d5434752"/>
    <p:sldId xmlns:r="http://schemas.openxmlformats.org/officeDocument/2006/relationships" id="259" r:id="Rbd9515a63ab64394"/>
    <p:sldId xmlns:r="http://schemas.openxmlformats.org/officeDocument/2006/relationships" id="260" r:id="R524ca9517c844aa4"/>
    <p:sldId xmlns:r="http://schemas.openxmlformats.org/officeDocument/2006/relationships" id="261" r:id="Rbc88f989d713475c"/>
    <p:sldId xmlns:r="http://schemas.openxmlformats.org/officeDocument/2006/relationships" id="262" r:id="Rb43efd8e3c794999"/>
  </p:sldIdLst>
  <p:sldSz cx="14630400" cy="8229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237c2b994f4a8c" /><Relationship Type="http://schemas.openxmlformats.org/officeDocument/2006/relationships/slideMaster" Target="/ppt/slideMasters/slideMaster1.xml" Id="Re5179873d9184885" /><Relationship Type="http://schemas.openxmlformats.org/officeDocument/2006/relationships/notesMaster" Target="/ppt/notesMasters/notesMaster1.xml" Id="R590b1f2ea4924dd1" /><Relationship Type="http://schemas.openxmlformats.org/officeDocument/2006/relationships/presProps" Target="/ppt/presProps.xml" Id="R53711f757f224c0b" /><Relationship Type="http://schemas.openxmlformats.org/officeDocument/2006/relationships/tableStyles" Target="/ppt/tableStyles.xml" Id="R091d453523ff4c9f" /><Relationship Type="http://schemas.openxmlformats.org/officeDocument/2006/relationships/slide" Target="/ppt/slides/slide1.xml" Id="R99971b5d1bde41f3" /><Relationship Type="http://schemas.openxmlformats.org/officeDocument/2006/relationships/slide" Target="/ppt/slides/slide2.xml" Id="R8eca3fac8de54bff" /><Relationship Type="http://schemas.openxmlformats.org/officeDocument/2006/relationships/slide" Target="/ppt/slides/slide3.xml" Id="Ra92efee5d5434752" /><Relationship Type="http://schemas.openxmlformats.org/officeDocument/2006/relationships/slide" Target="/ppt/slides/slide4.xml" Id="Rbd9515a63ab64394" /><Relationship Type="http://schemas.openxmlformats.org/officeDocument/2006/relationships/slide" Target="/ppt/slides/slide5.xml" Id="R524ca9517c844aa4" /><Relationship Type="http://schemas.openxmlformats.org/officeDocument/2006/relationships/slide" Target="/ppt/slides/slide6.xml" Id="Rbc88f989d713475c" /><Relationship Type="http://schemas.openxmlformats.org/officeDocument/2006/relationships/slide" Target="/ppt/slides/slide7.xml" Id="Rb43efd8e3c7949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9d380ee8cb4e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69279d34e94d71" /><Relationship Type="http://schemas.openxmlformats.org/officeDocument/2006/relationships/notesMaster" Target="/ppt/notesMasters/notesMaster1.xml" Id="Rb29432ad76344d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74e697c1f54a0e" /><Relationship Type="http://schemas.openxmlformats.org/officeDocument/2006/relationships/notesMaster" Target="/ppt/notesMasters/notesMaster1.xml" Id="Rc463d49b20b24e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d891f1c31f4615" /><Relationship Type="http://schemas.openxmlformats.org/officeDocument/2006/relationships/notesMaster" Target="/ppt/notesMasters/notesMaster1.xml" Id="R938b2c4d26e244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64d0a356174aa1" /><Relationship Type="http://schemas.openxmlformats.org/officeDocument/2006/relationships/notesMaster" Target="/ppt/notesMasters/notesMaster1.xml" Id="R54ccf8571dbd40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43002cd3144b79" /><Relationship Type="http://schemas.openxmlformats.org/officeDocument/2006/relationships/notesMaster" Target="/ppt/notesMasters/notesMaster1.xml" Id="R2d7e1139898145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28cdf362e947df" /><Relationship Type="http://schemas.openxmlformats.org/officeDocument/2006/relationships/notesMaster" Target="/ppt/notesMasters/notesMaster1.xml" Id="Rb88c0ba785c344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196a65c0614586" /><Relationship Type="http://schemas.openxmlformats.org/officeDocument/2006/relationships/notesMaster" Target="/ppt/notesMasters/notesMaster1.xml" Id="R2020713936a14c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0–25 วินาที (25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บทความนี้ของ Ron Pechuk และ Jeffrey Heer จากมหาวิทยาลัยวอชิงตัน ใน IEEE VIS 2025 ศึกษาว่าเว็บภาพข้อมูลจะเปิดได้เร็วขึ้นอย่างไร หากย้ายงานที่ผู้ใช้ทุกคนต้องทำซ้ำไปเตรียมตอนเผยแพร่ การทดลองแยกเวลาเห็นภาพออกจากเวลาพร้อมโต้ตอบ เพื่อประเมินผลของการเตรียมงานแต่ละส่วนครับ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Title and Abstract, PDF page 1. IEEE metadata: DOI 10.1109/VIS60296.2025.00051.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25–65 วินาที (40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เวลาเปิดเว็บมีทั้งการโหลดข้อมูล การคำนวณ และการวาดภาพ แคชที่สร้างตอนใช้งานยังให้ผู้ใช้คนแรกจ่ายต้นทุนนี้ ผู้วิจัยจึงแยก TTR คือเวลาจนเห็น visualization ครบ กับ TTA คือเวลาจนใช้การกรองหรือเลือกข้อมูลได้ ภาพที่มาเร็วอาจยังใช้งานไม่ได้ การทดลองจึงรายงานทั้งสองเวลา พร้อมพื้นที่ทรัพยากรที่เพิ่มขึ้นครับ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Sections 1 and 3.1, PDF pages 1–2.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65–110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ภาพแสดงงานสามกลุ่มที่ย้ายไปก่อนผู้ใช้เปิดหน้า ได้แก่เตรียมข้อมูล เตรียมแคชและผลรวม และวาดภาพเริ่มต้น ตัว Publisher อ่าน YAML เป็น AST แล้วกระตุ้นอินพุตบน virtual DOM เพื่อค้นคิวรี จากนั้น DuckDB คำนวณและเก็บผล ก่อน rewrite ส่วนข้อมูลและสร้าง JavaScript สำหรับเริ่มระบบ ฝั่ง runtime มี coordinator ใช้แคชและจัดการคิวรีของ views จุดนี้ช่วยรักษาวิธีเขียนภาพเดิมไว้ครับ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Figure 1, PDF page 1. Sections 3.2–3.4 and 4.1–4.3, PDF pages 2–3. Flowchart is a preparer summary, not a source-code call graph.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110–155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ถ้า view ไม่มีการโต้ตอบ ระบบส่งภาพที่วาดไว้ได้เลย แต่ view ที่โต้ตอบยังต้องเริ่มคอมโพเนนต์และโหลดผลที่เตรียมไว้ กราฟนี้ใช้ข้อมูลสิบล้านแถว สีแดงคือ Hydration ซึ่งยังมีต้นทุนเกือบเท่าการเรนเดอร์เต็มชุด ภาพเริ่มต้นจึงมาเร็ว แต่ความพร้อมโต้ตอบไม่ได้ดีขึ้นเท่ากัน ผู้วิจัยยังใช้ client-side rendering ตามปกติ ส่วน Hydration ที่ละเอียดขึ้นเป็นงานอนาคตครับ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Section 4.3, PDF page 3. Figure 4 and Section 5, PDF page 4. No progressive hydration benchmark is reported.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155–215 วินาที (60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กราฟแถวบนวัด TTR แถวล่างวัด TTA เส้นคือ median และแรเงาคือ IQR จากห้ารูปแบบภาพที่ข้อมูลหนึ่งหมื่นถึงสิบล้านแถว ส่วนตารางเป็นค่าเฉลี่ยเปอร์เซ็นต์เปลี่ยนแปลงพร้อมส่วนเบี่ยงเบนมาตรฐาน ชุดรวมลด TTR 83.7 เปอร์เซ็นต์ แต่ลด TTA 33.3 เปอร์เซ็นต์ และเพิ่มพื้นที่ 21.2 เปอร์เซ็นต์ แคชลด TTA ไปแล้ว 32.3 เปอร์เซ็นต์ จึงเห็นว่าภาพล่วงหน้าช่วยเวลาที่เห็นภาพเป็นหลัก ผลทั้งหมดเทียบกับ none และเป็นค่าเฉลี่ยของชุดทดลองในบทความครับ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Figure 3 and Table 1, PDF page 4. Table label +most is retained; Section 5 and figures use +prerender. Table values: mean ± sigma across specifications and dataset sizes. Additional TTA reduction of 1.0 percentage point is computed by the preparer.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215–250 วินาที (35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จุดแข็งคือมี baseline และเพิ่มเทคนิคเป็นขั้น มีรูปแบบการโต้ตอบหลายแบบ และรายงานทั้งความเร็วกับพื้นที่ แต่ Hydration ยังมีงานซ้ำ ข้อมูลเปลี่ยนแล้วต้องสร้างทรัพยากรใหม่ และพื้นที่เพิ่มแตกต่างมากระหว่างเงื่อนไข อีกด้านหนึ่งคือทดสอบบน laptop เครื่องเดียวกับ local server ยังไม่ครอบคลุมมือถือหรือเน็ตช้า และไม่แจกแจงจำนวนรอบทำซ้ำ ขอบเขตผลจึงยังจำกัดอยู่ในสภาพทดลองที่รายงานครับ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Sections 3.2–3.4, 4.3, 5 and 6, PDF pages 2–4. Device/network generalization and missing repeat-count observations are the preparer’s critique.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250–295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จากผลทดลอง แคชลดงานก่อนเปิดการโต้ตอบ ส่วนภาพล่วงหน้าลดเวลารอเห็นภาพ แต่ยังเหลือ Hydration และพื้นที่ที่เพิ่มขึ้นครับ ทีมวิจัยมองว่าวิธีนี้มีโอกาสกับข้อมูลคงที่และรูปแบบการโต้ตอบที่คาดหมายได้ จึงเสนอศึกษาวิธี hydration ที่ละเอียดขึ้น กลยุทธ์ผสมช่วงเผยแพร่กับ runtime การสร้างทรัพยากรใหม่แบบ incremental และการเลือกชุดปรับปรุงอัตโนมัติจากข้อมูลกับข้อกำหนดภาพ ทั้งหมดเป็นแนวทางอนาคต ยังไม่ได้เป็นผลทดลองในบทความครับ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Left column: reader synthesis of Figure 4 and Table 1, Section 5. Right column: authors’ future work in Sections 5–6, PDF page 4. Finer-grained hydration, hybrid strategies, incremental regeneration and automatic configuration selection are proposed future directions, not evaluated methods.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8c5b5d89aa40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89b18ea99746cc" /><Relationship Type="http://schemas.openxmlformats.org/officeDocument/2006/relationships/slideLayout" Target="/ppt/slideLayouts/slideLayout1.xml" Id="R3cf582a9592944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f582a9592944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f4c4c8bbc4591" /><Relationship Type="http://schemas.openxmlformats.org/officeDocument/2006/relationships/notesSlide" Target="/ppt/notesSlides/notesSlide1.xml" Id="R615a67e445884e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f1bf8e7c94f92" /><Relationship Type="http://schemas.openxmlformats.org/officeDocument/2006/relationships/notesSlide" Target="/ppt/notesSlides/notesSlide2.xml" Id="R7309cba1d18040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bcc265c224c3c" /><Relationship Type="http://schemas.openxmlformats.org/officeDocument/2006/relationships/image" Target="/ppt/media/image.png" Id="R2902366da76a434b" /><Relationship Type="http://schemas.openxmlformats.org/officeDocument/2006/relationships/notesSlide" Target="/ppt/notesSlides/notesSlide3.xml" Id="R430aedb7cb3444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cc233f6a54d26" /><Relationship Type="http://schemas.openxmlformats.org/officeDocument/2006/relationships/image" Target="/ppt/media/image2.png" Id="Rfba49fef08254c7e" /><Relationship Type="http://schemas.openxmlformats.org/officeDocument/2006/relationships/notesSlide" Target="/ppt/notesSlides/notesSlide4.xml" Id="R85a2ef696d1449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bdbe5b37547c6" /><Relationship Type="http://schemas.openxmlformats.org/officeDocument/2006/relationships/image" Target="/ppt/media/image3.png" Id="R0ae822926dab4261" /><Relationship Type="http://schemas.openxmlformats.org/officeDocument/2006/relationships/notesSlide" Target="/ppt/notesSlides/notesSlide5.xml" Id="Rfb7aa7851caf4b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0c9af072a4cd9" /><Relationship Type="http://schemas.openxmlformats.org/officeDocument/2006/relationships/notesSlide" Target="/ppt/notesSlides/notesSlide6.xml" Id="R589a66d0a23b42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ef513f6654718" /><Relationship Type="http://schemas.openxmlformats.org/officeDocument/2006/relationships/notesSlide" Target="/ppt/notesSlides/notesSlide7.xml" Id="R99c0d7ef302544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2E168383-AD6A-458D-BC2E-C265924E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09725"/>
            <a:ext cx="1196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305432 เครือข่ายเซนเซอร์ (Sensor Networks)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AFBC9F69-C2B9-4397-8558-94D2D7B8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86000"/>
            <a:ext cx="11963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Publish-Time Optimizations</a:t>
            </a:r>
          </a:p>
          <a:p xmlns:a="http://schemas.openxmlformats.org/drawingml/2006/main">
            <a:pPr algn="ctr">
              <a:def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for Web-Based Visualizations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BA5BC370-EA4E-45D4-ABDB-90D4F4AC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67125"/>
            <a:ext cx="12344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8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การเตรียมงานตอนเผยแพร่เพื่อเพิ่มประสิทธิภาพเว็บแสดงภาพข้อมูล</a:t>
            </a:r>
          </a:p>
        </p:txBody>
      </p:sp>
      <p:sp>
        <p:nvSpPr>
          <p:cNvPr id="4" name="shape-4">
            <a:extLst xmlns:a="http://schemas.openxmlformats.org/drawingml/2006/main">
              <a:ext uri="{FF2B5EF4-FFF2-40B4-BE49-F238E27FC236}">
                <a16:creationId xmlns:a16="http://schemas.microsoft.com/office/drawing/2014/main" id="{F7621A26-E5D9-468F-AF60-379BF127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43400"/>
            <a:ext cx="2019300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478F9B88-C1A2-4D85-8AE8-22A280FD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48225"/>
            <a:ext cx="11963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Ron Pechuk, Jeffrey Heer</a:t>
            </a:r>
          </a:p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University of Washington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1CBC787D-881B-4BD5-8A96-F76B69E5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62600"/>
            <a:ext cx="1253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2025 IEEE Visualization and Visual Analytics (VIS), pp. 226–230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8B8FE23B-4754-4F09-BF61-A9D2827E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72175"/>
            <a:ext cx="1253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IEEE Doc ID: 11298742     DOI: 10.1109/VIS60296.2025.00051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345C7758-BEE0-4411-BA44-9DD04C96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762750"/>
            <a:ext cx="1196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นำเสนอโดย นายธีรภัทร ภู่ระย้า     รหัสนิสิต 66362416</a:t>
            </a:r>
          </a:p>
        </p:txBody>
      </p:sp>
    </p:spTree>
    <p:extLst>
      <p:ext uri="{BB962C8B-B14F-4D97-AF65-F5344CB8AC3E}">
        <p14:creationId xmlns:p14="http://schemas.microsoft.com/office/powerpoint/2010/main" val="16416932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hape-9">
            <a:extLst xmlns:a="http://schemas.openxmlformats.org/drawingml/2006/main">
              <a:ext uri="{FF2B5EF4-FFF2-40B4-BE49-F238E27FC236}">
                <a16:creationId xmlns:a16="http://schemas.microsoft.com/office/drawing/2014/main" id="{C1125508-04AE-44B7-816A-BB9F96B4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0">
            <a:extLst xmlns:a="http://schemas.openxmlformats.org/drawingml/2006/main">
              <a:ext uri="{FF2B5EF4-FFF2-40B4-BE49-F238E27FC236}">
                <a16:creationId xmlns:a16="http://schemas.microsoft.com/office/drawing/2014/main" id="{D9D2DB87-65C3-484B-9D3A-2B2C01BA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ปัญหาและตัวชี้วัดของการเปิดเว็บ</a:t>
            </a:r>
          </a:p>
        </p:txBody>
      </p:sp>
      <p:sp>
        <p:nvSpPr>
          <p:cNvPr id="3" name="shape-11">
            <a:extLst xmlns:a="http://schemas.openxmlformats.org/drawingml/2006/main">
              <a:ext uri="{FF2B5EF4-FFF2-40B4-BE49-F238E27FC236}">
                <a16:creationId xmlns:a16="http://schemas.microsoft.com/office/drawing/2014/main" id="{216FF731-56F6-48D0-B1FD-0716DCF2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2FF5E8B4-9D46-404C-A1B5-914E885E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19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3">
            <a:extLst xmlns:a="http://schemas.openxmlformats.org/drawingml/2006/main">
              <a:ext uri="{FF2B5EF4-FFF2-40B4-BE49-F238E27FC236}">
                <a16:creationId xmlns:a16="http://schemas.microsoft.com/office/drawing/2014/main" id="{B8BEC1D0-9C0B-4BFB-AB54-22F3C87D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9533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6" name="shape-14">
            <a:extLst xmlns:a="http://schemas.openxmlformats.org/drawingml/2006/main">
              <a:ext uri="{FF2B5EF4-FFF2-40B4-BE49-F238E27FC236}">
                <a16:creationId xmlns:a16="http://schemas.microsoft.com/office/drawing/2014/main" id="{799B9A7E-C03A-4BD7-9E30-25982004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33500"/>
            <a:ext cx="6305550" cy="6115050"/>
          </a:xfrm>
          <a:prstGeom xmlns:a="http://schemas.openxmlformats.org/drawingml/2006/main" prst="roundRect">
            <a:avLst>
              <a:gd name="adj" fmla="val 1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3EAB9574-F345-4181-855A-335CB3F4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1571625"/>
            <a:ext cx="573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งานที่ผู้ใช้ครั้งแรกยังต้องรอ</a:t>
            </a:r>
          </a:p>
        </p:txBody>
      </p:sp>
      <p:sp>
        <p:nvSpPr>
          <p:cNvPr id="8" name="text-16">
            <a:extLst xmlns:a="http://schemas.openxmlformats.org/drawingml/2006/main">
              <a:ext uri="{FF2B5EF4-FFF2-40B4-BE49-F238E27FC236}">
                <a16:creationId xmlns:a16="http://schemas.microsoft.com/office/drawing/2014/main" id="{ED40D1BF-B9D0-4BE7-A643-3BBF3360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2AF731DA-0E5D-4904-923C-9982935B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90750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โหลดและคำนวณข้อมูล</a:t>
            </a:r>
          </a:p>
        </p:txBody>
      </p:sp>
      <p:sp>
        <p:nvSpPr>
          <p:cNvPr id="10" name="text-18">
            <a:extLst xmlns:a="http://schemas.openxmlformats.org/drawingml/2006/main">
              <a:ext uri="{FF2B5EF4-FFF2-40B4-BE49-F238E27FC236}">
                <a16:creationId xmlns:a16="http://schemas.microsoft.com/office/drawing/2014/main" id="{866E30A2-9405-42FE-8B8E-45322DEF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90800"/>
            <a:ext cx="527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คิวรีเริ่มต้นและการวาดภาพเกิดหลังเปิดหน้า</a:t>
            </a:r>
          </a:p>
        </p:txBody>
      </p:sp>
      <p:sp>
        <p:nvSpPr>
          <p:cNvPr id="11" name="shape-19">
            <a:extLst xmlns:a="http://schemas.openxmlformats.org/drawingml/2006/main">
              <a:ext uri="{FF2B5EF4-FFF2-40B4-BE49-F238E27FC236}">
                <a16:creationId xmlns:a16="http://schemas.microsoft.com/office/drawing/2014/main" id="{6644EED6-FAB1-41AA-AEB7-9D51C8B3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86125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20">
            <a:extLst xmlns:a="http://schemas.openxmlformats.org/drawingml/2006/main">
              <a:ext uri="{FF2B5EF4-FFF2-40B4-BE49-F238E27FC236}">
                <a16:creationId xmlns:a16="http://schemas.microsoft.com/office/drawing/2014/main" id="{841AEBAB-E0D6-4756-AD65-CD94A7A5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042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21">
            <a:extLst xmlns:a="http://schemas.openxmlformats.org/drawingml/2006/main">
              <a:ext uri="{FF2B5EF4-FFF2-40B4-BE49-F238E27FC236}">
                <a16:creationId xmlns:a16="http://schemas.microsoft.com/office/drawing/2014/main" id="{DB1E04BF-9BA8-4D20-A69C-B5AF5371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00425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สร้างแคชตอนใช้งาน</a:t>
            </a:r>
          </a:p>
        </p:txBody>
      </p:sp>
      <p:sp>
        <p:nvSpPr>
          <p:cNvPr id="14" name="text-22">
            <a:extLst xmlns:a="http://schemas.openxmlformats.org/drawingml/2006/main">
              <a:ext uri="{FF2B5EF4-FFF2-40B4-BE49-F238E27FC236}">
                <a16:creationId xmlns:a16="http://schemas.microsoft.com/office/drawing/2014/main" id="{5CFF4662-DA94-4584-B076-83CC034B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00475"/>
            <a:ext cx="527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ผู้ใช้ครั้งแรกยังต้องสร้างผลที่คนอื่นใช้ซ้ำ</a:t>
            </a:r>
          </a:p>
        </p:txBody>
      </p:sp>
      <p:sp>
        <p:nvSpPr>
          <p:cNvPr id="15" name="shape-23">
            <a:extLst xmlns:a="http://schemas.openxmlformats.org/drawingml/2006/main">
              <a:ext uri="{FF2B5EF4-FFF2-40B4-BE49-F238E27FC236}">
                <a16:creationId xmlns:a16="http://schemas.microsoft.com/office/drawing/2014/main" id="{CA8AF061-541D-4053-AA4E-24595363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24">
            <a:extLst xmlns:a="http://schemas.openxmlformats.org/drawingml/2006/main">
              <a:ext uri="{FF2B5EF4-FFF2-40B4-BE49-F238E27FC236}">
                <a16:creationId xmlns:a16="http://schemas.microsoft.com/office/drawing/2014/main" id="{7D91C9CB-B4EF-4130-BBF7-039CD12C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01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25">
            <a:extLst xmlns:a="http://schemas.openxmlformats.org/drawingml/2006/main">
              <a:ext uri="{FF2B5EF4-FFF2-40B4-BE49-F238E27FC236}">
                <a16:creationId xmlns:a16="http://schemas.microsoft.com/office/drawing/2014/main" id="{F01413C3-2E73-4DE5-8465-D73F7275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ภาพกับระบบโต้ตอบพร้อมต่างเวลา</a:t>
            </a:r>
          </a:p>
        </p:txBody>
      </p:sp>
      <p:sp>
        <p:nvSpPr>
          <p:cNvPr id="18" name="text-26">
            <a:extLst xmlns:a="http://schemas.openxmlformats.org/drawingml/2006/main">
              <a:ext uri="{FF2B5EF4-FFF2-40B4-BE49-F238E27FC236}">
                <a16:creationId xmlns:a16="http://schemas.microsoft.com/office/drawing/2014/main" id="{7E32AD6A-9361-4F07-A244-E11D7C6A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10150"/>
            <a:ext cx="527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ภาพเริ่มต้นอาจมาแล้ว แต่ยังรับอินพุตไม่ได้</a:t>
            </a:r>
          </a:p>
        </p:txBody>
      </p:sp>
      <p:sp>
        <p:nvSpPr>
          <p:cNvPr id="19" name="shape-27">
            <a:extLst xmlns:a="http://schemas.openxmlformats.org/drawingml/2006/main">
              <a:ext uri="{FF2B5EF4-FFF2-40B4-BE49-F238E27FC236}">
                <a16:creationId xmlns:a16="http://schemas.microsoft.com/office/drawing/2014/main" id="{7818CF4F-28D5-4669-93D8-CE4B539C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05475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0" name="text-28">
            <a:extLst xmlns:a="http://schemas.openxmlformats.org/drawingml/2006/main">
              <a:ext uri="{FF2B5EF4-FFF2-40B4-BE49-F238E27FC236}">
                <a16:creationId xmlns:a16="http://schemas.microsoft.com/office/drawing/2014/main" id="{206297DF-18A2-4C58-80E1-E4E2B98C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97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4</a:t>
            </a:r>
          </a:p>
        </p:txBody>
      </p:sp>
      <p:sp>
        <p:nvSpPr>
          <p:cNvPr id="21" name="text-29">
            <a:extLst xmlns:a="http://schemas.openxmlformats.org/drawingml/2006/main">
              <a:ext uri="{FF2B5EF4-FFF2-40B4-BE49-F238E27FC236}">
                <a16:creationId xmlns:a16="http://schemas.microsoft.com/office/drawing/2014/main" id="{E7395AAE-8B3D-43A4-936A-77AC9B60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819775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ทรัพยากรล่วงหน้ามีต้นทุน</a:t>
            </a:r>
          </a:p>
        </p:txBody>
      </p:sp>
      <p:sp>
        <p:nvSpPr>
          <p:cNvPr id="22" name="text-30">
            <a:extLst xmlns:a="http://schemas.openxmlformats.org/drawingml/2006/main">
              <a:ext uri="{FF2B5EF4-FFF2-40B4-BE49-F238E27FC236}">
                <a16:creationId xmlns:a16="http://schemas.microsoft.com/office/drawing/2014/main" id="{6725B7CA-CDAB-4141-AD32-469CBCA0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219825"/>
            <a:ext cx="527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ต้องแลกพื้นที่และจังหวะสร้างข้อมูลใหม่</a:t>
            </a:r>
          </a:p>
        </p:txBody>
      </p:sp>
      <p:sp>
        <p:nvSpPr>
          <p:cNvPr id="23" name="shape-31">
            <a:extLst xmlns:a="http://schemas.openxmlformats.org/drawingml/2006/main">
              <a:ext uri="{FF2B5EF4-FFF2-40B4-BE49-F238E27FC236}">
                <a16:creationId xmlns:a16="http://schemas.microsoft.com/office/drawing/2014/main" id="{12F24635-208D-4300-92DA-0457481B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1333500"/>
            <a:ext cx="6343650" cy="195262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32">
            <a:extLst xmlns:a="http://schemas.openxmlformats.org/drawingml/2006/main">
              <a:ext uri="{FF2B5EF4-FFF2-40B4-BE49-F238E27FC236}">
                <a16:creationId xmlns:a16="http://schemas.microsoft.com/office/drawing/2014/main" id="{D4BC4662-3C03-45F4-B875-E30DEA5A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540" y="1571625"/>
            <a:ext cx="577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TTR  เวลาเห็นภาพ</a:t>
            </a:r>
          </a:p>
        </p:txBody>
      </p:sp>
      <p:sp>
        <p:nvSpPr>
          <p:cNvPr id="25" name="text-33">
            <a:extLst xmlns:a="http://schemas.openxmlformats.org/drawingml/2006/main">
              <a:ext uri="{FF2B5EF4-FFF2-40B4-BE49-F238E27FC236}">
                <a16:creationId xmlns:a16="http://schemas.microsoft.com/office/drawing/2014/main" id="{399533FA-7C2F-4317-9B7E-917C478C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76450"/>
            <a:ext cx="5715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จากร้องขอหน้า จนเห็น visualization ครบ</a:t>
            </a:r>
          </a:p>
        </p:txBody>
      </p:sp>
      <p:sp>
        <p:nvSpPr>
          <p:cNvPr id="26" name="text-34">
            <a:extLst xmlns:a="http://schemas.openxmlformats.org/drawingml/2006/main">
              <a:ext uri="{FF2B5EF4-FFF2-40B4-BE49-F238E27FC236}">
                <a16:creationId xmlns:a16="http://schemas.microsoft.com/office/drawing/2014/main" id="{DA8788D8-F992-4894-B6E2-C32105E5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71775"/>
            <a:ext cx="571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นับเนื้อหาภาพที่มีความหมาย ไม่ใช่เพียง header</a:t>
            </a:r>
          </a:p>
        </p:txBody>
      </p:sp>
      <p:sp>
        <p:nvSpPr>
          <p:cNvPr id="27" name="shape-35">
            <a:extLst xmlns:a="http://schemas.openxmlformats.org/drawingml/2006/main">
              <a:ext uri="{FF2B5EF4-FFF2-40B4-BE49-F238E27FC236}">
                <a16:creationId xmlns:a16="http://schemas.microsoft.com/office/drawing/2014/main" id="{9E6010E3-018D-4799-85E9-B18698D2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3505200"/>
            <a:ext cx="6343650" cy="195262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8" name="text-36">
            <a:extLst xmlns:a="http://schemas.openxmlformats.org/drawingml/2006/main">
              <a:ext uri="{FF2B5EF4-FFF2-40B4-BE49-F238E27FC236}">
                <a16:creationId xmlns:a16="http://schemas.microsoft.com/office/drawing/2014/main" id="{8FC4FF06-0426-4057-A3C8-83E5AA8A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540" y="3743325"/>
            <a:ext cx="577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TTA  เวลาพร้อมโต้ตอบ</a:t>
            </a:r>
          </a:p>
        </p:txBody>
      </p:sp>
      <p:sp>
        <p:nvSpPr>
          <p:cNvPr id="29" name="text-37">
            <a:extLst xmlns:a="http://schemas.openxmlformats.org/drawingml/2006/main">
              <a:ext uri="{FF2B5EF4-FFF2-40B4-BE49-F238E27FC236}">
                <a16:creationId xmlns:a16="http://schemas.microsoft.com/office/drawing/2014/main" id="{0FE65735-694B-4C54-847D-98C74ACB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48150"/>
            <a:ext cx="5715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จนระบบตอบ filter, zoom หรือ selection ได้</a:t>
            </a:r>
          </a:p>
        </p:txBody>
      </p:sp>
      <p:sp>
        <p:nvSpPr>
          <p:cNvPr id="30" name="text-38">
            <a:extLst xmlns:a="http://schemas.openxmlformats.org/drawingml/2006/main">
              <a:ext uri="{FF2B5EF4-FFF2-40B4-BE49-F238E27FC236}">
                <a16:creationId xmlns:a16="http://schemas.microsoft.com/office/drawing/2014/main" id="{9167E462-73F0-4608-AFA9-9799C3DE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43475"/>
            <a:ext cx="571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วัดความพร้อมเริ่มใช้งาน แยกจากเวลาเห็นภาพ</a:t>
            </a:r>
          </a:p>
        </p:txBody>
      </p:sp>
      <p:sp>
        <p:nvSpPr>
          <p:cNvPr id="31" name="shape-39">
            <a:extLst xmlns:a="http://schemas.openxmlformats.org/drawingml/2006/main">
              <a:ext uri="{FF2B5EF4-FFF2-40B4-BE49-F238E27FC236}">
                <a16:creationId xmlns:a16="http://schemas.microsoft.com/office/drawing/2014/main" id="{66F56E04-FC0A-469B-B722-1EBF2696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5676900"/>
            <a:ext cx="6343650" cy="1771650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32" name="text-40">
            <a:extLst xmlns:a="http://schemas.openxmlformats.org/drawingml/2006/main">
              <a:ext uri="{FF2B5EF4-FFF2-40B4-BE49-F238E27FC236}">
                <a16:creationId xmlns:a16="http://schemas.microsoft.com/office/drawing/2014/main" id="{05051343-793A-44C7-BA3C-15C738DD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540" y="5915025"/>
            <a:ext cx="577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SC  พื้นที่ทรัพยากรที่เผยแพร่</a:t>
            </a:r>
          </a:p>
        </p:txBody>
      </p:sp>
      <p:sp>
        <p:nvSpPr>
          <p:cNvPr id="33" name="text-41">
            <a:extLst xmlns:a="http://schemas.openxmlformats.org/drawingml/2006/main">
              <a:ext uri="{FF2B5EF4-FFF2-40B4-BE49-F238E27FC236}">
                <a16:creationId xmlns:a16="http://schemas.microsoft.com/office/drawing/2014/main" id="{128FBF35-6AA4-4415-BDE6-6F26E8E6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4198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พิจารณาพื้นที่ร่วมกับผลต่อการโหลดและหน่วยความจำ</a:t>
            </a:r>
          </a:p>
        </p:txBody>
      </p:sp>
      <p:sp>
        <p:nvSpPr>
          <p:cNvPr id="34" name="text-42">
            <a:extLst xmlns:a="http://schemas.openxmlformats.org/drawingml/2006/main">
              <a:ext uri="{FF2B5EF4-FFF2-40B4-BE49-F238E27FC236}">
                <a16:creationId xmlns:a16="http://schemas.microsoft.com/office/drawing/2014/main" id="{B8DA7957-C8C3-4206-8E0B-6F2233BB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7124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 3.1, หน้า PDF 2</a:t>
            </a:r>
          </a:p>
        </p:txBody>
      </p:sp>
    </p:spTree>
    <p:extLst>
      <p:ext uri="{BB962C8B-B14F-4D97-AF65-F5344CB8AC3E}">
        <p14:creationId xmlns:p14="http://schemas.microsoft.com/office/powerpoint/2010/main" val="14817770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hape-43">
            <a:extLst xmlns:a="http://schemas.openxmlformats.org/drawingml/2006/main">
              <a:ext uri="{FF2B5EF4-FFF2-40B4-BE49-F238E27FC236}">
                <a16:creationId xmlns:a16="http://schemas.microsoft.com/office/drawing/2014/main" id="{211E30A2-D816-4434-8075-B91CD957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44">
            <a:extLst xmlns:a="http://schemas.openxmlformats.org/drawingml/2006/main">
              <a:ext uri="{FF2B5EF4-FFF2-40B4-BE49-F238E27FC236}">
                <a16:creationId xmlns:a16="http://schemas.microsoft.com/office/drawing/2014/main" id="{EC94C3FD-88FF-4EEB-9C0E-29D08394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สถาปัตยกรรม Mosaic Publisher</a:t>
            </a:r>
          </a:p>
        </p:txBody>
      </p:sp>
      <p:sp>
        <p:nvSpPr>
          <p:cNvPr id="3" name="shape-45">
            <a:extLst xmlns:a="http://schemas.openxmlformats.org/drawingml/2006/main">
              <a:ext uri="{FF2B5EF4-FFF2-40B4-BE49-F238E27FC236}">
                <a16:creationId xmlns:a16="http://schemas.microsoft.com/office/drawing/2014/main" id="{D1EDBB18-4EA3-419C-9A4C-663F1851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46">
            <a:extLst xmlns:a="http://schemas.openxmlformats.org/drawingml/2006/main">
              <a:ext uri="{FF2B5EF4-FFF2-40B4-BE49-F238E27FC236}">
                <a16:creationId xmlns:a16="http://schemas.microsoft.com/office/drawing/2014/main" id="{AA838026-A907-4D26-975D-5DA8AF26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19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47">
            <a:extLst xmlns:a="http://schemas.openxmlformats.org/drawingml/2006/main">
              <a:ext uri="{FF2B5EF4-FFF2-40B4-BE49-F238E27FC236}">
                <a16:creationId xmlns:a16="http://schemas.microsoft.com/office/drawing/2014/main" id="{EE0ADFD2-9089-448E-B202-3731163E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9533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6" name="shape-48">
            <a:extLst xmlns:a="http://schemas.openxmlformats.org/drawingml/2006/main">
              <a:ext uri="{FF2B5EF4-FFF2-40B4-BE49-F238E27FC236}">
                <a16:creationId xmlns:a16="http://schemas.microsoft.com/office/drawing/2014/main" id="{80B89F2C-D0AE-48A6-B86C-EC9AE3D1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33500"/>
            <a:ext cx="8229600" cy="3762375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49">
            <a:extLst xmlns:a="http://schemas.openxmlformats.org/drawingml/2006/main">
              <a:ext uri="{FF2B5EF4-FFF2-40B4-BE49-F238E27FC236}">
                <a16:creationId xmlns:a16="http://schemas.microsoft.com/office/drawing/2014/main" id="{924B8FE4-3AD1-4B6D-B1B3-80EC769D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1571625"/>
            <a:ext cx="7658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กลยุทธ์ก่อน user request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2366da76a434b"/>
          <a:stretch xmlns:a="http://schemas.openxmlformats.org/drawingml/2006/main"/>
        </p:blipFill>
        <p:spPr>
          <a:xfrm xmlns:a="http://schemas.openxmlformats.org/drawingml/2006/main">
            <a:off x="1055699" y="2114550"/>
            <a:ext cx="7766028" cy="2571750"/>
          </a:xfrm>
          <a:prstGeom xmlns:a="http://schemas.openxmlformats.org/drawingml/2006/main" prst="rect">
            <a:avLst/>
          </a:prstGeom>
        </p:spPr>
      </p:pic>
      <p:sp>
        <p:nvSpPr>
          <p:cNvPr id="9" name="text-50">
            <a:extLst xmlns:a="http://schemas.openxmlformats.org/drawingml/2006/main">
              <a:ext uri="{FF2B5EF4-FFF2-40B4-BE49-F238E27FC236}">
                <a16:creationId xmlns:a16="http://schemas.microsoft.com/office/drawing/2014/main" id="{99D35C2A-04C9-4BE5-9C5E-A8F5AB5B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72025"/>
            <a:ext cx="771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1: งานสามกลุ่มที่ย้ายไปช่วงเผยแพร่ (หน้า PDF 1)</a:t>
            </a:r>
          </a:p>
        </p:txBody>
      </p:sp>
      <p:sp>
        <p:nvSpPr>
          <p:cNvPr id="10" name="shape-51">
            <a:extLst xmlns:a="http://schemas.openxmlformats.org/drawingml/2006/main">
              <a:ext uri="{FF2B5EF4-FFF2-40B4-BE49-F238E27FC236}">
                <a16:creationId xmlns:a16="http://schemas.microsoft.com/office/drawing/2014/main" id="{FA482C01-07A4-4A8A-8481-F13B1804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34000"/>
            <a:ext cx="8229600" cy="211455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52">
            <a:extLst xmlns:a="http://schemas.openxmlformats.org/drawingml/2006/main">
              <a:ext uri="{FF2B5EF4-FFF2-40B4-BE49-F238E27FC236}">
                <a16:creationId xmlns:a16="http://schemas.microsoft.com/office/drawing/2014/main" id="{ED20F2D9-F7CE-474B-BD5B-ABB0CD3B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5572125"/>
            <a:ext cx="7658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กระบวนการของ Publisher</a:t>
            </a:r>
          </a:p>
        </p:txBody>
      </p:sp>
      <p:sp>
        <p:nvSpPr>
          <p:cNvPr id="12" name="shape-53">
            <a:extLst xmlns:a="http://schemas.openxmlformats.org/drawingml/2006/main">
              <a:ext uri="{FF2B5EF4-FFF2-40B4-BE49-F238E27FC236}">
                <a16:creationId xmlns:a16="http://schemas.microsoft.com/office/drawing/2014/main" id="{509205BA-5B43-41E1-BBC8-62B07E80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000750"/>
            <a:ext cx="2381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3" name="text-54">
            <a:extLst xmlns:a="http://schemas.openxmlformats.org/drawingml/2006/main">
              <a:ext uri="{FF2B5EF4-FFF2-40B4-BE49-F238E27FC236}">
                <a16:creationId xmlns:a16="http://schemas.microsoft.com/office/drawing/2014/main" id="{B6F49E84-25B5-46D2-99B2-5A490E65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6172200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จำลองอินพุต</a:t>
            </a:r>
          </a:p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virtual DOM</a:t>
            </a:r>
          </a:p>
        </p:txBody>
      </p:sp>
      <p:sp>
        <p:nvSpPr>
          <p:cNvPr id="14" name="shape-55">
            <a:extLst xmlns:a="http://schemas.openxmlformats.org/drawingml/2006/main">
              <a:ext uri="{FF2B5EF4-FFF2-40B4-BE49-F238E27FC236}">
                <a16:creationId xmlns:a16="http://schemas.microsoft.com/office/drawing/2014/main" id="{26762C58-C5C0-4286-8A6B-CB0C4171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64103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5" name="flow-arrow-56">
            <a:extLst xmlns:a="http://schemas.openxmlformats.org/drawingml/2006/main">
              <a:ext uri="{FF2B5EF4-FFF2-40B4-BE49-F238E27FC236}">
                <a16:creationId xmlns:a16="http://schemas.microsoft.com/office/drawing/2014/main" id="{4D3E0763-6AC0-472C-8F3B-79695124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48075" y="6372225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6" name="shape-57">
            <a:extLst xmlns:a="http://schemas.openxmlformats.org/drawingml/2006/main">
              <a:ext uri="{FF2B5EF4-FFF2-40B4-BE49-F238E27FC236}">
                <a16:creationId xmlns:a16="http://schemas.microsoft.com/office/drawing/2014/main" id="{9095E3C2-0485-4B30-B4FB-1332FE73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6000750"/>
            <a:ext cx="2381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text-58">
            <a:extLst xmlns:a="http://schemas.openxmlformats.org/drawingml/2006/main">
              <a:ext uri="{FF2B5EF4-FFF2-40B4-BE49-F238E27FC236}">
                <a16:creationId xmlns:a16="http://schemas.microsoft.com/office/drawing/2014/main" id="{87097FDA-5140-4F2A-9BF6-D9ECE317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6172200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คำนวณและเก็บผล</a:t>
            </a:r>
          </a:p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DuckDB</a:t>
            </a:r>
          </a:p>
        </p:txBody>
      </p:sp>
      <p:sp>
        <p:nvSpPr>
          <p:cNvPr id="18" name="shape-59">
            <a:extLst xmlns:a="http://schemas.openxmlformats.org/drawingml/2006/main">
              <a:ext uri="{FF2B5EF4-FFF2-40B4-BE49-F238E27FC236}">
                <a16:creationId xmlns:a16="http://schemas.microsoft.com/office/drawing/2014/main" id="{ECBA90B4-8BC8-4AC5-88B2-A69216D3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64103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9" name="flow-arrow-60">
            <a:extLst xmlns:a="http://schemas.openxmlformats.org/drawingml/2006/main">
              <a:ext uri="{FF2B5EF4-FFF2-40B4-BE49-F238E27FC236}">
                <a16:creationId xmlns:a16="http://schemas.microsoft.com/office/drawing/2014/main" id="{CE3D24BE-DAD8-42C0-A14F-B5A19196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96025" y="6372225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0" name="shape-61">
            <a:extLst xmlns:a="http://schemas.openxmlformats.org/drawingml/2006/main">
              <a:ext uri="{FF2B5EF4-FFF2-40B4-BE49-F238E27FC236}">
                <a16:creationId xmlns:a16="http://schemas.microsoft.com/office/drawing/2014/main" id="{B53F7EB2-A276-4278-A1E8-9A7937A7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6000750"/>
            <a:ext cx="2381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1" name="text-62">
            <a:extLst xmlns:a="http://schemas.openxmlformats.org/drawingml/2006/main">
              <a:ext uri="{FF2B5EF4-FFF2-40B4-BE49-F238E27FC236}">
                <a16:creationId xmlns:a16="http://schemas.microsoft.com/office/drawing/2014/main" id="{A32D5FDC-09D4-463C-87A2-DF79FD66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6172200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rewrite AST</a:t>
            </a:r>
          </a:p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สร้าง assets และ JS</a:t>
            </a:r>
          </a:p>
        </p:txBody>
      </p:sp>
      <p:sp>
        <p:nvSpPr>
          <p:cNvPr id="22" name="text-63">
            <a:extLst xmlns:a="http://schemas.openxmlformats.org/drawingml/2006/main">
              <a:ext uri="{FF2B5EF4-FFF2-40B4-BE49-F238E27FC236}">
                <a16:creationId xmlns:a16="http://schemas.microsoft.com/office/drawing/2014/main" id="{7CAA1C34-7816-49F8-B893-A50423A6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7096125"/>
            <a:ext cx="767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สรุปกลไกจาก Sections 4.1–4.3, หน้า PDF 3</a:t>
            </a:r>
          </a:p>
        </p:txBody>
      </p:sp>
      <p:sp>
        <p:nvSpPr>
          <p:cNvPr id="23" name="shape-64">
            <a:extLst xmlns:a="http://schemas.openxmlformats.org/drawingml/2006/main">
              <a:ext uri="{FF2B5EF4-FFF2-40B4-BE49-F238E27FC236}">
                <a16:creationId xmlns:a16="http://schemas.microsoft.com/office/drawing/2014/main" id="{38616220-40D7-498A-A9A9-2C7DC07E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5935" y="1333500"/>
            <a:ext cx="4419600" cy="6115050"/>
          </a:xfrm>
          <a:prstGeom xmlns:a="http://schemas.openxmlformats.org/drawingml/2006/main" prst="roundRect">
            <a:avLst>
              <a:gd name="adj" fmla="val 21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65">
            <a:extLst xmlns:a="http://schemas.openxmlformats.org/drawingml/2006/main">
              <a:ext uri="{FF2B5EF4-FFF2-40B4-BE49-F238E27FC236}">
                <a16:creationId xmlns:a16="http://schemas.microsoft.com/office/drawing/2014/main" id="{64159746-3447-4242-9CCC-84C63AE9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1571625"/>
            <a:ext cx="3848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ทรัพยากรที่ส่งให้ runtime</a:t>
            </a:r>
          </a:p>
        </p:txBody>
      </p:sp>
      <p:sp>
        <p:nvSpPr>
          <p:cNvPr id="25" name="text-66">
            <a:extLst xmlns:a="http://schemas.openxmlformats.org/drawingml/2006/main">
              <a:ext uri="{FF2B5EF4-FFF2-40B4-BE49-F238E27FC236}">
                <a16:creationId xmlns:a16="http://schemas.microsoft.com/office/drawing/2014/main" id="{8D67C1FC-CB65-4DAD-B472-560CC51F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6" name="text-67">
            <a:extLst xmlns:a="http://schemas.openxmlformats.org/drawingml/2006/main">
              <a:ext uri="{FF2B5EF4-FFF2-40B4-BE49-F238E27FC236}">
                <a16:creationId xmlns:a16="http://schemas.microsoft.com/office/drawing/2014/main" id="{AD0ED721-C62E-4E28-A7DE-7ED538A4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2669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ข้อมูลที่เตรียมไว้</a:t>
            </a:r>
          </a:p>
        </p:txBody>
      </p:sp>
      <p:sp>
        <p:nvSpPr>
          <p:cNvPr id="27" name="text-68">
            <a:extLst xmlns:a="http://schemas.openxmlformats.org/drawingml/2006/main">
              <a:ext uri="{FF2B5EF4-FFF2-40B4-BE49-F238E27FC236}">
                <a16:creationId xmlns:a16="http://schemas.microsoft.com/office/drawing/2014/main" id="{87E58DE0-108D-4E6F-8A6E-BBDDD8D0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66700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เลือกคอลัมน์และแปลงข้อมูล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ลดงานเตรียมตอนเปิดหน้า</a:t>
            </a:r>
          </a:p>
        </p:txBody>
      </p:sp>
      <p:sp>
        <p:nvSpPr>
          <p:cNvPr id="28" name="shape-69">
            <a:extLst xmlns:a="http://schemas.openxmlformats.org/drawingml/2006/main">
              <a:ext uri="{FF2B5EF4-FFF2-40B4-BE49-F238E27FC236}">
                <a16:creationId xmlns:a16="http://schemas.microsoft.com/office/drawing/2014/main" id="{4E19B1FA-15AD-4021-8AD8-A0B43ADD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33800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70">
            <a:extLst xmlns:a="http://schemas.openxmlformats.org/drawingml/2006/main">
              <a:ext uri="{FF2B5EF4-FFF2-40B4-BE49-F238E27FC236}">
                <a16:creationId xmlns:a16="http://schemas.microsoft.com/office/drawing/2014/main" id="{3D2E39E5-74F5-40D4-81AB-544FBF79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671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30" name="text-71">
            <a:extLst xmlns:a="http://schemas.openxmlformats.org/drawingml/2006/main">
              <a:ext uri="{FF2B5EF4-FFF2-40B4-BE49-F238E27FC236}">
                <a16:creationId xmlns:a16="http://schemas.microsoft.com/office/drawing/2014/main" id="{7F803235-F619-42B2-BE9F-29912A97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0671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ผลคิวรีและ aggregates</a:t>
            </a:r>
          </a:p>
        </p:txBody>
      </p:sp>
      <p:sp>
        <p:nvSpPr>
          <p:cNvPr id="31" name="text-72">
            <a:extLst xmlns:a="http://schemas.openxmlformats.org/drawingml/2006/main">
              <a:ext uri="{FF2B5EF4-FFF2-40B4-BE49-F238E27FC236}">
                <a16:creationId xmlns:a16="http://schemas.microsoft.com/office/drawing/2014/main" id="{5EC15E4B-440F-4639-8F9D-5D238EB3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467225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เติม cache และ database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ผ่าน coordinator ของ Mosaic</a:t>
            </a:r>
          </a:p>
        </p:txBody>
      </p:sp>
      <p:sp>
        <p:nvSpPr>
          <p:cNvPr id="32" name="shape-73">
            <a:extLst xmlns:a="http://schemas.openxmlformats.org/drawingml/2006/main">
              <a:ext uri="{FF2B5EF4-FFF2-40B4-BE49-F238E27FC236}">
                <a16:creationId xmlns:a16="http://schemas.microsoft.com/office/drawing/2014/main" id="{C9547759-DE97-453C-AD46-B31EB6AB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534025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33" name="text-74">
            <a:extLst xmlns:a="http://schemas.openxmlformats.org/drawingml/2006/main">
              <a:ext uri="{FF2B5EF4-FFF2-40B4-BE49-F238E27FC236}">
                <a16:creationId xmlns:a16="http://schemas.microsoft.com/office/drawing/2014/main" id="{A4815449-781C-478B-822C-600BC55A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8674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4" name="text-75">
            <a:extLst xmlns:a="http://schemas.openxmlformats.org/drawingml/2006/main">
              <a:ext uri="{FF2B5EF4-FFF2-40B4-BE49-F238E27FC236}">
                <a16:creationId xmlns:a16="http://schemas.microsoft.com/office/drawing/2014/main" id="{0D4EF73F-8D7F-4089-AAE2-C80BA390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8674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ภาพเริ่มต้นและ JavaScript</a:t>
            </a:r>
          </a:p>
        </p:txBody>
      </p:sp>
      <p:sp>
        <p:nvSpPr>
          <p:cNvPr id="35" name="text-76">
            <a:extLst xmlns:a="http://schemas.openxmlformats.org/drawingml/2006/main">
              <a:ext uri="{FF2B5EF4-FFF2-40B4-BE49-F238E27FC236}">
                <a16:creationId xmlns:a16="http://schemas.microsoft.com/office/drawing/2014/main" id="{A030940F-6212-4D0B-AAE5-1BADCDFE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26745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แสดงภาพก่อน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แล้วเริ่มคอมโพเนนต์โต้ตอบ</a:t>
            </a:r>
          </a:p>
        </p:txBody>
      </p:sp>
    </p:spTree>
    <p:extLst>
      <p:ext uri="{BB962C8B-B14F-4D97-AF65-F5344CB8AC3E}">
        <p14:creationId xmlns:p14="http://schemas.microsoft.com/office/powerpoint/2010/main" val="984472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-77">
            <a:extLst xmlns:a="http://schemas.openxmlformats.org/drawingml/2006/main">
              <a:ext uri="{FF2B5EF4-FFF2-40B4-BE49-F238E27FC236}">
                <a16:creationId xmlns:a16="http://schemas.microsoft.com/office/drawing/2014/main" id="{C59CE07D-DFD0-4F32-916E-6E8F7D1C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78">
            <a:extLst xmlns:a="http://schemas.openxmlformats.org/drawingml/2006/main">
              <a:ext uri="{FF2B5EF4-FFF2-40B4-BE49-F238E27FC236}">
                <a16:creationId xmlns:a16="http://schemas.microsoft.com/office/drawing/2014/main" id="{59194FFD-CAE2-4394-B1E2-AF03FB38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Pre-rendering และต้นทุน Hydration</a:t>
            </a:r>
          </a:p>
        </p:txBody>
      </p:sp>
      <p:sp>
        <p:nvSpPr>
          <p:cNvPr id="3" name="shape-79">
            <a:extLst xmlns:a="http://schemas.openxmlformats.org/drawingml/2006/main">
              <a:ext uri="{FF2B5EF4-FFF2-40B4-BE49-F238E27FC236}">
                <a16:creationId xmlns:a16="http://schemas.microsoft.com/office/drawing/2014/main" id="{559AD385-2726-4265-8A70-2A71BB09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80">
            <a:extLst xmlns:a="http://schemas.openxmlformats.org/drawingml/2006/main">
              <a:ext uri="{FF2B5EF4-FFF2-40B4-BE49-F238E27FC236}">
                <a16:creationId xmlns:a16="http://schemas.microsoft.com/office/drawing/2014/main" id="{A34132DD-3696-4BB5-9FF7-6D745D2D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19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81">
            <a:extLst xmlns:a="http://schemas.openxmlformats.org/drawingml/2006/main">
              <a:ext uri="{FF2B5EF4-FFF2-40B4-BE49-F238E27FC236}">
                <a16:creationId xmlns:a16="http://schemas.microsoft.com/office/drawing/2014/main" id="{B9B5C4A9-306F-4EF2-BE59-C666F519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9533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4</a:t>
            </a:r>
          </a:p>
        </p:txBody>
      </p:sp>
      <p:sp>
        <p:nvSpPr>
          <p:cNvPr id="6" name="shape-82">
            <a:extLst xmlns:a="http://schemas.openxmlformats.org/drawingml/2006/main">
              <a:ext uri="{FF2B5EF4-FFF2-40B4-BE49-F238E27FC236}">
                <a16:creationId xmlns:a16="http://schemas.microsoft.com/office/drawing/2014/main" id="{C77395C2-7DB8-4C22-B876-ECB4E098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33500"/>
            <a:ext cx="7677150" cy="3171825"/>
          </a:xfrm>
          <a:prstGeom xmlns:a="http://schemas.openxmlformats.org/drawingml/2006/main" prst="roundRect">
            <a:avLst>
              <a:gd name="adj" fmla="val 30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83">
            <a:extLst xmlns:a="http://schemas.openxmlformats.org/drawingml/2006/main">
              <a:ext uri="{FF2B5EF4-FFF2-40B4-BE49-F238E27FC236}">
                <a16:creationId xmlns:a16="http://schemas.microsoft.com/office/drawing/2014/main" id="{35B18F4C-8AC9-43B2-983E-97696729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1571625"/>
            <a:ext cx="710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งานที่ยังเหลือเมื่อมีภาพล่วงหน้า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a49fef08254c7e"/>
          <a:stretch xmlns:a="http://schemas.openxmlformats.org/drawingml/2006/main"/>
        </p:blipFill>
        <p:spPr>
          <a:xfrm xmlns:a="http://schemas.openxmlformats.org/drawingml/2006/main">
            <a:off x="1973123" y="2152650"/>
            <a:ext cx="5378730" cy="1762125"/>
          </a:xfrm>
          <a:prstGeom xmlns:a="http://schemas.openxmlformats.org/drawingml/2006/main" prst="rect">
            <a:avLst/>
          </a:prstGeom>
        </p:spPr>
      </p:pic>
      <p:sp>
        <p:nvSpPr>
          <p:cNvPr id="9" name="text-84">
            <a:extLst xmlns:a="http://schemas.openxmlformats.org/drawingml/2006/main">
              <a:ext uri="{FF2B5EF4-FFF2-40B4-BE49-F238E27FC236}">
                <a16:creationId xmlns:a16="http://schemas.microsoft.com/office/drawing/2014/main" id="{E76C3CA7-5626-4060-8AD1-9DE4CBC6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24325"/>
            <a:ext cx="718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4: ค่าเฉลี่ย 5 specifications ที่ข้อมูล 10M แถว (หน้า PDF 4)</a:t>
            </a:r>
          </a:p>
        </p:txBody>
      </p:sp>
      <p:sp>
        <p:nvSpPr>
          <p:cNvPr id="10" name="shape-85">
            <a:extLst xmlns:a="http://schemas.openxmlformats.org/drawingml/2006/main">
              <a:ext uri="{FF2B5EF4-FFF2-40B4-BE49-F238E27FC236}">
                <a16:creationId xmlns:a16="http://schemas.microsoft.com/office/drawing/2014/main" id="{19E743F1-A2B3-4E6D-B94B-5FCE1379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43450"/>
            <a:ext cx="7677150" cy="2705100"/>
          </a:xfrm>
          <a:prstGeom xmlns:a="http://schemas.openxmlformats.org/drawingml/2006/main" prst="roundRect">
            <a:avLst>
              <a:gd name="adj" fmla="val 3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86">
            <a:extLst xmlns:a="http://schemas.openxmlformats.org/drawingml/2006/main">
              <a:ext uri="{FF2B5EF4-FFF2-40B4-BE49-F238E27FC236}">
                <a16:creationId xmlns:a16="http://schemas.microsoft.com/office/drawing/2014/main" id="{4996F8E8-0E24-4DCC-A415-4A7CDDCF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4981575"/>
            <a:ext cx="710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ภาพเริ่มต้นกับระบบโต้ตอบ</a:t>
            </a:r>
          </a:p>
        </p:txBody>
      </p:sp>
      <p:sp>
        <p:nvSpPr>
          <p:cNvPr id="12" name="shape-87">
            <a:extLst xmlns:a="http://schemas.openxmlformats.org/drawingml/2006/main">
              <a:ext uri="{FF2B5EF4-FFF2-40B4-BE49-F238E27FC236}">
                <a16:creationId xmlns:a16="http://schemas.microsoft.com/office/drawing/2014/main" id="{0BD2433B-2051-46DB-AA65-C6EF83F5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591175"/>
            <a:ext cx="2184400" cy="923925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3" name="text-88">
            <a:extLst xmlns:a="http://schemas.openxmlformats.org/drawingml/2006/main">
              <a:ext uri="{FF2B5EF4-FFF2-40B4-BE49-F238E27FC236}">
                <a16:creationId xmlns:a16="http://schemas.microsoft.com/office/drawing/2014/main" id="{508628C1-50AF-47EB-9E73-9582053F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762625"/>
            <a:ext cx="203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เห็นภาพเริ่มต้น</a:t>
            </a:r>
          </a:p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TTR</a:t>
            </a:r>
          </a:p>
        </p:txBody>
      </p:sp>
      <p:sp>
        <p:nvSpPr>
          <p:cNvPr id="14" name="shape-89">
            <a:extLst xmlns:a="http://schemas.openxmlformats.org/drawingml/2006/main">
              <a:ext uri="{FF2B5EF4-FFF2-40B4-BE49-F238E27FC236}">
                <a16:creationId xmlns:a16="http://schemas.microsoft.com/office/drawing/2014/main" id="{039966F8-72CA-4E38-B008-9F4D3A94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925" y="6053138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5" name="flow-arrow-90">
            <a:extLst xmlns:a="http://schemas.openxmlformats.org/drawingml/2006/main">
              <a:ext uri="{FF2B5EF4-FFF2-40B4-BE49-F238E27FC236}">
                <a16:creationId xmlns:a16="http://schemas.microsoft.com/office/drawing/2014/main" id="{13BDB1CE-F92C-49B6-A22C-FF9B3324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70275" y="6015038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6" name="shape-91">
            <a:extLst xmlns:a="http://schemas.openxmlformats.org/drawingml/2006/main">
              <a:ext uri="{FF2B5EF4-FFF2-40B4-BE49-F238E27FC236}">
                <a16:creationId xmlns:a16="http://schemas.microsoft.com/office/drawing/2014/main" id="{1B9DAAD4-2080-4BB3-BF5C-D69974A7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525" y="5591175"/>
            <a:ext cx="2184400" cy="923925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text-92">
            <a:extLst xmlns:a="http://schemas.openxmlformats.org/drawingml/2006/main">
              <a:ext uri="{FF2B5EF4-FFF2-40B4-BE49-F238E27FC236}">
                <a16:creationId xmlns:a16="http://schemas.microsoft.com/office/drawing/2014/main" id="{EB4535D9-BC05-4F12-B8B4-CCFC7F10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725" y="5762625"/>
            <a:ext cx="203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เริ่มคอมโพเนนต์</a:t>
            </a:r>
          </a:p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Hydration</a:t>
            </a:r>
          </a:p>
        </p:txBody>
      </p:sp>
      <p:sp>
        <p:nvSpPr>
          <p:cNvPr id="18" name="shape-93">
            <a:extLst xmlns:a="http://schemas.openxmlformats.org/drawingml/2006/main">
              <a:ext uri="{FF2B5EF4-FFF2-40B4-BE49-F238E27FC236}">
                <a16:creationId xmlns:a16="http://schemas.microsoft.com/office/drawing/2014/main" id="{846011A0-F4C9-424D-BDE8-2E85A987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025" y="6053138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9" name="flow-arrow-94">
            <a:extLst xmlns:a="http://schemas.openxmlformats.org/drawingml/2006/main">
              <a:ext uri="{FF2B5EF4-FFF2-40B4-BE49-F238E27FC236}">
                <a16:creationId xmlns:a16="http://schemas.microsoft.com/office/drawing/2014/main" id="{8A717B1D-C531-4D21-8E5A-416AAA5E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21375" y="6015038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0" name="shape-95">
            <a:extLst xmlns:a="http://schemas.openxmlformats.org/drawingml/2006/main">
              <a:ext uri="{FF2B5EF4-FFF2-40B4-BE49-F238E27FC236}">
                <a16:creationId xmlns:a16="http://schemas.microsoft.com/office/drawing/2014/main" id="{A853336E-6D51-4F3C-A242-8A2E895F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625" y="5591175"/>
            <a:ext cx="2184400" cy="923925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1" name="text-96">
            <a:extLst xmlns:a="http://schemas.openxmlformats.org/drawingml/2006/main">
              <a:ext uri="{FF2B5EF4-FFF2-40B4-BE49-F238E27FC236}">
                <a16:creationId xmlns:a16="http://schemas.microsoft.com/office/drawing/2014/main" id="{EB12CD2C-F7E5-4F9D-A11B-D486A7E6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825" y="5762625"/>
            <a:ext cx="203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พร้อมรับอินพุต</a:t>
            </a:r>
          </a:p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TTA</a:t>
            </a:r>
          </a:p>
        </p:txBody>
      </p:sp>
      <p:sp>
        <p:nvSpPr>
          <p:cNvPr id="22" name="text-97">
            <a:extLst xmlns:a="http://schemas.openxmlformats.org/drawingml/2006/main">
              <a:ext uri="{FF2B5EF4-FFF2-40B4-BE49-F238E27FC236}">
                <a16:creationId xmlns:a16="http://schemas.microsoft.com/office/drawing/2014/main" id="{99AB9551-9FAE-4FAE-A683-158D5296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000875"/>
            <a:ext cx="7105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ผังสรุปจาก Section 4.3 แสดงเหตุการณ์ ไม่ใช่เวลา benchmark</a:t>
            </a:r>
          </a:p>
        </p:txBody>
      </p:sp>
      <p:sp>
        <p:nvSpPr>
          <p:cNvPr id="23" name="shape-98">
            <a:extLst xmlns:a="http://schemas.openxmlformats.org/drawingml/2006/main">
              <a:ext uri="{FF2B5EF4-FFF2-40B4-BE49-F238E27FC236}">
                <a16:creationId xmlns:a16="http://schemas.microsoft.com/office/drawing/2014/main" id="{E3D544EA-FA54-4E86-AE08-D5AE700A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485" y="1333500"/>
            <a:ext cx="4972050" cy="6115050"/>
          </a:xfrm>
          <a:prstGeom xmlns:a="http://schemas.openxmlformats.org/drawingml/2006/main" prst="roundRect">
            <a:avLst>
              <a:gd name="adj" fmla="val 19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99">
            <a:extLst xmlns:a="http://schemas.openxmlformats.org/drawingml/2006/main">
              <a:ext uri="{FF2B5EF4-FFF2-40B4-BE49-F238E27FC236}">
                <a16:creationId xmlns:a16="http://schemas.microsoft.com/office/drawing/2014/main" id="{2013F3C9-281E-4536-9D46-5943ED7F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9235" y="1571625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รูปแบบ view และข้อจำกัด</a:t>
            </a:r>
          </a:p>
        </p:txBody>
      </p:sp>
      <p:sp>
        <p:nvSpPr>
          <p:cNvPr id="25" name="text-100">
            <a:extLst xmlns:a="http://schemas.openxmlformats.org/drawingml/2006/main">
              <a:ext uri="{FF2B5EF4-FFF2-40B4-BE49-F238E27FC236}">
                <a16:creationId xmlns:a16="http://schemas.microsoft.com/office/drawing/2014/main" id="{954969B2-48FA-4572-8BA9-060FA40A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2383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6" name="text-101">
            <a:extLst xmlns:a="http://schemas.openxmlformats.org/drawingml/2006/main">
              <a:ext uri="{FF2B5EF4-FFF2-40B4-BE49-F238E27FC236}">
                <a16:creationId xmlns:a16="http://schemas.microsoft.com/office/drawing/2014/main" id="{4D46E0AB-C671-4449-A918-5FD43171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383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View ที่ไม่โต้ตอบ</a:t>
            </a:r>
          </a:p>
        </p:txBody>
      </p:sp>
      <p:sp>
        <p:nvSpPr>
          <p:cNvPr id="27" name="text-102">
            <a:extLst xmlns:a="http://schemas.openxmlformats.org/drawingml/2006/main">
              <a:ext uri="{FF2B5EF4-FFF2-40B4-BE49-F238E27FC236}">
                <a16:creationId xmlns:a16="http://schemas.microsoft.com/office/drawing/2014/main" id="{1A8AA2B3-00A5-4590-85C7-D769DCD0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638425"/>
            <a:ext cx="4000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ส่งเฉพาะเนื้อหาที่เรนเดอร์ไว้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ไม่ต้องเพิ่มตรรกะ runtime</a:t>
            </a:r>
          </a:p>
        </p:txBody>
      </p:sp>
      <p:sp>
        <p:nvSpPr>
          <p:cNvPr id="28" name="shape-103">
            <a:extLst xmlns:a="http://schemas.openxmlformats.org/drawingml/2006/main">
              <a:ext uri="{FF2B5EF4-FFF2-40B4-BE49-F238E27FC236}">
                <a16:creationId xmlns:a16="http://schemas.microsoft.com/office/drawing/2014/main" id="{4F1EEC4F-0628-4D2A-9836-6C4E9B81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600450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04">
            <a:extLst xmlns:a="http://schemas.openxmlformats.org/drawingml/2006/main">
              <a:ext uri="{FF2B5EF4-FFF2-40B4-BE49-F238E27FC236}">
                <a16:creationId xmlns:a16="http://schemas.microsoft.com/office/drawing/2014/main" id="{4B36FAE1-80F0-47B1-AA77-D3F3D8DD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9433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30" name="text-105">
            <a:extLst xmlns:a="http://schemas.openxmlformats.org/drawingml/2006/main">
              <a:ext uri="{FF2B5EF4-FFF2-40B4-BE49-F238E27FC236}">
                <a16:creationId xmlns:a16="http://schemas.microsoft.com/office/drawing/2014/main" id="{51E2C864-BED8-40FF-8D2D-D416F86A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9433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View ที่โต้ตอบ</a:t>
            </a:r>
          </a:p>
        </p:txBody>
      </p:sp>
      <p:sp>
        <p:nvSpPr>
          <p:cNvPr id="31" name="text-106">
            <a:extLst xmlns:a="http://schemas.openxmlformats.org/drawingml/2006/main">
              <a:ext uri="{FF2B5EF4-FFF2-40B4-BE49-F238E27FC236}">
                <a16:creationId xmlns:a16="http://schemas.microsoft.com/office/drawing/2014/main" id="{AB19333A-F449-41E5-A354-1A0BDE8F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343400"/>
            <a:ext cx="4000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 initial view พร้อม JavaScript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เติมแคชและเริ่มส่วนโต้ตอบ</a:t>
            </a:r>
          </a:p>
        </p:txBody>
      </p:sp>
      <p:sp>
        <p:nvSpPr>
          <p:cNvPr id="32" name="shape-107">
            <a:extLst xmlns:a="http://schemas.openxmlformats.org/drawingml/2006/main">
              <a:ext uri="{FF2B5EF4-FFF2-40B4-BE49-F238E27FC236}">
                <a16:creationId xmlns:a16="http://schemas.microsoft.com/office/drawing/2014/main" id="{E027BBDA-BEF1-420E-9CB7-54B8EF91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295900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33" name="text-108">
            <a:extLst xmlns:a="http://schemas.openxmlformats.org/drawingml/2006/main">
              <a:ext uri="{FF2B5EF4-FFF2-40B4-BE49-F238E27FC236}">
                <a16:creationId xmlns:a16="http://schemas.microsoft.com/office/drawing/2014/main" id="{659C5643-F892-4A31-9997-BFB33065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6388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4" name="text-109">
            <a:extLst xmlns:a="http://schemas.openxmlformats.org/drawingml/2006/main">
              <a:ext uri="{FF2B5EF4-FFF2-40B4-BE49-F238E27FC236}">
                <a16:creationId xmlns:a16="http://schemas.microsoft.com/office/drawing/2014/main" id="{4D1E2496-C010-43F5-B64F-F7F174AF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638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Hydration ยังมีต้นทุนสูง</a:t>
            </a:r>
          </a:p>
        </p:txBody>
      </p:sp>
      <p:sp>
        <p:nvSpPr>
          <p:cNvPr id="35" name="text-110">
            <a:extLst xmlns:a="http://schemas.openxmlformats.org/drawingml/2006/main">
              <a:ext uri="{FF2B5EF4-FFF2-40B4-BE49-F238E27FC236}">
                <a16:creationId xmlns:a16="http://schemas.microsoft.com/office/drawing/2014/main" id="{A2673D00-E751-4555-B1ED-409F7754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6038850"/>
            <a:ext cx="4000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เกือบเท่า full client-side render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วิธีที่ละเอียดขึ้นเป็น future work</a:t>
            </a:r>
          </a:p>
        </p:txBody>
      </p:sp>
      <p:sp>
        <p:nvSpPr>
          <p:cNvPr id="36" name="text-111">
            <a:extLst xmlns:a="http://schemas.openxmlformats.org/drawingml/2006/main">
              <a:ext uri="{FF2B5EF4-FFF2-40B4-BE49-F238E27FC236}">
                <a16:creationId xmlns:a16="http://schemas.microsoft.com/office/drawing/2014/main" id="{99B82FE0-976B-4C13-9164-3781FE67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7134225"/>
            <a:ext cx="440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4.3 และ 5, หน้า PDF 3–4</a:t>
            </a:r>
          </a:p>
        </p:txBody>
      </p:sp>
    </p:spTree>
    <p:extLst>
      <p:ext uri="{BB962C8B-B14F-4D97-AF65-F5344CB8AC3E}">
        <p14:creationId xmlns:p14="http://schemas.microsoft.com/office/powerpoint/2010/main" val="6892034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hape-112">
            <a:extLst xmlns:a="http://schemas.openxmlformats.org/drawingml/2006/main">
              <a:ext uri="{FF2B5EF4-FFF2-40B4-BE49-F238E27FC236}">
                <a16:creationId xmlns:a16="http://schemas.microsoft.com/office/drawing/2014/main" id="{D31DF8AA-87B1-4C21-BC17-1508C11A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13">
            <a:extLst xmlns:a="http://schemas.openxmlformats.org/drawingml/2006/main">
              <a:ext uri="{FF2B5EF4-FFF2-40B4-BE49-F238E27FC236}">
                <a16:creationId xmlns:a16="http://schemas.microsoft.com/office/drawing/2014/main" id="{731D700A-F6CC-47E9-AED4-6D2FBB3D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ผลการทดลองและการแลกพื้นที่กับความหน่วง</a:t>
            </a:r>
          </a:p>
        </p:txBody>
      </p:sp>
      <p:sp>
        <p:nvSpPr>
          <p:cNvPr id="3" name="shape-114">
            <a:extLst xmlns:a="http://schemas.openxmlformats.org/drawingml/2006/main">
              <a:ext uri="{FF2B5EF4-FFF2-40B4-BE49-F238E27FC236}">
                <a16:creationId xmlns:a16="http://schemas.microsoft.com/office/drawing/2014/main" id="{D5B88291-0E0A-4F2E-8F4E-3C0970FA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15">
            <a:extLst xmlns:a="http://schemas.openxmlformats.org/drawingml/2006/main">
              <a:ext uri="{FF2B5EF4-FFF2-40B4-BE49-F238E27FC236}">
                <a16:creationId xmlns:a16="http://schemas.microsoft.com/office/drawing/2014/main" id="{D3C4608C-016C-4C45-B04C-969AB8F1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19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16">
            <a:extLst xmlns:a="http://schemas.openxmlformats.org/drawingml/2006/main">
              <a:ext uri="{FF2B5EF4-FFF2-40B4-BE49-F238E27FC236}">
                <a16:creationId xmlns:a16="http://schemas.microsoft.com/office/drawing/2014/main" id="{7F24FDC4-19A0-4FA4-8F29-F0220B91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9533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5</a:t>
            </a:r>
          </a:p>
        </p:txBody>
      </p:sp>
      <p:sp>
        <p:nvSpPr>
          <p:cNvPr id="6" name="shape-117">
            <a:extLst xmlns:a="http://schemas.openxmlformats.org/drawingml/2006/main">
              <a:ext uri="{FF2B5EF4-FFF2-40B4-BE49-F238E27FC236}">
                <a16:creationId xmlns:a16="http://schemas.microsoft.com/office/drawing/2014/main" id="{48093E5C-554C-4CB8-9D3D-1AB20EFA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33500"/>
            <a:ext cx="8105775" cy="3505200"/>
          </a:xfrm>
          <a:prstGeom xmlns:a="http://schemas.openxmlformats.org/drawingml/2006/main" prst="roundRect">
            <a:avLst>
              <a:gd name="adj" fmla="val 27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18">
            <a:extLst xmlns:a="http://schemas.openxmlformats.org/drawingml/2006/main">
              <a:ext uri="{FF2B5EF4-FFF2-40B4-BE49-F238E27FC236}">
                <a16:creationId xmlns:a16="http://schemas.microsoft.com/office/drawing/2014/main" id="{57BF58D3-5CAC-466D-A696-057C9353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1571625"/>
            <a:ext cx="7534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TTR และ TTA ตามขนาดข้อมูล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822926dab4261"/>
          <a:stretch xmlns:a="http://schemas.openxmlformats.org/drawingml/2006/main"/>
        </p:blipFill>
        <p:spPr>
          <a:xfrm xmlns:a="http://schemas.openxmlformats.org/drawingml/2006/main">
            <a:off x="1055241" y="1981200"/>
            <a:ext cx="7633592" cy="2314575"/>
          </a:xfrm>
          <a:prstGeom xmlns:a="http://schemas.openxmlformats.org/drawingml/2006/main" prst="rect">
            <a:avLst/>
          </a:prstGeom>
        </p:spPr>
      </p:pic>
      <p:sp>
        <p:nvSpPr>
          <p:cNvPr id="9" name="text-119">
            <a:extLst xmlns:a="http://schemas.openxmlformats.org/drawingml/2006/main">
              <a:ext uri="{FF2B5EF4-FFF2-40B4-BE49-F238E27FC236}">
                <a16:creationId xmlns:a16="http://schemas.microsoft.com/office/drawing/2014/main" id="{77BCA832-3ABF-49F2-BFEE-8A9FE308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467225"/>
            <a:ext cx="761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3: เส้น median, แรเงา IQR, ข้อมูล 10k–10M แถว (หน้า PDF 4)</a:t>
            </a:r>
          </a:p>
        </p:txBody>
      </p:sp>
      <p:sp>
        <p:nvSpPr>
          <p:cNvPr id="10" name="shape-120">
            <a:extLst xmlns:a="http://schemas.openxmlformats.org/drawingml/2006/main">
              <a:ext uri="{FF2B5EF4-FFF2-40B4-BE49-F238E27FC236}">
                <a16:creationId xmlns:a16="http://schemas.microsoft.com/office/drawing/2014/main" id="{B1D2B055-6FC1-422C-AE2A-4F75D3CC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1333500"/>
            <a:ext cx="4572000" cy="3505200"/>
          </a:xfrm>
          <a:prstGeom xmlns:a="http://schemas.openxmlformats.org/drawingml/2006/main" prst="roundRect">
            <a:avLst>
              <a:gd name="adj" fmla="val 27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121">
            <a:extLst xmlns:a="http://schemas.openxmlformats.org/drawingml/2006/main">
              <a:ext uri="{FF2B5EF4-FFF2-40B4-BE49-F238E27FC236}">
                <a16:creationId xmlns:a16="http://schemas.microsoft.com/office/drawing/2014/main" id="{5398D61F-AE5E-4535-96D2-5C3F5120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9285" y="15716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ค่าเฉลี่ยเปลี่ยนแปลงเทียบ none</a:t>
            </a:r>
          </a:p>
        </p:txBody>
      </p:sp>
      <p:graphicFrame>
        <p:nvGraphicFramePr>
          <p:cNvPr id="40" name=""/>
          <p:cNvGraphicFramePr/>
          <p:nvPr/>
        </p:nvGraphicFramePr>
        <p:xfrm>
          <a:off xmlns:a="http://schemas.openxmlformats.org/drawingml/2006/main" x="9448800" y="2133600"/>
          <a:ext xmlns:a="http://schemas.openxmlformats.org/drawingml/2006/main" cx="4143375" cy="1733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71550"/>
                <a:gridCol w="1057275"/>
                <a:gridCol w="1057275"/>
                <a:gridCol w="1057275"/>
              </a:tblGrid>
              <a:tr h="43338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ระดับ</a:t>
                      </a:r>
                    </a:p>
                  </a:txBody>
                  <a:tcPr marL="28575" marR="28575" marT="66675" marB="66675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ΔSC %</a:t>
                      </a:r>
                    </a:p>
                  </a:txBody>
                  <a:tcPr marL="28575" marR="28575" marT="66675" marB="66675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ΔTTR %</a:t>
                      </a:r>
                    </a:p>
                  </a:txBody>
                  <a:tcPr marL="28575" marR="28575" marT="66675" marB="66675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ΔTTA %</a:t>
                      </a:r>
                    </a:p>
                  </a:txBody>
                  <a:tcPr marL="28575" marR="28575" marT="66675" marB="66675" anchor="ctr">
                    <a:solidFill>
                      <a:srgbClr val="0F2D4A"/>
                    </a:solidFill>
                  </a:tcPr>
                </a:tc>
              </a:tr>
              <a:tr h="43338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+prep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0.0 ± 0.0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−0.6 ± 4.0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−1.0 ± 2.5</a:t>
                      </a:r>
                    </a:p>
                  </a:txBody>
                  <a:tcPr marL="28575" marR="28575" marT="66675" marB="66675" anchor="ctr"/>
                </a:tc>
              </a:tr>
              <a:tr h="43338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+cache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21.1 ± 29.8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−16.6 ± 1.3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−32.3 ± 8.9</a:t>
                      </a:r>
                    </a:p>
                  </a:txBody>
                  <a:tcPr marL="28575" marR="28575" marT="66675" marB="66675" anchor="ctr"/>
                </a:tc>
              </a:tr>
              <a:tr h="43338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+most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21.2 ± 29.9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−83.7 ± 2.1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−33.3 ± 9.6</a:t>
                      </a:r>
                    </a:p>
                  </a:txBody>
                  <a:tcPr marL="28575" marR="28575" marT="66675" marB="66675" anchor="ctr"/>
                </a:tc>
              </a:tr>
            </a:tbl>
          </a:graphicData>
        </a:graphic>
      </p:graphicFrame>
      <p:sp>
        <p:nvSpPr>
          <p:cNvPr id="13" name="text-122">
            <a:extLst xmlns:a="http://schemas.openxmlformats.org/drawingml/2006/main">
              <a:ext uri="{FF2B5EF4-FFF2-40B4-BE49-F238E27FC236}">
                <a16:creationId xmlns:a16="http://schemas.microsoft.com/office/drawing/2014/main" id="{702DD11B-8E97-434D-A9CF-BDC286AD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86225"/>
            <a:ext cx="411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Table 1: mean ± σ ข้ามรูปแบบและขนาดข้อมูล</a:t>
            </a:r>
          </a:p>
        </p:txBody>
      </p:sp>
      <p:sp>
        <p:nvSpPr>
          <p:cNvPr id="14" name="text-123">
            <a:extLst xmlns:a="http://schemas.openxmlformats.org/drawingml/2006/main">
              <a:ext uri="{FF2B5EF4-FFF2-40B4-BE49-F238E27FC236}">
                <a16:creationId xmlns:a16="http://schemas.microsoft.com/office/drawing/2014/main" id="{506D5B9A-C5C2-46AC-9E57-1ECB622D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005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แถว +most คือชุดรวม</a:t>
            </a:r>
          </a:p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กราฟและข้อความใช้ชื่อ +prerender</a:t>
            </a:r>
          </a:p>
        </p:txBody>
      </p:sp>
      <p:sp>
        <p:nvSpPr>
          <p:cNvPr id="15" name="shape-124">
            <a:extLst xmlns:a="http://schemas.openxmlformats.org/drawingml/2006/main">
              <a:ext uri="{FF2B5EF4-FFF2-40B4-BE49-F238E27FC236}">
                <a16:creationId xmlns:a16="http://schemas.microsoft.com/office/drawing/2014/main" id="{42B3F955-5F29-4AAF-BEAC-BCE8C3FA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95875"/>
            <a:ext cx="4114800" cy="1543050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6" name="text-125">
            <a:extLst xmlns:a="http://schemas.openxmlformats.org/drawingml/2006/main">
              <a:ext uri="{FF2B5EF4-FFF2-40B4-BE49-F238E27FC236}">
                <a16:creationId xmlns:a16="http://schemas.microsoft.com/office/drawing/2014/main" id="{3F97E1BF-2436-4D7F-9341-07EB51DC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" y="5267325"/>
            <a:ext cx="3590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0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−83.7%</a:t>
            </a:r>
          </a:p>
        </p:txBody>
      </p:sp>
      <p:sp>
        <p:nvSpPr>
          <p:cNvPr id="17" name="text-126">
            <a:extLst xmlns:a="http://schemas.openxmlformats.org/drawingml/2006/main">
              <a:ext uri="{FF2B5EF4-FFF2-40B4-BE49-F238E27FC236}">
                <a16:creationId xmlns:a16="http://schemas.microsoft.com/office/drawing/2014/main" id="{B4248F89-4463-4518-9649-CB7FFC37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" y="5848350"/>
            <a:ext cx="3590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เวลาเห็นภาพ TTR</a:t>
            </a:r>
          </a:p>
        </p:txBody>
      </p:sp>
      <p:sp>
        <p:nvSpPr>
          <p:cNvPr id="18" name="text-127">
            <a:extLst xmlns:a="http://schemas.openxmlformats.org/drawingml/2006/main">
              <a:ext uri="{FF2B5EF4-FFF2-40B4-BE49-F238E27FC236}">
                <a16:creationId xmlns:a16="http://schemas.microsoft.com/office/drawing/2014/main" id="{02A2094D-0027-47D8-844B-AF0935D2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" y="628650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2.1  (Table 1, ชุดรวม)</a:t>
            </a:r>
          </a:p>
        </p:txBody>
      </p:sp>
      <p:sp>
        <p:nvSpPr>
          <p:cNvPr id="19" name="shape-128">
            <a:extLst xmlns:a="http://schemas.openxmlformats.org/drawingml/2006/main">
              <a:ext uri="{FF2B5EF4-FFF2-40B4-BE49-F238E27FC236}">
                <a16:creationId xmlns:a16="http://schemas.microsoft.com/office/drawing/2014/main" id="{6C2A7B98-ABCD-4687-BD81-543B5E57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095875"/>
            <a:ext cx="4114800" cy="1543050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29">
            <a:extLst xmlns:a="http://schemas.openxmlformats.org/drawingml/2006/main">
              <a:ext uri="{FF2B5EF4-FFF2-40B4-BE49-F238E27FC236}">
                <a16:creationId xmlns:a16="http://schemas.microsoft.com/office/drawing/2014/main" id="{1ECF8210-56EB-4D78-AB58-BE0B7A9D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267325"/>
            <a:ext cx="3590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0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−33.3%</a:t>
            </a:r>
          </a:p>
        </p:txBody>
      </p:sp>
      <p:sp>
        <p:nvSpPr>
          <p:cNvPr id="21" name="text-130">
            <a:extLst xmlns:a="http://schemas.openxmlformats.org/drawingml/2006/main">
              <a:ext uri="{FF2B5EF4-FFF2-40B4-BE49-F238E27FC236}">
                <a16:creationId xmlns:a16="http://schemas.microsoft.com/office/drawing/2014/main" id="{DD2A6BDB-539F-4807-A454-19625EFE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848350"/>
            <a:ext cx="3590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เวลาพร้อมโต้ตอบ TTA</a:t>
            </a:r>
          </a:p>
        </p:txBody>
      </p:sp>
      <p:sp>
        <p:nvSpPr>
          <p:cNvPr id="22" name="text-131">
            <a:extLst xmlns:a="http://schemas.openxmlformats.org/drawingml/2006/main">
              <a:ext uri="{FF2B5EF4-FFF2-40B4-BE49-F238E27FC236}">
                <a16:creationId xmlns:a16="http://schemas.microsoft.com/office/drawing/2014/main" id="{A771947D-77ED-4940-B2A3-FC70ECBD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28650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9.6  (Table 1, ชุดรวม)</a:t>
            </a:r>
          </a:p>
        </p:txBody>
      </p:sp>
      <p:sp>
        <p:nvSpPr>
          <p:cNvPr id="23" name="shape-132">
            <a:extLst xmlns:a="http://schemas.openxmlformats.org/drawingml/2006/main">
              <a:ext uri="{FF2B5EF4-FFF2-40B4-BE49-F238E27FC236}">
                <a16:creationId xmlns:a16="http://schemas.microsoft.com/office/drawing/2014/main" id="{DC441D54-66A3-4B77-A191-254EE957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095875"/>
            <a:ext cx="4114800" cy="1543050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133">
            <a:extLst xmlns:a="http://schemas.openxmlformats.org/drawingml/2006/main">
              <a:ext uri="{FF2B5EF4-FFF2-40B4-BE49-F238E27FC236}">
                <a16:creationId xmlns:a16="http://schemas.microsoft.com/office/drawing/2014/main" id="{4DF24015-1D4C-44D8-93CF-A15B843E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267325"/>
            <a:ext cx="3590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0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+21.2%</a:t>
            </a:r>
          </a:p>
        </p:txBody>
      </p:sp>
      <p:sp>
        <p:nvSpPr>
          <p:cNvPr id="25" name="text-134">
            <a:extLst xmlns:a="http://schemas.openxmlformats.org/drawingml/2006/main">
              <a:ext uri="{FF2B5EF4-FFF2-40B4-BE49-F238E27FC236}">
                <a16:creationId xmlns:a16="http://schemas.microsoft.com/office/drawing/2014/main" id="{56101576-CF21-409B-B039-F6044411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848350"/>
            <a:ext cx="3590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พื้นที่เผยแพร่ SC</a:t>
            </a:r>
          </a:p>
        </p:txBody>
      </p:sp>
      <p:sp>
        <p:nvSpPr>
          <p:cNvPr id="26" name="text-135">
            <a:extLst xmlns:a="http://schemas.openxmlformats.org/drawingml/2006/main">
              <a:ext uri="{FF2B5EF4-FFF2-40B4-BE49-F238E27FC236}">
                <a16:creationId xmlns:a16="http://schemas.microsoft.com/office/drawing/2014/main" id="{EA2DFA3E-7B00-489E-AA3B-6912A47C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628650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29.9  (Table 1, ชุดรวม)</a:t>
            </a:r>
          </a:p>
        </p:txBody>
      </p:sp>
      <p:sp>
        <p:nvSpPr>
          <p:cNvPr id="27" name="text-136">
            <a:extLst xmlns:a="http://schemas.openxmlformats.org/drawingml/2006/main">
              <a:ext uri="{FF2B5EF4-FFF2-40B4-BE49-F238E27FC236}">
                <a16:creationId xmlns:a16="http://schemas.microsoft.com/office/drawing/2014/main" id="{1F584087-659F-46CB-B31E-1E25AD6C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77050"/>
            <a:ext cx="1295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5 specifications   M1 Pro / RAM 16 GB   Node 22.9.0   local server / DuckDB-WASM</a:t>
            </a:r>
          </a:p>
        </p:txBody>
      </p:sp>
      <p:sp>
        <p:nvSpPr>
          <p:cNvPr id="28" name="text-137">
            <a:extLst xmlns:a="http://schemas.openxmlformats.org/drawingml/2006/main">
              <a:ext uri="{FF2B5EF4-FFF2-40B4-BE49-F238E27FC236}">
                <a16:creationId xmlns:a16="http://schemas.microsoft.com/office/drawing/2014/main" id="{B52E698A-43A5-459F-AEA1-3103ED06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67575"/>
            <a:ext cx="1295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แคชลด TTA แล้ว 32.3%   ผลชุดรวมเพิ่มการลดอีก 1.0 จุดเปอร์เซ็นต์จาก baseline เดียวกัน</a:t>
            </a:r>
          </a:p>
        </p:txBody>
      </p:sp>
    </p:spTree>
    <p:extLst>
      <p:ext uri="{BB962C8B-B14F-4D97-AF65-F5344CB8AC3E}">
        <p14:creationId xmlns:p14="http://schemas.microsoft.com/office/powerpoint/2010/main" val="19450904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138">
            <a:extLst xmlns:a="http://schemas.openxmlformats.org/drawingml/2006/main">
              <a:ext uri="{FF2B5EF4-FFF2-40B4-BE49-F238E27FC236}">
                <a16:creationId xmlns:a16="http://schemas.microsoft.com/office/drawing/2014/main" id="{86B96938-59CF-4D31-9A32-FE1E7469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39">
            <a:extLst xmlns:a="http://schemas.openxmlformats.org/drawingml/2006/main">
              <a:ext uri="{FF2B5EF4-FFF2-40B4-BE49-F238E27FC236}">
                <a16:creationId xmlns:a16="http://schemas.microsoft.com/office/drawing/2014/main" id="{167F608A-AC6E-4754-A61E-CC23C890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คุณูปการและข้อจำกัดของบทความ</a:t>
            </a:r>
          </a:p>
        </p:txBody>
      </p:sp>
      <p:sp>
        <p:nvSpPr>
          <p:cNvPr id="3" name="shape-140">
            <a:extLst xmlns:a="http://schemas.openxmlformats.org/drawingml/2006/main">
              <a:ext uri="{FF2B5EF4-FFF2-40B4-BE49-F238E27FC236}">
                <a16:creationId xmlns:a16="http://schemas.microsoft.com/office/drawing/2014/main" id="{3A23B6FC-B7B2-4BE9-84BB-DD8AD591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41">
            <a:extLst xmlns:a="http://schemas.openxmlformats.org/drawingml/2006/main">
              <a:ext uri="{FF2B5EF4-FFF2-40B4-BE49-F238E27FC236}">
                <a16:creationId xmlns:a16="http://schemas.microsoft.com/office/drawing/2014/main" id="{580EF308-D169-4FAC-A2F7-A4F9E603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19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42">
            <a:extLst xmlns:a="http://schemas.openxmlformats.org/drawingml/2006/main">
              <a:ext uri="{FF2B5EF4-FFF2-40B4-BE49-F238E27FC236}">
                <a16:creationId xmlns:a16="http://schemas.microsoft.com/office/drawing/2014/main" id="{3A2C347F-FD98-44AE-AC7E-B0BAC9A8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9533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6</a:t>
            </a:r>
          </a:p>
        </p:txBody>
      </p:sp>
      <p:sp>
        <p:nvSpPr>
          <p:cNvPr id="6" name="shape-143">
            <a:extLst xmlns:a="http://schemas.openxmlformats.org/drawingml/2006/main">
              <a:ext uri="{FF2B5EF4-FFF2-40B4-BE49-F238E27FC236}">
                <a16:creationId xmlns:a16="http://schemas.microsoft.com/office/drawing/2014/main" id="{7E063DFE-620F-4FC9-AD3F-F357A611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33500"/>
            <a:ext cx="6324600" cy="6115050"/>
          </a:xfrm>
          <a:prstGeom xmlns:a="http://schemas.openxmlformats.org/drawingml/2006/main" prst="roundRect">
            <a:avLst>
              <a:gd name="adj" fmla="val 1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44">
            <a:extLst xmlns:a="http://schemas.openxmlformats.org/drawingml/2006/main">
              <a:ext uri="{FF2B5EF4-FFF2-40B4-BE49-F238E27FC236}">
                <a16:creationId xmlns:a16="http://schemas.microsoft.com/office/drawing/2014/main" id="{79369124-39CB-4432-A595-33CB6C6D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1571625"/>
            <a:ext cx="575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คุณูปการและจุดแข็ง</a:t>
            </a:r>
          </a:p>
        </p:txBody>
      </p:sp>
      <p:sp>
        <p:nvSpPr>
          <p:cNvPr id="8" name="shape-145">
            <a:extLst xmlns:a="http://schemas.openxmlformats.org/drawingml/2006/main">
              <a:ext uri="{FF2B5EF4-FFF2-40B4-BE49-F238E27FC236}">
                <a16:creationId xmlns:a16="http://schemas.microsoft.com/office/drawing/2014/main" id="{D4B54B30-88C0-4F29-96C6-F33BF8C5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935" y="1333500"/>
            <a:ext cx="6324600" cy="6115050"/>
          </a:xfrm>
          <a:prstGeom xmlns:a="http://schemas.openxmlformats.org/drawingml/2006/main" prst="roundRect">
            <a:avLst>
              <a:gd name="adj" fmla="val 1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9" name="text-146">
            <a:extLst xmlns:a="http://schemas.openxmlformats.org/drawingml/2006/main">
              <a:ext uri="{FF2B5EF4-FFF2-40B4-BE49-F238E27FC236}">
                <a16:creationId xmlns:a16="http://schemas.microsoft.com/office/drawing/2014/main" id="{2740F453-CFCA-4461-B051-0732A128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685" y="1571625"/>
            <a:ext cx="575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ข้อจำกัด</a:t>
            </a:r>
          </a:p>
        </p:txBody>
      </p:sp>
      <p:sp>
        <p:nvSpPr>
          <p:cNvPr id="10" name="text-147">
            <a:extLst xmlns:a="http://schemas.openxmlformats.org/drawingml/2006/main">
              <a:ext uri="{FF2B5EF4-FFF2-40B4-BE49-F238E27FC236}">
                <a16:creationId xmlns:a16="http://schemas.microsoft.com/office/drawing/2014/main" id="{231B0E3E-0228-4EFD-A737-3748EED3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669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11" name="text-148">
            <a:extLst xmlns:a="http://schemas.openxmlformats.org/drawingml/2006/main">
              <a:ext uri="{FF2B5EF4-FFF2-40B4-BE49-F238E27FC236}">
                <a16:creationId xmlns:a16="http://schemas.microsoft.com/office/drawing/2014/main" id="{8D50F743-7E04-43B7-9097-5C6492D6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26695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มี baseline และเพิ่มกลยุทธ์เป็นขั้น</a:t>
            </a:r>
          </a:p>
        </p:txBody>
      </p:sp>
      <p:sp>
        <p:nvSpPr>
          <p:cNvPr id="12" name="text-149">
            <a:extLst xmlns:a="http://schemas.openxmlformats.org/drawingml/2006/main">
              <a:ext uri="{FF2B5EF4-FFF2-40B4-BE49-F238E27FC236}">
                <a16:creationId xmlns:a16="http://schemas.microsoft.com/office/drawing/2014/main" id="{7C19C72C-FFF8-4D3A-85B5-95D8B50A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66700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แยกผลของงานเตรียม แคช และภาพล่วงหน้า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โดยคงวิธีเขียน specification เดิม</a:t>
            </a:r>
          </a:p>
        </p:txBody>
      </p:sp>
      <p:sp>
        <p:nvSpPr>
          <p:cNvPr id="13" name="text-150">
            <a:extLst xmlns:a="http://schemas.openxmlformats.org/drawingml/2006/main">
              <a:ext uri="{FF2B5EF4-FFF2-40B4-BE49-F238E27FC236}">
                <a16:creationId xmlns:a16="http://schemas.microsoft.com/office/drawing/2014/main" id="{27CA1C75-38B3-417C-9A6D-DC74CA9D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669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14" name="text-151">
            <a:extLst xmlns:a="http://schemas.openxmlformats.org/drawingml/2006/main">
              <a:ext uri="{FF2B5EF4-FFF2-40B4-BE49-F238E27FC236}">
                <a16:creationId xmlns:a16="http://schemas.microsoft.com/office/drawing/2014/main" id="{E35B2F71-0316-4F3A-A0CB-28D9236B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Hydration ยังทำงานมาก</a:t>
            </a:r>
          </a:p>
        </p:txBody>
      </p:sp>
      <p:sp>
        <p:nvSpPr>
          <p:cNvPr id="15" name="text-152">
            <a:extLst xmlns:a="http://schemas.openxmlformats.org/drawingml/2006/main">
              <a:ext uri="{FF2B5EF4-FFF2-40B4-BE49-F238E27FC236}">
                <a16:creationId xmlns:a16="http://schemas.microsoft.com/office/drawing/2014/main" id="{4B771804-24DC-4AAE-8447-E1805FC5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สร้างคอมโพเนนต์แบบ client-side rendering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ยังไม่ทดลอง progressive hydration</a:t>
            </a:r>
          </a:p>
        </p:txBody>
      </p:sp>
      <p:sp>
        <p:nvSpPr>
          <p:cNvPr id="16" name="shape-153">
            <a:extLst xmlns:a="http://schemas.openxmlformats.org/drawingml/2006/main">
              <a:ext uri="{FF2B5EF4-FFF2-40B4-BE49-F238E27FC236}">
                <a16:creationId xmlns:a16="http://schemas.microsoft.com/office/drawing/2014/main" id="{EFE913A7-FBEA-4E0F-A5C2-70FB4C05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771900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7" name="shape-154">
            <a:extLst xmlns:a="http://schemas.openxmlformats.org/drawingml/2006/main">
              <a:ext uri="{FF2B5EF4-FFF2-40B4-BE49-F238E27FC236}">
                <a16:creationId xmlns:a16="http://schemas.microsoft.com/office/drawing/2014/main" id="{D3A2FD11-A55A-47B9-AD69-94E840EC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71900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8" name="text-155">
            <a:extLst xmlns:a="http://schemas.openxmlformats.org/drawingml/2006/main">
              <a:ext uri="{FF2B5EF4-FFF2-40B4-BE49-F238E27FC236}">
                <a16:creationId xmlns:a16="http://schemas.microsoft.com/office/drawing/2014/main" id="{2925D5A8-3165-4F7E-9A58-3439909F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528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9" name="text-156">
            <a:extLst xmlns:a="http://schemas.openxmlformats.org/drawingml/2006/main">
              <a:ext uri="{FF2B5EF4-FFF2-40B4-BE49-F238E27FC236}">
                <a16:creationId xmlns:a16="http://schemas.microsoft.com/office/drawing/2014/main" id="{A0C27318-89A4-452D-AC71-9636E30A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952875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ประเมินการโต้ตอบหลายรูปแบบ</a:t>
            </a:r>
          </a:p>
        </p:txBody>
      </p:sp>
      <p:sp>
        <p:nvSpPr>
          <p:cNvPr id="20" name="text-157">
            <a:extLst xmlns:a="http://schemas.openxmlformats.org/drawingml/2006/main">
              <a:ext uri="{FF2B5EF4-FFF2-40B4-BE49-F238E27FC236}">
                <a16:creationId xmlns:a16="http://schemas.microsoft.com/office/drawing/2014/main" id="{AA193315-9E5A-4C74-AE69-00FAB683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352925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5 specifications, ข้อมูล 10k–10M แถว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ทั้ง view เดียวและ dashboard หลาย view</a:t>
            </a:r>
          </a:p>
        </p:txBody>
      </p:sp>
      <p:sp>
        <p:nvSpPr>
          <p:cNvPr id="21" name="text-158">
            <a:extLst xmlns:a="http://schemas.openxmlformats.org/drawingml/2006/main">
              <a:ext uri="{FF2B5EF4-FFF2-40B4-BE49-F238E27FC236}">
                <a16:creationId xmlns:a16="http://schemas.microsoft.com/office/drawing/2014/main" id="{502FA8B5-E48D-4004-9D21-C40FA603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528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2" name="text-159">
            <a:extLst xmlns:a="http://schemas.openxmlformats.org/drawingml/2006/main">
              <a:ext uri="{FF2B5EF4-FFF2-40B4-BE49-F238E27FC236}">
                <a16:creationId xmlns:a16="http://schemas.microsoft.com/office/drawing/2014/main" id="{072F75EF-B181-4E1B-B559-34B967F9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52875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ทรัพยากรเก่าและพื้นที่เพิ่ม</a:t>
            </a:r>
          </a:p>
        </p:txBody>
      </p:sp>
      <p:sp>
        <p:nvSpPr>
          <p:cNvPr id="23" name="text-160">
            <a:extLst xmlns:a="http://schemas.openxmlformats.org/drawingml/2006/main">
              <a:ext uri="{FF2B5EF4-FFF2-40B4-BE49-F238E27FC236}">
                <a16:creationId xmlns:a16="http://schemas.microsoft.com/office/drawing/2014/main" id="{738D9F5D-FC54-4A6F-B444-20581766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52925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ข้อมูลเปลี่ยนต้องสร้างใหม่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SC +21.2% มี σ สูงถึง 29.9</a:t>
            </a:r>
          </a:p>
        </p:txBody>
      </p:sp>
      <p:sp>
        <p:nvSpPr>
          <p:cNvPr id="24" name="shape-161">
            <a:extLst xmlns:a="http://schemas.openxmlformats.org/drawingml/2006/main">
              <a:ext uri="{FF2B5EF4-FFF2-40B4-BE49-F238E27FC236}">
                <a16:creationId xmlns:a16="http://schemas.microsoft.com/office/drawing/2014/main" id="{84647EF6-3172-48F0-A0E4-DE70C316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457825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shape-162">
            <a:extLst xmlns:a="http://schemas.openxmlformats.org/drawingml/2006/main">
              <a:ext uri="{FF2B5EF4-FFF2-40B4-BE49-F238E27FC236}">
                <a16:creationId xmlns:a16="http://schemas.microsoft.com/office/drawing/2014/main" id="{8BC11A69-408E-4D97-81BD-B8404FE2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57825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6" name="text-163">
            <a:extLst xmlns:a="http://schemas.openxmlformats.org/drawingml/2006/main">
              <a:ext uri="{FF2B5EF4-FFF2-40B4-BE49-F238E27FC236}">
                <a16:creationId xmlns:a16="http://schemas.microsoft.com/office/drawing/2014/main" id="{ADF1B14A-3F02-4048-A33C-E22DDBE6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6388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27" name="text-164">
            <a:extLst xmlns:a="http://schemas.openxmlformats.org/drawingml/2006/main">
              <a:ext uri="{FF2B5EF4-FFF2-40B4-BE49-F238E27FC236}">
                <a16:creationId xmlns:a16="http://schemas.microsoft.com/office/drawing/2014/main" id="{E3051AF1-09A8-42D0-80DD-C2485A3C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63880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วัดทั้งผลและต้นทุน</a:t>
            </a:r>
          </a:p>
        </p:txBody>
      </p:sp>
      <p:sp>
        <p:nvSpPr>
          <p:cNvPr id="28" name="text-165">
            <a:extLst xmlns:a="http://schemas.openxmlformats.org/drawingml/2006/main">
              <a:ext uri="{FF2B5EF4-FFF2-40B4-BE49-F238E27FC236}">
                <a16:creationId xmlns:a16="http://schemas.microsoft.com/office/drawing/2014/main" id="{85DA3BC8-8B77-4072-9B08-83EF9EA4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603885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TTR กับ TTA แสดงความพร้อมคนละช่วง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SC ทำให้เห็นพื้นที่ที่ต้องแลก</a:t>
            </a:r>
          </a:p>
        </p:txBody>
      </p:sp>
      <p:sp>
        <p:nvSpPr>
          <p:cNvPr id="29" name="text-166">
            <a:extLst xmlns:a="http://schemas.openxmlformats.org/drawingml/2006/main">
              <a:ext uri="{FF2B5EF4-FFF2-40B4-BE49-F238E27FC236}">
                <a16:creationId xmlns:a16="http://schemas.microsoft.com/office/drawing/2014/main" id="{352CE33D-7AB8-4715-82F0-715B2708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6388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167">
            <a:extLst xmlns:a="http://schemas.openxmlformats.org/drawingml/2006/main">
              <a:ext uri="{FF2B5EF4-FFF2-40B4-BE49-F238E27FC236}">
                <a16:creationId xmlns:a16="http://schemas.microsoft.com/office/drawing/2014/main" id="{38F5E4BB-4564-42F2-AC35-C3D21C05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3880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ขอบเขตการทดลองยังจำกัด</a:t>
            </a:r>
          </a:p>
        </p:txBody>
      </p:sp>
      <p:sp>
        <p:nvSpPr>
          <p:cNvPr id="31" name="text-168">
            <a:extLst xmlns:a="http://schemas.openxmlformats.org/drawingml/2006/main">
              <a:ext uri="{FF2B5EF4-FFF2-40B4-BE49-F238E27FC236}">
                <a16:creationId xmlns:a16="http://schemas.microsoft.com/office/drawing/2014/main" id="{A394187D-EF93-49D2-B58F-CF347C32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03885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laptop เครื่องเดียวและ local server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ไม่แจกแจงจำนวนรอบทำซ้ำ</a:t>
            </a:r>
          </a:p>
        </p:txBody>
      </p:sp>
      <p:sp>
        <p:nvSpPr>
          <p:cNvPr id="32" name="text-169">
            <a:extLst xmlns:a="http://schemas.openxmlformats.org/drawingml/2006/main">
              <a:ext uri="{FF2B5EF4-FFF2-40B4-BE49-F238E27FC236}">
                <a16:creationId xmlns:a16="http://schemas.microsoft.com/office/drawing/2014/main" id="{246B65FE-191B-4EFC-9C6B-FAEE35EB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181850"/>
            <a:ext cx="1228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3–6 และ Table 1, หน้า PDF 2–4</a:t>
            </a:r>
          </a:p>
        </p:txBody>
      </p:sp>
    </p:spTree>
    <p:extLst>
      <p:ext uri="{BB962C8B-B14F-4D97-AF65-F5344CB8AC3E}">
        <p14:creationId xmlns:p14="http://schemas.microsoft.com/office/powerpoint/2010/main" val="12891730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170">
            <a:extLst xmlns:a="http://schemas.openxmlformats.org/drawingml/2006/main">
              <a:ext uri="{FF2B5EF4-FFF2-40B4-BE49-F238E27FC236}">
                <a16:creationId xmlns:a16="http://schemas.microsoft.com/office/drawing/2014/main" id="{AF3B1D48-78AC-4136-A354-AFD4B913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71">
            <a:extLst xmlns:a="http://schemas.openxmlformats.org/drawingml/2006/main">
              <a:ext uri="{FF2B5EF4-FFF2-40B4-BE49-F238E27FC236}">
                <a16:creationId xmlns:a16="http://schemas.microsoft.com/office/drawing/2014/main" id="{936D5890-6FB9-460D-A7EA-53F80A48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ข้อสรุปและแนวทางวิจัยต่อ</a:t>
            </a:r>
          </a:p>
        </p:txBody>
      </p:sp>
      <p:sp>
        <p:nvSpPr>
          <p:cNvPr id="3" name="shape-172">
            <a:extLst xmlns:a="http://schemas.openxmlformats.org/drawingml/2006/main">
              <a:ext uri="{FF2B5EF4-FFF2-40B4-BE49-F238E27FC236}">
                <a16:creationId xmlns:a16="http://schemas.microsoft.com/office/drawing/2014/main" id="{6A22F19C-4E14-4BD1-ACFC-BF3F28CD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73">
            <a:extLst xmlns:a="http://schemas.openxmlformats.org/drawingml/2006/main">
              <a:ext uri="{FF2B5EF4-FFF2-40B4-BE49-F238E27FC236}">
                <a16:creationId xmlns:a16="http://schemas.microsoft.com/office/drawing/2014/main" id="{BC6DD81E-9585-4CD8-BABE-722660C9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19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74">
            <a:extLst xmlns:a="http://schemas.openxmlformats.org/drawingml/2006/main">
              <a:ext uri="{FF2B5EF4-FFF2-40B4-BE49-F238E27FC236}">
                <a16:creationId xmlns:a16="http://schemas.microsoft.com/office/drawing/2014/main" id="{C894DEC4-DBDF-4F55-A5CD-5B78ED7F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9533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7</a:t>
            </a:r>
          </a:p>
        </p:txBody>
      </p:sp>
      <p:sp>
        <p:nvSpPr>
          <p:cNvPr id="6" name="shape-175">
            <a:extLst xmlns:a="http://schemas.openxmlformats.org/drawingml/2006/main">
              <a:ext uri="{FF2B5EF4-FFF2-40B4-BE49-F238E27FC236}">
                <a16:creationId xmlns:a16="http://schemas.microsoft.com/office/drawing/2014/main" id="{3382B94F-3A1B-4EA2-98BE-F7B53893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33500"/>
            <a:ext cx="6324600" cy="6115050"/>
          </a:xfrm>
          <a:prstGeom xmlns:a="http://schemas.openxmlformats.org/drawingml/2006/main" prst="roundRect">
            <a:avLst>
              <a:gd name="adj" fmla="val 1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76">
            <a:extLst xmlns:a="http://schemas.openxmlformats.org/drawingml/2006/main">
              <a:ext uri="{FF2B5EF4-FFF2-40B4-BE49-F238E27FC236}">
                <a16:creationId xmlns:a16="http://schemas.microsoft.com/office/drawing/2014/main" id="{C4C27BDA-E528-4763-9E01-55B19EEF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1571625"/>
            <a:ext cx="575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ข้อสรุปจากการอ่าน</a:t>
            </a:r>
          </a:p>
        </p:txBody>
      </p:sp>
      <p:sp>
        <p:nvSpPr>
          <p:cNvPr id="8" name="shape-177">
            <a:extLst xmlns:a="http://schemas.openxmlformats.org/drawingml/2006/main">
              <a:ext uri="{FF2B5EF4-FFF2-40B4-BE49-F238E27FC236}">
                <a16:creationId xmlns:a16="http://schemas.microsoft.com/office/drawing/2014/main" id="{98A0A6E3-BD21-4C1E-8F72-0BA9C51F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935" y="1333500"/>
            <a:ext cx="6324600" cy="6115050"/>
          </a:xfrm>
          <a:prstGeom xmlns:a="http://schemas.openxmlformats.org/drawingml/2006/main" prst="roundRect">
            <a:avLst>
              <a:gd name="adj" fmla="val 1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9" name="text-178">
            <a:extLst xmlns:a="http://schemas.openxmlformats.org/drawingml/2006/main">
              <a:ext uri="{FF2B5EF4-FFF2-40B4-BE49-F238E27FC236}">
                <a16:creationId xmlns:a16="http://schemas.microsoft.com/office/drawing/2014/main" id="{F6B3CAFA-DFE9-48A7-B802-1CE42604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685" y="1571625"/>
            <a:ext cx="575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แนวทางที่ทีมวิจัยเสนอ</a:t>
            </a:r>
          </a:p>
        </p:txBody>
      </p:sp>
      <p:sp>
        <p:nvSpPr>
          <p:cNvPr id="10" name="text-179">
            <a:extLst xmlns:a="http://schemas.openxmlformats.org/drawingml/2006/main">
              <a:ext uri="{FF2B5EF4-FFF2-40B4-BE49-F238E27FC236}">
                <a16:creationId xmlns:a16="http://schemas.microsoft.com/office/drawing/2014/main" id="{357C98E9-CA94-4B38-9540-9B1BAE49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669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11" name="text-180">
            <a:extLst xmlns:a="http://schemas.openxmlformats.org/drawingml/2006/main">
              <a:ext uri="{FF2B5EF4-FFF2-40B4-BE49-F238E27FC236}">
                <a16:creationId xmlns:a16="http://schemas.microsoft.com/office/drawing/2014/main" id="{D5BB3BC6-E429-4100-9566-924E0CF5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26695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แคชลดงานก่อนเปิดการโต้ตอบ</a:t>
            </a:r>
          </a:p>
        </p:txBody>
      </p:sp>
      <p:sp>
        <p:nvSpPr>
          <p:cNvPr id="12" name="text-181">
            <a:extLst xmlns:a="http://schemas.openxmlformats.org/drawingml/2006/main">
              <a:ext uri="{FF2B5EF4-FFF2-40B4-BE49-F238E27FC236}">
                <a16:creationId xmlns:a16="http://schemas.microsoft.com/office/drawing/2014/main" id="{B3D96BEA-1EBF-436B-B250-B13355FF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66700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+cache ลด TTA เฉลี่ย 32.3%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เทียบกับ none</a:t>
            </a:r>
          </a:p>
        </p:txBody>
      </p:sp>
      <p:sp>
        <p:nvSpPr>
          <p:cNvPr id="13" name="text-182">
            <a:extLst xmlns:a="http://schemas.openxmlformats.org/drawingml/2006/main">
              <a:ext uri="{FF2B5EF4-FFF2-40B4-BE49-F238E27FC236}">
                <a16:creationId xmlns:a16="http://schemas.microsoft.com/office/drawing/2014/main" id="{DE263822-8002-41F5-A66D-B41E9804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669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14" name="text-183">
            <a:extLst xmlns:a="http://schemas.openxmlformats.org/drawingml/2006/main">
              <a:ext uri="{FF2B5EF4-FFF2-40B4-BE49-F238E27FC236}">
                <a16:creationId xmlns:a16="http://schemas.microsoft.com/office/drawing/2014/main" id="{21CF8C7A-F935-44A7-A05F-EA601F1F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ลดต้นทุน Hydration</a:t>
            </a:r>
          </a:p>
        </p:txBody>
      </p:sp>
      <p:sp>
        <p:nvSpPr>
          <p:cNvPr id="15" name="text-184">
            <a:extLst xmlns:a="http://schemas.openxmlformats.org/drawingml/2006/main">
              <a:ext uri="{FF2B5EF4-FFF2-40B4-BE49-F238E27FC236}">
                <a16:creationId xmlns:a16="http://schemas.microsoft.com/office/drawing/2014/main" id="{C674D1F7-BA9F-4823-BF4F-FF358137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ศึกษาวิธี hydration ที่ละเอียดขึ้น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เพื่อลดงานเริ่มส่วนโต้ตอบ</a:t>
            </a:r>
          </a:p>
        </p:txBody>
      </p:sp>
      <p:sp>
        <p:nvSpPr>
          <p:cNvPr id="16" name="shape-185">
            <a:extLst xmlns:a="http://schemas.openxmlformats.org/drawingml/2006/main">
              <a:ext uri="{FF2B5EF4-FFF2-40B4-BE49-F238E27FC236}">
                <a16:creationId xmlns:a16="http://schemas.microsoft.com/office/drawing/2014/main" id="{E7474074-48DD-4D6B-9291-EE529FEF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771900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7" name="shape-186">
            <a:extLst xmlns:a="http://schemas.openxmlformats.org/drawingml/2006/main">
              <a:ext uri="{FF2B5EF4-FFF2-40B4-BE49-F238E27FC236}">
                <a16:creationId xmlns:a16="http://schemas.microsoft.com/office/drawing/2014/main" id="{0570971D-E4C5-4928-AFBC-A55C2C27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71900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8" name="text-187">
            <a:extLst xmlns:a="http://schemas.openxmlformats.org/drawingml/2006/main">
              <a:ext uri="{FF2B5EF4-FFF2-40B4-BE49-F238E27FC236}">
                <a16:creationId xmlns:a16="http://schemas.microsoft.com/office/drawing/2014/main" id="{AC1E2B2B-F3D4-4B64-ABB9-A88EB360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528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9" name="text-188">
            <a:extLst xmlns:a="http://schemas.openxmlformats.org/drawingml/2006/main">
              <a:ext uri="{FF2B5EF4-FFF2-40B4-BE49-F238E27FC236}">
                <a16:creationId xmlns:a16="http://schemas.microsoft.com/office/drawing/2014/main" id="{57950EDE-1808-42E1-A392-35A7429B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952875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ภาพล่วงหน้าลดเวลารอเห็นภาพ</a:t>
            </a:r>
          </a:p>
        </p:txBody>
      </p:sp>
      <p:sp>
        <p:nvSpPr>
          <p:cNvPr id="20" name="text-189">
            <a:extLst xmlns:a="http://schemas.openxmlformats.org/drawingml/2006/main">
              <a:ext uri="{FF2B5EF4-FFF2-40B4-BE49-F238E27FC236}">
                <a16:creationId xmlns:a16="http://schemas.microsoft.com/office/drawing/2014/main" id="{E3AC4C78-DE9F-4976-8D59-D7C0D06F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352925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ชุดรวมลด TTR 83.7% แต่ TTA 33.3%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ยังเหลือต้นทุน Hydration</a:t>
            </a:r>
          </a:p>
        </p:txBody>
      </p:sp>
      <p:sp>
        <p:nvSpPr>
          <p:cNvPr id="21" name="text-190">
            <a:extLst xmlns:a="http://schemas.openxmlformats.org/drawingml/2006/main">
              <a:ext uri="{FF2B5EF4-FFF2-40B4-BE49-F238E27FC236}">
                <a16:creationId xmlns:a16="http://schemas.microsoft.com/office/drawing/2014/main" id="{0F36E47B-80DD-4502-BDB7-C6FF3CCD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528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2" name="text-191">
            <a:extLst xmlns:a="http://schemas.openxmlformats.org/drawingml/2006/main">
              <a:ext uri="{FF2B5EF4-FFF2-40B4-BE49-F238E27FC236}">
                <a16:creationId xmlns:a16="http://schemas.microsoft.com/office/drawing/2014/main" id="{47E3D444-5200-44C3-8514-D6EE266E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52875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ผสาน Publish time กับ Runtime</a:t>
            </a:r>
          </a:p>
        </p:txBody>
      </p:sp>
      <p:sp>
        <p:nvSpPr>
          <p:cNvPr id="23" name="text-192">
            <a:extLst xmlns:a="http://schemas.openxmlformats.org/drawingml/2006/main">
              <a:ext uri="{FF2B5EF4-FFF2-40B4-BE49-F238E27FC236}">
                <a16:creationId xmlns:a16="http://schemas.microsoft.com/office/drawing/2014/main" id="{A897FB62-5E78-43B0-B835-E1098513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52925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Hybrid strategies และ incremental regeneration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เป็นแนวทางขยายวิธีปรับปรุง</a:t>
            </a:r>
          </a:p>
        </p:txBody>
      </p:sp>
      <p:sp>
        <p:nvSpPr>
          <p:cNvPr id="24" name="shape-193">
            <a:extLst xmlns:a="http://schemas.openxmlformats.org/drawingml/2006/main">
              <a:ext uri="{FF2B5EF4-FFF2-40B4-BE49-F238E27FC236}">
                <a16:creationId xmlns:a16="http://schemas.microsoft.com/office/drawing/2014/main" id="{D9D97D88-C362-45D2-9CB2-184D9AD7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457825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shape-194">
            <a:extLst xmlns:a="http://schemas.openxmlformats.org/drawingml/2006/main">
              <a:ext uri="{FF2B5EF4-FFF2-40B4-BE49-F238E27FC236}">
                <a16:creationId xmlns:a16="http://schemas.microsoft.com/office/drawing/2014/main" id="{9AE334BB-8164-4FC5-8465-CE479D39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57825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6" name="text-195">
            <a:extLst xmlns:a="http://schemas.openxmlformats.org/drawingml/2006/main">
              <a:ext uri="{FF2B5EF4-FFF2-40B4-BE49-F238E27FC236}">
                <a16:creationId xmlns:a16="http://schemas.microsoft.com/office/drawing/2014/main" id="{8014FE70-4191-4582-9940-446F7C21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6388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27" name="text-196">
            <a:extLst xmlns:a="http://schemas.openxmlformats.org/drawingml/2006/main">
              <a:ext uri="{FF2B5EF4-FFF2-40B4-BE49-F238E27FC236}">
                <a16:creationId xmlns:a16="http://schemas.microsoft.com/office/drawing/2014/main" id="{83A718EC-22E4-4572-A4BA-C8C24333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63880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พื้นที่ทรัพยากรเพิ่มขึ้น</a:t>
            </a:r>
          </a:p>
        </p:txBody>
      </p:sp>
      <p:sp>
        <p:nvSpPr>
          <p:cNvPr id="28" name="text-197">
            <a:extLst xmlns:a="http://schemas.openxmlformats.org/drawingml/2006/main">
              <a:ext uri="{FF2B5EF4-FFF2-40B4-BE49-F238E27FC236}">
                <a16:creationId xmlns:a16="http://schemas.microsoft.com/office/drawing/2014/main" id="{2CF66FF3-2316-4A1B-8E9C-573001B0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603885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SC เพิ่ม 21.2% ± 29.9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พื้นที่เพิ่มต่างกันระหว่างเงื่อนไข</a:t>
            </a:r>
          </a:p>
        </p:txBody>
      </p:sp>
      <p:sp>
        <p:nvSpPr>
          <p:cNvPr id="29" name="text-198">
            <a:extLst xmlns:a="http://schemas.openxmlformats.org/drawingml/2006/main">
              <a:ext uri="{FF2B5EF4-FFF2-40B4-BE49-F238E27FC236}">
                <a16:creationId xmlns:a16="http://schemas.microsoft.com/office/drawing/2014/main" id="{9314C78B-B443-4991-A874-B043FCEA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6388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199">
            <a:extLst xmlns:a="http://schemas.openxmlformats.org/drawingml/2006/main">
              <a:ext uri="{FF2B5EF4-FFF2-40B4-BE49-F238E27FC236}">
                <a16:creationId xmlns:a16="http://schemas.microsoft.com/office/drawing/2014/main" id="{D23F7331-27FF-47F4-B010-E262B70E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3880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เลือกการปรับปรุงโดยอัตโนมัติ</a:t>
            </a:r>
          </a:p>
        </p:txBody>
      </p:sp>
      <p:sp>
        <p:nvSpPr>
          <p:cNvPr id="31" name="text-200">
            <a:extLst xmlns:a="http://schemas.openxmlformats.org/drawingml/2006/main">
              <a:ext uri="{FF2B5EF4-FFF2-40B4-BE49-F238E27FC236}">
                <a16:creationId xmlns:a16="http://schemas.microsoft.com/office/drawing/2014/main" id="{42566C2E-FBDF-44BF-8B1E-E06646A7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03885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พัฒนาวิธีเลือก optimization configuration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จากข้อมูลและข้อกำหนดภาพ</a:t>
            </a:r>
          </a:p>
        </p:txBody>
      </p:sp>
      <p:sp>
        <p:nvSpPr>
          <p:cNvPr id="32" name="text-201">
            <a:extLst xmlns:a="http://schemas.openxmlformats.org/drawingml/2006/main">
              <a:ext uri="{FF2B5EF4-FFF2-40B4-BE49-F238E27FC236}">
                <a16:creationId xmlns:a16="http://schemas.microsoft.com/office/drawing/2014/main" id="{E784A723-7763-4C7D-B7A5-A6A6D144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181850"/>
            <a:ext cx="1228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ข้อสรุป: Figure 4 / Table 1   แนวทางผู้วิจัย: Sections 5–6, หน้า PDF 4</a:t>
            </a:r>
          </a:p>
        </p:txBody>
      </p:sp>
    </p:spTree>
    <p:extLst>
      <p:ext uri="{BB962C8B-B14F-4D97-AF65-F5344CB8AC3E}">
        <p14:creationId xmlns:p14="http://schemas.microsoft.com/office/powerpoint/2010/main" val="8570107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2026-10-05T08:08:01.3550000Z</dcterms:created>
  <dcterms:modified xsi:type="dcterms:W3CDTF">2026-10-05T08:08:01.3550000Z</dcterms:modified>
</coreProperties>
</file>