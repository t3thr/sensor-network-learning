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b206abde541b5" /><Relationship Type="http://schemas.openxmlformats.org/officeDocument/2006/relationships/extended-properties" Target="/docProps/app.xml" Id="Rb8ef94c510a04489" /><Relationship Type="http://schemas.openxmlformats.org/officeDocument/2006/relationships/officeDocument" Target="/ppt/presentation.xml" Id="R48ff8640eaba4a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a7bbb9c6fd47cc"/>
  </p:sldMasterIdLst>
  <p:notesMasterIdLst>
    <p:notesMasterId xmlns:r="http://schemas.openxmlformats.org/officeDocument/2006/relationships" r:id="R7887d1befe5d49ec"/>
  </p:notesMasterIdLst>
  <p:sldIdLst>
    <p:sldId xmlns:r="http://schemas.openxmlformats.org/officeDocument/2006/relationships" id="256" r:id="Rfd39372929674dca"/>
    <p:sldId xmlns:r="http://schemas.openxmlformats.org/officeDocument/2006/relationships" id="257" r:id="R080b7c6ba4b84513"/>
    <p:sldId xmlns:r="http://schemas.openxmlformats.org/officeDocument/2006/relationships" id="258" r:id="R7fa0dd7b682d4ddb"/>
    <p:sldId xmlns:r="http://schemas.openxmlformats.org/officeDocument/2006/relationships" id="259" r:id="Rdedb96e3921b492a"/>
    <p:sldId xmlns:r="http://schemas.openxmlformats.org/officeDocument/2006/relationships" id="260" r:id="R916addb6f0d34cb5"/>
    <p:sldId xmlns:r="http://schemas.openxmlformats.org/officeDocument/2006/relationships" id="261" r:id="R1863787bb6d4479a"/>
    <p:sldId xmlns:r="http://schemas.openxmlformats.org/officeDocument/2006/relationships" id="262" r:id="Rf49be754f6834495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6e858a11e94a83" /><Relationship Type="http://schemas.openxmlformats.org/officeDocument/2006/relationships/slideMaster" Target="/ppt/slideMasters/slideMaster1.xml" Id="R80a7bbb9c6fd47cc" /><Relationship Type="http://schemas.openxmlformats.org/officeDocument/2006/relationships/notesMaster" Target="/ppt/notesMasters/notesMaster1.xml" Id="R7887d1befe5d49ec" /><Relationship Type="http://schemas.openxmlformats.org/officeDocument/2006/relationships/presProps" Target="/ppt/presProps.xml" Id="R18e415f6581b4238" /><Relationship Type="http://schemas.openxmlformats.org/officeDocument/2006/relationships/tableStyles" Target="/ppt/tableStyles.xml" Id="Rbf891bf3cbb446b6" /><Relationship Type="http://schemas.openxmlformats.org/officeDocument/2006/relationships/slide" Target="/ppt/slides/slide1.xml" Id="Rfd39372929674dca" /><Relationship Type="http://schemas.openxmlformats.org/officeDocument/2006/relationships/slide" Target="/ppt/slides/slide2.xml" Id="R080b7c6ba4b84513" /><Relationship Type="http://schemas.openxmlformats.org/officeDocument/2006/relationships/slide" Target="/ppt/slides/slide3.xml" Id="R7fa0dd7b682d4ddb" /><Relationship Type="http://schemas.openxmlformats.org/officeDocument/2006/relationships/slide" Target="/ppt/slides/slide4.xml" Id="Rdedb96e3921b492a" /><Relationship Type="http://schemas.openxmlformats.org/officeDocument/2006/relationships/slide" Target="/ppt/slides/slide5.xml" Id="R916addb6f0d34cb5" /><Relationship Type="http://schemas.openxmlformats.org/officeDocument/2006/relationships/slide" Target="/ppt/slides/slide6.xml" Id="R1863787bb6d4479a" /><Relationship Type="http://schemas.openxmlformats.org/officeDocument/2006/relationships/slide" Target="/ppt/slides/slide7.xml" Id="Rf49be754f683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8c0e56ea7f4d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a0ecce9f542ad" /><Relationship Type="http://schemas.openxmlformats.org/officeDocument/2006/relationships/notesMaster" Target="/ppt/notesMasters/notesMaster1.xml" Id="R2ab644dbc41f4d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0edcc6b6a4e37" /><Relationship Type="http://schemas.openxmlformats.org/officeDocument/2006/relationships/notesMaster" Target="/ppt/notesMasters/notesMaster1.xml" Id="Rcf691b53da1e4b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0e4e2e2b02476f" /><Relationship Type="http://schemas.openxmlformats.org/officeDocument/2006/relationships/notesMaster" Target="/ppt/notesMasters/notesMaster1.xml" Id="R7ac22817a8e245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9bc14790eb4702" /><Relationship Type="http://schemas.openxmlformats.org/officeDocument/2006/relationships/notesMaster" Target="/ppt/notesMasters/notesMaster1.xml" Id="Ra9c55291380c4e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bfef63243b4c25" /><Relationship Type="http://schemas.openxmlformats.org/officeDocument/2006/relationships/notesMaster" Target="/ppt/notesMasters/notesMaster1.xml" Id="R922ce77010c140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1c911a0744e42" /><Relationship Type="http://schemas.openxmlformats.org/officeDocument/2006/relationships/notesMaster" Target="/ppt/notesMasters/notesMaster1.xml" Id="Rfeeafc20475a4e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8564f95e564a45" /><Relationship Type="http://schemas.openxmlformats.org/officeDocument/2006/relationships/notesMaster" Target="/ppt/notesMasters/notesMaster1.xml" Id="R13dd98e3044e43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การนำเสนอนี้สรุปบทความวิจัยเรื่อง Publish-Time Optimizations for Web-Based Visualizations โดย Ron Pechuk และ Jeffrey Heer จาก University of Washington ตีพิมพ์ในการประชุมวิชาการ IEEE VIS 2025 โดยนำเสนอแนวทางย้ายภาระงานประมวลผลที่ต้องทำซ้ำไปไว้ในช่วงเผยแพร่ระบบ เพื่อลดความหน่วงเริ่มต้นของเว็บแสดงภาพข้อมูลเชิงโต้ตอบ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เมื่อเปิดหน้าเว็บแสดงภาพข้อมูล เบราว์เซอร์มักต้องดาวน์โหลดข้อมูลดิบ รันคิวรีรวมกลุ่ม และวาดภาพใหม่ทั้งหมด ทำให้ผู้ใช้งานคนแรกต้องรอคอยความหน่วงแบบ Cold-Start ผู้วิจัยจึงจำแนกตัวชี้วัดประสิทธิภาพออกเป็นสองส่วน คือ TTR หรือเวลาจนภาพแสดงผลสมบูรณ์ ซึ่งสะท้อนความเร็วที่ผู้ใช้รับรู้จริง และ TTA หรือเวลาจนระบบพร้อมรับการคลิกหรือฟิลเตอร์โต้ตอบ พร้อมทั้งวัดขนาดพื้นที่จัดเก็บเพิ่มเติม หรือ Storage Cost เพื่อประเมินความคุ้มค่าเชิงวิศวกรรม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สถาปัตยกรรม Mosaic Publisher แบ่งกระบวนการช่วงเผยแพร่ออกเป็นสามขั้นตอนหลัก เริ่มจากการวิเคราะห์โครงสร้าง Abstract Syntax Tree และจำลอง Virtual DOM เพื่อระบุคิวรีที่จำเป็น จากนั้นใช้ DuckDB คำนวณผลลัพธ์ล่วงหน้าและจัดเก็บเป็นไฟล์ แล้วทำการปรับแก้โค้ดเพื่อสร้าง JavaScript Runtime Bundle ผลลัพธ์ที่ส่งมอบให้เบราว์เซอร์ประกอบด้วยข้อมูลที่ตัดทอนคอลัมน์แล้ว ผลคิวรีสำเร็จรูปสำหรับเติมแคช และภาพร่างเริ่มต้น โดยนักพัฒนายังคงใช้ไวยากรณ์เดิมของระบบได้ทั้งหมด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สำหรับมุมมองแบบสถิต ระบบสามารถส่งภาพ SVG หรือ Canvas ที่วาดเสร็จแล้วให้แสดงผลได้ทันทีโดยไม่ต้องพึ่งพาสคริปต์ แต่สำหรับมุมมองแบบโต้ตอบ แม้ภาพเริ่มต้นจะปรากฏรวดเร็ว ผู้ใช้งานยังต้องรอขั้นตอน Hydration เพื่อให้เบราว์เซอร์เริ่มทำงานคอมโพเนนต์และผูก Event ผลการทดลองในรูปที่ 4 พบว่าขั้นตอน Hydration ยังมีต้นทุนเวลาใกล้เคียงกับการเรนเดอร์ใหม่ทั้งหมด ทำให้ภาพปรากฏเร็วขึ้นมาก แต่เวลาพร้อมโต้ตอบยังลดลงได้จำกัด ซึ่งการพัฒนา Progressive Hydration เป็นโจทย์วิจัยสำคัญต่อไป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ผลการทดสอบกับ 5 ชุดแสดงผลจริง ตั้งแต่ข้อมูลหนึ่งหมื่นแถวจนถึงสิบล้านแถวในตารางที่ 1 ระบุว่าชุดปรับปรุงรวมสามารถลด TTR ได้เฉลี่ย 83.7% และลด TTA ลงเฉลี่ย 33.3% โดยมีกลไกแคชล่วงหน้าเป็นปัจจัยหลักที่ช่วยลด TTA ได้ 32.3% ขณะที่การเรนเดอร์ภาพล่วงหน้าช่วยลด TTA เพิ่มเติมเพียง 1.0% เมื่อเทียบกับ Baseline เดียวกัน ทั้งนี้ระบบต้องแลกกับพื้นที่จัดเก็บเพิ่มเติมเฉลี่ย 21.2% ซึ่งถือเป็นการแลกเปลี่ยนที่คุ้มค่าสำหรับเว็บแอปพลิเคชันยุคใหม่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values: mean ± sigma across specifications and dataset sizes.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คุณูปการทางวิชาการของงานวิจัยนี้ คือการสร้างไปป์ไลน์ปรับปรุงประสิทธิภาพแบบแบ่งชั้นที่รักษาไวยากรณ์เดิม การนำเสนอกรอบการประเมินแบบคู่ขนานระหว่าง TTR และ TTA ร่วมกับมิติพื้นที่จัดเก็บ และการยืนยันประสิทธิผลเชิงประจักษ์กับข้อมูลขนาดใหญ่ ในด้านการประยุกต์ใช้เชิงวิศวกรรม สถาปัตยกรรมนี้นำไปใช้ลดความหน่วงเริ่มต้นของแดชบอร์ดวิเคราะห์ข้อมูล การกระจายไฟล์แคชผ่าน Edge CDN เพื่อลดภาระเซิร์ฟเวอร์ และเป็นแนวทางพัฒนาระบบ In-Browser OLAP ร่วมกับ DuckDB-WASM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1, 3 and 5, PDF pages 1–4.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ข้อจำกัดสำคัญของระบบคือขั้นตอน Client Hydration ที่ยังเป็นคอขวดหลัก ความผันแปรของพื้นที่จัดเก็บที่มีค่าเบี่ยงเบนมาตรฐานสูงถึง 29.9% และข้อจำกัดจากการทดสอบบนแล็ปท็อปประสิทธิภาพสูงกับข้อมูลสถิต บทสรุปเชิงสถาปัตยกรรมยืนยันว่าการแคชล่วงหน้าเป็นหัวใจของการลดเวลาตอบสนอง ส่วนภาพล่วงหน้าช่วยแก้ปัญหาความหน่วงที่รับรู้ได้ โดยผู้วิจัยเสนอแนวทางพัฒนาในอนาคต ได้แก่ การทำ Progressive Hydration การผสานกลยุทธ์แบบไฮบริดร่วมกับรันไทม์ และระบบคำนวณซ้ำเฉพาะส่วนที่ข้อมูลเปลี่ยนแปลง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 (Key Takeaways) and Sections 5–6, PDF pages 4–5.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d590d3585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573dc79fc4466" /><Relationship Type="http://schemas.openxmlformats.org/officeDocument/2006/relationships/slideLayout" Target="/ppt/slideLayouts/slideLayout1.xml" Id="R077cbe30ee5347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7cbe30ee5347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f22d181be4a97" /><Relationship Type="http://schemas.openxmlformats.org/officeDocument/2006/relationships/notesSlide" Target="/ppt/notesSlides/notesSlide1.xml" Id="R8cdb4617299140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c294e1ca34a39" /><Relationship Type="http://schemas.openxmlformats.org/officeDocument/2006/relationships/notesSlide" Target="/ppt/notesSlides/notesSlide2.xml" Id="Rfa9a36370707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69afbef414eec" /><Relationship Type="http://schemas.openxmlformats.org/officeDocument/2006/relationships/image" Target="/ppt/media/image.png" Id="R6a103d04602442ab" /><Relationship Type="http://schemas.openxmlformats.org/officeDocument/2006/relationships/notesSlide" Target="/ppt/notesSlides/notesSlide3.xml" Id="R30d9b750db944e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dc9ccffdf415d" /><Relationship Type="http://schemas.openxmlformats.org/officeDocument/2006/relationships/image" Target="/ppt/media/image2.png" Id="Rea296dd901a643b1" /><Relationship Type="http://schemas.openxmlformats.org/officeDocument/2006/relationships/notesSlide" Target="/ppt/notesSlides/notesSlide4.xml" Id="Ra7da0ea64b544d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34132e0bd47b3" /><Relationship Type="http://schemas.openxmlformats.org/officeDocument/2006/relationships/image" Target="/ppt/media/image3.png" Id="R76d25dbe738b4c59" /><Relationship Type="http://schemas.openxmlformats.org/officeDocument/2006/relationships/notesSlide" Target="/ppt/notesSlides/notesSlide5.xml" Id="Racb096cb836a4f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f7078e02d4327" /><Relationship Type="http://schemas.openxmlformats.org/officeDocument/2006/relationships/notesSlide" Target="/ppt/notesSlides/notesSlide6.xml" Id="R13f1c67cf1314b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36004defb4d6c" /><Relationship Type="http://schemas.openxmlformats.org/officeDocument/2006/relationships/notesSlide" Target="/ppt/notesSlides/notesSlide7.xml" Id="Reb98534a67fb46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3AA2FDF2-4958-49F4-908B-9D2979E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C08B132-74C5-497F-94BC-3A1624CD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1196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193BBB2-5D0D-40FE-A0E1-93F2C2E5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1234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732B71E6-AB06-4055-A2A1-9C62DA2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3BDBB25-16C4-48CA-9D19-DAAEB275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48225"/>
            <a:ext cx="1196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8392054-63C1-42C9-9939-42F3077F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CD5349F-6787-48DC-89C7-4034CC1D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D35551C-461E-4438-8C9C-34927006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62750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34495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hape-9">
            <a:extLst xmlns:a="http://schemas.openxmlformats.org/drawingml/2006/main">
              <a:ext uri="{FF2B5EF4-FFF2-40B4-BE49-F238E27FC236}">
                <a16:creationId xmlns:a16="http://schemas.microsoft.com/office/drawing/2014/main" id="{AA619804-590B-4E5C-98EF-80090603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148EFA8A-8034-4B7C-A388-8506A30E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และตัวชี้วัดประสิทธิภาพเว็บ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B97B4D4A-9016-4E27-864F-6D841B6C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C5D03438-1915-439E-A8C2-9DE4643E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F0BB5CC8-E6F3-4C62-916A-D0403A4D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6E8AC98A-192E-49E2-918B-F4386B11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0555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CD760910-DC7A-414B-95DC-92D14F21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3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คอขวดประสิทธิภาพของเว็บแสดงภาพข้อมูล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5C8CE9CC-77DA-43C9-8126-CF7680E8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BC2736F3-BACF-48DD-AA2F-0FAB80D2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9075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ภาระประมวลผลซ้ำซ้อนฝั่ง Client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DFBF4D3B-B4ED-4F6A-B9F9-664E49C5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เบราว์เซอร์ต้องโหลดข้อมูลดิบ รันคิวรีรวมกลุ่ม และวาดภาพใหม่ทุกครั้ง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263AED26-08F5-41D9-B724-499D25F0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9ADDB518-BDBF-47A2-BBB3-F150B9D6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A22386DF-8454-408D-9033-A74C31D3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 Cold-Start ของ Runtime Cache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D5930D2F-E79C-4BDD-88B1-6394A52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แคชที่สร้างตอนใช้งาน ผู้ใช้คนแรก (First Visitor) ต้องรับ Latency สูงสุด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80EB96D4-B5CE-4B5A-A645-3E5D07FC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B99FF193-757F-4E4A-9D07-B7BED73D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0E9C5C08-1385-4634-AC28-13E0B38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ความไม่สอดคล้องของภาพและการโต้ตอบ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DCC22119-2670-4E4D-AF2C-7F6004E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ภาพเริ่มต้นปรากฏแล้ว แต่ระบบภายในยังไม่พร้อมรับอินพุตหรือการฟิลเตอร์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AA5753F9-5515-4C5B-BCC1-DFFD20EB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54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C14C37A4-3A13-4A4B-AA7E-4A957024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9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1083EC30-B147-47A6-BA2C-B556A006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977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Trade-off ของการเตรียมข้อมูลล่วงหน้า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05B4F396-DBEB-4B2A-8827-649669DF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1982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การสร้างแคชล่วงหน้าช่วยลดความหน่วง แต่แลกมาด้วยพื้นที่และความสดของข้อมูล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E2C06860-78F1-4CF5-B93A-3DEDA58A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13335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2B691E67-A50F-49F4-BB8E-CDE764A2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15716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08112583-8997-40D8-A3C6-82A9A99D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จนเห็น Visualization แสดงผลสมบูรณ์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B07D4677-24D8-457D-8AAA-34DE21D6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717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ชี้วัดความเร็วที่ผู้ใช้รับรู้ได้จริง (Perceived Latency) ไม่นับรวมเฉพาะ Header</a:t>
            </a:r>
          </a:p>
        </p:txBody>
      </p:sp>
      <p:sp>
        <p:nvSpPr>
          <p:cNvPr id="27" name="shape-35">
            <a:extLst xmlns:a="http://schemas.openxmlformats.org/drawingml/2006/main">
              <a:ext uri="{FF2B5EF4-FFF2-40B4-BE49-F238E27FC236}">
                <a16:creationId xmlns:a16="http://schemas.microsoft.com/office/drawing/2014/main" id="{67CC7FAD-33ED-4E7E-9809-023BBB11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5052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057A837A-1A63-4421-963A-6734F9D7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37433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E6F7622D-A28F-4043-80A9-B0AE85B8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481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เวลาจนกระทั่งระบบพร้อมรับการกรอง (Filter), ซูม หรือเลือกข้อมูล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8FBD4B60-DFA2-41E9-AEB6-AED593C8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434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 โดยแยกขาดจากเวลาที่ภาพปรากฏบนจอ</a:t>
            </a:r>
          </a:p>
        </p:txBody>
      </p:sp>
      <p:sp>
        <p:nvSpPr>
          <p:cNvPr id="31" name="shape-39">
            <a:extLst xmlns:a="http://schemas.openxmlformats.org/drawingml/2006/main">
              <a:ext uri="{FF2B5EF4-FFF2-40B4-BE49-F238E27FC236}">
                <a16:creationId xmlns:a16="http://schemas.microsoft.com/office/drawing/2014/main" id="{B1D6D64A-EC4A-465A-81CF-C16BBE7E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5676900"/>
            <a:ext cx="63436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555E3297-371D-4390-8558-DA292C1D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59150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SC (Storage Cost) · ขนาดพื้นที่จัดเก็บเพิ่มเติม</a:t>
            </a:r>
          </a:p>
        </p:txBody>
      </p:sp>
      <p:sp>
        <p:nvSpPr>
          <p:cNvPr id="33" name="text-41">
            <a:extLst xmlns:a="http://schemas.openxmlformats.org/drawingml/2006/main">
              <a:ext uri="{FF2B5EF4-FFF2-40B4-BE49-F238E27FC236}">
                <a16:creationId xmlns:a16="http://schemas.microsoft.com/office/drawing/2014/main" id="{434BCABD-3BFA-4669-843B-6C9417F5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419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ขนาดพื้นที่จัดเก็บไฟล์แคชและข้อมูลรวมกลุ่มที่เพิ่มขึ้นบนเซิร์ฟเวอร์</a:t>
            </a:r>
          </a:p>
        </p:txBody>
      </p:sp>
      <p:sp>
        <p:nvSpPr>
          <p:cNvPr id="34" name="text-42">
            <a:extLst xmlns:a="http://schemas.openxmlformats.org/drawingml/2006/main">
              <a:ext uri="{FF2B5EF4-FFF2-40B4-BE49-F238E27FC236}">
                <a16:creationId xmlns:a16="http://schemas.microsoft.com/office/drawing/2014/main" id="{D93484DF-01D9-4DBB-80D4-3F97B982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24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 3.1, หน้า PDF 2 · ประเมินต้นทุนพื้นที่ที่ต้องแลกกับความเร็ว</a:t>
            </a:r>
          </a:p>
        </p:txBody>
      </p:sp>
    </p:spTree>
    <p:extLst>
      <p:ext uri="{BB962C8B-B14F-4D97-AF65-F5344CB8AC3E}">
        <p14:creationId xmlns:p14="http://schemas.microsoft.com/office/powerpoint/2010/main" val="2020081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43">
            <a:extLst xmlns:a="http://schemas.openxmlformats.org/drawingml/2006/main">
              <a:ext uri="{FF2B5EF4-FFF2-40B4-BE49-F238E27FC236}">
                <a16:creationId xmlns:a16="http://schemas.microsoft.com/office/drawing/2014/main" id="{CB4A1E92-6A73-4FF8-89AA-6BA50480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BE35A9E2-4E93-4AD6-8124-23674E89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 (Mosaic Publisher)</a:t>
            </a:r>
          </a:p>
        </p:txBody>
      </p:sp>
      <p:sp>
        <p:nvSpPr>
          <p:cNvPr id="3" name="shape-45">
            <a:extLst xmlns:a="http://schemas.openxmlformats.org/drawingml/2006/main">
              <a:ext uri="{FF2B5EF4-FFF2-40B4-BE49-F238E27FC236}">
                <a16:creationId xmlns:a16="http://schemas.microsoft.com/office/drawing/2014/main" id="{CDE54524-E505-4952-8FEC-30E55265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3CA77149-BE0C-4C26-A700-90DC4DA8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E2873D40-B619-4D16-B436-F7287325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8">
            <a:extLst xmlns:a="http://schemas.openxmlformats.org/drawingml/2006/main">
              <a:ext uri="{FF2B5EF4-FFF2-40B4-BE49-F238E27FC236}">
                <a16:creationId xmlns:a16="http://schemas.microsoft.com/office/drawing/2014/main" id="{1BBE30B5-5D7B-4C14-8432-E0E370AD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229600" cy="37623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360580B1-9148-46C4-ADD6-2FFAD1FC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03d04602442ab"/>
          <a:stretch xmlns:a="http://schemas.openxmlformats.org/drawingml/2006/main"/>
        </p:blipFill>
        <p:spPr>
          <a:xfrm xmlns:a="http://schemas.openxmlformats.org/drawingml/2006/main">
            <a:off x="1055699" y="2114550"/>
            <a:ext cx="7766028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text-50">
            <a:extLst xmlns:a="http://schemas.openxmlformats.org/drawingml/2006/main">
              <a:ext uri="{FF2B5EF4-FFF2-40B4-BE49-F238E27FC236}">
                <a16:creationId xmlns:a16="http://schemas.microsoft.com/office/drawing/2014/main" id="{D5D90B09-0740-4A31-9B72-22398849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51">
            <a:extLst xmlns:a="http://schemas.openxmlformats.org/drawingml/2006/main">
              <a:ext uri="{FF2B5EF4-FFF2-40B4-BE49-F238E27FC236}">
                <a16:creationId xmlns:a16="http://schemas.microsoft.com/office/drawing/2014/main" id="{39BD22F4-6BF4-42F9-80DF-AFA16F42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34000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2">
            <a:extLst xmlns:a="http://schemas.openxmlformats.org/drawingml/2006/main">
              <a:ext uri="{FF2B5EF4-FFF2-40B4-BE49-F238E27FC236}">
                <a16:creationId xmlns:a16="http://schemas.microsoft.com/office/drawing/2014/main" id="{C8F16653-D06E-40F2-B11B-BB4D5E6C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55721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3">
            <a:extLst xmlns:a="http://schemas.openxmlformats.org/drawingml/2006/main">
              <a:ext uri="{FF2B5EF4-FFF2-40B4-BE49-F238E27FC236}">
                <a16:creationId xmlns:a16="http://schemas.microsoft.com/office/drawing/2014/main" id="{AE729D63-BD16-499F-BC1B-4A4A7DB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441EB3FF-2197-435C-8EF3-171FDEA1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5">
            <a:extLst xmlns:a="http://schemas.openxmlformats.org/drawingml/2006/main">
              <a:ext uri="{FF2B5EF4-FFF2-40B4-BE49-F238E27FC236}">
                <a16:creationId xmlns:a16="http://schemas.microsoft.com/office/drawing/2014/main" id="{A4DE78F8-1A62-4DC5-A740-C0B598ED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6">
            <a:extLst xmlns:a="http://schemas.openxmlformats.org/drawingml/2006/main">
              <a:ext uri="{FF2B5EF4-FFF2-40B4-BE49-F238E27FC236}">
                <a16:creationId xmlns:a16="http://schemas.microsoft.com/office/drawing/2014/main" id="{0DAFC5C1-1133-4786-8AAA-D18763CD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7">
            <a:extLst xmlns:a="http://schemas.openxmlformats.org/drawingml/2006/main">
              <a:ext uri="{FF2B5EF4-FFF2-40B4-BE49-F238E27FC236}">
                <a16:creationId xmlns:a16="http://schemas.microsoft.com/office/drawing/2014/main" id="{DE0C9213-B014-4C30-A8E3-5A95977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8">
            <a:extLst xmlns:a="http://schemas.openxmlformats.org/drawingml/2006/main">
              <a:ext uri="{FF2B5EF4-FFF2-40B4-BE49-F238E27FC236}">
                <a16:creationId xmlns:a16="http://schemas.microsoft.com/office/drawing/2014/main" id="{EFDA86D3-8FB8-45CB-9359-D9AECFEE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59">
            <a:extLst xmlns:a="http://schemas.openxmlformats.org/drawingml/2006/main">
              <a:ext uri="{FF2B5EF4-FFF2-40B4-BE49-F238E27FC236}">
                <a16:creationId xmlns:a16="http://schemas.microsoft.com/office/drawing/2014/main" id="{279F9376-53EB-4966-BF3E-96AD7AD3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60">
            <a:extLst xmlns:a="http://schemas.openxmlformats.org/drawingml/2006/main">
              <a:ext uri="{FF2B5EF4-FFF2-40B4-BE49-F238E27FC236}">
                <a16:creationId xmlns:a16="http://schemas.microsoft.com/office/drawing/2014/main" id="{BED4E293-77DF-4DB1-A71C-CC0B12BD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602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61">
            <a:extLst xmlns:a="http://schemas.openxmlformats.org/drawingml/2006/main">
              <a:ext uri="{FF2B5EF4-FFF2-40B4-BE49-F238E27FC236}">
                <a16:creationId xmlns:a16="http://schemas.microsoft.com/office/drawing/2014/main" id="{A8DEFBE2-3836-4FAB-B9DB-C2C3E1FB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2">
            <a:extLst xmlns:a="http://schemas.openxmlformats.org/drawingml/2006/main">
              <a:ext uri="{FF2B5EF4-FFF2-40B4-BE49-F238E27FC236}">
                <a16:creationId xmlns:a16="http://schemas.microsoft.com/office/drawing/2014/main" id="{231A9D89-08E4-4586-8B1B-4DCD165B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3">
            <a:extLst xmlns:a="http://schemas.openxmlformats.org/drawingml/2006/main">
              <a:ext uri="{FF2B5EF4-FFF2-40B4-BE49-F238E27FC236}">
                <a16:creationId xmlns:a16="http://schemas.microsoft.com/office/drawing/2014/main" id="{873F7B3C-ED3A-4175-B2E5-7762EB2B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7096125"/>
            <a:ext cx="767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สรุปกลไกจาก Sections 4.1–4.3 (หน้า PDF 2–3)</a:t>
            </a:r>
          </a:p>
        </p:txBody>
      </p:sp>
      <p:sp>
        <p:nvSpPr>
          <p:cNvPr id="23" name="shape-64">
            <a:extLst xmlns:a="http://schemas.openxmlformats.org/drawingml/2006/main">
              <a:ext uri="{FF2B5EF4-FFF2-40B4-BE49-F238E27FC236}">
                <a16:creationId xmlns:a16="http://schemas.microsoft.com/office/drawing/2014/main" id="{F3E377D2-AAEC-48A2-BFED-A8DB5A8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35" y="1333500"/>
            <a:ext cx="4419600" cy="611505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5">
            <a:extLst xmlns:a="http://schemas.openxmlformats.org/drawingml/2006/main">
              <a:ext uri="{FF2B5EF4-FFF2-40B4-BE49-F238E27FC236}">
                <a16:creationId xmlns:a16="http://schemas.microsoft.com/office/drawing/2014/main" id="{AB44E1A6-D02A-4D34-B353-0748436F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1571625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6">
            <a:extLst xmlns:a="http://schemas.openxmlformats.org/drawingml/2006/main">
              <a:ext uri="{FF2B5EF4-FFF2-40B4-BE49-F238E27FC236}">
                <a16:creationId xmlns:a16="http://schemas.microsoft.com/office/drawing/2014/main" id="{874C514C-A8D9-47A6-9170-3EDEE77A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7">
            <a:extLst xmlns:a="http://schemas.openxmlformats.org/drawingml/2006/main">
              <a:ext uri="{FF2B5EF4-FFF2-40B4-BE49-F238E27FC236}">
                <a16:creationId xmlns:a16="http://schemas.microsoft.com/office/drawing/2014/main" id="{BB139A3F-B81B-4E03-A559-2873B7F2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8">
            <a:extLst xmlns:a="http://schemas.openxmlformats.org/drawingml/2006/main">
              <a:ext uri="{FF2B5EF4-FFF2-40B4-BE49-F238E27FC236}">
                <a16:creationId xmlns:a16="http://schemas.microsoft.com/office/drawing/2014/main" id="{35E1FA2E-5550-4886-8EA0-DFFB9A3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670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ลดภาระการถ่ายโอนข้ามเครือข่าย</a:t>
            </a:r>
          </a:p>
        </p:txBody>
      </p:sp>
      <p:sp>
        <p:nvSpPr>
          <p:cNvPr id="28" name="shape-69">
            <a:extLst xmlns:a="http://schemas.openxmlformats.org/drawingml/2006/main">
              <a:ext uri="{FF2B5EF4-FFF2-40B4-BE49-F238E27FC236}">
                <a16:creationId xmlns:a16="http://schemas.microsoft.com/office/drawing/2014/main" id="{77C5BA7C-3A21-49B0-B277-CF79936A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70">
            <a:extLst xmlns:a="http://schemas.openxmlformats.org/drawingml/2006/main">
              <a:ext uri="{FF2B5EF4-FFF2-40B4-BE49-F238E27FC236}">
                <a16:creationId xmlns:a16="http://schemas.microsoft.com/office/drawing/2014/main" id="{A120A8BC-BD6A-4DD7-B5BC-E314880C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71">
            <a:extLst xmlns:a="http://schemas.openxmlformats.org/drawingml/2006/main">
              <a:ext uri="{FF2B5EF4-FFF2-40B4-BE49-F238E27FC236}">
                <a16:creationId xmlns:a16="http://schemas.microsoft.com/office/drawing/2014/main" id="{26CE338E-E2BC-4FB2-AC54-85456FC9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671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2">
            <a:extLst xmlns:a="http://schemas.openxmlformats.org/drawingml/2006/main">
              <a:ext uri="{FF2B5EF4-FFF2-40B4-BE49-F238E27FC236}">
                <a16:creationId xmlns:a16="http://schemas.microsoft.com/office/drawing/2014/main" id="{7E92D3F8-D63A-474B-8E2F-A82E033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67225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3">
            <a:extLst xmlns:a="http://schemas.openxmlformats.org/drawingml/2006/main">
              <a:ext uri="{FF2B5EF4-FFF2-40B4-BE49-F238E27FC236}">
                <a16:creationId xmlns:a16="http://schemas.microsoft.com/office/drawing/2014/main" id="{D777F20D-4F2E-4411-8EC5-EDD99EE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340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4">
            <a:extLst xmlns:a="http://schemas.openxmlformats.org/drawingml/2006/main">
              <a:ext uri="{FF2B5EF4-FFF2-40B4-BE49-F238E27FC236}">
                <a16:creationId xmlns:a16="http://schemas.microsoft.com/office/drawing/2014/main" id="{4CE0A32D-10AE-4B4A-AED6-50F6589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6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5">
            <a:extLst xmlns:a="http://schemas.openxmlformats.org/drawingml/2006/main">
              <a:ext uri="{FF2B5EF4-FFF2-40B4-BE49-F238E27FC236}">
                <a16:creationId xmlns:a16="http://schemas.microsoft.com/office/drawing/2014/main" id="{C6BF0EE0-CA74-4508-9068-CF65AAE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867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6">
            <a:extLst xmlns:a="http://schemas.openxmlformats.org/drawingml/2006/main">
              <a:ext uri="{FF2B5EF4-FFF2-40B4-BE49-F238E27FC236}">
                <a16:creationId xmlns:a16="http://schemas.microsoft.com/office/drawing/2014/main" id="{52343F8D-600D-441D-A153-DE61E638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2674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</p:spTree>
    <p:extLst>
      <p:ext uri="{BB962C8B-B14F-4D97-AF65-F5344CB8AC3E}">
        <p14:creationId xmlns:p14="http://schemas.microsoft.com/office/powerpoint/2010/main" val="873661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7">
            <a:extLst xmlns:a="http://schemas.openxmlformats.org/drawingml/2006/main">
              <a:ext uri="{FF2B5EF4-FFF2-40B4-BE49-F238E27FC236}">
                <a16:creationId xmlns:a16="http://schemas.microsoft.com/office/drawing/2014/main" id="{85DD0B90-E69B-4355-AA72-19650B5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88A450AC-58CC-48A9-B399-30287445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กลไก Pre-rendering และต้นทุนของ Client Hydration</a:t>
            </a:r>
          </a:p>
        </p:txBody>
      </p:sp>
      <p:sp>
        <p:nvSpPr>
          <p:cNvPr id="3" name="shape-79">
            <a:extLst xmlns:a="http://schemas.openxmlformats.org/drawingml/2006/main">
              <a:ext uri="{FF2B5EF4-FFF2-40B4-BE49-F238E27FC236}">
                <a16:creationId xmlns:a16="http://schemas.microsoft.com/office/drawing/2014/main" id="{03BF0E25-4907-4164-8273-F841E8C3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395EFECC-6EB6-48BF-B1C2-5EFD6851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0BD413A4-0C07-4BBE-A776-86ECCBE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2">
            <a:extLst xmlns:a="http://schemas.openxmlformats.org/drawingml/2006/main">
              <a:ext uri="{FF2B5EF4-FFF2-40B4-BE49-F238E27FC236}">
                <a16:creationId xmlns:a16="http://schemas.microsoft.com/office/drawing/2014/main" id="{0FB2D400-7C64-43F8-98B8-991D995E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7677150" cy="3171825"/>
          </a:xfrm>
          <a:prstGeom xmlns:a="http://schemas.openxmlformats.org/drawingml/2006/main" prst="roundRect">
            <a:avLst>
              <a:gd name="adj" fmla="val 30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5625827D-EC45-4195-A110-5FB0BB5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96dd901a643b1"/>
          <a:stretch xmlns:a="http://schemas.openxmlformats.org/drawingml/2006/main"/>
        </p:blipFill>
        <p:spPr>
          <a:xfrm xmlns:a="http://schemas.openxmlformats.org/drawingml/2006/main">
            <a:off x="1973123" y="2152650"/>
            <a:ext cx="5378730" cy="1762125"/>
          </a:xfrm>
          <a:prstGeom xmlns:a="http://schemas.openxmlformats.org/drawingml/2006/main" prst="rect">
            <a:avLst/>
          </a:prstGeom>
        </p:spPr>
      </p:pic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80EF6618-E3B1-40FD-9B7C-92DBD16A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718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02026462-399F-47BF-93F2-E74AFC35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7051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6">
            <a:extLst xmlns:a="http://schemas.openxmlformats.org/drawingml/2006/main">
              <a:ext uri="{FF2B5EF4-FFF2-40B4-BE49-F238E27FC236}">
                <a16:creationId xmlns:a16="http://schemas.microsoft.com/office/drawing/2014/main" id="{5E9EFE8F-9D44-4EFF-A84A-976A9177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98157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9403C9AA-11C1-4511-93E4-FD46325C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8">
            <a:extLst xmlns:a="http://schemas.openxmlformats.org/drawingml/2006/main">
              <a:ext uri="{FF2B5EF4-FFF2-40B4-BE49-F238E27FC236}">
                <a16:creationId xmlns:a16="http://schemas.microsoft.com/office/drawing/2014/main" id="{A2AB1837-E1D5-4E2F-80BE-CC025102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(TTR)</a:t>
            </a:r>
          </a:p>
        </p:txBody>
      </p:sp>
      <p:sp>
        <p:nvSpPr>
          <p:cNvPr id="14" name="shape-89">
            <a:extLst xmlns:a="http://schemas.openxmlformats.org/drawingml/2006/main">
              <a:ext uri="{FF2B5EF4-FFF2-40B4-BE49-F238E27FC236}">
                <a16:creationId xmlns:a16="http://schemas.microsoft.com/office/drawing/2014/main" id="{F221B86B-553D-42ED-8340-5CC26CB7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90">
            <a:extLst xmlns:a="http://schemas.openxmlformats.org/drawingml/2006/main">
              <a:ext uri="{FF2B5EF4-FFF2-40B4-BE49-F238E27FC236}">
                <a16:creationId xmlns:a16="http://schemas.microsoft.com/office/drawing/2014/main" id="{D41D372F-CDB2-48EA-846C-95763F9B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02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59BECA7B-D1C5-4BF8-80A6-7513B0C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2">
            <a:extLst xmlns:a="http://schemas.openxmlformats.org/drawingml/2006/main">
              <a:ext uri="{FF2B5EF4-FFF2-40B4-BE49-F238E27FC236}">
                <a16:creationId xmlns:a16="http://schemas.microsoft.com/office/drawing/2014/main" id="{C76D86AC-8CA1-4636-B2A8-9857627B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7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คอมไพล์และรัน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Hydration</a:t>
            </a:r>
          </a:p>
        </p:txBody>
      </p:sp>
      <p:sp>
        <p:nvSpPr>
          <p:cNvPr id="18" name="shape-93">
            <a:extLst xmlns:a="http://schemas.openxmlformats.org/drawingml/2006/main">
              <a:ext uri="{FF2B5EF4-FFF2-40B4-BE49-F238E27FC236}">
                <a16:creationId xmlns:a16="http://schemas.microsoft.com/office/drawing/2014/main" id="{C2ABF8F9-0C61-4F70-A704-93B047A8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4">
            <a:extLst xmlns:a="http://schemas.openxmlformats.org/drawingml/2006/main">
              <a:ext uri="{FF2B5EF4-FFF2-40B4-BE49-F238E27FC236}">
                <a16:creationId xmlns:a16="http://schemas.microsoft.com/office/drawing/2014/main" id="{DB52786B-CFC3-40DF-A6A5-A4D7E9A9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13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5">
            <a:extLst xmlns:a="http://schemas.openxmlformats.org/drawingml/2006/main">
              <a:ext uri="{FF2B5EF4-FFF2-40B4-BE49-F238E27FC236}">
                <a16:creationId xmlns:a16="http://schemas.microsoft.com/office/drawing/2014/main" id="{189E6EBC-747B-4973-A2B5-748C8934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6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6">
            <a:extLst xmlns:a="http://schemas.openxmlformats.org/drawingml/2006/main">
              <a:ext uri="{FF2B5EF4-FFF2-40B4-BE49-F238E27FC236}">
                <a16:creationId xmlns:a16="http://schemas.microsoft.com/office/drawing/2014/main" id="{86EBC948-F7F6-489F-BA55-7594E34E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8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(TTA)</a:t>
            </a:r>
          </a:p>
        </p:txBody>
      </p:sp>
      <p:sp>
        <p:nvSpPr>
          <p:cNvPr id="22" name="text-97">
            <a:extLst xmlns:a="http://schemas.openxmlformats.org/drawingml/2006/main">
              <a:ext uri="{FF2B5EF4-FFF2-40B4-BE49-F238E27FC236}">
                <a16:creationId xmlns:a16="http://schemas.microsoft.com/office/drawing/2014/main" id="{1A8D28D4-6BC2-44E6-95CC-DD0E5845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0087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ไม่ใช่เวลา Benchmark)</a:t>
            </a:r>
          </a:p>
        </p:txBody>
      </p:sp>
      <p:sp>
        <p:nvSpPr>
          <p:cNvPr id="23" name="shape-98">
            <a:extLst xmlns:a="http://schemas.openxmlformats.org/drawingml/2006/main">
              <a:ext uri="{FF2B5EF4-FFF2-40B4-BE49-F238E27FC236}">
                <a16:creationId xmlns:a16="http://schemas.microsoft.com/office/drawing/2014/main" id="{771FA10E-7B08-46EC-9361-BF329681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485" y="1333500"/>
            <a:ext cx="4972050" cy="611505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9">
            <a:extLst xmlns:a="http://schemas.openxmlformats.org/drawingml/2006/main">
              <a:ext uri="{FF2B5EF4-FFF2-40B4-BE49-F238E27FC236}">
                <a16:creationId xmlns:a16="http://schemas.microsoft.com/office/drawing/2014/main" id="{18086B7A-E0A3-4CB1-8442-B380E035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15716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100">
            <a:extLst xmlns:a="http://schemas.openxmlformats.org/drawingml/2006/main">
              <a:ext uri="{FF2B5EF4-FFF2-40B4-BE49-F238E27FC236}">
                <a16:creationId xmlns:a16="http://schemas.microsoft.com/office/drawing/2014/main" id="{5B531B32-ED8E-4713-BC44-C6F313D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38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1">
            <a:extLst xmlns:a="http://schemas.openxmlformats.org/drawingml/2006/main">
              <a:ext uri="{FF2B5EF4-FFF2-40B4-BE49-F238E27FC236}">
                <a16:creationId xmlns:a16="http://schemas.microsoft.com/office/drawing/2014/main" id="{42523677-DDCE-463D-B369-40A4A79A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2">
            <a:extLst xmlns:a="http://schemas.openxmlformats.org/drawingml/2006/main">
              <a:ext uri="{FF2B5EF4-FFF2-40B4-BE49-F238E27FC236}">
                <a16:creationId xmlns:a16="http://schemas.microsoft.com/office/drawing/2014/main" id="{0A5980EF-B2A0-472E-9322-4E58A432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38425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3">
            <a:extLst xmlns:a="http://schemas.openxmlformats.org/drawingml/2006/main">
              <a:ext uri="{FF2B5EF4-FFF2-40B4-BE49-F238E27FC236}">
                <a16:creationId xmlns:a16="http://schemas.microsoft.com/office/drawing/2014/main" id="{D751E038-B817-4B31-9F27-CE45B62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004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4">
            <a:extLst xmlns:a="http://schemas.openxmlformats.org/drawingml/2006/main">
              <a:ext uri="{FF2B5EF4-FFF2-40B4-BE49-F238E27FC236}">
                <a16:creationId xmlns:a16="http://schemas.microsoft.com/office/drawing/2014/main" id="{A0E922B4-0FC1-44D2-928B-B2CFABD8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43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5">
            <a:extLst xmlns:a="http://schemas.openxmlformats.org/drawingml/2006/main">
              <a:ext uri="{FF2B5EF4-FFF2-40B4-BE49-F238E27FC236}">
                <a16:creationId xmlns:a16="http://schemas.microsoft.com/office/drawing/2014/main" id="{85F63DF5-2A07-473D-A3E9-64226800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43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6">
            <a:extLst xmlns:a="http://schemas.openxmlformats.org/drawingml/2006/main">
              <a:ext uri="{FF2B5EF4-FFF2-40B4-BE49-F238E27FC236}">
                <a16:creationId xmlns:a16="http://schemas.microsoft.com/office/drawing/2014/main" id="{D01104CF-E5C7-4DD5-9819-75737AB9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4340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7">
            <a:extLst xmlns:a="http://schemas.openxmlformats.org/drawingml/2006/main">
              <a:ext uri="{FF2B5EF4-FFF2-40B4-BE49-F238E27FC236}">
                <a16:creationId xmlns:a16="http://schemas.microsoft.com/office/drawing/2014/main" id="{B81F0B56-CCFB-4A8E-9E19-655F1C73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2959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8">
            <a:extLst xmlns:a="http://schemas.openxmlformats.org/drawingml/2006/main">
              <a:ext uri="{FF2B5EF4-FFF2-40B4-BE49-F238E27FC236}">
                <a16:creationId xmlns:a16="http://schemas.microsoft.com/office/drawing/2014/main" id="{CC3B5454-BCEF-4E16-9BE1-BD82B759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9">
            <a:extLst xmlns:a="http://schemas.openxmlformats.org/drawingml/2006/main">
              <a:ext uri="{FF2B5EF4-FFF2-40B4-BE49-F238E27FC236}">
                <a16:creationId xmlns:a16="http://schemas.microsoft.com/office/drawing/2014/main" id="{3B978778-6819-4278-8208-EDAAAC47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638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10">
            <a:extLst xmlns:a="http://schemas.openxmlformats.org/drawingml/2006/main">
              <a:ext uri="{FF2B5EF4-FFF2-40B4-BE49-F238E27FC236}">
                <a16:creationId xmlns:a16="http://schemas.microsoft.com/office/drawing/2014/main" id="{616FE4F1-3004-455D-9560-1E0F951A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03885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 Progressive Hydration เป็นงานวิจัยสำคัญ</a:t>
            </a:r>
          </a:p>
        </p:txBody>
      </p:sp>
      <p:sp>
        <p:nvSpPr>
          <p:cNvPr id="36" name="text-111">
            <a:extLst xmlns:a="http://schemas.openxmlformats.org/drawingml/2006/main">
              <a:ext uri="{FF2B5EF4-FFF2-40B4-BE49-F238E27FC236}">
                <a16:creationId xmlns:a16="http://schemas.microsoft.com/office/drawing/2014/main" id="{D525CA2E-1B9B-4D5B-9BEC-DD84BFFF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71342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5, หน้า PDF 3–4</a:t>
            </a:r>
          </a:p>
        </p:txBody>
      </p:sp>
    </p:spTree>
    <p:extLst>
      <p:ext uri="{BB962C8B-B14F-4D97-AF65-F5344CB8AC3E}">
        <p14:creationId xmlns:p14="http://schemas.microsoft.com/office/powerpoint/2010/main" val="289472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-112">
            <a:extLst xmlns:a="http://schemas.openxmlformats.org/drawingml/2006/main">
              <a:ext uri="{FF2B5EF4-FFF2-40B4-BE49-F238E27FC236}">
                <a16:creationId xmlns:a16="http://schemas.microsoft.com/office/drawing/2014/main" id="{283BB84C-0F25-4754-A656-D73A3063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3">
            <a:extLst xmlns:a="http://schemas.openxmlformats.org/drawingml/2006/main">
              <a:ext uri="{FF2B5EF4-FFF2-40B4-BE49-F238E27FC236}">
                <a16:creationId xmlns:a16="http://schemas.microsoft.com/office/drawing/2014/main" id="{4E6F9CF9-CD07-4415-B3A4-E9C814CB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ผลการทดสอบเชิงปริมาณและการแลกเปลี่ยนความหน่วงกับพื้นที่</a:t>
            </a:r>
          </a:p>
        </p:txBody>
      </p:sp>
      <p:sp>
        <p:nvSpPr>
          <p:cNvPr id="3" name="shape-114">
            <a:extLst xmlns:a="http://schemas.openxmlformats.org/drawingml/2006/main">
              <a:ext uri="{FF2B5EF4-FFF2-40B4-BE49-F238E27FC236}">
                <a16:creationId xmlns:a16="http://schemas.microsoft.com/office/drawing/2014/main" id="{D4C88669-7358-4495-9575-774DF16A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A0029761-EF23-4EFD-946F-1CA4E608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B48D2235-4B1C-44C9-A1B1-A12839CF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7">
            <a:extLst xmlns:a="http://schemas.openxmlformats.org/drawingml/2006/main">
              <a:ext uri="{FF2B5EF4-FFF2-40B4-BE49-F238E27FC236}">
                <a16:creationId xmlns:a16="http://schemas.microsoft.com/office/drawing/2014/main" id="{C1419AEE-8053-4D80-A9E2-66A62B52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105775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74E27D5D-7595-46EA-B974-85CE2755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534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25dbe738b4c59"/>
          <a:stretch xmlns:a="http://schemas.openxmlformats.org/drawingml/2006/main"/>
        </p:blipFill>
        <p:spPr>
          <a:xfrm xmlns:a="http://schemas.openxmlformats.org/drawingml/2006/main">
            <a:off x="1055241" y="1981200"/>
            <a:ext cx="7633592" cy="2314575"/>
          </a:xfrm>
          <a:prstGeom xmlns:a="http://schemas.openxmlformats.org/drawingml/2006/main" prst="rect">
            <a:avLst/>
          </a:prstGeom>
        </p:spPr>
      </p:pic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3204FEBA-FCB1-4086-98FE-F34F5B28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67225"/>
            <a:ext cx="761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20">
            <a:extLst xmlns:a="http://schemas.openxmlformats.org/drawingml/2006/main">
              <a:ext uri="{FF2B5EF4-FFF2-40B4-BE49-F238E27FC236}">
                <a16:creationId xmlns:a16="http://schemas.microsoft.com/office/drawing/2014/main" id="{0C474DFE-6924-42B5-8752-B4C87074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1333500"/>
            <a:ext cx="4572000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6265379C-BE66-44E0-BD47-F525E1B7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285" y="1571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448800" y="2133600"/>
          <a:ext xmlns:a="http://schemas.openxmlformats.org/drawingml/2006/main" cx="4143375" cy="173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1550"/>
                <a:gridCol w="1057275"/>
                <a:gridCol w="1057275"/>
                <a:gridCol w="1057275"/>
              </a:tblGrid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66675" marB="66675" anchor="ctr"/>
                </a:tc>
              </a:tr>
            </a:tbl>
          </a:graphicData>
        </a:graphic>
      </p:graphicFrame>
      <p:sp>
        <p:nvSpPr>
          <p:cNvPr id="13" name="text-122">
            <a:extLst xmlns:a="http://schemas.openxmlformats.org/drawingml/2006/main">
              <a:ext uri="{FF2B5EF4-FFF2-40B4-BE49-F238E27FC236}">
                <a16:creationId xmlns:a16="http://schemas.microsoft.com/office/drawing/2014/main" id="{BF36DC04-341D-4736-9E4D-F62E6362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86225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3">
            <a:extLst xmlns:a="http://schemas.openxmlformats.org/drawingml/2006/main">
              <a:ext uri="{FF2B5EF4-FFF2-40B4-BE49-F238E27FC236}">
                <a16:creationId xmlns:a16="http://schemas.microsoft.com/office/drawing/2014/main" id="{85A02687-6ACC-4D74-9A48-686AE22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00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</a:t>
            </a:r>
          </a:p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(ในเนื้อหาเปเปอร์ใช้ชื่อ +prerender)</a:t>
            </a:r>
          </a:p>
        </p:txBody>
      </p:sp>
      <p:sp>
        <p:nvSpPr>
          <p:cNvPr id="15" name="shape-124">
            <a:extLst xmlns:a="http://schemas.openxmlformats.org/drawingml/2006/main">
              <a:ext uri="{FF2B5EF4-FFF2-40B4-BE49-F238E27FC236}">
                <a16:creationId xmlns:a16="http://schemas.microsoft.com/office/drawing/2014/main" id="{F7586269-0AA9-4CE1-B7D7-85C4C279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5">
            <a:extLst xmlns:a="http://schemas.openxmlformats.org/drawingml/2006/main">
              <a:ext uri="{FF2B5EF4-FFF2-40B4-BE49-F238E27FC236}">
                <a16:creationId xmlns:a16="http://schemas.microsoft.com/office/drawing/2014/main" id="{78D56685-6412-4EE9-BB6C-DA031A19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6">
            <a:extLst xmlns:a="http://schemas.openxmlformats.org/drawingml/2006/main">
              <a:ext uri="{FF2B5EF4-FFF2-40B4-BE49-F238E27FC236}">
                <a16:creationId xmlns:a16="http://schemas.microsoft.com/office/drawing/2014/main" id="{665A98D5-8F38-4D3C-A7F4-206BA67A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TTR</a:t>
            </a:r>
          </a:p>
        </p:txBody>
      </p:sp>
      <p:sp>
        <p:nvSpPr>
          <p:cNvPr id="18" name="text-127">
            <a:extLst xmlns:a="http://schemas.openxmlformats.org/drawingml/2006/main">
              <a:ext uri="{FF2B5EF4-FFF2-40B4-BE49-F238E27FC236}">
                <a16:creationId xmlns:a16="http://schemas.microsoft.com/office/drawing/2014/main" id="{AF2D57CD-0DBC-40C3-B94D-4BC4E6A0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ปรับปรุง Perceived Latency  (Table 1, ชุดรวม)</a:t>
            </a:r>
          </a:p>
        </p:txBody>
      </p:sp>
      <p:sp>
        <p:nvSpPr>
          <p:cNvPr id="19" name="shape-128">
            <a:extLst xmlns:a="http://schemas.openxmlformats.org/drawingml/2006/main">
              <a:ext uri="{FF2B5EF4-FFF2-40B4-BE49-F238E27FC236}">
                <a16:creationId xmlns:a16="http://schemas.microsoft.com/office/drawing/2014/main" id="{49789223-BD59-4F37-A614-1F205A53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9">
            <a:extLst xmlns:a="http://schemas.openxmlformats.org/drawingml/2006/main">
              <a:ext uri="{FF2B5EF4-FFF2-40B4-BE49-F238E27FC236}">
                <a16:creationId xmlns:a16="http://schemas.microsoft.com/office/drawing/2014/main" id="{F2234189-A889-4AA6-B8DC-EFE567B9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30">
            <a:extLst xmlns:a="http://schemas.openxmlformats.org/drawingml/2006/main">
              <a:ext uri="{FF2B5EF4-FFF2-40B4-BE49-F238E27FC236}">
                <a16:creationId xmlns:a16="http://schemas.microsoft.com/office/drawing/2014/main" id="{5E59466D-082C-4E97-9D4D-79EAE96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TTA</a:t>
            </a:r>
          </a:p>
        </p:txBody>
      </p:sp>
      <p:sp>
        <p:nvSpPr>
          <p:cNvPr id="22" name="text-131">
            <a:extLst xmlns:a="http://schemas.openxmlformats.org/drawingml/2006/main">
              <a:ext uri="{FF2B5EF4-FFF2-40B4-BE49-F238E27FC236}">
                <a16:creationId xmlns:a16="http://schemas.microsoft.com/office/drawing/2014/main" id="{6394B489-9A84-427C-BECA-9A0C8620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  (Table 1, ชุดรวม)</a:t>
            </a:r>
          </a:p>
        </p:txBody>
      </p:sp>
      <p:sp>
        <p:nvSpPr>
          <p:cNvPr id="23" name="shape-132">
            <a:extLst xmlns:a="http://schemas.openxmlformats.org/drawingml/2006/main">
              <a:ext uri="{FF2B5EF4-FFF2-40B4-BE49-F238E27FC236}">
                <a16:creationId xmlns:a16="http://schemas.microsoft.com/office/drawing/2014/main" id="{E5F44460-B711-472A-AAE5-D5544E75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3">
            <a:extLst xmlns:a="http://schemas.openxmlformats.org/drawingml/2006/main">
              <a:ext uri="{FF2B5EF4-FFF2-40B4-BE49-F238E27FC236}">
                <a16:creationId xmlns:a16="http://schemas.microsoft.com/office/drawing/2014/main" id="{43D22D01-1930-455A-8792-4886E4A3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97DE75EA-FE1C-47FD-83D0-1658EF9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 SC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E4B08759-C725-424F-AEEA-FAD7087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Trade-off ที่แลกกับความเร็ว  (Table 1, ชุดรวม)</a:t>
            </a:r>
          </a:p>
        </p:txBody>
      </p:sp>
      <p:sp>
        <p:nvSpPr>
          <p:cNvPr id="27" name="text-136">
            <a:extLst xmlns:a="http://schemas.openxmlformats.org/drawingml/2006/main">
              <a:ext uri="{FF2B5EF4-FFF2-40B4-BE49-F238E27FC236}">
                <a16:creationId xmlns:a16="http://schemas.microsoft.com/office/drawing/2014/main" id="{A25B5927-AF3F-4C4B-98A5-3F85EB6D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77050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สภาพแวดล้อมทดสอบ: MacBook Pro (M1 Pro, RAM 16 GB), Node 22.9.0, Local Server, DuckDB-WASM</a:t>
            </a:r>
          </a:p>
        </p:txBody>
      </p:sp>
      <p:sp>
        <p:nvSpPr>
          <p:cNvPr id="28" name="text-137">
            <a:extLst xmlns:a="http://schemas.openxmlformats.org/drawingml/2006/main">
              <a:ext uri="{FF2B5EF4-FFF2-40B4-BE49-F238E27FC236}">
                <a16:creationId xmlns:a16="http://schemas.microsoft.com/office/drawing/2014/main" id="{A6A539C1-BDDF-4E7E-A188-D31BADE6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67575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ข้อสังเกต: การแคชลด TTA ไปแล้ว 32.3% ขณะที่การเรนเดอร์ภาพล่วงหน้าช่วยลด TTA เพิ่มเติมอีก 1.0% เทียบกับ Baseline</a:t>
            </a:r>
          </a:p>
        </p:txBody>
      </p:sp>
    </p:spTree>
    <p:extLst>
      <p:ext uri="{BB962C8B-B14F-4D97-AF65-F5344CB8AC3E}">
        <p14:creationId xmlns:p14="http://schemas.microsoft.com/office/powerpoint/2010/main" val="1443009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8">
            <a:extLst xmlns:a="http://schemas.openxmlformats.org/drawingml/2006/main">
              <a:ext uri="{FF2B5EF4-FFF2-40B4-BE49-F238E27FC236}">
                <a16:creationId xmlns:a16="http://schemas.microsoft.com/office/drawing/2014/main" id="{5E701C9F-086C-4C42-8183-36051EA8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BA152C46-70EE-44FA-A658-98E4C32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คุณูปการทางวิชาการและการประยุกต์ใช้</a:t>
            </a:r>
          </a:p>
        </p:txBody>
      </p:sp>
      <p:sp>
        <p:nvSpPr>
          <p:cNvPr id="3" name="shape-140">
            <a:extLst xmlns:a="http://schemas.openxmlformats.org/drawingml/2006/main">
              <a:ext uri="{FF2B5EF4-FFF2-40B4-BE49-F238E27FC236}">
                <a16:creationId xmlns:a16="http://schemas.microsoft.com/office/drawing/2014/main" id="{29BADF3D-F5FE-4269-A4F2-59F5F41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1">
            <a:extLst xmlns:a="http://schemas.openxmlformats.org/drawingml/2006/main">
              <a:ext uri="{FF2B5EF4-FFF2-40B4-BE49-F238E27FC236}">
                <a16:creationId xmlns:a16="http://schemas.microsoft.com/office/drawing/2014/main" id="{315D9614-BDD7-4529-92B1-AF1B40D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2">
            <a:extLst xmlns:a="http://schemas.openxmlformats.org/drawingml/2006/main">
              <a:ext uri="{FF2B5EF4-FFF2-40B4-BE49-F238E27FC236}">
                <a16:creationId xmlns:a16="http://schemas.microsoft.com/office/drawing/2014/main" id="{F8404A0F-5800-40B0-9531-08B473D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3">
            <a:extLst xmlns:a="http://schemas.openxmlformats.org/drawingml/2006/main">
              <a:ext uri="{FF2B5EF4-FFF2-40B4-BE49-F238E27FC236}">
                <a16:creationId xmlns:a16="http://schemas.microsoft.com/office/drawing/2014/main" id="{13627F6E-C4C3-4502-9318-7BB5414E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4">
            <a:extLst xmlns:a="http://schemas.openxmlformats.org/drawingml/2006/main">
              <a:ext uri="{FF2B5EF4-FFF2-40B4-BE49-F238E27FC236}">
                <a16:creationId xmlns:a16="http://schemas.microsoft.com/office/drawing/2014/main" id="{57C5C71E-FDD1-4046-AAE3-9A653BEE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คุณูปการทางวิชาการ</a:t>
            </a:r>
          </a:p>
        </p:txBody>
      </p:sp>
      <p:sp>
        <p:nvSpPr>
          <p:cNvPr id="8" name="shape-145">
            <a:extLst xmlns:a="http://schemas.openxmlformats.org/drawingml/2006/main">
              <a:ext uri="{FF2B5EF4-FFF2-40B4-BE49-F238E27FC236}">
                <a16:creationId xmlns:a16="http://schemas.microsoft.com/office/drawing/2014/main" id="{5C7887A4-0584-40F9-87E6-D6F2D5FA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46">
            <a:extLst xmlns:a="http://schemas.openxmlformats.org/drawingml/2006/main">
              <a:ext uri="{FF2B5EF4-FFF2-40B4-BE49-F238E27FC236}">
                <a16:creationId xmlns:a16="http://schemas.microsoft.com/office/drawing/2014/main" id="{031EAADE-715C-47DE-A838-78158E67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การประยุกต์ใช้ในงานวิศวกรรมเว็บ</a:t>
            </a:r>
          </a:p>
        </p:txBody>
      </p:sp>
      <p:sp>
        <p:nvSpPr>
          <p:cNvPr id="10" name="text-147">
            <a:extLst xmlns:a="http://schemas.openxmlformats.org/drawingml/2006/main">
              <a:ext uri="{FF2B5EF4-FFF2-40B4-BE49-F238E27FC236}">
                <a16:creationId xmlns:a16="http://schemas.microsoft.com/office/drawing/2014/main" id="{7203AA92-2471-4F11-B4F7-E9502A26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112858F7-87EB-48CF-9257-1AF0400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สถาปัตยกรรมไปป์ไลน์แบบแบ่งชั้น</a:t>
            </a:r>
          </a:p>
        </p:txBody>
      </p:sp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AB3B1862-E13C-41B9-AA98-BAF83C8C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แยกขั้นตอนเตรียมข้อมูล แคชผลคิวรี และสร้างภาพเริ่มต้น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โดยคงไวยากรณ์การเขียนโค้ดเดิมของนักพัฒนาไว้ทั้งหมด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26FE7086-3AEE-4556-AD1D-619AE16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69C4D4C3-B9BD-4CDC-8EF4-EED2AE0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แดชบอร์ดแสดงผลข้อมูลขนาดใหญ่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D5B9782B-C53E-408C-9A03-CE786D3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ลดปัญหา Cold-Start บนเว็บแอปพลิเคชันวิเคราะห์ข้อมูล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ทำให้ผู้ใช้งานมองเห็นกราฟิกเบื้องต้นได้ในทันที</a:t>
            </a:r>
          </a:p>
        </p:txBody>
      </p:sp>
      <p:sp>
        <p:nvSpPr>
          <p:cNvPr id="16" name="shape-153">
            <a:extLst xmlns:a="http://schemas.openxmlformats.org/drawingml/2006/main">
              <a:ext uri="{FF2B5EF4-FFF2-40B4-BE49-F238E27FC236}">
                <a16:creationId xmlns:a16="http://schemas.microsoft.com/office/drawing/2014/main" id="{482995B1-BB4F-476C-A092-E153E281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54">
            <a:extLst xmlns:a="http://schemas.openxmlformats.org/drawingml/2006/main">
              <a:ext uri="{FF2B5EF4-FFF2-40B4-BE49-F238E27FC236}">
                <a16:creationId xmlns:a16="http://schemas.microsoft.com/office/drawing/2014/main" id="{8640DA81-C2DD-4D0F-826D-474F0136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A19586B8-CD4D-4182-B5FC-B134FA87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ACD9546F-1EAA-4C80-9076-E159A90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กรอบการประเมินประสิทธิภาพคู่ขนาน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766C4B1E-4855-4D01-877E-5FAEDB8A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ริเริ่มการจำแนกตัวชี้วัด TTR ออกจาก TTA อย่างชัดเจน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พร้อมบันทึกมิติต้นทุนพื้นที่จัดเก็บ (SC) ที่ต้องแลก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02F1F7DC-7630-4B37-A938-B5BCC965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EAE8A4BF-83EF-48B0-AEBD-509C8BD8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การกระจายเนื้อหาผ่าน Edge CDN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D4B17C14-EF82-4FFB-83CD-BA83DA6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นำไฟล์แคชผลรวมและภาพเริ่มต้นไปจัดเก็บบน Edge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ช่วยลดภาระการคำนวณของเซิร์ฟเวอร์หลักและไคลเอนต์</a:t>
            </a:r>
          </a:p>
        </p:txBody>
      </p:sp>
      <p:sp>
        <p:nvSpPr>
          <p:cNvPr id="24" name="shape-161">
            <a:extLst xmlns:a="http://schemas.openxmlformats.org/drawingml/2006/main">
              <a:ext uri="{FF2B5EF4-FFF2-40B4-BE49-F238E27FC236}">
                <a16:creationId xmlns:a16="http://schemas.microsoft.com/office/drawing/2014/main" id="{5EBD3BDD-CF71-4067-BCCC-FED9C4A2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62">
            <a:extLst xmlns:a="http://schemas.openxmlformats.org/drawingml/2006/main">
              <a:ext uri="{FF2B5EF4-FFF2-40B4-BE49-F238E27FC236}">
                <a16:creationId xmlns:a16="http://schemas.microsoft.com/office/drawing/2014/main" id="{3BD7502F-1382-4676-9905-EA41D710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1B5FCA5D-EC3F-4A28-B346-70B6755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930DA2E9-1745-4E5F-836F-0655E91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หลักฐานเชิงประจักษ์กับข้อมูลขนาดใหญ่</a:t>
            </a:r>
          </a:p>
        </p:txBody>
      </p:sp>
      <p:sp>
        <p:nvSpPr>
          <p:cNvPr id="28" name="text-165">
            <a:extLst xmlns:a="http://schemas.openxmlformats.org/drawingml/2006/main">
              <a:ext uri="{FF2B5EF4-FFF2-40B4-BE49-F238E27FC236}">
                <a16:creationId xmlns:a16="http://schemas.microsoft.com/office/drawing/2014/main" id="{A2B8C99B-50BB-4A88-82BD-F578975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พิสูจน์ผลลัพธ์บนข้อมูลจริง 10k ถึง 10M แถว ยืนยันว่า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การแคชล่วงหน้าลด TTA เฉลี่ย 33.3% และลด TTR 83.7%</a:t>
            </a:r>
          </a:p>
        </p:txBody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229A31F7-8AA4-4671-9BD4-882F509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863CDA20-37E0-4A09-B7C7-6CD7CF3A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ระบบจัดการฐานข้อมูลบนเบราว์เซอร์</a:t>
            </a:r>
          </a:p>
        </p:txBody>
      </p:sp>
      <p:sp>
        <p:nvSpPr>
          <p:cNvPr id="31" name="text-168">
            <a:extLst xmlns:a="http://schemas.openxmlformats.org/drawingml/2006/main">
              <a:ext uri="{FF2B5EF4-FFF2-40B4-BE49-F238E27FC236}">
                <a16:creationId xmlns:a16="http://schemas.microsoft.com/office/drawing/2014/main" id="{7E810071-E515-4F89-A98C-99CDB555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เป็นต้นแบบการผสาน DuckDB-WASM ร่วมกับ Coordinator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เพื่อรองรับการประมวลผลข้อมูลปริมาณมากบนเบราว์เซอร์</a:t>
            </a:r>
          </a:p>
        </p:txBody>
      </p:sp>
      <p:sp>
        <p:nvSpPr>
          <p:cNvPr id="32" name="text-169">
            <a:extLst xmlns:a="http://schemas.openxmlformats.org/drawingml/2006/main">
              <a:ext uri="{FF2B5EF4-FFF2-40B4-BE49-F238E27FC236}">
                <a16:creationId xmlns:a16="http://schemas.microsoft.com/office/drawing/2014/main" id="{0B7D58EF-D3B5-4163-B348-FA7DB27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1, 3 และ 5 (หน้า PDF 1–4)</a:t>
            </a:r>
          </a:p>
        </p:txBody>
      </p:sp>
    </p:spTree>
    <p:extLst>
      <p:ext uri="{BB962C8B-B14F-4D97-AF65-F5344CB8AC3E}">
        <p14:creationId xmlns:p14="http://schemas.microsoft.com/office/powerpoint/2010/main" val="1709417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0">
            <a:extLst xmlns:a="http://schemas.openxmlformats.org/drawingml/2006/main">
              <a:ext uri="{FF2B5EF4-FFF2-40B4-BE49-F238E27FC236}">
                <a16:creationId xmlns:a16="http://schemas.microsoft.com/office/drawing/2014/main" id="{7FEDF154-9D73-4BAC-A1CF-0DB43ABC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1">
            <a:extLst xmlns:a="http://schemas.openxmlformats.org/drawingml/2006/main">
              <a:ext uri="{FF2B5EF4-FFF2-40B4-BE49-F238E27FC236}">
                <a16:creationId xmlns:a16="http://schemas.microsoft.com/office/drawing/2014/main" id="{080ECB7E-B319-44D1-8493-07BC05B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ข้อจำกัดทางวิศวกรรมและบทสรุป</a:t>
            </a:r>
          </a:p>
        </p:txBody>
      </p:sp>
      <p:sp>
        <p:nvSpPr>
          <p:cNvPr id="3" name="shape-172">
            <a:extLst xmlns:a="http://schemas.openxmlformats.org/drawingml/2006/main">
              <a:ext uri="{FF2B5EF4-FFF2-40B4-BE49-F238E27FC236}">
                <a16:creationId xmlns:a16="http://schemas.microsoft.com/office/drawing/2014/main" id="{E4823C62-163F-47E2-87CF-B79991A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3">
            <a:extLst xmlns:a="http://schemas.openxmlformats.org/drawingml/2006/main">
              <a:ext uri="{FF2B5EF4-FFF2-40B4-BE49-F238E27FC236}">
                <a16:creationId xmlns:a16="http://schemas.microsoft.com/office/drawing/2014/main" id="{3919A832-43ED-44D4-A835-1BB23E7D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4">
            <a:extLst xmlns:a="http://schemas.openxmlformats.org/drawingml/2006/main">
              <a:ext uri="{FF2B5EF4-FFF2-40B4-BE49-F238E27FC236}">
                <a16:creationId xmlns:a16="http://schemas.microsoft.com/office/drawing/2014/main" id="{4927B8E6-D788-49E7-BB2E-B08620EA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5">
            <a:extLst xmlns:a="http://schemas.openxmlformats.org/drawingml/2006/main">
              <a:ext uri="{FF2B5EF4-FFF2-40B4-BE49-F238E27FC236}">
                <a16:creationId xmlns:a16="http://schemas.microsoft.com/office/drawing/2014/main" id="{928DBFFB-9030-4FF1-ADC6-3D5B40DA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6">
            <a:extLst xmlns:a="http://schemas.openxmlformats.org/drawingml/2006/main">
              <a:ext uri="{FF2B5EF4-FFF2-40B4-BE49-F238E27FC236}">
                <a16:creationId xmlns:a16="http://schemas.microsoft.com/office/drawing/2014/main" id="{82A32A3C-2B52-42D8-B6E7-A5FF3EA6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ข้อจำกัดเชิงวิศวกรรมและสมมติฐาน</a:t>
            </a:r>
          </a:p>
        </p:txBody>
      </p:sp>
      <p:sp>
        <p:nvSpPr>
          <p:cNvPr id="8" name="shape-177">
            <a:extLst xmlns:a="http://schemas.openxmlformats.org/drawingml/2006/main">
              <a:ext uri="{FF2B5EF4-FFF2-40B4-BE49-F238E27FC236}">
                <a16:creationId xmlns:a16="http://schemas.microsoft.com/office/drawing/2014/main" id="{F2C5FC0E-F526-4BB4-B591-A344333C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78">
            <a:extLst xmlns:a="http://schemas.openxmlformats.org/drawingml/2006/main">
              <a:ext uri="{FF2B5EF4-FFF2-40B4-BE49-F238E27FC236}">
                <a16:creationId xmlns:a16="http://schemas.microsoft.com/office/drawing/2014/main" id="{B28F57BC-7BE2-493B-A8FC-4F1F06D7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บทสรุปสถาปัตยกรรมและทิศทางอนาคต</a:t>
            </a:r>
          </a:p>
        </p:txBody>
      </p:sp>
      <p:sp>
        <p:nvSpPr>
          <p:cNvPr id="10" name="text-179">
            <a:extLst xmlns:a="http://schemas.openxmlformats.org/drawingml/2006/main">
              <a:ext uri="{FF2B5EF4-FFF2-40B4-BE49-F238E27FC236}">
                <a16:creationId xmlns:a16="http://schemas.microsoft.com/office/drawing/2014/main" id="{C030F772-4AA8-4BB0-A44C-F22C9424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80">
            <a:extLst xmlns:a="http://schemas.openxmlformats.org/drawingml/2006/main">
              <a:ext uri="{FF2B5EF4-FFF2-40B4-BE49-F238E27FC236}">
                <a16:creationId xmlns:a16="http://schemas.microsoft.com/office/drawing/2014/main" id="{CA116ECA-28A2-4C9D-B118-F810E8D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คอขวดกระบวนการ Client Hydration</a:t>
            </a:r>
          </a:p>
        </p:txBody>
      </p:sp>
      <p:sp>
        <p:nvSpPr>
          <p:cNvPr id="12" name="text-181">
            <a:extLst xmlns:a="http://schemas.openxmlformats.org/drawingml/2006/main">
              <a:ext uri="{FF2B5EF4-FFF2-40B4-BE49-F238E27FC236}">
                <a16:creationId xmlns:a16="http://schemas.microsoft.com/office/drawing/2014/main" id="{1911BFCC-AF09-44F8-83C3-85948271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การเรนเดอร์ภาพล่วงหน้าช่วยลด TTR ได้ดี แต่เบราว์เซอร์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ยังต้องรัน Client Hydration เต็มชุด จึงลด TTA เพิ่มได้เพียง 1.0%</a:t>
            </a:r>
          </a:p>
        </p:txBody>
      </p:sp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AC2C0928-E57A-4F2C-B3AC-151814F5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089F58C6-A7F1-423F-B6B0-361D2A77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สรุปบทเรียนสำคัญเชิงสถาปัตยกรรม</a:t>
            </a:r>
          </a:p>
        </p:txBody>
      </p:sp>
      <p:sp>
        <p:nvSpPr>
          <p:cNvPr id="15" name="text-184">
            <a:extLst xmlns:a="http://schemas.openxmlformats.org/drawingml/2006/main">
              <a:ext uri="{FF2B5EF4-FFF2-40B4-BE49-F238E27FC236}">
                <a16:creationId xmlns:a16="http://schemas.microsoft.com/office/drawing/2014/main" id="{8ED6B0ED-D4B8-4CAC-836A-43055B27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การแคชล่วงหน้าเป็นกุญแจหลักในการลด TTA (−32.3%)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ส่วนภาพล่วงหน้าแก้ปัญหา Perceived Latency ได้เฉลี่ย −83.7%</a:t>
            </a:r>
          </a:p>
        </p:txBody>
      </p:sp>
      <p:sp>
        <p:nvSpPr>
          <p:cNvPr id="16" name="shape-185">
            <a:extLst xmlns:a="http://schemas.openxmlformats.org/drawingml/2006/main">
              <a:ext uri="{FF2B5EF4-FFF2-40B4-BE49-F238E27FC236}">
                <a16:creationId xmlns:a16="http://schemas.microsoft.com/office/drawing/2014/main" id="{F130EB40-30C3-449D-BC71-868A5BFD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86">
            <a:extLst xmlns:a="http://schemas.openxmlformats.org/drawingml/2006/main">
              <a:ext uri="{FF2B5EF4-FFF2-40B4-BE49-F238E27FC236}">
                <a16:creationId xmlns:a16="http://schemas.microsoft.com/office/drawing/2014/main" id="{894D2D6F-50B1-4265-80F9-403A6DBF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87">
            <a:extLst xmlns:a="http://schemas.openxmlformats.org/drawingml/2006/main">
              <a:ext uri="{FF2B5EF4-FFF2-40B4-BE49-F238E27FC236}">
                <a16:creationId xmlns:a16="http://schemas.microsoft.com/office/drawing/2014/main" id="{505E5232-F82E-47EF-A49C-A82E0D8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88">
            <a:extLst xmlns:a="http://schemas.openxmlformats.org/drawingml/2006/main">
              <a:ext uri="{FF2B5EF4-FFF2-40B4-BE49-F238E27FC236}">
                <a16:creationId xmlns:a16="http://schemas.microsoft.com/office/drawing/2014/main" id="{497566C6-60B0-4B77-90BE-514E1FF2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ต้นทุนพื้นที่จัดเก็บและความผันแปร</a:t>
            </a:r>
          </a:p>
        </p:txBody>
      </p:sp>
      <p:sp>
        <p:nvSpPr>
          <p:cNvPr id="20" name="text-189">
            <a:extLst xmlns:a="http://schemas.openxmlformats.org/drawingml/2006/main">
              <a:ext uri="{FF2B5EF4-FFF2-40B4-BE49-F238E27FC236}">
                <a16:creationId xmlns:a16="http://schemas.microsoft.com/office/drawing/2014/main" id="{276A3692-B3A7-4042-B5FC-F000CA94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พื้นที่จัดเก็บเพิ่มขึ้นเฉลี่ย 21.2% และมีความแปรปรวนสูง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(σ = 29.9%) ตามรูปแบบชาร์ตและจำนวนสถานะการกรอง</a:t>
            </a:r>
          </a:p>
        </p:txBody>
      </p:sp>
      <p:sp>
        <p:nvSpPr>
          <p:cNvPr id="21" name="text-190">
            <a:extLst xmlns:a="http://schemas.openxmlformats.org/drawingml/2006/main">
              <a:ext uri="{FF2B5EF4-FFF2-40B4-BE49-F238E27FC236}">
                <a16:creationId xmlns:a16="http://schemas.microsoft.com/office/drawing/2014/main" id="{6DD1EB92-0E06-47EB-9D34-026048F9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91">
            <a:extLst xmlns:a="http://schemas.openxmlformats.org/drawingml/2006/main">
              <a:ext uri="{FF2B5EF4-FFF2-40B4-BE49-F238E27FC236}">
                <a16:creationId xmlns:a16="http://schemas.microsoft.com/office/drawing/2014/main" id="{D10EF43C-EE81-4388-B473-0B585C6F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Fine-grained / Progressive Hydration</a:t>
            </a:r>
          </a:p>
        </p:txBody>
      </p:sp>
      <p:sp>
        <p:nvSpPr>
          <p:cNvPr id="23" name="text-192">
            <a:extLst xmlns:a="http://schemas.openxmlformats.org/drawingml/2006/main">
              <a:ext uri="{FF2B5EF4-FFF2-40B4-BE49-F238E27FC236}">
                <a16:creationId xmlns:a16="http://schemas.microsoft.com/office/drawing/2014/main" id="{4145EE6E-752F-403E-8019-ECDB268E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แนวทางวิจัยสำคัญในการเริ่มทำงานเฉพาะคอมโพเนนต์ที่จำเป็น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เพื่อลดภาระเบราว์เซอร์และดึง TTA ให้ลดลงเท่าเทียม TTR</a:t>
            </a:r>
          </a:p>
        </p:txBody>
      </p:sp>
      <p:sp>
        <p:nvSpPr>
          <p:cNvPr id="24" name="shape-193">
            <a:extLst xmlns:a="http://schemas.openxmlformats.org/drawingml/2006/main">
              <a:ext uri="{FF2B5EF4-FFF2-40B4-BE49-F238E27FC236}">
                <a16:creationId xmlns:a16="http://schemas.microsoft.com/office/drawing/2014/main" id="{D8552746-E2C4-49B1-8364-AD26985C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94">
            <a:extLst xmlns:a="http://schemas.openxmlformats.org/drawingml/2006/main">
              <a:ext uri="{FF2B5EF4-FFF2-40B4-BE49-F238E27FC236}">
                <a16:creationId xmlns:a16="http://schemas.microsoft.com/office/drawing/2014/main" id="{11B98786-4EAF-4D79-9537-0DEB5C35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95">
            <a:extLst xmlns:a="http://schemas.openxmlformats.org/drawingml/2006/main">
              <a:ext uri="{FF2B5EF4-FFF2-40B4-BE49-F238E27FC236}">
                <a16:creationId xmlns:a16="http://schemas.microsoft.com/office/drawing/2014/main" id="{BF0922F4-C3EE-473C-9E32-98AD04F1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96">
            <a:extLst xmlns:a="http://schemas.openxmlformats.org/drawingml/2006/main">
              <a:ext uri="{FF2B5EF4-FFF2-40B4-BE49-F238E27FC236}">
                <a16:creationId xmlns:a16="http://schemas.microsoft.com/office/drawing/2014/main" id="{6436CBAF-6D6C-489A-AD95-9239CDD1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ขอบเขตการทดสอบและข้อมูลคงที่</a:t>
            </a:r>
          </a:p>
        </p:txBody>
      </p:sp>
      <p:sp>
        <p:nvSpPr>
          <p:cNvPr id="28" name="text-197">
            <a:extLst xmlns:a="http://schemas.openxmlformats.org/drawingml/2006/main">
              <a:ext uri="{FF2B5EF4-FFF2-40B4-BE49-F238E27FC236}">
                <a16:creationId xmlns:a16="http://schemas.microsoft.com/office/drawing/2014/main" id="{8E7571DC-9799-479F-AA95-A3A0CC4D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ประเมินบนแล็ปท็อปประสิทธิภาพสูงกับ Local Server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ยังไม่ครอบคลุมเน็ตมือถือ และข้อมูลเปลี่ยนต้องสร้างใหม่ยกชุด</a:t>
            </a:r>
          </a:p>
        </p:txBody>
      </p:sp>
      <p:sp>
        <p:nvSpPr>
          <p:cNvPr id="29" name="text-198">
            <a:extLst xmlns:a="http://schemas.openxmlformats.org/drawingml/2006/main">
              <a:ext uri="{FF2B5EF4-FFF2-40B4-BE49-F238E27FC236}">
                <a16:creationId xmlns:a16="http://schemas.microsoft.com/office/drawing/2014/main" id="{68F7A826-6D7F-4986-8176-69044A2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99">
            <a:extLst xmlns:a="http://schemas.openxmlformats.org/drawingml/2006/main">
              <a:ext uri="{FF2B5EF4-FFF2-40B4-BE49-F238E27FC236}">
                <a16:creationId xmlns:a16="http://schemas.microsoft.com/office/drawing/2014/main" id="{EED820EB-DA1A-42DC-AA28-74AAF955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Hybrid Strategy &amp; Incremental Update</a:t>
            </a:r>
          </a:p>
        </p:txBody>
      </p:sp>
      <p:sp>
        <p:nvSpPr>
          <p:cNvPr id="31" name="text-200">
            <a:extLst xmlns:a="http://schemas.openxmlformats.org/drawingml/2006/main">
              <a:ext uri="{FF2B5EF4-FFF2-40B4-BE49-F238E27FC236}">
                <a16:creationId xmlns:a16="http://schemas.microsoft.com/office/drawing/2014/main" id="{DF59D3A4-2E58-4EFF-A275-927C4294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การผสานแคช Publish-time ร่วมกับ Dynamic Cache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พร้อมพัฒนาระบบคำนวณซ้ำเฉพาะส่วนที่ข้อมูลเปลี่ยนแปลง</a:t>
            </a:r>
          </a:p>
        </p:txBody>
      </p:sp>
      <p:sp>
        <p:nvSpPr>
          <p:cNvPr id="32" name="text-201">
            <a:extLst xmlns:a="http://schemas.openxmlformats.org/drawingml/2006/main">
              <a:ext uri="{FF2B5EF4-FFF2-40B4-BE49-F238E27FC236}">
                <a16:creationId xmlns:a16="http://schemas.microsoft.com/office/drawing/2014/main" id="{58790AEB-6C01-4C39-880D-9AF8D463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Table 1 (Key Takeaways) และ Sections 5–6 (หน้า PDF 4–5)</a:t>
            </a:r>
          </a:p>
        </p:txBody>
      </p:sp>
    </p:spTree>
    <p:extLst>
      <p:ext uri="{BB962C8B-B14F-4D97-AF65-F5344CB8AC3E}">
        <p14:creationId xmlns:p14="http://schemas.microsoft.com/office/powerpoint/2010/main" val="54853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2026-10-05T08:16:59.9790000Z</dcterms:created>
  <dcterms:modified xsi:type="dcterms:W3CDTF">2026-10-05T08:16:59.9790000Z</dcterms:modified>
</coreProperties>
</file>