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11b5c7c8a44ec6" /><Relationship Type="http://schemas.openxmlformats.org/officeDocument/2006/relationships/extended-properties" Target="/docProps/app.xml" Id="R63849b0ef7bf4059" /><Relationship Type="http://schemas.openxmlformats.org/officeDocument/2006/relationships/officeDocument" Target="/ppt/presentation.xml" Id="R5620eb89791f47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a63c32accb4c92"/>
  </p:sldMasterIdLst>
  <p:notesMasterIdLst>
    <p:notesMasterId xmlns:r="http://schemas.openxmlformats.org/officeDocument/2006/relationships" r:id="Re9000bfd028f4eca"/>
  </p:notesMasterIdLst>
  <p:sldIdLst>
    <p:sldId xmlns:r="http://schemas.openxmlformats.org/officeDocument/2006/relationships" id="256" r:id="R4841ba08572441e0"/>
    <p:sldId xmlns:r="http://schemas.openxmlformats.org/officeDocument/2006/relationships" id="257" r:id="R95be029101ad4c3b"/>
    <p:sldId xmlns:r="http://schemas.openxmlformats.org/officeDocument/2006/relationships" id="258" r:id="Rfd6d44f1dfee4628"/>
    <p:sldId xmlns:r="http://schemas.openxmlformats.org/officeDocument/2006/relationships" id="259" r:id="R51a00b4311294a64"/>
    <p:sldId xmlns:r="http://schemas.openxmlformats.org/officeDocument/2006/relationships" id="260" r:id="R87b3e7caafb14da1"/>
    <p:sldId xmlns:r="http://schemas.openxmlformats.org/officeDocument/2006/relationships" id="261" r:id="R6257f5e0fa7941f5"/>
    <p:sldId xmlns:r="http://schemas.openxmlformats.org/officeDocument/2006/relationships" id="262" r:id="R083b39e49c5b447a"/>
  </p:sldIdLst>
  <p:sldSz cx="14630400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6037fa7e9a49a9" /><Relationship Type="http://schemas.openxmlformats.org/officeDocument/2006/relationships/slideMaster" Target="/ppt/slideMasters/slideMaster1.xml" Id="R34a63c32accb4c92" /><Relationship Type="http://schemas.openxmlformats.org/officeDocument/2006/relationships/notesMaster" Target="/ppt/notesMasters/notesMaster1.xml" Id="Re9000bfd028f4eca" /><Relationship Type="http://schemas.openxmlformats.org/officeDocument/2006/relationships/presProps" Target="/ppt/presProps.xml" Id="Rd83a126590ea4ab2" /><Relationship Type="http://schemas.openxmlformats.org/officeDocument/2006/relationships/tableStyles" Target="/ppt/tableStyles.xml" Id="Rb2f176f6bfe7424e" /><Relationship Type="http://schemas.openxmlformats.org/officeDocument/2006/relationships/slide" Target="/ppt/slides/slide1.xml" Id="R4841ba08572441e0" /><Relationship Type="http://schemas.openxmlformats.org/officeDocument/2006/relationships/slide" Target="/ppt/slides/slide2.xml" Id="R95be029101ad4c3b" /><Relationship Type="http://schemas.openxmlformats.org/officeDocument/2006/relationships/slide" Target="/ppt/slides/slide3.xml" Id="Rfd6d44f1dfee4628" /><Relationship Type="http://schemas.openxmlformats.org/officeDocument/2006/relationships/slide" Target="/ppt/slides/slide4.xml" Id="R51a00b4311294a64" /><Relationship Type="http://schemas.openxmlformats.org/officeDocument/2006/relationships/slide" Target="/ppt/slides/slide5.xml" Id="R87b3e7caafb14da1" /><Relationship Type="http://schemas.openxmlformats.org/officeDocument/2006/relationships/slide" Target="/ppt/slides/slide6.xml" Id="R6257f5e0fa7941f5" /><Relationship Type="http://schemas.openxmlformats.org/officeDocument/2006/relationships/slide" Target="/ppt/slides/slide7.xml" Id="R083b39e49c5b44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725707f3c845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6bd9a442d74472" /><Relationship Type="http://schemas.openxmlformats.org/officeDocument/2006/relationships/notesMaster" Target="/ppt/notesMasters/notesMaster1.xml" Id="Rf788985ab8a448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8e137c38b747c4" /><Relationship Type="http://schemas.openxmlformats.org/officeDocument/2006/relationships/notesMaster" Target="/ppt/notesMasters/notesMaster1.xml" Id="R04ca6a0c579045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8017958a9a4931" /><Relationship Type="http://schemas.openxmlformats.org/officeDocument/2006/relationships/notesMaster" Target="/ppt/notesMasters/notesMaster1.xml" Id="R04d9b6fe90e746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fd81b98ec64bd4" /><Relationship Type="http://schemas.openxmlformats.org/officeDocument/2006/relationships/notesMaster" Target="/ppt/notesMasters/notesMaster1.xml" Id="R5341c2d2660f4d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fefa8ff1d84e54" /><Relationship Type="http://schemas.openxmlformats.org/officeDocument/2006/relationships/notesMaster" Target="/ppt/notesMasters/notesMaster1.xml" Id="Rb488c2ae3ffb4b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3ca86006324ad1" /><Relationship Type="http://schemas.openxmlformats.org/officeDocument/2006/relationships/notesMaster" Target="/ppt/notesMasters/notesMaster1.xml" Id="R0bbc0627431749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ade9a26eed4ef3" /><Relationship Type="http://schemas.openxmlformats.org/officeDocument/2006/relationships/notesMaster" Target="/ppt/notesMasters/notesMaster1.xml" Id="Rd092f0dd910244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0–25 วินาที (25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การนำเสนอนี้สรุปบทความวิจัยเรื่อง Publish-Time Optimizations for Web-Based Visualizations โดย Ron Pechuk และ Jeffrey Heer จาก University of Washington ตีพิมพ์ในการประชุมวิชาการ IEEE VIS 2025 โดยนำเสนอแนวทางย้ายภาระงานประมวลผลที่ต้องทำซ้ำไปไว้ในช่วงเผยแพร่ระบบ เพื่อลดความหน่วงเริ่มต้นของเว็บแสดงภาพข้อมูลเชิงโต้ตอบ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Title and Abstract, PDF page 1. IEEE metadata: DOI 10.1109/VIS60296.2025.00051.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25–65 วินาที (40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เมื่อเปิดหน้าเว็บแสดงภาพข้อมูล เบราว์เซอร์มักต้องดาวน์โหลดข้อมูลดิบ รันคิวรีรวมกลุ่ม และวาดภาพใหม่ทั้งหมด ทำให้ผู้ใช้งานคนแรกต้องรอคอยความหน่วงแบบ Cold-Start ผู้วิจัยจึงจำแนกตัวชี้วัดประสิทธิภาพออกเป็นสองส่วน คือ TTR หรือเวลาจนภาพแสดงผลสมบูรณ์ ซึ่งสะท้อนความเร็วที่ผู้ใช้รับรู้จริง และ TTA หรือเวลาจนระบบพร้อมรับการคลิกหรือฟิลเตอร์โต้ตอบ พร้อมทั้งวัดขนาดพื้นที่จัดเก็บเพิ่มเติม หรือ Storage Cost เพื่อประเมินความคุ้มค่าเชิงวิศวกรรม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Sections 1 and 3.1, PDF pages 1–2.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65–110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สถาปัตยกรรม Mosaic Publisher แบ่งกระบวนการช่วงเผยแพร่ออกเป็นสามขั้นตอนหลัก เริ่มจากการวิเคราะห์โครงสร้าง Abstract Syntax Tree และจำลอง Virtual DOM เพื่อระบุคิวรีที่จำเป็น จากนั้นใช้ DuckDB คำนวณผลลัพธ์ล่วงหน้าและจัดเก็บเป็นไฟล์ แล้วทำการปรับแก้โค้ดเพื่อสร้าง JavaScript Runtime Bundle ผลลัพธ์ที่ส่งมอบให้เบราว์เซอร์ประกอบด้วยข้อมูลที่ตัดทอนคอลัมน์แล้ว ผลคิวรีสำเร็จรูปสำหรับเติมแคช และภาพร่างเริ่มต้น โดยนักพัฒนายังคงใช้ไวยากรณ์เดิมของระบบได้ทั้งหมด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1, PDF page 1. Sections 3.2–3.4 and 4.1–4.3, PDF pages 2–3.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110–155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สำหรับมุมมองแบบสถิต ระบบสามารถส่งภาพ SVG หรือ Canvas ที่วาดเสร็จแล้วให้แสดงผลได้ทันทีโดยไม่ต้องพึ่งพาสคริปต์ แต่สำหรับมุมมองแบบโต้ตอบ แม้ภาพเริ่มต้นจะปรากฏรวดเร็ว ผู้ใช้งานยังต้องรอขั้นตอน Hydration เพื่อให้เบราว์เซอร์เริ่มทำงานคอมโพเนนต์และผูก Event ผลการทดลองในรูปที่ 4 พบว่าขั้นตอน Hydration ยังมีต้นทุนเวลาใกล้เคียงกับการเรนเดอร์ใหม่ทั้งหมด ทำให้ภาพปรากฏเร็วขึ้นมาก แต่เวลาพร้อมโต้ตอบยังลดลงได้จำกัด ซึ่งการพัฒนา Progressive Hydration เป็นโจทย์วิจัยสำคัญต่อไป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Section 4.3, PDF page 3. Figure 4 and Section 5, PDF page 4.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155–215 วินาที (60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ผลการทดสอบกับ 5 ชุดแสดงผลจริง ตั้งแต่ข้อมูลหนึ่งหมื่นแถวจนถึงสิบล้านแถวในตารางที่ 1 ระบุว่าชุดปรับปรุงรวมสามารถลด TTR ได้เฉลี่ย 83.7% และลด TTA ลงเฉลี่ย 33.3% โดยมีกลไกแคชล่วงหน้าเป็นปัจจัยหลักที่ช่วยลด TTA ได้ 32.3% ขณะที่การเรนเดอร์ภาพล่วงหน้าช่วยลด TTA เพิ่มเติมเพียง 1.0% เมื่อเทียบกับ Baseline เดียวกัน ทั้งนี้ระบบต้องแลกกับพื้นที่จัดเก็บเพิ่มเติมเฉลี่ย 21.2% ซึ่งถือเป็นการแลกเปลี่ยนที่คุ้มค่าสำหรับเว็บแอปพลิเคชันยุคใหม่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3 and Table 1, PDF page 4. Table values: mean ± sigma across specifications and dataset sizes.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215–250 วินาที (35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คุณูปการทางวิชาการของงานวิจัยนี้ คือการสร้างไปป์ไลน์ปรับปรุงประสิทธิภาพแบบแบ่งชั้นที่รักษาไวยากรณ์เดิม การนำเสนอกรอบการประเมินแบบคู่ขนานระหว่าง TTR และ TTA ร่วมกับมิติพื้นที่จัดเก็บ และการยืนยันประสิทธิผลเชิงประจักษ์กับข้อมูลขนาดใหญ่ ในด้านการนำไปประยุกต์ใช้งานจริง สถาปัตยกรรมนี้นำไปใช้ลดความหน่วงเริ่มต้นของแดชบอร์ดวิเคราะห์ข้อมูล การกระจายไฟล์แคชผ่าน Edge CDN เพื่อลดภาระเซิร์ฟเวอร์ และเป็นแนวทางพัฒนาระบบ In-Browser OLAP ร่วมกับ DuckDB-WASM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Sections 1, 3 and 5, PDF pages 1–4.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250–295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ข้อจำกัดสำคัญของระบบคือขั้นตอน Client Hydration ที่ยังเป็นคอขวดหลัก ความผันแปรของพื้นที่จัดเก็บที่มีค่าเบี่ยงเบนมาตรฐานสูงถึง 29.9% และข้อจำกัดจากการทดสอบบนแล็ปท็อปประสิทธิภาพสูงกับข้อมูลสถิต บทสรุปเชิงสถาปัตยกรรมยืนยันว่าการแคชล่วงหน้าเป็นหัวใจของการลดเวลาตอบสนอง ส่วนภาพล่วงหน้าช่วยแก้ปัญหาความหน่วงที่รับรู้ได้ โดยผู้วิจัยเสนอแนวทางพัฒนาในอนาคต ได้แก่ การทำ Progressive Hydration การผสานกลยุทธ์แบบไฮบริดร่วมกับรันไทม์ และระบบคำนวณซ้ำเฉพาะส่วนที่ข้อมูลเปลี่ยนแปลง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Table 1 (Key Takeaways) and Sections 5–6, PDF pages 4–5.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e703e483c4a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43a6fa7355455a" /><Relationship Type="http://schemas.openxmlformats.org/officeDocument/2006/relationships/slideLayout" Target="/ppt/slideLayouts/slideLayout1.xml" Id="Ree0f1d576c8740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0f1d576c8740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1cdf98fd94de8" /><Relationship Type="http://schemas.openxmlformats.org/officeDocument/2006/relationships/notesSlide" Target="/ppt/notesSlides/notesSlide1.xml" Id="R304a2f43f7b94c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10ad08b084bff" /><Relationship Type="http://schemas.openxmlformats.org/officeDocument/2006/relationships/notesSlide" Target="/ppt/notesSlides/notesSlide2.xml" Id="R0eefaf45f33244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42f07c1c04a0b" /><Relationship Type="http://schemas.openxmlformats.org/officeDocument/2006/relationships/image" Target="/ppt/media/image.png" Id="R881a727b561e409f" /><Relationship Type="http://schemas.openxmlformats.org/officeDocument/2006/relationships/notesSlide" Target="/ppt/notesSlides/notesSlide3.xml" Id="R2d8ed25a212d47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a75cf6c834c6b" /><Relationship Type="http://schemas.openxmlformats.org/officeDocument/2006/relationships/image" Target="/ppt/media/image2.png" Id="R871c03c7cb774e8d" /><Relationship Type="http://schemas.openxmlformats.org/officeDocument/2006/relationships/notesSlide" Target="/ppt/notesSlides/notesSlide4.xml" Id="R1f161651da7246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bb265620a4c84" /><Relationship Type="http://schemas.openxmlformats.org/officeDocument/2006/relationships/image" Target="/ppt/media/image3.png" Id="R8159bfd0db0e40cd" /><Relationship Type="http://schemas.openxmlformats.org/officeDocument/2006/relationships/notesSlide" Target="/ppt/notesSlides/notesSlide5.xml" Id="R8aabaeff379f4d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1b7f442e34551" /><Relationship Type="http://schemas.openxmlformats.org/officeDocument/2006/relationships/notesSlide" Target="/ppt/notesSlides/notesSlide6.xml" Id="R170acc24d68749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4a98b21e749dc" /><Relationship Type="http://schemas.openxmlformats.org/officeDocument/2006/relationships/notesSlide" Target="/ppt/notesSlides/notesSlide7.xml" Id="Rd6cc06ee1ab44e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4CA653CD-E80F-4B1E-B067-D5F17B30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272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305432 เครือข่ายเซนเซอร์ (Sensor Networks)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6A494E92-2A79-4FB9-B34C-76D2C760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2725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Publish-Time Optimizations</a:t>
            </a:r>
          </a:p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for Web-Based Visualizations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93AAC59-9295-474D-B1E0-75132E78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272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การเพิ่มประสิทธิภาพเว็บแสดงภาพข้อมูลเชิงโต้ตอบด้วยการประมวลผลล่วงหน้าช่วงเผยแพร่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845D9F5C-EE2F-4886-9E6B-8C656EE7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86250"/>
            <a:ext cx="2019300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362A38C0-F546-4B4F-9B14-E0C96843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2725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Ron Pechuk, Jeffrey Heer</a:t>
            </a:r>
          </a:p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University of Washington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77B27B1A-0601-4C7A-9383-AE9D908A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272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2025 IEEE Visualization and Visual Analytics (VIS), pp. 226–230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2A2851A4-8B01-450F-806C-10AD4836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24550"/>
            <a:ext cx="1272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IEEE Doc ID: 11298742     DOI: 10.1109/VIS60296.2025.00051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49FEB5B0-D74B-4DD1-8C87-D78ABCF0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743700"/>
            <a:ext cx="1272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นำเสนอโดย นายธีรภัทร ภู่ระย้า     รหัสนิสิต 66362416</a:t>
            </a:r>
          </a:p>
        </p:txBody>
      </p:sp>
    </p:spTree>
    <p:extLst>
      <p:ext uri="{BB962C8B-B14F-4D97-AF65-F5344CB8AC3E}">
        <p14:creationId xmlns:p14="http://schemas.microsoft.com/office/powerpoint/2010/main" val="12531740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9">
            <a:extLst xmlns:a="http://schemas.openxmlformats.org/drawingml/2006/main">
              <a:ext uri="{FF2B5EF4-FFF2-40B4-BE49-F238E27FC236}">
                <a16:creationId xmlns:a16="http://schemas.microsoft.com/office/drawing/2014/main" id="{3D9C0804-5A86-40A8-A991-91CFF073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1A6D4D98-8CAD-48DD-BCE3-053095A5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ที่มา ปัญหาความหน่วง และตัวชี้วัดประสิทธิภาพเว็บ</a:t>
            </a:r>
          </a:p>
        </p:txBody>
      </p:sp>
      <p:sp>
        <p:nvSpPr>
          <p:cNvPr id="3" name="shape-11">
            <a:extLst xmlns:a="http://schemas.openxmlformats.org/drawingml/2006/main">
              <a:ext uri="{FF2B5EF4-FFF2-40B4-BE49-F238E27FC236}">
                <a16:creationId xmlns:a16="http://schemas.microsoft.com/office/drawing/2014/main" id="{D4BE327B-91B6-4BB1-82D7-43F0CFE3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A087CF4A-79BC-4F7B-AAAF-9CECA831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6C54C9CD-8B7E-4EDB-A81E-FD192C6A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6" name="shape-14">
            <a:extLst xmlns:a="http://schemas.openxmlformats.org/drawingml/2006/main">
              <a:ext uri="{FF2B5EF4-FFF2-40B4-BE49-F238E27FC236}">
                <a16:creationId xmlns:a16="http://schemas.microsoft.com/office/drawing/2014/main" id="{36525E52-1650-4CF9-B8B5-0DEAE5DA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DD80D991-E637-43C0-AAC8-CB6CEC59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ข้อจำกัดของการประมวลผลตอนรันไทม์</a:t>
            </a:r>
          </a:p>
        </p:txBody>
      </p:sp>
      <p:sp>
        <p:nvSpPr>
          <p:cNvPr id="8" name="text-16">
            <a:extLst xmlns:a="http://schemas.openxmlformats.org/drawingml/2006/main">
              <a:ext uri="{FF2B5EF4-FFF2-40B4-BE49-F238E27FC236}">
                <a16:creationId xmlns:a16="http://schemas.microsoft.com/office/drawing/2014/main" id="{A7F39D38-D9C8-48F5-9C04-BF88E1E9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6E5C0E54-F2E7-49D6-A550-1257CF7E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การคำนวณซ้ำซ้อนบนเบราว์เซอร์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83232E3E-502A-4109-B7AF-F2CDF5DA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เบราว์เซอร์ต้องดาวน์โหลดข้อมูลดิบ รันคิวรีรวมกลุ่ม และวาดชาร์ตใหม่ทุกครั้ง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ส่งผลให้เกิดความหน่วงสูง โดยเฉพาะกับชุดข้อมูลขนาดใหญ่</a:t>
            </a:r>
          </a:p>
        </p:txBody>
      </p:sp>
      <p:sp>
        <p:nvSpPr>
          <p:cNvPr id="11" name="shape-19">
            <a:extLst xmlns:a="http://schemas.openxmlformats.org/drawingml/2006/main">
              <a:ext uri="{FF2B5EF4-FFF2-40B4-BE49-F238E27FC236}">
                <a16:creationId xmlns:a16="http://schemas.microsoft.com/office/drawing/2014/main" id="{438AF33D-08C7-49E3-AA7E-4B7B1225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D24FC57D-088E-4E79-B0F4-CFA52FA8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D9971AE6-89E2-4087-854D-536C6462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ปัญหาความหน่วงตอนเปิดหน้าครั้งแรก</a:t>
            </a:r>
          </a:p>
        </p:txBody>
      </p:sp>
      <p:sp>
        <p:nvSpPr>
          <p:cNvPr id="14" name="text-22">
            <a:extLst xmlns:a="http://schemas.openxmlformats.org/drawingml/2006/main">
              <a:ext uri="{FF2B5EF4-FFF2-40B4-BE49-F238E27FC236}">
                <a16:creationId xmlns:a16="http://schemas.microsoft.com/office/drawing/2014/main" id="{D795F5B1-0CBF-43F3-833E-BB46B3F8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ระบบแคชแบบเดิมทำงานตอนรันไทม์ ทำให้ผู้เข้าชมคนแรก (Cold-Start)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ยังคงต้องรอโหลดข้อมูลและคำนวณใหม่ตั้งแต่ต้นโดยไม่ได้รับประโยชน์จากแคช</a:t>
            </a:r>
          </a:p>
        </p:txBody>
      </p:sp>
      <p:sp>
        <p:nvSpPr>
          <p:cNvPr id="15" name="shape-23">
            <a:extLst xmlns:a="http://schemas.openxmlformats.org/drawingml/2006/main">
              <a:ext uri="{FF2B5EF4-FFF2-40B4-BE49-F238E27FC236}">
                <a16:creationId xmlns:a16="http://schemas.microsoft.com/office/drawing/2014/main" id="{D9FFBE64-DCEA-4571-B007-D12C7017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EB12170D-F2E9-4A5E-8BA4-B81F22BD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25">
            <a:extLst xmlns:a="http://schemas.openxmlformats.org/drawingml/2006/main">
              <a:ext uri="{FF2B5EF4-FFF2-40B4-BE49-F238E27FC236}">
                <a16:creationId xmlns:a16="http://schemas.microsoft.com/office/drawing/2014/main" id="{6BD66998-6A66-4489-BABE-F38BA6ED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ภาพปรากฏแต่ยังไม่พร้อมโต้ตอบ</a:t>
            </a:r>
          </a:p>
        </p:txBody>
      </p:sp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5565BE35-A61C-4757-8638-5CAFC891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ชาร์ตแสดงผลบนหน้าจอแล้ว แต่ระบบภายในยังคอมไพล์สคริปต์ไม่เสร็จ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ทำให้ผู้ใช้ไม่สามารถคลิก ซูม หรือฟิลเตอร์ข้อมูลได้ทันที</a:t>
            </a:r>
          </a:p>
        </p:txBody>
      </p:sp>
      <p:sp>
        <p:nvSpPr>
          <p:cNvPr id="19" name="shape-27">
            <a:extLst xmlns:a="http://schemas.openxmlformats.org/drawingml/2006/main">
              <a:ext uri="{FF2B5EF4-FFF2-40B4-BE49-F238E27FC236}">
                <a16:creationId xmlns:a16="http://schemas.microsoft.com/office/drawing/2014/main" id="{7B6797FC-D258-4903-864F-D71B86F1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28">
            <a:extLst xmlns:a="http://schemas.openxmlformats.org/drawingml/2006/main">
              <a:ext uri="{FF2B5EF4-FFF2-40B4-BE49-F238E27FC236}">
                <a16:creationId xmlns:a16="http://schemas.microsoft.com/office/drawing/2014/main" id="{637AFC14-C234-43A5-A2F9-68CE109F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ตัวชี้วัดประสิทธิภาพและต้นทุนระบบ</a:t>
            </a:r>
          </a:p>
        </p:txBody>
      </p:sp>
      <p:sp>
        <p:nvSpPr>
          <p:cNvPr id="21" name="text-29">
            <a:extLst xmlns:a="http://schemas.openxmlformats.org/drawingml/2006/main">
              <a:ext uri="{FF2B5EF4-FFF2-40B4-BE49-F238E27FC236}">
                <a16:creationId xmlns:a16="http://schemas.microsoft.com/office/drawing/2014/main" id="{7F842FB2-ADA0-41FF-B29E-6E5AB832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30">
            <a:extLst xmlns:a="http://schemas.openxmlformats.org/drawingml/2006/main">
              <a:ext uri="{FF2B5EF4-FFF2-40B4-BE49-F238E27FC236}">
                <a16:creationId xmlns:a16="http://schemas.microsoft.com/office/drawing/2014/main" id="{43CC61C1-1187-4619-9D2E-EFFEC5C6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TTR (Time-to-Render) · เวลาจนภาพปรากฏ</a:t>
            </a:r>
          </a:p>
        </p:txBody>
      </p:sp>
      <p:sp>
        <p:nvSpPr>
          <p:cNvPr id="23" name="text-31">
            <a:extLst xmlns:a="http://schemas.openxmlformats.org/drawingml/2006/main">
              <a:ext uri="{FF2B5EF4-FFF2-40B4-BE49-F238E27FC236}">
                <a16:creationId xmlns:a16="http://schemas.microsoft.com/office/drawing/2014/main" id="{70371B05-AF47-40D3-A374-B05A0649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เวลาตั้งแต่เริ่มส่งคำขอ จนกระทั่งชาร์ตแสดงผลครบถ้วนบนหน้าจอ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สะท้อนความเร็วที่ผู้ใช้รับรู้ได้จริง (Perceived Latency) เทียบเคียงกับ FCP</a:t>
            </a:r>
          </a:p>
        </p:txBody>
      </p:sp>
      <p:sp>
        <p:nvSpPr>
          <p:cNvPr id="24" name="shape-32">
            <a:extLst xmlns:a="http://schemas.openxmlformats.org/drawingml/2006/main">
              <a:ext uri="{FF2B5EF4-FFF2-40B4-BE49-F238E27FC236}">
                <a16:creationId xmlns:a16="http://schemas.microsoft.com/office/drawing/2014/main" id="{F7AB50AA-9976-48A5-A0D0-39687756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33">
            <a:extLst xmlns:a="http://schemas.openxmlformats.org/drawingml/2006/main">
              <a:ext uri="{FF2B5EF4-FFF2-40B4-BE49-F238E27FC236}">
                <a16:creationId xmlns:a16="http://schemas.microsoft.com/office/drawing/2014/main" id="{F3C46652-3BC2-4DE8-8EDB-A290C6D8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34">
            <a:extLst xmlns:a="http://schemas.openxmlformats.org/drawingml/2006/main">
              <a:ext uri="{FF2B5EF4-FFF2-40B4-BE49-F238E27FC236}">
                <a16:creationId xmlns:a16="http://schemas.microsoft.com/office/drawing/2014/main" id="{48B96759-175D-49FE-A9EB-ECE93595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TTA (Time-to-Activation) · เวลาจนพร้อมโต้ตอบ</a:t>
            </a:r>
          </a:p>
        </p:txBody>
      </p:sp>
      <p:sp>
        <p:nvSpPr>
          <p:cNvPr id="27" name="text-35">
            <a:extLst xmlns:a="http://schemas.openxmlformats.org/drawingml/2006/main">
              <a:ext uri="{FF2B5EF4-FFF2-40B4-BE49-F238E27FC236}">
                <a16:creationId xmlns:a16="http://schemas.microsoft.com/office/drawing/2014/main" id="{6730EE72-EE12-4252-8B57-3E777906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เวลาจนกระทั่งระบบพร้อมรับการคลิก ซูม หรือเลือกฟิลเตอร์ข้อมูล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ชี้วัดความพร้อมใช้งานจริงของอินเทอร์เฟซ เทียบเคียงกับ TTI บนเว็บ</a:t>
            </a:r>
          </a:p>
        </p:txBody>
      </p:sp>
      <p:sp>
        <p:nvSpPr>
          <p:cNvPr id="28" name="shape-36">
            <a:extLst xmlns:a="http://schemas.openxmlformats.org/drawingml/2006/main">
              <a:ext uri="{FF2B5EF4-FFF2-40B4-BE49-F238E27FC236}">
                <a16:creationId xmlns:a16="http://schemas.microsoft.com/office/drawing/2014/main" id="{02CA20D6-C5CA-4A50-9954-F358393B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37">
            <a:extLst xmlns:a="http://schemas.openxmlformats.org/drawingml/2006/main">
              <a:ext uri="{FF2B5EF4-FFF2-40B4-BE49-F238E27FC236}">
                <a16:creationId xmlns:a16="http://schemas.microsoft.com/office/drawing/2014/main" id="{3D2D88FD-7821-4416-8FA7-1F050559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38">
            <a:extLst xmlns:a="http://schemas.openxmlformats.org/drawingml/2006/main">
              <a:ext uri="{FF2B5EF4-FFF2-40B4-BE49-F238E27FC236}">
                <a16:creationId xmlns:a16="http://schemas.microsoft.com/office/drawing/2014/main" id="{E422E450-5483-4794-9A72-702221A6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SC (Storage Cost) · ขนาดพื้นที่จัดเก็บเพิ่มเติม</a:t>
            </a:r>
          </a:p>
        </p:txBody>
      </p:sp>
      <p:sp>
        <p:nvSpPr>
          <p:cNvPr id="31" name="text-39">
            <a:extLst xmlns:a="http://schemas.openxmlformats.org/drawingml/2006/main">
              <a:ext uri="{FF2B5EF4-FFF2-40B4-BE49-F238E27FC236}">
                <a16:creationId xmlns:a16="http://schemas.microsoft.com/office/drawing/2014/main" id="{10C1FAE1-9413-41CF-9519-D3141063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ขนาดไฟล์แคช ข้อมูลสรุปล่วงหน้า และภาพร่างที่เพิ่มขึ้นบนเซิร์ฟเวอร์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ใช้ประเมินความคุ้มค่าเชิงวิศวกรรมที่ต้องแลกกับความเร็วในการเปิดหน้าเว็บ</a:t>
            </a:r>
          </a:p>
        </p:txBody>
      </p:sp>
      <p:sp>
        <p:nvSpPr>
          <p:cNvPr id="32" name="text-40">
            <a:extLst xmlns:a="http://schemas.openxmlformats.org/drawingml/2006/main">
              <a:ext uri="{FF2B5EF4-FFF2-40B4-BE49-F238E27FC236}">
                <a16:creationId xmlns:a16="http://schemas.microsoft.com/office/drawing/2014/main" id="{DC2D13C7-5F60-4A72-B63D-11FEA6D4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1 และ 3.1 (หน้า PDF 1–2)</a:t>
            </a:r>
          </a:p>
        </p:txBody>
      </p:sp>
    </p:spTree>
    <p:extLst>
      <p:ext uri="{BB962C8B-B14F-4D97-AF65-F5344CB8AC3E}">
        <p14:creationId xmlns:p14="http://schemas.microsoft.com/office/powerpoint/2010/main" val="973122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-41">
            <a:extLst xmlns:a="http://schemas.openxmlformats.org/drawingml/2006/main">
              <a:ext uri="{FF2B5EF4-FFF2-40B4-BE49-F238E27FC236}">
                <a16:creationId xmlns:a16="http://schemas.microsoft.com/office/drawing/2014/main" id="{F245D30B-ED22-4F39-912B-55E177DF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42">
            <a:extLst xmlns:a="http://schemas.openxmlformats.org/drawingml/2006/main">
              <a:ext uri="{FF2B5EF4-FFF2-40B4-BE49-F238E27FC236}">
                <a16:creationId xmlns:a16="http://schemas.microsoft.com/office/drawing/2014/main" id="{C9094D2B-F4CF-42B4-9964-A964A790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สถาปัตยกรรมไปป์ไลน์ช่วงเผยแพร่ (Mosaic Publisher)</a:t>
            </a:r>
          </a:p>
        </p:txBody>
      </p:sp>
      <p:sp>
        <p:nvSpPr>
          <p:cNvPr id="3" name="shape-43">
            <a:extLst xmlns:a="http://schemas.openxmlformats.org/drawingml/2006/main">
              <a:ext uri="{FF2B5EF4-FFF2-40B4-BE49-F238E27FC236}">
                <a16:creationId xmlns:a16="http://schemas.microsoft.com/office/drawing/2014/main" id="{296F5626-1495-4EC0-87F6-CA52EA67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44">
            <a:extLst xmlns:a="http://schemas.openxmlformats.org/drawingml/2006/main">
              <a:ext uri="{FF2B5EF4-FFF2-40B4-BE49-F238E27FC236}">
                <a16:creationId xmlns:a16="http://schemas.microsoft.com/office/drawing/2014/main" id="{33E9F4EA-56E6-4540-9B95-E447E339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45">
            <a:extLst xmlns:a="http://schemas.openxmlformats.org/drawingml/2006/main">
              <a:ext uri="{FF2B5EF4-FFF2-40B4-BE49-F238E27FC236}">
                <a16:creationId xmlns:a16="http://schemas.microsoft.com/office/drawing/2014/main" id="{40D8A9DF-0A75-4041-98CB-D4A1B667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6" name="shape-46">
            <a:extLst xmlns:a="http://schemas.openxmlformats.org/drawingml/2006/main">
              <a:ext uri="{FF2B5EF4-FFF2-40B4-BE49-F238E27FC236}">
                <a16:creationId xmlns:a16="http://schemas.microsoft.com/office/drawing/2014/main" id="{89A14F67-E90E-4A69-9833-B22AF0D8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8229600" cy="3667125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47">
            <a:extLst xmlns:a="http://schemas.openxmlformats.org/drawingml/2006/main">
              <a:ext uri="{FF2B5EF4-FFF2-40B4-BE49-F238E27FC236}">
                <a16:creationId xmlns:a16="http://schemas.microsoft.com/office/drawing/2014/main" id="{A13081DA-BF7A-4624-9036-3754B3D6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สถาปัตยกรรมไปป์ไลน์ช่วงเผยแพร่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1a727b561e409f"/>
          <a:stretch xmlns:a="http://schemas.openxmlformats.org/drawingml/2006/main"/>
        </p:blipFill>
        <p:spPr>
          <a:xfrm xmlns:a="http://schemas.openxmlformats.org/drawingml/2006/main">
            <a:off x="1270469" y="1866900"/>
            <a:ext cx="7334582" cy="2428875"/>
          </a:xfrm>
          <a:prstGeom xmlns:a="http://schemas.openxmlformats.org/drawingml/2006/main" prst="rect">
            <a:avLst/>
          </a:prstGeom>
        </p:spPr>
      </p:pic>
      <p:sp>
        <p:nvSpPr>
          <p:cNvPr id="9" name="text-48">
            <a:extLst xmlns:a="http://schemas.openxmlformats.org/drawingml/2006/main">
              <a:ext uri="{FF2B5EF4-FFF2-40B4-BE49-F238E27FC236}">
                <a16:creationId xmlns:a16="http://schemas.microsoft.com/office/drawing/2014/main" id="{79BCD83C-6851-4A49-AE14-8D62C985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4100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1: การแบ่งกลุ่มงาน 3 ส่วนที่ย้ายไปทำล่วงหน้าก่อนผู้ใช้ส่งคำขอ (หน้า PDF 1)</a:t>
            </a:r>
          </a:p>
        </p:txBody>
      </p:sp>
      <p:sp>
        <p:nvSpPr>
          <p:cNvPr id="10" name="shape-49">
            <a:extLst xmlns:a="http://schemas.openxmlformats.org/drawingml/2006/main">
              <a:ext uri="{FF2B5EF4-FFF2-40B4-BE49-F238E27FC236}">
                <a16:creationId xmlns:a16="http://schemas.microsoft.com/office/drawing/2014/main" id="{319244D6-57E4-4A18-8157-74982EB0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6825"/>
            <a:ext cx="8229600" cy="211455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50">
            <a:extLst xmlns:a="http://schemas.openxmlformats.org/drawingml/2006/main">
              <a:ext uri="{FF2B5EF4-FFF2-40B4-BE49-F238E27FC236}">
                <a16:creationId xmlns:a16="http://schemas.microsoft.com/office/drawing/2014/main" id="{9B1AFFBC-F28E-480B-9D83-C2CF0502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054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ขั้นตอนการประมวลผลของ Publisher</a:t>
            </a:r>
          </a:p>
        </p:txBody>
      </p:sp>
      <p:sp>
        <p:nvSpPr>
          <p:cNvPr id="12" name="shape-51">
            <a:extLst xmlns:a="http://schemas.openxmlformats.org/drawingml/2006/main">
              <a:ext uri="{FF2B5EF4-FFF2-40B4-BE49-F238E27FC236}">
                <a16:creationId xmlns:a16="http://schemas.microsoft.com/office/drawing/2014/main" id="{B08C075E-202F-451A-874D-AF398BFD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52">
            <a:extLst xmlns:a="http://schemas.openxmlformats.org/drawingml/2006/main">
              <a:ext uri="{FF2B5EF4-FFF2-40B4-BE49-F238E27FC236}">
                <a16:creationId xmlns:a16="http://schemas.microsoft.com/office/drawing/2014/main" id="{A7D88A76-6DFD-4423-B8D9-EA1A2D13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1. วิเคราะห์ AST &amp;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จำลอง Virtual DOM</a:t>
            </a:r>
          </a:p>
        </p:txBody>
      </p:sp>
      <p:sp>
        <p:nvSpPr>
          <p:cNvPr id="14" name="shape-53">
            <a:extLst xmlns:a="http://schemas.openxmlformats.org/drawingml/2006/main">
              <a:ext uri="{FF2B5EF4-FFF2-40B4-BE49-F238E27FC236}">
                <a16:creationId xmlns:a16="http://schemas.microsoft.com/office/drawing/2014/main" id="{9FD8F763-DD12-4146-9D2D-FC5BAB98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096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54">
            <a:extLst xmlns:a="http://schemas.openxmlformats.org/drawingml/2006/main">
              <a:ext uri="{FF2B5EF4-FFF2-40B4-BE49-F238E27FC236}">
                <a16:creationId xmlns:a16="http://schemas.microsoft.com/office/drawing/2014/main" id="{7540DF09-934C-425A-9CB4-38DA49CC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61410" y="60579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55">
            <a:extLst xmlns:a="http://schemas.openxmlformats.org/drawingml/2006/main">
              <a:ext uri="{FF2B5EF4-FFF2-40B4-BE49-F238E27FC236}">
                <a16:creationId xmlns:a16="http://schemas.microsoft.com/office/drawing/2014/main" id="{9A00645E-91F3-487E-846E-6AEDF50A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6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56">
            <a:extLst xmlns:a="http://schemas.openxmlformats.org/drawingml/2006/main">
              <a:ext uri="{FF2B5EF4-FFF2-40B4-BE49-F238E27FC236}">
                <a16:creationId xmlns:a16="http://schemas.microsoft.com/office/drawing/2014/main" id="{9D0787EF-9D33-4C7C-81AC-6D848BF8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9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2. คำนวณคิวรีล่วงหน้า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ผ่าน DuckDB</a:t>
            </a:r>
          </a:p>
        </p:txBody>
      </p:sp>
      <p:sp>
        <p:nvSpPr>
          <p:cNvPr id="18" name="shape-57">
            <a:extLst xmlns:a="http://schemas.openxmlformats.org/drawingml/2006/main">
              <a:ext uri="{FF2B5EF4-FFF2-40B4-BE49-F238E27FC236}">
                <a16:creationId xmlns:a16="http://schemas.microsoft.com/office/drawing/2014/main" id="{94DF3753-DB7F-4F15-9BAA-7126ECE7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6096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58">
            <a:extLst xmlns:a="http://schemas.openxmlformats.org/drawingml/2006/main">
              <a:ext uri="{FF2B5EF4-FFF2-40B4-BE49-F238E27FC236}">
                <a16:creationId xmlns:a16="http://schemas.microsoft.com/office/drawing/2014/main" id="{E6538E7D-8C9E-4BC0-8F75-96E23FA8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90310" y="60579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59">
            <a:extLst xmlns:a="http://schemas.openxmlformats.org/drawingml/2006/main">
              <a:ext uri="{FF2B5EF4-FFF2-40B4-BE49-F238E27FC236}">
                <a16:creationId xmlns:a16="http://schemas.microsoft.com/office/drawing/2014/main" id="{1A8836B7-8754-4165-9225-D360F98C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5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60">
            <a:extLst xmlns:a="http://schemas.openxmlformats.org/drawingml/2006/main">
              <a:ext uri="{FF2B5EF4-FFF2-40B4-BE49-F238E27FC236}">
                <a16:creationId xmlns:a16="http://schemas.microsoft.com/office/drawing/2014/main" id="{241E63EA-08CD-45F9-8A88-4A663E1A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8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3. Rewrite AST &amp;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สร้าง JS Bundle</a:t>
            </a:r>
          </a:p>
        </p:txBody>
      </p:sp>
      <p:sp>
        <p:nvSpPr>
          <p:cNvPr id="22" name="text-61">
            <a:extLst xmlns:a="http://schemas.openxmlformats.org/drawingml/2006/main">
              <a:ext uri="{FF2B5EF4-FFF2-40B4-BE49-F238E27FC236}">
                <a16:creationId xmlns:a16="http://schemas.microsoft.com/office/drawing/2014/main" id="{4F69F3D7-D86E-4B2A-B159-19160AB6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67151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สรุปกลไกการทำงานจาก Sections 4.1–4.3 (หน้า PDF 2–3)</a:t>
            </a:r>
          </a:p>
        </p:txBody>
      </p:sp>
      <p:sp>
        <p:nvSpPr>
          <p:cNvPr id="23" name="shape-62">
            <a:extLst xmlns:a="http://schemas.openxmlformats.org/drawingml/2006/main">
              <a:ext uri="{FF2B5EF4-FFF2-40B4-BE49-F238E27FC236}">
                <a16:creationId xmlns:a16="http://schemas.microsoft.com/office/drawing/2014/main" id="{F157955A-73E0-41DF-A2C8-BE0FC1A9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1238250"/>
            <a:ext cx="4419600" cy="5953125"/>
          </a:xfrm>
          <a:prstGeom xmlns:a="http://schemas.openxmlformats.org/drawingml/2006/main" prst="roundRect">
            <a:avLst>
              <a:gd name="adj" fmla="val 2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63">
            <a:extLst xmlns:a="http://schemas.openxmlformats.org/drawingml/2006/main">
              <a:ext uri="{FF2B5EF4-FFF2-40B4-BE49-F238E27FC236}">
                <a16:creationId xmlns:a16="http://schemas.microsoft.com/office/drawing/2014/main" id="{60CDA0AB-37E9-4531-86F2-443174AF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4668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ชิ้นส่วนผลลัพธ์ส่งมอบให้ไคลเอนต์</a:t>
            </a:r>
          </a:p>
        </p:txBody>
      </p:sp>
      <p:sp>
        <p:nvSpPr>
          <p:cNvPr id="25" name="text-64">
            <a:extLst xmlns:a="http://schemas.openxmlformats.org/drawingml/2006/main">
              <a:ext uri="{FF2B5EF4-FFF2-40B4-BE49-F238E27FC236}">
                <a16:creationId xmlns:a16="http://schemas.microsoft.com/office/drawing/2014/main" id="{1F1368D9-F144-410E-A3C4-C1BC3317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65">
            <a:extLst xmlns:a="http://schemas.openxmlformats.org/drawingml/2006/main">
              <a:ext uri="{FF2B5EF4-FFF2-40B4-BE49-F238E27FC236}">
                <a16:creationId xmlns:a16="http://schemas.microsoft.com/office/drawing/2014/main" id="{94566F2E-471B-4C90-AB53-9544F586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20383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ข้อมูลจัดระเบียบพร้อมใช้</a:t>
            </a:r>
          </a:p>
        </p:txBody>
      </p:sp>
      <p:sp>
        <p:nvSpPr>
          <p:cNvPr id="27" name="text-66">
            <a:extLst xmlns:a="http://schemas.openxmlformats.org/drawingml/2006/main">
              <a:ext uri="{FF2B5EF4-FFF2-40B4-BE49-F238E27FC236}">
                <a16:creationId xmlns:a16="http://schemas.microsoft.com/office/drawing/2014/main" id="{65D35E26-801B-4676-9E97-A8620ADF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238125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กรองเฉพาะคอลัมน์ที่จำเป็นและแปลงข้อมูล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ลดภาระการส่งข้อมูลข้ามเครือข่าย</a:t>
            </a:r>
          </a:p>
        </p:txBody>
      </p:sp>
      <p:sp>
        <p:nvSpPr>
          <p:cNvPr id="28" name="shape-67">
            <a:extLst xmlns:a="http://schemas.openxmlformats.org/drawingml/2006/main">
              <a:ext uri="{FF2B5EF4-FFF2-40B4-BE49-F238E27FC236}">
                <a16:creationId xmlns:a16="http://schemas.microsoft.com/office/drawing/2014/main" id="{E3084EA5-1D73-4FF4-9489-0C862EFD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360997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68">
            <a:extLst xmlns:a="http://schemas.openxmlformats.org/drawingml/2006/main">
              <a:ext uri="{FF2B5EF4-FFF2-40B4-BE49-F238E27FC236}">
                <a16:creationId xmlns:a16="http://schemas.microsoft.com/office/drawing/2014/main" id="{A9300750-B9CA-4925-8E48-3B07119B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69">
            <a:extLst xmlns:a="http://schemas.openxmlformats.org/drawingml/2006/main">
              <a:ext uri="{FF2B5EF4-FFF2-40B4-BE49-F238E27FC236}">
                <a16:creationId xmlns:a16="http://schemas.microsoft.com/office/drawing/2014/main" id="{0E808C51-AED7-4FAB-9C55-98A9A07E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381000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ผลคิวรีสำเร็จรูป</a:t>
            </a:r>
          </a:p>
        </p:txBody>
      </p:sp>
      <p:sp>
        <p:nvSpPr>
          <p:cNvPr id="31" name="text-70">
            <a:extLst xmlns:a="http://schemas.openxmlformats.org/drawingml/2006/main">
              <a:ext uri="{FF2B5EF4-FFF2-40B4-BE49-F238E27FC236}">
                <a16:creationId xmlns:a16="http://schemas.microsoft.com/office/drawing/2014/main" id="{6AE0BF87-2C4D-4C16-AC32-50D38C34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415290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เติมแคชและฐานข้อมูล DuckDB-WASM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ล่วงหน้าผ่าน Mosaic Coordinator</a:t>
            </a:r>
          </a:p>
        </p:txBody>
      </p:sp>
      <p:sp>
        <p:nvSpPr>
          <p:cNvPr id="32" name="shape-71">
            <a:extLst xmlns:a="http://schemas.openxmlformats.org/drawingml/2006/main">
              <a:ext uri="{FF2B5EF4-FFF2-40B4-BE49-F238E27FC236}">
                <a16:creationId xmlns:a16="http://schemas.microsoft.com/office/drawing/2014/main" id="{68A5F8FB-6C30-4616-8607-6FB475F3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538162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72">
            <a:extLst xmlns:a="http://schemas.openxmlformats.org/drawingml/2006/main">
              <a:ext uri="{FF2B5EF4-FFF2-40B4-BE49-F238E27FC236}">
                <a16:creationId xmlns:a16="http://schemas.microsoft.com/office/drawing/2014/main" id="{CE4D0A09-28F2-4971-904F-26603E22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73">
            <a:extLst xmlns:a="http://schemas.openxmlformats.org/drawingml/2006/main">
              <a:ext uri="{FF2B5EF4-FFF2-40B4-BE49-F238E27FC236}">
                <a16:creationId xmlns:a16="http://schemas.microsoft.com/office/drawing/2014/main" id="{495EE694-8A49-4E82-9EC5-8F7B9A0A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55816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ภาพเริ่มต้นและชุดสคริปต์</a:t>
            </a:r>
          </a:p>
        </p:txBody>
      </p:sp>
      <p:sp>
        <p:nvSpPr>
          <p:cNvPr id="35" name="text-74">
            <a:extLst xmlns:a="http://schemas.openxmlformats.org/drawingml/2006/main">
              <a:ext uri="{FF2B5EF4-FFF2-40B4-BE49-F238E27FC236}">
                <a16:creationId xmlns:a16="http://schemas.microsoft.com/office/drawing/2014/main" id="{556072C0-6333-430E-90F5-F276B71C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592455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ส่งภาพเรนเดอร์สำเร็จให้แสดงผลทันที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พร้อมสคริปต์เปิดการโต้ตอบตามหลัง</a:t>
            </a:r>
          </a:p>
        </p:txBody>
      </p:sp>
      <p:sp>
        <p:nvSpPr>
          <p:cNvPr id="36" name="text-75">
            <a:extLst xmlns:a="http://schemas.openxmlformats.org/drawingml/2006/main">
              <a:ext uri="{FF2B5EF4-FFF2-40B4-BE49-F238E27FC236}">
                <a16:creationId xmlns:a16="http://schemas.microsoft.com/office/drawing/2014/main" id="{6B1AC84F-7CAB-4B46-A5A1-E3C9465D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3.2–3.4 และ 4.1–4.3 (หน้า PDF 2–3)</a:t>
            </a:r>
          </a:p>
        </p:txBody>
      </p:sp>
    </p:spTree>
    <p:extLst>
      <p:ext uri="{BB962C8B-B14F-4D97-AF65-F5344CB8AC3E}">
        <p14:creationId xmlns:p14="http://schemas.microsoft.com/office/powerpoint/2010/main" val="13027582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-76">
            <a:extLst xmlns:a="http://schemas.openxmlformats.org/drawingml/2006/main">
              <a:ext uri="{FF2B5EF4-FFF2-40B4-BE49-F238E27FC236}">
                <a16:creationId xmlns:a16="http://schemas.microsoft.com/office/drawing/2014/main" id="{B0705B03-AFB4-4CBC-83CD-B5843BFB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77">
            <a:extLst xmlns:a="http://schemas.openxmlformats.org/drawingml/2006/main">
              <a:ext uri="{FF2B5EF4-FFF2-40B4-BE49-F238E27FC236}">
                <a16:creationId xmlns:a16="http://schemas.microsoft.com/office/drawing/2014/main" id="{1DEF87B0-0D70-4DBB-AA9B-A4FC4E87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กลไก Pre-rendering และต้นทุนของ Client Hydration</a:t>
            </a:r>
          </a:p>
        </p:txBody>
      </p:sp>
      <p:sp>
        <p:nvSpPr>
          <p:cNvPr id="3" name="shape-78">
            <a:extLst xmlns:a="http://schemas.openxmlformats.org/drawingml/2006/main">
              <a:ext uri="{FF2B5EF4-FFF2-40B4-BE49-F238E27FC236}">
                <a16:creationId xmlns:a16="http://schemas.microsoft.com/office/drawing/2014/main" id="{A5BAA9C1-7B2B-47D7-9C40-886BB246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C789D5A7-7DCB-4EF3-B87B-50B9F5A5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D9EE1B39-85C9-4372-8241-D8BCE6CE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4</a:t>
            </a:r>
          </a:p>
        </p:txBody>
      </p:sp>
      <p:sp>
        <p:nvSpPr>
          <p:cNvPr id="6" name="shape-81">
            <a:extLst xmlns:a="http://schemas.openxmlformats.org/drawingml/2006/main">
              <a:ext uri="{FF2B5EF4-FFF2-40B4-BE49-F238E27FC236}">
                <a16:creationId xmlns:a16="http://schemas.microsoft.com/office/drawing/2014/main" id="{44C04D93-2313-4C1D-BE8A-FD1FE487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767715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82">
            <a:extLst xmlns:a="http://schemas.openxmlformats.org/drawingml/2006/main">
              <a:ext uri="{FF2B5EF4-FFF2-40B4-BE49-F238E27FC236}">
                <a16:creationId xmlns:a16="http://schemas.microsoft.com/office/drawing/2014/main" id="{B9178BE7-B1E1-4E70-AB6D-24B5B6D8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การแยกสัดส่วนความหน่วงและคอขวด Hydration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c03c7cb774e8d"/>
          <a:stretch xmlns:a="http://schemas.openxmlformats.org/drawingml/2006/main"/>
        </p:blipFill>
        <p:spPr>
          <a:xfrm xmlns:a="http://schemas.openxmlformats.org/drawingml/2006/main">
            <a:off x="1536057" y="1866900"/>
            <a:ext cx="6250956" cy="2047875"/>
          </a:xfrm>
          <a:prstGeom xmlns:a="http://schemas.openxmlformats.org/drawingml/2006/main" prst="rect">
            <a:avLst/>
          </a:prstGeom>
        </p:spPr>
      </p:pic>
      <p:sp>
        <p:nvSpPr>
          <p:cNvPr id="9" name="text-83">
            <a:extLst xmlns:a="http://schemas.openxmlformats.org/drawingml/2006/main">
              <a:ext uri="{FF2B5EF4-FFF2-40B4-BE49-F238E27FC236}">
                <a16:creationId xmlns:a16="http://schemas.microsoft.com/office/drawing/2014/main" id="{752C5196-6527-4B28-B9F3-98B07FCF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076700"/>
            <a:ext cx="706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4: สัดส่วนเวลาเฉลี่ยจาก 5 กรณีทดสอบ ที่ขนาดข้อมูล 10 ล้านแถว (หน้า PDF 4)</a:t>
            </a:r>
          </a:p>
        </p:txBody>
      </p:sp>
      <p:sp>
        <p:nvSpPr>
          <p:cNvPr id="10" name="shape-84">
            <a:extLst xmlns:a="http://schemas.openxmlformats.org/drawingml/2006/main">
              <a:ext uri="{FF2B5EF4-FFF2-40B4-BE49-F238E27FC236}">
                <a16:creationId xmlns:a16="http://schemas.microsoft.com/office/drawing/2014/main" id="{5B5D8209-5433-4C40-BF45-9974A75B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43450"/>
            <a:ext cx="7677150" cy="2447925"/>
          </a:xfrm>
          <a:prstGeom xmlns:a="http://schemas.openxmlformats.org/drawingml/2006/main" prst="roundRect">
            <a:avLst>
              <a:gd name="adj" fmla="val 3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85">
            <a:extLst xmlns:a="http://schemas.openxmlformats.org/drawingml/2006/main">
              <a:ext uri="{FF2B5EF4-FFF2-40B4-BE49-F238E27FC236}">
                <a16:creationId xmlns:a16="http://schemas.microsoft.com/office/drawing/2014/main" id="{F91AE6C2-744B-48F2-A815-34928914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972050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ลำดับเหตุการณ์การแสดงผลและการเปิดระบบโต้ตอบ</a:t>
            </a:r>
          </a:p>
        </p:txBody>
      </p:sp>
      <p:sp>
        <p:nvSpPr>
          <p:cNvPr id="12" name="shape-86">
            <a:extLst xmlns:a="http://schemas.openxmlformats.org/drawingml/2006/main">
              <a:ext uri="{FF2B5EF4-FFF2-40B4-BE49-F238E27FC236}">
                <a16:creationId xmlns:a16="http://schemas.microsoft.com/office/drawing/2014/main" id="{AA4F8712-4EF1-4C98-A2F7-A65F7439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87">
            <a:extLst xmlns:a="http://schemas.openxmlformats.org/drawingml/2006/main">
              <a:ext uri="{FF2B5EF4-FFF2-40B4-BE49-F238E27FC236}">
                <a16:creationId xmlns:a16="http://schemas.microsoft.com/office/drawing/2014/main" id="{C5402663-8175-4D44-94FA-D03913CA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1. ภาพเริ่มต้นปรากฏ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(TTR เร็วขึ้น 83.7%)</a:t>
            </a:r>
          </a:p>
        </p:txBody>
      </p:sp>
      <p:sp>
        <p:nvSpPr>
          <p:cNvPr id="14" name="shape-88">
            <a:extLst xmlns:a="http://schemas.openxmlformats.org/drawingml/2006/main">
              <a:ext uri="{FF2B5EF4-FFF2-40B4-BE49-F238E27FC236}">
                <a16:creationId xmlns:a16="http://schemas.microsoft.com/office/drawing/2014/main" id="{76FF912F-E71B-4232-8575-2BB31449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910" y="5867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89">
            <a:extLst xmlns:a="http://schemas.openxmlformats.org/drawingml/2006/main">
              <a:ext uri="{FF2B5EF4-FFF2-40B4-BE49-F238E27FC236}">
                <a16:creationId xmlns:a16="http://schemas.microsoft.com/office/drawing/2014/main" id="{BDBC6C89-5CE4-43D2-B6D9-249F1B5E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77260" y="58293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90">
            <a:extLst xmlns:a="http://schemas.openxmlformats.org/drawingml/2006/main">
              <a:ext uri="{FF2B5EF4-FFF2-40B4-BE49-F238E27FC236}">
                <a16:creationId xmlns:a16="http://schemas.microsoft.com/office/drawing/2014/main" id="{127DDD26-5059-491A-9094-4C2394DC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51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91">
            <a:extLst xmlns:a="http://schemas.openxmlformats.org/drawingml/2006/main">
              <a:ext uri="{FF2B5EF4-FFF2-40B4-BE49-F238E27FC236}">
                <a16:creationId xmlns:a16="http://schemas.microsoft.com/office/drawing/2014/main" id="{D61908EC-BF88-4631-979B-1FD6088C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76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2. คอมไพล์และรัน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Client Hydration</a:t>
            </a:r>
          </a:p>
        </p:txBody>
      </p:sp>
      <p:sp>
        <p:nvSpPr>
          <p:cNvPr id="18" name="shape-92">
            <a:extLst xmlns:a="http://schemas.openxmlformats.org/drawingml/2006/main">
              <a:ext uri="{FF2B5EF4-FFF2-40B4-BE49-F238E27FC236}">
                <a16:creationId xmlns:a16="http://schemas.microsoft.com/office/drawing/2014/main" id="{1EEC8CEA-ABC7-4A9B-8BC0-A2BF1198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660" y="5867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93">
            <a:extLst xmlns:a="http://schemas.openxmlformats.org/drawingml/2006/main">
              <a:ext uri="{FF2B5EF4-FFF2-40B4-BE49-F238E27FC236}">
                <a16:creationId xmlns:a16="http://schemas.microsoft.com/office/drawing/2014/main" id="{FAF469E8-95E5-42E9-AEBA-8D801CB3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22010" y="58293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94">
            <a:extLst xmlns:a="http://schemas.openxmlformats.org/drawingml/2006/main">
              <a:ext uri="{FF2B5EF4-FFF2-40B4-BE49-F238E27FC236}">
                <a16:creationId xmlns:a16="http://schemas.microsoft.com/office/drawing/2014/main" id="{256C97B7-C2B2-4BDD-A516-53E6D2B4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26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95">
            <a:extLst xmlns:a="http://schemas.openxmlformats.org/drawingml/2006/main">
              <a:ext uri="{FF2B5EF4-FFF2-40B4-BE49-F238E27FC236}">
                <a16:creationId xmlns:a16="http://schemas.microsoft.com/office/drawing/2014/main" id="{C74211A8-F8FD-42E6-8CCB-50BCC473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51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3. พร้อมรับอินพุต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(TTA ลดลง 33.3%)</a:t>
            </a:r>
          </a:p>
        </p:txBody>
      </p:sp>
      <p:sp>
        <p:nvSpPr>
          <p:cNvPr id="22" name="text-96">
            <a:extLst xmlns:a="http://schemas.openxmlformats.org/drawingml/2006/main">
              <a:ext uri="{FF2B5EF4-FFF2-40B4-BE49-F238E27FC236}">
                <a16:creationId xmlns:a16="http://schemas.microsoft.com/office/drawing/2014/main" id="{CB2D7E3A-A041-415C-96A1-2B0FF7B2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6515100"/>
            <a:ext cx="706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ผังสรุปลำดับเหตุการณ์จาก Section 4.3 (แสดงขั้นตอน ไม่ใช่แกนเวลา Benchmark)</a:t>
            </a:r>
          </a:p>
        </p:txBody>
      </p:sp>
      <p:sp>
        <p:nvSpPr>
          <p:cNvPr id="23" name="shape-97">
            <a:extLst xmlns:a="http://schemas.openxmlformats.org/drawingml/2006/main">
              <a:ext uri="{FF2B5EF4-FFF2-40B4-BE49-F238E27FC236}">
                <a16:creationId xmlns:a16="http://schemas.microsoft.com/office/drawing/2014/main" id="{9794404D-0A7C-41F9-886D-64F64B07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390" y="1238250"/>
            <a:ext cx="4972050" cy="5953125"/>
          </a:xfrm>
          <a:prstGeom xmlns:a="http://schemas.openxmlformats.org/drawingml/2006/main" prst="roundRect">
            <a:avLst>
              <a:gd name="adj" fmla="val 19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98">
            <a:extLst xmlns:a="http://schemas.openxmlformats.org/drawingml/2006/main">
              <a:ext uri="{FF2B5EF4-FFF2-40B4-BE49-F238E27FC236}">
                <a16:creationId xmlns:a16="http://schemas.microsoft.com/office/drawing/2014/main" id="{29FADFDF-0119-4599-815E-2E270724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190" y="1466850"/>
            <a:ext cx="436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การจำแนกประเภทมุมมองและข้อจำกัด</a:t>
            </a:r>
          </a:p>
        </p:txBody>
      </p:sp>
      <p:sp>
        <p:nvSpPr>
          <p:cNvPr id="25" name="text-99">
            <a:extLst xmlns:a="http://schemas.openxmlformats.org/drawingml/2006/main">
              <a:ext uri="{FF2B5EF4-FFF2-40B4-BE49-F238E27FC236}">
                <a16:creationId xmlns:a16="http://schemas.microsoft.com/office/drawing/2014/main" id="{EB947475-F8DA-474E-8EDE-8D56224C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100">
            <a:extLst xmlns:a="http://schemas.openxmlformats.org/drawingml/2006/main">
              <a:ext uri="{FF2B5EF4-FFF2-40B4-BE49-F238E27FC236}">
                <a16:creationId xmlns:a16="http://schemas.microsoft.com/office/drawing/2014/main" id="{9189B5EF-A8D5-406E-82EA-F8301E11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0383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มุมมองแบบสถิต (Static Views)</a:t>
            </a:r>
          </a:p>
        </p:txBody>
      </p:sp>
      <p:sp>
        <p:nvSpPr>
          <p:cNvPr id="27" name="text-101">
            <a:extLst xmlns:a="http://schemas.openxmlformats.org/drawingml/2006/main">
              <a:ext uri="{FF2B5EF4-FFF2-40B4-BE49-F238E27FC236}">
                <a16:creationId xmlns:a16="http://schemas.microsoft.com/office/drawing/2014/main" id="{5BB9A43E-D962-4BD6-900D-A3DD39A8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38125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ส่งเฉพาะผลลัพธ์ภาพที่เรนเดอร์สำเร็จ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ไร้สคริปต์ ไม่ต้องเสียต้นทุน Hydration</a:t>
            </a:r>
          </a:p>
        </p:txBody>
      </p:sp>
      <p:sp>
        <p:nvSpPr>
          <p:cNvPr id="28" name="shape-102">
            <a:extLst xmlns:a="http://schemas.openxmlformats.org/drawingml/2006/main">
              <a:ext uri="{FF2B5EF4-FFF2-40B4-BE49-F238E27FC236}">
                <a16:creationId xmlns:a16="http://schemas.microsoft.com/office/drawing/2014/main" id="{5590C726-2DF2-46C2-AEBC-568F6822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360997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03">
            <a:extLst xmlns:a="http://schemas.openxmlformats.org/drawingml/2006/main">
              <a:ext uri="{FF2B5EF4-FFF2-40B4-BE49-F238E27FC236}">
                <a16:creationId xmlns:a16="http://schemas.microsoft.com/office/drawing/2014/main" id="{CC85B891-146D-4A40-A8B6-B6BE8B79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104">
            <a:extLst xmlns:a="http://schemas.openxmlformats.org/drawingml/2006/main">
              <a:ext uri="{FF2B5EF4-FFF2-40B4-BE49-F238E27FC236}">
                <a16:creationId xmlns:a16="http://schemas.microsoft.com/office/drawing/2014/main" id="{2457A7A9-22BB-463A-AC0D-53A20176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81000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มุมมองแบบโต้ตอบ (Interactive Views)</a:t>
            </a:r>
          </a:p>
        </p:txBody>
      </p:sp>
      <p:sp>
        <p:nvSpPr>
          <p:cNvPr id="31" name="text-105">
            <a:extLst xmlns:a="http://schemas.openxmlformats.org/drawingml/2006/main">
              <a:ext uri="{FF2B5EF4-FFF2-40B4-BE49-F238E27FC236}">
                <a16:creationId xmlns:a16="http://schemas.microsoft.com/office/drawing/2014/main" id="{504606D1-43C5-4209-BF7F-743CFEE1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15290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ส่งภาพแรกพร้อมสคริปต์ JavaScript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ต้องเติมแคชและผูก Event ก่อนใช้งาน</a:t>
            </a:r>
          </a:p>
        </p:txBody>
      </p:sp>
      <p:sp>
        <p:nvSpPr>
          <p:cNvPr id="32" name="shape-106">
            <a:extLst xmlns:a="http://schemas.openxmlformats.org/drawingml/2006/main">
              <a:ext uri="{FF2B5EF4-FFF2-40B4-BE49-F238E27FC236}">
                <a16:creationId xmlns:a16="http://schemas.microsoft.com/office/drawing/2014/main" id="{E79FFB31-2B43-4925-830E-9406FD52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538162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107">
            <a:extLst xmlns:a="http://schemas.openxmlformats.org/drawingml/2006/main">
              <a:ext uri="{FF2B5EF4-FFF2-40B4-BE49-F238E27FC236}">
                <a16:creationId xmlns:a16="http://schemas.microsoft.com/office/drawing/2014/main" id="{D6CC7372-4960-4A94-AA20-914435C9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108">
            <a:extLst xmlns:a="http://schemas.openxmlformats.org/drawingml/2006/main">
              <a:ext uri="{FF2B5EF4-FFF2-40B4-BE49-F238E27FC236}">
                <a16:creationId xmlns:a16="http://schemas.microsoft.com/office/drawing/2014/main" id="{ADA9CE3E-ECC1-4E07-95B1-D5AA15CE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5816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คอขวด Hydration ฝั่งไคลเอนต์</a:t>
            </a:r>
          </a:p>
        </p:txBody>
      </p:sp>
      <p:sp>
        <p:nvSpPr>
          <p:cNvPr id="35" name="text-109">
            <a:extLst xmlns:a="http://schemas.openxmlformats.org/drawingml/2006/main">
              <a:ext uri="{FF2B5EF4-FFF2-40B4-BE49-F238E27FC236}">
                <a16:creationId xmlns:a16="http://schemas.microsoft.com/office/drawing/2014/main" id="{A6FA73F0-DF91-46CA-AC45-205709CD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92455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ใช้เวลาเกือบเท่าการเรนเดอร์สดจากศูนย์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การทำ Progressive Hydration เป็นงานวิจัยสำคัญ</a:t>
            </a:r>
          </a:p>
        </p:txBody>
      </p:sp>
      <p:sp>
        <p:nvSpPr>
          <p:cNvPr id="36" name="text-110">
            <a:extLst xmlns:a="http://schemas.openxmlformats.org/drawingml/2006/main">
              <a:ext uri="{FF2B5EF4-FFF2-40B4-BE49-F238E27FC236}">
                <a16:creationId xmlns:a16="http://schemas.microsoft.com/office/drawing/2014/main" id="{A02B3755-7F53-42E4-924E-4A0CA8A3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4.3 และ 5 (หน้า PDF 3–4)</a:t>
            </a:r>
          </a:p>
        </p:txBody>
      </p:sp>
    </p:spTree>
    <p:extLst>
      <p:ext uri="{BB962C8B-B14F-4D97-AF65-F5344CB8AC3E}">
        <p14:creationId xmlns:p14="http://schemas.microsoft.com/office/powerpoint/2010/main" val="11049831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hape-111">
            <a:extLst xmlns:a="http://schemas.openxmlformats.org/drawingml/2006/main">
              <a:ext uri="{FF2B5EF4-FFF2-40B4-BE49-F238E27FC236}">
                <a16:creationId xmlns:a16="http://schemas.microsoft.com/office/drawing/2014/main" id="{C86992E4-7E32-4856-95CC-43C41A12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12">
            <a:extLst xmlns:a="http://schemas.openxmlformats.org/drawingml/2006/main">
              <a:ext uri="{FF2B5EF4-FFF2-40B4-BE49-F238E27FC236}">
                <a16:creationId xmlns:a16="http://schemas.microsoft.com/office/drawing/2014/main" id="{E4767D29-8196-4D89-A19E-00DD4D34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ผลการทดสอบเชิงปริมาณและการแลกเปลี่ยนความหน่วงกับพื้นที่</a:t>
            </a:r>
          </a:p>
        </p:txBody>
      </p:sp>
      <p:sp>
        <p:nvSpPr>
          <p:cNvPr id="3" name="shape-113">
            <a:extLst xmlns:a="http://schemas.openxmlformats.org/drawingml/2006/main">
              <a:ext uri="{FF2B5EF4-FFF2-40B4-BE49-F238E27FC236}">
                <a16:creationId xmlns:a16="http://schemas.microsoft.com/office/drawing/2014/main" id="{556D3680-AF14-4254-93B2-3720ACCD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14">
            <a:extLst xmlns:a="http://schemas.openxmlformats.org/drawingml/2006/main">
              <a:ext uri="{FF2B5EF4-FFF2-40B4-BE49-F238E27FC236}">
                <a16:creationId xmlns:a16="http://schemas.microsoft.com/office/drawing/2014/main" id="{494ED35A-5FA0-4C94-BE36-59DB5A19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15">
            <a:extLst xmlns:a="http://schemas.openxmlformats.org/drawingml/2006/main">
              <a:ext uri="{FF2B5EF4-FFF2-40B4-BE49-F238E27FC236}">
                <a16:creationId xmlns:a16="http://schemas.microsoft.com/office/drawing/2014/main" id="{0B689418-D34C-4E37-8300-209212F2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5</a:t>
            </a:r>
          </a:p>
        </p:txBody>
      </p:sp>
      <p:sp>
        <p:nvSpPr>
          <p:cNvPr id="6" name="shape-116">
            <a:extLst xmlns:a="http://schemas.openxmlformats.org/drawingml/2006/main">
              <a:ext uri="{FF2B5EF4-FFF2-40B4-BE49-F238E27FC236}">
                <a16:creationId xmlns:a16="http://schemas.microsoft.com/office/drawing/2014/main" id="{193E40B7-1C15-4D60-9A60-FB44B75E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8096250" cy="3476625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73DFA20E-E6D1-45A2-8C26-6DFEB34F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48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การเปรียบเทียบ TTR และ TTA ตามขนาดข้อมูล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9bfd0db0e40cd"/>
          <a:stretch xmlns:a="http://schemas.openxmlformats.org/drawingml/2006/main"/>
        </p:blipFill>
        <p:spPr>
          <a:xfrm xmlns:a="http://schemas.openxmlformats.org/drawingml/2006/main">
            <a:off x="1258480" y="1847850"/>
            <a:ext cx="7225211" cy="2190750"/>
          </a:xfrm>
          <a:prstGeom xmlns:a="http://schemas.openxmlformats.org/drawingml/2006/main" prst="rect">
            <a:avLst/>
          </a:prstGeom>
        </p:spPr>
      </p:pic>
      <p:sp>
        <p:nvSpPr>
          <p:cNvPr id="9" name="text-118">
            <a:extLst xmlns:a="http://schemas.openxmlformats.org/drawingml/2006/main">
              <a:ext uri="{FF2B5EF4-FFF2-40B4-BE49-F238E27FC236}">
                <a16:creationId xmlns:a16="http://schemas.microsoft.com/office/drawing/2014/main" id="{68E4DB60-455C-463F-905B-C5621FEF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41910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3: เส้นมัธยฐาน (Median) และแรเงา IQR จากข้อมูล 10k–10M แถว (หน้า PDF 4)</a:t>
            </a:r>
          </a:p>
        </p:txBody>
      </p:sp>
      <p:sp>
        <p:nvSpPr>
          <p:cNvPr id="10" name="shape-119">
            <a:extLst xmlns:a="http://schemas.openxmlformats.org/drawingml/2006/main">
              <a:ext uri="{FF2B5EF4-FFF2-40B4-BE49-F238E27FC236}">
                <a16:creationId xmlns:a16="http://schemas.microsoft.com/office/drawing/2014/main" id="{AED98229-5A51-4AA3-952E-28C0A1E4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4490" y="1238250"/>
            <a:ext cx="4552950" cy="3476625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120">
            <a:extLst xmlns:a="http://schemas.openxmlformats.org/drawingml/2006/main">
              <a:ext uri="{FF2B5EF4-FFF2-40B4-BE49-F238E27FC236}">
                <a16:creationId xmlns:a16="http://schemas.microsoft.com/office/drawing/2014/main" id="{9B6B91DA-AF29-429B-8F8B-6AD63641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146685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การเปลี่ยนแปลงสัมพัทธ์เทียบ Baseline</a:t>
            </a:r>
          </a:p>
        </p:txBody>
      </p:sp>
      <p:graphicFrame>
        <p:nvGraphicFramePr>
          <p:cNvPr id="42" name=""/>
          <p:cNvGraphicFramePr/>
          <p:nvPr/>
        </p:nvGraphicFramePr>
        <p:xfrm>
          <a:off xmlns:a="http://schemas.openxmlformats.org/drawingml/2006/main" x="9483090" y="1866900"/>
          <a:ext xmlns:a="http://schemas.openxmlformats.org/drawingml/2006/main" cx="409575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95350"/>
                <a:gridCol w="1066800"/>
                <a:gridCol w="1066800"/>
                <a:gridCol w="1066800"/>
              </a:tblGrid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ระดับ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ΔSC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ΔTTR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ΔTTA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+prep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0.0 ± 0.0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−0.6 ± 4.0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−1.0 ± 2.5</a:t>
                      </a:r>
                    </a:p>
                  </a:txBody>
                  <a:tcPr marL="28575" marR="28575" marT="57150" marB="57150" anchor="ctr"/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+cache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21.1 ± 29.8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−16.6 ± 1.3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−32.3 ± 8.9</a:t>
                      </a:r>
                    </a:p>
                  </a:txBody>
                  <a:tcPr marL="28575" marR="28575" marT="57150" marB="57150" anchor="ctr"/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+most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21.2 ± 29.9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−83.7 ± 2.1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−33.3 ± 9.6</a:t>
                      </a:r>
                    </a:p>
                  </a:txBody>
                  <a:tcPr marL="28575" marR="28575" marT="57150" marB="57150" anchor="ctr"/>
                </a:tc>
              </a:tr>
            </a:tbl>
          </a:graphicData>
        </a:graphic>
      </p:graphicFrame>
      <p:sp>
        <p:nvSpPr>
          <p:cNvPr id="13" name="text-121">
            <a:extLst xmlns:a="http://schemas.openxmlformats.org/drawingml/2006/main">
              <a:ext uri="{FF2B5EF4-FFF2-40B4-BE49-F238E27FC236}">
                <a16:creationId xmlns:a16="http://schemas.microsoft.com/office/drawing/2014/main" id="{D37CC2BA-C41D-438A-AA76-EFCAEE7A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3581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05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Table 1: ค่าเฉลี่ยและส่วนเบี่ยงเบนมาตรฐาน (Mean ± σ) ข้ามทุกชุดทดสอบ</a:t>
            </a:r>
          </a:p>
        </p:txBody>
      </p:sp>
      <p:sp>
        <p:nvSpPr>
          <p:cNvPr id="14" name="text-122">
            <a:extLst xmlns:a="http://schemas.openxmlformats.org/drawingml/2006/main">
              <a:ext uri="{FF2B5EF4-FFF2-40B4-BE49-F238E27FC236}">
                <a16:creationId xmlns:a16="http://schemas.microsoft.com/office/drawing/2014/main" id="{AA5A4AE9-AEBD-4E1E-8E5B-D2CEDCD8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3848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แถว +most คือชุดรวมทุกกลยุทธ์ (ในเนื้อหาเปเปอร์ใช้ชื่อ +prerender)</a:t>
            </a:r>
          </a:p>
        </p:txBody>
      </p:sp>
      <p:sp>
        <p:nvSpPr>
          <p:cNvPr id="15" name="shape-123">
            <a:extLst xmlns:a="http://schemas.openxmlformats.org/drawingml/2006/main">
              <a:ext uri="{FF2B5EF4-FFF2-40B4-BE49-F238E27FC236}">
                <a16:creationId xmlns:a16="http://schemas.microsoft.com/office/drawing/2014/main" id="{8ECA0247-4ABF-4692-ADE1-5DC17B91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6" name="text-124">
            <a:extLst xmlns:a="http://schemas.openxmlformats.org/drawingml/2006/main">
              <a:ext uri="{FF2B5EF4-FFF2-40B4-BE49-F238E27FC236}">
                <a16:creationId xmlns:a16="http://schemas.microsoft.com/office/drawing/2014/main" id="{13A071DE-39FB-4690-ACE4-228CDE7E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−83.7%</a:t>
            </a:r>
          </a:p>
        </p:txBody>
      </p:sp>
      <p:sp>
        <p:nvSpPr>
          <p:cNvPr id="17" name="text-125">
            <a:extLst xmlns:a="http://schemas.openxmlformats.org/drawingml/2006/main">
              <a:ext uri="{FF2B5EF4-FFF2-40B4-BE49-F238E27FC236}">
                <a16:creationId xmlns:a16="http://schemas.microsoft.com/office/drawing/2014/main" id="{3A686D0B-085F-4D34-9E92-241E6C59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เวลาจนภาพปรากฏ (TTR)</a:t>
            </a:r>
          </a:p>
        </p:txBody>
      </p:sp>
      <p:sp>
        <p:nvSpPr>
          <p:cNvPr id="18" name="text-126">
            <a:extLst xmlns:a="http://schemas.openxmlformats.org/drawingml/2006/main">
              <a:ext uri="{FF2B5EF4-FFF2-40B4-BE49-F238E27FC236}">
                <a16:creationId xmlns:a16="http://schemas.microsoft.com/office/drawing/2014/main" id="{C5B03EC2-1941-4AA1-BDC4-EA962BBF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2.1% · ลด Perceived Latency ชัดเจน</a:t>
            </a:r>
          </a:p>
        </p:txBody>
      </p:sp>
      <p:sp>
        <p:nvSpPr>
          <p:cNvPr id="19" name="shape-127">
            <a:extLst xmlns:a="http://schemas.openxmlformats.org/drawingml/2006/main">
              <a:ext uri="{FF2B5EF4-FFF2-40B4-BE49-F238E27FC236}">
                <a16:creationId xmlns:a16="http://schemas.microsoft.com/office/drawing/2014/main" id="{45D12114-B11B-4475-883E-805CA12A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28">
            <a:extLst xmlns:a="http://schemas.openxmlformats.org/drawingml/2006/main">
              <a:ext uri="{FF2B5EF4-FFF2-40B4-BE49-F238E27FC236}">
                <a16:creationId xmlns:a16="http://schemas.microsoft.com/office/drawing/2014/main" id="{2D726E3C-4B0B-4EDA-982A-758BE3FA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−33.3%</a:t>
            </a:r>
          </a:p>
        </p:txBody>
      </p:sp>
      <p:sp>
        <p:nvSpPr>
          <p:cNvPr id="21" name="text-129">
            <a:extLst xmlns:a="http://schemas.openxmlformats.org/drawingml/2006/main">
              <a:ext uri="{FF2B5EF4-FFF2-40B4-BE49-F238E27FC236}">
                <a16:creationId xmlns:a16="http://schemas.microsoft.com/office/drawing/2014/main" id="{84695E8B-6B91-4F9F-BD8C-4A45324E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เวลาพร้อมโต้ตอบ (TTA)</a:t>
            </a:r>
          </a:p>
        </p:txBody>
      </p:sp>
      <p:sp>
        <p:nvSpPr>
          <p:cNvPr id="22" name="text-130">
            <a:extLst xmlns:a="http://schemas.openxmlformats.org/drawingml/2006/main">
              <a:ext uri="{FF2B5EF4-FFF2-40B4-BE49-F238E27FC236}">
                <a16:creationId xmlns:a16="http://schemas.microsoft.com/office/drawing/2014/main" id="{95D311A3-888F-40B6-9D22-B444EB1A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9.6% · แคชช่วยตัดเวลาหลัก (−32.3%)</a:t>
            </a:r>
          </a:p>
        </p:txBody>
      </p:sp>
      <p:sp>
        <p:nvSpPr>
          <p:cNvPr id="23" name="shape-131">
            <a:extLst xmlns:a="http://schemas.openxmlformats.org/drawingml/2006/main">
              <a:ext uri="{FF2B5EF4-FFF2-40B4-BE49-F238E27FC236}">
                <a16:creationId xmlns:a16="http://schemas.microsoft.com/office/drawing/2014/main" id="{44A7E80C-01D3-4771-B5F3-11DB62EF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115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132">
            <a:extLst xmlns:a="http://schemas.openxmlformats.org/drawingml/2006/main">
              <a:ext uri="{FF2B5EF4-FFF2-40B4-BE49-F238E27FC236}">
                <a16:creationId xmlns:a16="http://schemas.microsoft.com/office/drawing/2014/main" id="{07A74A9A-0EFE-4DD4-9528-0F2781B0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+21.2%</a:t>
            </a:r>
          </a:p>
        </p:txBody>
      </p:sp>
      <p:sp>
        <p:nvSpPr>
          <p:cNvPr id="25" name="text-133">
            <a:extLst xmlns:a="http://schemas.openxmlformats.org/drawingml/2006/main">
              <a:ext uri="{FF2B5EF4-FFF2-40B4-BE49-F238E27FC236}">
                <a16:creationId xmlns:a16="http://schemas.microsoft.com/office/drawing/2014/main" id="{66784CAA-F52B-4676-8B7E-1780D686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พื้นที่จัดเก็บเพิ่มเติม (SC)</a:t>
            </a:r>
          </a:p>
        </p:txBody>
      </p:sp>
      <p:sp>
        <p:nvSpPr>
          <p:cNvPr id="26" name="text-134">
            <a:extLst xmlns:a="http://schemas.openxmlformats.org/drawingml/2006/main">
              <a:ext uri="{FF2B5EF4-FFF2-40B4-BE49-F238E27FC236}">
                <a16:creationId xmlns:a16="http://schemas.microsoft.com/office/drawing/2014/main" id="{199638B2-3BD6-4966-AF51-F1458F31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29.9% · แลกกับความเร็วในการโหลด</a:t>
            </a:r>
          </a:p>
        </p:txBody>
      </p:sp>
      <p:sp>
        <p:nvSpPr>
          <p:cNvPr id="27" name="shape-135">
            <a:extLst xmlns:a="http://schemas.openxmlformats.org/drawingml/2006/main">
              <a:ext uri="{FF2B5EF4-FFF2-40B4-BE49-F238E27FC236}">
                <a16:creationId xmlns:a16="http://schemas.microsoft.com/office/drawing/2014/main" id="{12B4318F-E3D5-4A7F-B0A5-E0863CA0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553200"/>
            <a:ext cx="1298448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8" name="text-136">
            <a:extLst xmlns:a="http://schemas.openxmlformats.org/drawingml/2006/main">
              <a:ext uri="{FF2B5EF4-FFF2-40B4-BE49-F238E27FC236}">
                <a16:creationId xmlns:a16="http://schemas.microsoft.com/office/drawing/2014/main" id="{646430ED-DF24-47A8-AEDE-61BE0A10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29400"/>
            <a:ext cx="1253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สภาพแวดล้อม: MacBook Pro (M1 Pro, RAM 16 GB), Node 22.9, Local Server, DuckDB-WASM</a:t>
            </a:r>
          </a:p>
        </p:txBody>
      </p:sp>
      <p:sp>
        <p:nvSpPr>
          <p:cNvPr id="29" name="text-137">
            <a:extLst xmlns:a="http://schemas.openxmlformats.org/drawingml/2006/main">
              <a:ext uri="{FF2B5EF4-FFF2-40B4-BE49-F238E27FC236}">
                <a16:creationId xmlns:a16="http://schemas.microsoft.com/office/drawing/2014/main" id="{348E51F8-8D4F-4123-95B5-40A885EA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58000"/>
            <a:ext cx="1253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ข้อค้นพบสำคัญ: การแคชช่วยลด TTA ไปแล้ว 32.3% ขณะที่ภาพล่วงหน้าช่วยลด TTA เพิ่มเติมอีก 1.0% จาก Baseline</a:t>
            </a:r>
          </a:p>
        </p:txBody>
      </p:sp>
      <p:sp>
        <p:nvSpPr>
          <p:cNvPr id="30" name="text-138">
            <a:extLst xmlns:a="http://schemas.openxmlformats.org/drawingml/2006/main">
              <a:ext uri="{FF2B5EF4-FFF2-40B4-BE49-F238E27FC236}">
                <a16:creationId xmlns:a16="http://schemas.microsoft.com/office/drawing/2014/main" id="{68FD1079-B56D-4E8F-AC55-7FE4D27A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Figure 3 และ Table 1 (หน้า PDF 4) · ค่าเฉลี่ยข้าม 5 รูปแบบภาพและขนาดข้อมูล 10k–10M แถว</a:t>
            </a:r>
          </a:p>
        </p:txBody>
      </p:sp>
    </p:spTree>
    <p:extLst>
      <p:ext uri="{BB962C8B-B14F-4D97-AF65-F5344CB8AC3E}">
        <p14:creationId xmlns:p14="http://schemas.microsoft.com/office/powerpoint/2010/main" val="13551098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39">
            <a:extLst xmlns:a="http://schemas.openxmlformats.org/drawingml/2006/main">
              <a:ext uri="{FF2B5EF4-FFF2-40B4-BE49-F238E27FC236}">
                <a16:creationId xmlns:a16="http://schemas.microsoft.com/office/drawing/2014/main" id="{ABF89FE4-3E7F-4A51-A0AF-6AA13772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40">
            <a:extLst xmlns:a="http://schemas.openxmlformats.org/drawingml/2006/main">
              <a:ext uri="{FF2B5EF4-FFF2-40B4-BE49-F238E27FC236}">
                <a16:creationId xmlns:a16="http://schemas.microsoft.com/office/drawing/2014/main" id="{1DAF79A5-9A4D-444D-9CF1-A17298EC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คุณูปการของงานวิจัยและการนำไปประยุกต์ใช้</a:t>
            </a:r>
          </a:p>
        </p:txBody>
      </p:sp>
      <p:sp>
        <p:nvSpPr>
          <p:cNvPr id="3" name="shape-141">
            <a:extLst xmlns:a="http://schemas.openxmlformats.org/drawingml/2006/main">
              <a:ext uri="{FF2B5EF4-FFF2-40B4-BE49-F238E27FC236}">
                <a16:creationId xmlns:a16="http://schemas.microsoft.com/office/drawing/2014/main" id="{93201149-7CAB-4922-88C4-0440AFB4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42">
            <a:extLst xmlns:a="http://schemas.openxmlformats.org/drawingml/2006/main">
              <a:ext uri="{FF2B5EF4-FFF2-40B4-BE49-F238E27FC236}">
                <a16:creationId xmlns:a16="http://schemas.microsoft.com/office/drawing/2014/main" id="{EBAB46E8-ECED-4CD5-865B-1A4FB8B6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43">
            <a:extLst xmlns:a="http://schemas.openxmlformats.org/drawingml/2006/main">
              <a:ext uri="{FF2B5EF4-FFF2-40B4-BE49-F238E27FC236}">
                <a16:creationId xmlns:a16="http://schemas.microsoft.com/office/drawing/2014/main" id="{61637F78-7EF3-47F5-9578-7C87A629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6</a:t>
            </a:r>
          </a:p>
        </p:txBody>
      </p:sp>
      <p:sp>
        <p:nvSpPr>
          <p:cNvPr id="6" name="shape-144">
            <a:extLst xmlns:a="http://schemas.openxmlformats.org/drawingml/2006/main">
              <a:ext uri="{FF2B5EF4-FFF2-40B4-BE49-F238E27FC236}">
                <a16:creationId xmlns:a16="http://schemas.microsoft.com/office/drawing/2014/main" id="{85DF94D6-CE5F-43E7-AFA5-65E8499B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45">
            <a:extLst xmlns:a="http://schemas.openxmlformats.org/drawingml/2006/main">
              <a:ext uri="{FF2B5EF4-FFF2-40B4-BE49-F238E27FC236}">
                <a16:creationId xmlns:a16="http://schemas.microsoft.com/office/drawing/2014/main" id="{CE1B42D3-0126-4C7F-892D-50C0B65E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คุณูปการสำคัญของงานวิจัย</a:t>
            </a:r>
          </a:p>
        </p:txBody>
      </p:sp>
      <p:sp>
        <p:nvSpPr>
          <p:cNvPr id="8" name="text-146">
            <a:extLst xmlns:a="http://schemas.openxmlformats.org/drawingml/2006/main">
              <a:ext uri="{FF2B5EF4-FFF2-40B4-BE49-F238E27FC236}">
                <a16:creationId xmlns:a16="http://schemas.microsoft.com/office/drawing/2014/main" id="{CEB7DCD3-C436-405B-96D2-C4A7B916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47">
            <a:extLst xmlns:a="http://schemas.openxmlformats.org/drawingml/2006/main">
              <a:ext uri="{FF2B5EF4-FFF2-40B4-BE49-F238E27FC236}">
                <a16:creationId xmlns:a16="http://schemas.microsoft.com/office/drawing/2014/main" id="{368A988F-FBA4-46D7-BBD0-C28099F2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ไปป์ไลน์ปรับปรุงประสิทธิภาพแบบแบ่งระดับ</a:t>
            </a:r>
          </a:p>
        </p:txBody>
      </p:sp>
      <p:sp>
        <p:nvSpPr>
          <p:cNvPr id="10" name="text-148">
            <a:extLst xmlns:a="http://schemas.openxmlformats.org/drawingml/2006/main">
              <a:ext uri="{FF2B5EF4-FFF2-40B4-BE49-F238E27FC236}">
                <a16:creationId xmlns:a16="http://schemas.microsoft.com/office/drawing/2014/main" id="{9C04B232-926C-433C-B4EF-AF101F50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แยกขั้นตอนเตรียมข้อมูล แคชคิวรี และภาพล่วงหน้าอย่างเป็นระบบ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โดยคงไวยากรณ์เดิมของนักพัฒนาไว้ทั้งหมด ไม่ต้องเขียนโค้ดใหม่</a:t>
            </a:r>
          </a:p>
        </p:txBody>
      </p:sp>
      <p:sp>
        <p:nvSpPr>
          <p:cNvPr id="11" name="shape-149">
            <a:extLst xmlns:a="http://schemas.openxmlformats.org/drawingml/2006/main">
              <a:ext uri="{FF2B5EF4-FFF2-40B4-BE49-F238E27FC236}">
                <a16:creationId xmlns:a16="http://schemas.microsoft.com/office/drawing/2014/main" id="{322057CC-20DE-48BC-A593-0C3CBED7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150">
            <a:extLst xmlns:a="http://schemas.openxmlformats.org/drawingml/2006/main">
              <a:ext uri="{FF2B5EF4-FFF2-40B4-BE49-F238E27FC236}">
                <a16:creationId xmlns:a16="http://schemas.microsoft.com/office/drawing/2014/main" id="{9023E743-435E-4E50-9E5C-8B5F8B7D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151">
            <a:extLst xmlns:a="http://schemas.openxmlformats.org/drawingml/2006/main">
              <a:ext uri="{FF2B5EF4-FFF2-40B4-BE49-F238E27FC236}">
                <a16:creationId xmlns:a16="http://schemas.microsoft.com/office/drawing/2014/main" id="{46C3988F-3854-41E4-B726-C190AC82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กรอบประเมินประสิทธิภาพคู่ขนาน TTR และ TTA</a:t>
            </a:r>
          </a:p>
        </p:txBody>
      </p:sp>
      <p:sp>
        <p:nvSpPr>
          <p:cNvPr id="14" name="text-152">
            <a:extLst xmlns:a="http://schemas.openxmlformats.org/drawingml/2006/main">
              <a:ext uri="{FF2B5EF4-FFF2-40B4-BE49-F238E27FC236}">
                <a16:creationId xmlns:a16="http://schemas.microsoft.com/office/drawing/2014/main" id="{92791C00-1CBD-4430-AD07-A51962F3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แยกเวลาจนเห็นภาพ (TTR) ออกจากเวลาพร้อมโต้ตอบ (TTA) ชัดเจน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พร้อมบันทึกมิติต้นทุนพื้นที่จัดเก็บ (Storage Cost) ที่ต้องแลก</a:t>
            </a:r>
          </a:p>
        </p:txBody>
      </p:sp>
      <p:sp>
        <p:nvSpPr>
          <p:cNvPr id="15" name="shape-153">
            <a:extLst xmlns:a="http://schemas.openxmlformats.org/drawingml/2006/main">
              <a:ext uri="{FF2B5EF4-FFF2-40B4-BE49-F238E27FC236}">
                <a16:creationId xmlns:a16="http://schemas.microsoft.com/office/drawing/2014/main" id="{0D17B899-31DA-4D96-B058-F52F0AA0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154">
            <a:extLst xmlns:a="http://schemas.openxmlformats.org/drawingml/2006/main">
              <a:ext uri="{FF2B5EF4-FFF2-40B4-BE49-F238E27FC236}">
                <a16:creationId xmlns:a16="http://schemas.microsoft.com/office/drawing/2014/main" id="{FB86F736-AA86-4F4A-BEA0-467F79B3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155">
            <a:extLst xmlns:a="http://schemas.openxmlformats.org/drawingml/2006/main">
              <a:ext uri="{FF2B5EF4-FFF2-40B4-BE49-F238E27FC236}">
                <a16:creationId xmlns:a16="http://schemas.microsoft.com/office/drawing/2014/main" id="{2101D920-46A1-4266-BF0A-F6D0D790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การทดสอบเชิงประจักษ์กับข้อมูลขนาดใหญ่</a:t>
            </a:r>
          </a:p>
        </p:txBody>
      </p:sp>
      <p:sp>
        <p:nvSpPr>
          <p:cNvPr id="18" name="text-156">
            <a:extLst xmlns:a="http://schemas.openxmlformats.org/drawingml/2006/main">
              <a:ext uri="{FF2B5EF4-FFF2-40B4-BE49-F238E27FC236}">
                <a16:creationId xmlns:a16="http://schemas.microsoft.com/office/drawing/2014/main" id="{F9C222FF-B6E7-4218-AE84-7419CC22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พิสูจน์ผลลัพธ์บนข้อมูลจริง 10k ถึง 10M แถว ยืนยันว่า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การแคชล่วงหน้าลด TTA เฉลี่ย 33.3% และลด TTR ได้ถึง 83.7%</a:t>
            </a:r>
          </a:p>
        </p:txBody>
      </p:sp>
      <p:sp>
        <p:nvSpPr>
          <p:cNvPr id="19" name="shape-157">
            <a:extLst xmlns:a="http://schemas.openxmlformats.org/drawingml/2006/main">
              <a:ext uri="{FF2B5EF4-FFF2-40B4-BE49-F238E27FC236}">
                <a16:creationId xmlns:a16="http://schemas.microsoft.com/office/drawing/2014/main" id="{39A723DD-1BCF-4458-80F4-EC06378B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58">
            <a:extLst xmlns:a="http://schemas.openxmlformats.org/drawingml/2006/main">
              <a:ext uri="{FF2B5EF4-FFF2-40B4-BE49-F238E27FC236}">
                <a16:creationId xmlns:a16="http://schemas.microsoft.com/office/drawing/2014/main" id="{8E146793-94EA-4AD1-836E-5EE756E8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การนำแนวคิดไปประยุกต์ใช้งานจริง</a:t>
            </a:r>
          </a:p>
        </p:txBody>
      </p:sp>
      <p:sp>
        <p:nvSpPr>
          <p:cNvPr id="21" name="text-159">
            <a:extLst xmlns:a="http://schemas.openxmlformats.org/drawingml/2006/main">
              <a:ext uri="{FF2B5EF4-FFF2-40B4-BE49-F238E27FC236}">
                <a16:creationId xmlns:a16="http://schemas.microsoft.com/office/drawing/2014/main" id="{87187BFE-2E6A-4748-B86B-F629D43F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160">
            <a:extLst xmlns:a="http://schemas.openxmlformats.org/drawingml/2006/main">
              <a:ext uri="{FF2B5EF4-FFF2-40B4-BE49-F238E27FC236}">
                <a16:creationId xmlns:a16="http://schemas.microsoft.com/office/drawing/2014/main" id="{D2BEBBC4-C050-43C1-9959-FDD5CBF2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แดชบอร์ดแสดงผลข้อมูลขนาดใหญ่</a:t>
            </a:r>
          </a:p>
        </p:txBody>
      </p:sp>
      <p:sp>
        <p:nvSpPr>
          <p:cNvPr id="23" name="text-161">
            <a:extLst xmlns:a="http://schemas.openxmlformats.org/drawingml/2006/main">
              <a:ext uri="{FF2B5EF4-FFF2-40B4-BE49-F238E27FC236}">
                <a16:creationId xmlns:a16="http://schemas.microsoft.com/office/drawing/2014/main" id="{38365972-EA73-4DF8-B1D0-3403758D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แก้ปัญหาความหน่วงตอนเปิดหน้าครั้งแรก (Cold-Start) บนเว็บข้อมูล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ช่วยให้ผู้ใช้งานมองเห็นชาร์ตและภาพรวมเบื้องต้นได้ทันที</a:t>
            </a:r>
          </a:p>
        </p:txBody>
      </p:sp>
      <p:sp>
        <p:nvSpPr>
          <p:cNvPr id="24" name="shape-162">
            <a:extLst xmlns:a="http://schemas.openxmlformats.org/drawingml/2006/main">
              <a:ext uri="{FF2B5EF4-FFF2-40B4-BE49-F238E27FC236}">
                <a16:creationId xmlns:a16="http://schemas.microsoft.com/office/drawing/2014/main" id="{F624139E-E907-47F7-8A01-BE1117F7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163">
            <a:extLst xmlns:a="http://schemas.openxmlformats.org/drawingml/2006/main">
              <a:ext uri="{FF2B5EF4-FFF2-40B4-BE49-F238E27FC236}">
                <a16:creationId xmlns:a16="http://schemas.microsoft.com/office/drawing/2014/main" id="{F3E7843F-F19D-46D2-92C7-D736EA56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164">
            <a:extLst xmlns:a="http://schemas.openxmlformats.org/drawingml/2006/main">
              <a:ext uri="{FF2B5EF4-FFF2-40B4-BE49-F238E27FC236}">
                <a16:creationId xmlns:a16="http://schemas.microsoft.com/office/drawing/2014/main" id="{9192A724-3D15-4E81-8958-F9502570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การกระจายแคชบน Edge CDN</a:t>
            </a:r>
          </a:p>
        </p:txBody>
      </p:sp>
      <p:sp>
        <p:nvSpPr>
          <p:cNvPr id="27" name="text-165">
            <a:extLst xmlns:a="http://schemas.openxmlformats.org/drawingml/2006/main">
              <a:ext uri="{FF2B5EF4-FFF2-40B4-BE49-F238E27FC236}">
                <a16:creationId xmlns:a16="http://schemas.microsoft.com/office/drawing/2014/main" id="{A19ACAE1-9C0B-4DE6-9DA0-2995913C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นำไฟล์แคชผลรวมและภาพเริ่มต้นไปเก็บไว้บน Edge ใกล้ผู้ใช้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ช่วยลดภาระการคำนวณซ้ำซ้อนของทั้งเซิร์ฟเวอร์และเบราว์เซอร์</a:t>
            </a:r>
          </a:p>
        </p:txBody>
      </p:sp>
      <p:sp>
        <p:nvSpPr>
          <p:cNvPr id="28" name="shape-166">
            <a:extLst xmlns:a="http://schemas.openxmlformats.org/drawingml/2006/main">
              <a:ext uri="{FF2B5EF4-FFF2-40B4-BE49-F238E27FC236}">
                <a16:creationId xmlns:a16="http://schemas.microsoft.com/office/drawing/2014/main" id="{4ED17BC1-696A-4991-81FA-64296793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67">
            <a:extLst xmlns:a="http://schemas.openxmlformats.org/drawingml/2006/main">
              <a:ext uri="{FF2B5EF4-FFF2-40B4-BE49-F238E27FC236}">
                <a16:creationId xmlns:a16="http://schemas.microsoft.com/office/drawing/2014/main" id="{1D24D805-4438-43DA-AB28-ABC21A2E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168">
            <a:extLst xmlns:a="http://schemas.openxmlformats.org/drawingml/2006/main">
              <a:ext uri="{FF2B5EF4-FFF2-40B4-BE49-F238E27FC236}">
                <a16:creationId xmlns:a16="http://schemas.microsoft.com/office/drawing/2014/main" id="{7EBB2C11-E225-4A87-8E52-F9363A5C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ระบบวิเคราะห์ข้อมูลบนเบราว์เซอร์</a:t>
            </a:r>
          </a:p>
        </p:txBody>
      </p:sp>
      <p:sp>
        <p:nvSpPr>
          <p:cNvPr id="31" name="text-169">
            <a:extLst xmlns:a="http://schemas.openxmlformats.org/drawingml/2006/main">
              <a:ext uri="{FF2B5EF4-FFF2-40B4-BE49-F238E27FC236}">
                <a16:creationId xmlns:a16="http://schemas.microsoft.com/office/drawing/2014/main" id="{4B8F932A-2CF7-4570-B15A-DCA29BA1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เป็นสถาปัตยกรรมต้นแบบการผสาน DuckDB-WASM กับตัวกลาง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เพื่อรองรับการคิวรีและวิเคราะห์ข้อมูลปริมาณมากบนเครื่องผู้ใช้</a:t>
            </a:r>
          </a:p>
        </p:txBody>
      </p:sp>
      <p:sp>
        <p:nvSpPr>
          <p:cNvPr id="32" name="text-170">
            <a:extLst xmlns:a="http://schemas.openxmlformats.org/drawingml/2006/main">
              <a:ext uri="{FF2B5EF4-FFF2-40B4-BE49-F238E27FC236}">
                <a16:creationId xmlns:a16="http://schemas.microsoft.com/office/drawing/2014/main" id="{83C2ACFF-A15B-4739-88E1-125D01A7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1, 3 และ 5 (หน้า PDF 1–4)</a:t>
            </a:r>
          </a:p>
        </p:txBody>
      </p:sp>
    </p:spTree>
    <p:extLst>
      <p:ext uri="{BB962C8B-B14F-4D97-AF65-F5344CB8AC3E}">
        <p14:creationId xmlns:p14="http://schemas.microsoft.com/office/powerpoint/2010/main" val="17128051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71">
            <a:extLst xmlns:a="http://schemas.openxmlformats.org/drawingml/2006/main">
              <a:ext uri="{FF2B5EF4-FFF2-40B4-BE49-F238E27FC236}">
                <a16:creationId xmlns:a16="http://schemas.microsoft.com/office/drawing/2014/main" id="{9A11CCC3-AEFD-42E1-B2AF-58D1C2C5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72">
            <a:extLst xmlns:a="http://schemas.openxmlformats.org/drawingml/2006/main">
              <a:ext uri="{FF2B5EF4-FFF2-40B4-BE49-F238E27FC236}">
                <a16:creationId xmlns:a16="http://schemas.microsoft.com/office/drawing/2014/main" id="{71A4744E-4663-411F-A481-9161C652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ข้อจำกัดของระบบและบทสรุป</a:t>
            </a:r>
          </a:p>
        </p:txBody>
      </p:sp>
      <p:sp>
        <p:nvSpPr>
          <p:cNvPr id="3" name="shape-173">
            <a:extLst xmlns:a="http://schemas.openxmlformats.org/drawingml/2006/main">
              <a:ext uri="{FF2B5EF4-FFF2-40B4-BE49-F238E27FC236}">
                <a16:creationId xmlns:a16="http://schemas.microsoft.com/office/drawing/2014/main" id="{97458839-F840-445F-87EC-F2C0C314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74">
            <a:extLst xmlns:a="http://schemas.openxmlformats.org/drawingml/2006/main">
              <a:ext uri="{FF2B5EF4-FFF2-40B4-BE49-F238E27FC236}">
                <a16:creationId xmlns:a16="http://schemas.microsoft.com/office/drawing/2014/main" id="{561C1F3E-EACB-4FEF-9D20-EEF5B348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75">
            <a:extLst xmlns:a="http://schemas.openxmlformats.org/drawingml/2006/main">
              <a:ext uri="{FF2B5EF4-FFF2-40B4-BE49-F238E27FC236}">
                <a16:creationId xmlns:a16="http://schemas.microsoft.com/office/drawing/2014/main" id="{E4BE32D0-B717-4489-8973-763F195D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7</a:t>
            </a:r>
          </a:p>
        </p:txBody>
      </p:sp>
      <p:sp>
        <p:nvSpPr>
          <p:cNvPr id="6" name="shape-176">
            <a:extLst xmlns:a="http://schemas.openxmlformats.org/drawingml/2006/main">
              <a:ext uri="{FF2B5EF4-FFF2-40B4-BE49-F238E27FC236}">
                <a16:creationId xmlns:a16="http://schemas.microsoft.com/office/drawing/2014/main" id="{9DD46BF9-6259-4323-B3DD-532262F9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77">
            <a:extLst xmlns:a="http://schemas.openxmlformats.org/drawingml/2006/main">
              <a:ext uri="{FF2B5EF4-FFF2-40B4-BE49-F238E27FC236}">
                <a16:creationId xmlns:a16="http://schemas.microsoft.com/office/drawing/2014/main" id="{FEB0FF49-B546-4D59-89E7-74AC30E1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ข้อจำกัดที่พบในงานวิจัย</a:t>
            </a:r>
          </a:p>
        </p:txBody>
      </p:sp>
      <p:sp>
        <p:nvSpPr>
          <p:cNvPr id="8" name="text-178">
            <a:extLst xmlns:a="http://schemas.openxmlformats.org/drawingml/2006/main">
              <a:ext uri="{FF2B5EF4-FFF2-40B4-BE49-F238E27FC236}">
                <a16:creationId xmlns:a16="http://schemas.microsoft.com/office/drawing/2014/main" id="{3F23F51B-8BD4-418C-8D92-30A3AE33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79">
            <a:extLst xmlns:a="http://schemas.openxmlformats.org/drawingml/2006/main">
              <a:ext uri="{FF2B5EF4-FFF2-40B4-BE49-F238E27FC236}">
                <a16:creationId xmlns:a16="http://schemas.microsoft.com/office/drawing/2014/main" id="{E904CD2B-B662-4A5A-A2CB-CDA4215A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คอขวดขั้นตอน Client Hydration</a:t>
            </a:r>
          </a:p>
        </p:txBody>
      </p:sp>
      <p:sp>
        <p:nvSpPr>
          <p:cNvPr id="10" name="text-180">
            <a:extLst xmlns:a="http://schemas.openxmlformats.org/drawingml/2006/main">
              <a:ext uri="{FF2B5EF4-FFF2-40B4-BE49-F238E27FC236}">
                <a16:creationId xmlns:a16="http://schemas.microsoft.com/office/drawing/2014/main" id="{0C3EA7BD-0CAA-44F1-89EC-EB2E06D6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ภาพเริ่มต้นมาเร็ว แต่เบราว์เซอร์ยังต้องรันสคริปต์เต็มชุด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ทำให้การเรนเดอร์ภาพล่วงหน้าช่วยลด TTA เพิ่มได้เพียง 1.0%</a:t>
            </a:r>
          </a:p>
        </p:txBody>
      </p:sp>
      <p:sp>
        <p:nvSpPr>
          <p:cNvPr id="11" name="shape-181">
            <a:extLst xmlns:a="http://schemas.openxmlformats.org/drawingml/2006/main">
              <a:ext uri="{FF2B5EF4-FFF2-40B4-BE49-F238E27FC236}">
                <a16:creationId xmlns:a16="http://schemas.microsoft.com/office/drawing/2014/main" id="{A3255FCA-2407-48FF-B6CE-0EE69160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182">
            <a:extLst xmlns:a="http://schemas.openxmlformats.org/drawingml/2006/main">
              <a:ext uri="{FF2B5EF4-FFF2-40B4-BE49-F238E27FC236}">
                <a16:creationId xmlns:a16="http://schemas.microsoft.com/office/drawing/2014/main" id="{6E9EF57D-620E-4DB2-8C39-BB201FB8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183">
            <a:extLst xmlns:a="http://schemas.openxmlformats.org/drawingml/2006/main">
              <a:ext uri="{FF2B5EF4-FFF2-40B4-BE49-F238E27FC236}">
                <a16:creationId xmlns:a16="http://schemas.microsoft.com/office/drawing/2014/main" id="{E766E913-F873-408D-A097-6821B202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ต้นทุนพื้นที่จัดเก็บที่เพิ่มขึ้น</a:t>
            </a:r>
          </a:p>
        </p:txBody>
      </p:sp>
      <p:sp>
        <p:nvSpPr>
          <p:cNvPr id="14" name="text-184">
            <a:extLst xmlns:a="http://schemas.openxmlformats.org/drawingml/2006/main">
              <a:ext uri="{FF2B5EF4-FFF2-40B4-BE49-F238E27FC236}">
                <a16:creationId xmlns:a16="http://schemas.microsoft.com/office/drawing/2014/main" id="{540A8C42-7B4B-43EF-93AD-459EA86B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พื้นที่จัดเก็บไฟล์เพิ่มขึ้นเฉลี่ย 21.2% และมีความแปรปรวนสูง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(σ = 29.9%) ตามรูปแบบชาร์ตและจำนวนสถานะการกรองข้อมูล</a:t>
            </a:r>
          </a:p>
        </p:txBody>
      </p:sp>
      <p:sp>
        <p:nvSpPr>
          <p:cNvPr id="15" name="shape-185">
            <a:extLst xmlns:a="http://schemas.openxmlformats.org/drawingml/2006/main">
              <a:ext uri="{FF2B5EF4-FFF2-40B4-BE49-F238E27FC236}">
                <a16:creationId xmlns:a16="http://schemas.microsoft.com/office/drawing/2014/main" id="{239BA180-78AF-4F2E-915C-036F179D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186">
            <a:extLst xmlns:a="http://schemas.openxmlformats.org/drawingml/2006/main">
              <a:ext uri="{FF2B5EF4-FFF2-40B4-BE49-F238E27FC236}">
                <a16:creationId xmlns:a16="http://schemas.microsoft.com/office/drawing/2014/main" id="{B4BFA740-E606-446C-A19D-CACDAA5E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187">
            <a:extLst xmlns:a="http://schemas.openxmlformats.org/drawingml/2006/main">
              <a:ext uri="{FF2B5EF4-FFF2-40B4-BE49-F238E27FC236}">
                <a16:creationId xmlns:a16="http://schemas.microsoft.com/office/drawing/2014/main" id="{35ED3D41-183A-4978-B31D-73D5AD2D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ขอบเขตการทดสอบและการสร้างข้อมูลซ้ำ</a:t>
            </a:r>
          </a:p>
        </p:txBody>
      </p:sp>
      <p:sp>
        <p:nvSpPr>
          <p:cNvPr id="18" name="text-188">
            <a:extLst xmlns:a="http://schemas.openxmlformats.org/drawingml/2006/main">
              <a:ext uri="{FF2B5EF4-FFF2-40B4-BE49-F238E27FC236}">
                <a16:creationId xmlns:a16="http://schemas.microsoft.com/office/drawing/2014/main" id="{11B608B4-6D4B-4E54-8E34-E28B6334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ประเมินผลบนแล็ปท็อปประสิทธิภาพสูงกับ Local Server เท่านั้น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และข้อมูลแคชยังต้องคำนวณใหม่ยกชุดเมื่อข้อมูลต้นทางเปลี่ยนแปลง</a:t>
            </a:r>
          </a:p>
        </p:txBody>
      </p:sp>
      <p:sp>
        <p:nvSpPr>
          <p:cNvPr id="19" name="shape-189">
            <a:extLst xmlns:a="http://schemas.openxmlformats.org/drawingml/2006/main">
              <a:ext uri="{FF2B5EF4-FFF2-40B4-BE49-F238E27FC236}">
                <a16:creationId xmlns:a16="http://schemas.microsoft.com/office/drawing/2014/main" id="{DFC09013-B63C-4199-851D-531A7258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90">
            <a:extLst xmlns:a="http://schemas.openxmlformats.org/drawingml/2006/main">
              <a:ext uri="{FF2B5EF4-FFF2-40B4-BE49-F238E27FC236}">
                <a16:creationId xmlns:a16="http://schemas.microsoft.com/office/drawing/2014/main" id="{D47166C5-F45B-4B08-A4DA-1F5152CB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บทสรุปและแนวทางพัฒนาต่อ</a:t>
            </a:r>
          </a:p>
        </p:txBody>
      </p:sp>
      <p:sp>
        <p:nvSpPr>
          <p:cNvPr id="21" name="text-191">
            <a:extLst xmlns:a="http://schemas.openxmlformats.org/drawingml/2006/main">
              <a:ext uri="{FF2B5EF4-FFF2-40B4-BE49-F238E27FC236}">
                <a16:creationId xmlns:a16="http://schemas.microsoft.com/office/drawing/2014/main" id="{378D73AA-410F-47B4-97B8-38B52AC2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192">
            <a:extLst xmlns:a="http://schemas.openxmlformats.org/drawingml/2006/main">
              <a:ext uri="{FF2B5EF4-FFF2-40B4-BE49-F238E27FC236}">
                <a16:creationId xmlns:a16="http://schemas.microsoft.com/office/drawing/2014/main" id="{30DE076C-9EA0-45FB-BFB1-04B98842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บทสรุปสำคัญเชิงสถาปัตยกรรม</a:t>
            </a:r>
          </a:p>
        </p:txBody>
      </p:sp>
      <p:sp>
        <p:nvSpPr>
          <p:cNvPr id="23" name="text-193">
            <a:extLst xmlns:a="http://schemas.openxmlformats.org/drawingml/2006/main">
              <a:ext uri="{FF2B5EF4-FFF2-40B4-BE49-F238E27FC236}">
                <a16:creationId xmlns:a16="http://schemas.microsoft.com/office/drawing/2014/main" id="{BC634234-7EB9-4AD8-A252-A63B7C4B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การแคชล่วงหน้าเป็นกุญแจหลักในการลด TTA (−32.3%)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ส่วนภาพล่วงหน้าแก้ Perceived Latency ได้เด็ดขาด (−83.7%)</a:t>
            </a:r>
          </a:p>
        </p:txBody>
      </p:sp>
      <p:sp>
        <p:nvSpPr>
          <p:cNvPr id="24" name="shape-194">
            <a:extLst xmlns:a="http://schemas.openxmlformats.org/drawingml/2006/main">
              <a:ext uri="{FF2B5EF4-FFF2-40B4-BE49-F238E27FC236}">
                <a16:creationId xmlns:a16="http://schemas.microsoft.com/office/drawing/2014/main" id="{EBA7A0BF-D6F8-4072-857A-F76F0485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195">
            <a:extLst xmlns:a="http://schemas.openxmlformats.org/drawingml/2006/main">
              <a:ext uri="{FF2B5EF4-FFF2-40B4-BE49-F238E27FC236}">
                <a16:creationId xmlns:a16="http://schemas.microsoft.com/office/drawing/2014/main" id="{0BF58DE8-AFAD-48D1-B323-B9D9C5DC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196">
            <a:extLst xmlns:a="http://schemas.openxmlformats.org/drawingml/2006/main">
              <a:ext uri="{FF2B5EF4-FFF2-40B4-BE49-F238E27FC236}">
                <a16:creationId xmlns:a16="http://schemas.microsoft.com/office/drawing/2014/main" id="{0F8454FB-E900-456A-8A17-C37B7BD2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การวิจัย Progressive Hydration</a:t>
            </a:r>
          </a:p>
        </p:txBody>
      </p:sp>
      <p:sp>
        <p:nvSpPr>
          <p:cNvPr id="27" name="text-197">
            <a:extLst xmlns:a="http://schemas.openxmlformats.org/drawingml/2006/main">
              <a:ext uri="{FF2B5EF4-FFF2-40B4-BE49-F238E27FC236}">
                <a16:creationId xmlns:a16="http://schemas.microsoft.com/office/drawing/2014/main" id="{4E8737B2-5F9F-4997-B17D-888EB116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ข้อเสนอแนะหลักจากผู้วิจัย ให้เริ่มระบบเฉพาะส่วนที่จำเป็น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เพื่อลดภาระประมวลผลของเบราว์เซอร์ และดึง TTA ให้เร็วขึ้น</a:t>
            </a:r>
          </a:p>
        </p:txBody>
      </p:sp>
      <p:sp>
        <p:nvSpPr>
          <p:cNvPr id="28" name="shape-198">
            <a:extLst xmlns:a="http://schemas.openxmlformats.org/drawingml/2006/main">
              <a:ext uri="{FF2B5EF4-FFF2-40B4-BE49-F238E27FC236}">
                <a16:creationId xmlns:a16="http://schemas.microsoft.com/office/drawing/2014/main" id="{D9C1EB6A-3271-461D-9039-5378BEA3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99">
            <a:extLst xmlns:a="http://schemas.openxmlformats.org/drawingml/2006/main">
              <a:ext uri="{FF2B5EF4-FFF2-40B4-BE49-F238E27FC236}">
                <a16:creationId xmlns:a16="http://schemas.microsoft.com/office/drawing/2014/main" id="{E6AE1C6B-781A-4A83-B05C-21C37BAD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200">
            <a:extLst xmlns:a="http://schemas.openxmlformats.org/drawingml/2006/main">
              <a:ext uri="{FF2B5EF4-FFF2-40B4-BE49-F238E27FC236}">
                <a16:creationId xmlns:a16="http://schemas.microsoft.com/office/drawing/2014/main" id="{0AB61086-EF79-4A4C-A704-C2AA4449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ระบบ Hybrid และ Incremental Update</a:t>
            </a:r>
          </a:p>
        </p:txBody>
      </p:sp>
      <p:sp>
        <p:nvSpPr>
          <p:cNvPr id="31" name="text-201">
            <a:extLst xmlns:a="http://schemas.openxmlformats.org/drawingml/2006/main">
              <a:ext uri="{FF2B5EF4-FFF2-40B4-BE49-F238E27FC236}">
                <a16:creationId xmlns:a16="http://schemas.microsoft.com/office/drawing/2014/main" id="{0047C1D1-BE8E-43A1-AAF1-04045F63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ผสานแคช Publish-time ร่วมกับ Dynamic Cache ตอนใช้งานจริง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พร้อมพัฒนาระบบคำนวณซ้ำเฉพาะส่วนข้อมูลที่มีการอัปเดต</a:t>
            </a:r>
          </a:p>
        </p:txBody>
      </p:sp>
      <p:sp>
        <p:nvSpPr>
          <p:cNvPr id="32" name="text-202">
            <a:extLst xmlns:a="http://schemas.openxmlformats.org/drawingml/2006/main">
              <a:ext uri="{FF2B5EF4-FFF2-40B4-BE49-F238E27FC236}">
                <a16:creationId xmlns:a16="http://schemas.microsoft.com/office/drawing/2014/main" id="{7610CB83-86BA-4035-9FEB-C534F07D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Table 1 (Key Takeaways) และ Sections 5–6 (หน้า PDF 4–5)</a:t>
            </a:r>
          </a:p>
        </p:txBody>
      </p:sp>
    </p:spTree>
    <p:extLst>
      <p:ext uri="{BB962C8B-B14F-4D97-AF65-F5344CB8AC3E}">
        <p14:creationId xmlns:p14="http://schemas.microsoft.com/office/powerpoint/2010/main" val="1072497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2026-10-05T08:47:17.7100000Z</dcterms:created>
  <dcterms:modified xsi:type="dcterms:W3CDTF">2026-10-05T08:47:17.7100000Z</dcterms:modified>
</coreProperties>
</file>