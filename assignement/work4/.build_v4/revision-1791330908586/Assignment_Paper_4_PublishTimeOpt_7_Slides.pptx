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bec2fa6897448f" /><Relationship Type="http://schemas.openxmlformats.org/officeDocument/2006/relationships/extended-properties" Target="/docProps/app.xml" Id="Re7ad27b471ae495f" /><Relationship Type="http://schemas.openxmlformats.org/officeDocument/2006/relationships/officeDocument" Target="/ppt/presentation.xml" Id="R5e2646484cb043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0afcb3758f4d03"/>
  </p:sldMasterIdLst>
  <p:notesMasterIdLst>
    <p:notesMasterId xmlns:r="http://schemas.openxmlformats.org/officeDocument/2006/relationships" r:id="R7b6902bf7f474bbe"/>
  </p:notesMasterIdLst>
  <p:sldIdLst>
    <p:sldId xmlns:r="http://schemas.openxmlformats.org/officeDocument/2006/relationships" id="256" r:id="Reaf3129bd9b54724"/>
    <p:sldId xmlns:r="http://schemas.openxmlformats.org/officeDocument/2006/relationships" id="257" r:id="R33102a15cafd4264"/>
    <p:sldId xmlns:r="http://schemas.openxmlformats.org/officeDocument/2006/relationships" id="258" r:id="Ra72f838665634db3"/>
    <p:sldId xmlns:r="http://schemas.openxmlformats.org/officeDocument/2006/relationships" id="259" r:id="Rf5089f042beb49a2"/>
    <p:sldId xmlns:r="http://schemas.openxmlformats.org/officeDocument/2006/relationships" id="260" r:id="R849c19723bdc4f34"/>
    <p:sldId xmlns:r="http://schemas.openxmlformats.org/officeDocument/2006/relationships" id="261" r:id="R1bbba92b455b41ea"/>
    <p:sldId xmlns:r="http://schemas.openxmlformats.org/officeDocument/2006/relationships" id="262" r:id="R6e916929e0af4fe7"/>
  </p:sldIdLst>
  <p:sldSz cx="14630400" cy="82296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e0bb233acd4cdd" /><Relationship Type="http://schemas.openxmlformats.org/officeDocument/2006/relationships/slideMaster" Target="/ppt/slideMasters/slideMaster1.xml" Id="Rf20afcb3758f4d03" /><Relationship Type="http://schemas.openxmlformats.org/officeDocument/2006/relationships/notesMaster" Target="/ppt/notesMasters/notesMaster1.xml" Id="R7b6902bf7f474bbe" /><Relationship Type="http://schemas.openxmlformats.org/officeDocument/2006/relationships/presProps" Target="/ppt/presProps.xml" Id="Rd91b10584ec74940" /><Relationship Type="http://schemas.openxmlformats.org/officeDocument/2006/relationships/tableStyles" Target="/ppt/tableStyles.xml" Id="Re913dba03db7473b" /><Relationship Type="http://schemas.openxmlformats.org/officeDocument/2006/relationships/slide" Target="/ppt/slides/slide1.xml" Id="Reaf3129bd9b54724" /><Relationship Type="http://schemas.openxmlformats.org/officeDocument/2006/relationships/slide" Target="/ppt/slides/slide2.xml" Id="R33102a15cafd4264" /><Relationship Type="http://schemas.openxmlformats.org/officeDocument/2006/relationships/slide" Target="/ppt/slides/slide3.xml" Id="Ra72f838665634db3" /><Relationship Type="http://schemas.openxmlformats.org/officeDocument/2006/relationships/slide" Target="/ppt/slides/slide4.xml" Id="Rf5089f042beb49a2" /><Relationship Type="http://schemas.openxmlformats.org/officeDocument/2006/relationships/slide" Target="/ppt/slides/slide5.xml" Id="R849c19723bdc4f34" /><Relationship Type="http://schemas.openxmlformats.org/officeDocument/2006/relationships/slide" Target="/ppt/slides/slide6.xml" Id="R1bbba92b455b41ea" /><Relationship Type="http://schemas.openxmlformats.org/officeDocument/2006/relationships/slide" Target="/ppt/slides/slide7.xml" Id="R6e916929e0af4f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c4fb18972247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234c02fd6d4f20" /><Relationship Type="http://schemas.openxmlformats.org/officeDocument/2006/relationships/notesMaster" Target="/ppt/notesMasters/notesMaster1.xml" Id="Rbf03554bd7f34b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8cd8fb997448bd" /><Relationship Type="http://schemas.openxmlformats.org/officeDocument/2006/relationships/notesMaster" Target="/ppt/notesMasters/notesMaster1.xml" Id="Reffd4cd945ef46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9525e3968b4421" /><Relationship Type="http://schemas.openxmlformats.org/officeDocument/2006/relationships/notesMaster" Target="/ppt/notesMasters/notesMaster1.xml" Id="Rb97737b1435a47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d52e8e9b6d4a8f" /><Relationship Type="http://schemas.openxmlformats.org/officeDocument/2006/relationships/notesMaster" Target="/ppt/notesMasters/notesMaster1.xml" Id="R9573ec0bc7b44f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10ac7fd65948a0" /><Relationship Type="http://schemas.openxmlformats.org/officeDocument/2006/relationships/notesMaster" Target="/ppt/notesMasters/notesMaster1.xml" Id="Rfc37f245479a4a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ae4cb3dce44744" /><Relationship Type="http://schemas.openxmlformats.org/officeDocument/2006/relationships/notesMaster" Target="/ppt/notesMasters/notesMaster1.xml" Id="Rb22e2058ca234a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78d0ca93804a76" /><Relationship Type="http://schemas.openxmlformats.org/officeDocument/2006/relationships/notesMaster" Target="/ppt/notesMasters/notesMaster1.xml" Id="Rc5776deaec9341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0–25 วินาที (25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บทความของ Ron Pechuk และ Jeffrey Heer จาก University of Washington ศึกษาปัญหาที่พบตั้งแต่เปิดเว็บแสดงภาพข้อมูล ภาพยังไม่ปรากฏ และตัวกรองยังไม่พร้อมทำงาน แนวคิดหลักคือย้ายการคำนวณที่ทำซ้ำไปไว้ก่อนเผยแพร่ เพื่อให้การเปิดแต่ละเซสชันเริ่มจากผลลัพธ์ที่เตรียมไว้แล้ว งานนี้ตีพิมพ์ใน IEEE VIS ปี 2025 และใช้ Mosaic เป็นระบบทดลอง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ชื่อเรื่องและ Abstract · PDF หน้า 1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25–65 วินาที (40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ประเด็นที่ต้องแยกก่อนคือ เห็นภาพแล้วไม่ได้หมายความว่าโต้ตอบได้แล้ว เว็บอาจดาวน์โหลดข้อมูล รันคิวรีและวาดชาร์ตสำเร็จ แต่ยังเริ่มระบบรับอินพุตไม่ครบ งานนี้จึงวัดสองเวลา TTR คือเวลาจนภาพข้อมูลทั้งหมดปรากฏ ส่วน TTA คือเวลาจนระบบพร้อมรับการเลือกหรือการกรองข้อมูล แคชที่สร้างระหว่างใช้งานช่วยการโต้ตอบครั้งต่อไป แต่เซสชันแรกยังต้องรอสร้างแคช นี่คือช่องว่างที่การคำนวณช่วงเผยแพร่เข้ามาแก้ ตัวชี้วัดที่สามคือพื้นที่จัดเก็บ เพราะการทำให้เร็วขึ้นอาจต้องเพิ่มทรัพยากร ไม่ใช่ประโยชน์ที่ได้โดยไม่มีต้นทุน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§1, §3.1 · PDF หน้า 1–2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65–110 วินาที (45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ภาพสถาปัตยกรรมแสดงการย้ายงานสามกลุ่ม คือเตรียมข้อมูล สร้างทรัพยากรคำนวณ และวาดภาพเริ่มต้น Mosaic Publisher เริ่มจากอ่านข้อกำหนด YAML เป็น AST จากนั้นจำลองการเลือกและอินพุตใน Virtual DOM เพื่อกระตุ้นคิวรีที่จำเป็น DuckDB จะคำนวณผลลัพธ์และผลรวมที่ต้องใช้แล้วบันทึกเป็นทรัพยากรเผยแพร่ ขั้นสุดท้ายแก้ข้อกำหนดให้ชี้ไปยังข้อมูลที่เตรียมไว้ พร้อมสร้างสคริปต์เติมแคชและฐานข้อมูล จุดสำคัญคือแคชกับผลรวมถูกใช้ผ่านตัวกลาง Mosaic ได้ ส่วนที่ต้องเปลี่ยนแหล่งข้อมูลจึงค่อยแก้ AST การทำงานไม่ได้หมายถึงสร้างภาพทุกสถานะไว้ทั้งหมด แต่เตรียมงานที่ระบุได้จากข้อกำหนดและรูปแบบการโต้ตอบ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Figure 1, §4.1–4.3 · PDF หน้า 1, 3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110–155 วินาที (45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มุมมองสถิตส่งเนื้อหาที่วาดเสร็จแล้วได้โดยไม่ต้องเพิ่มสคริปต์โต้ตอบ แต่มุมมองโต้ตอบยังต้อง hydration เพื่อเริ่มคอมโพเนนต์ฝั่งเบราว์เซอร์ Figure 4 แยกต้นทุนให้เห็นบนข้อมูลสิบล้านแถว ภาพล่วงหน้าลดงานวาดตอนเปิดหน้า แต่ hydration ของระบบรุ่นนี้มีต้นทุนใกล้กับการเรนเดอร์ฝั่งไคลเอนต์เต็มชุด จึงเกิดผลลัพธ์ที่ดูเหมือนขัดกัน คือภาพมาเร็วมาก แต่เวลาโต้ตอบดีขึ้นเพิ่มเพียงเล็กน้อยจากระดับแคช ต้องแยกให้ชัดว่า progressive hydration ยังไม่ได้เป็นวิธีที่ทดลอง ผู้วิจัยเสนอให้ศึกษาวิธี hydration ที่ละเอียดขึ้นเพื่อลดภาระส่วนนี้ในอนาคต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§4.3, Figure 4, §5 · PDF หน้า 3–4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155–215 วินาที (60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การทดลองใช้ภาพข้อมูลห้ารูปแบบ ตั้งแต่หนึ่งหมื่นถึงสิบล้านแถว รันบน MacBook Pro M1 Pro กับ local server และ DuckDB-WASM Figure 3 แสดงมัธยฐานเวลา เส้นเงาคือ IQR ส่วน Table 1 เป็นค่าเฉลี่ยการเปลี่ยนแปลงร้อยละเทียบกับไม่ปรับปรุง การเตรียมข้อมูลอย่างเดียวช่วยน้อย เพราะชุดข้อมูลไม่มีคอลัมน์เกินหรือคิวรีเตรียมที่หนัก เมื่อเพิ่มแคช TTA ลดเฉลี่ย 32.3 เปอร์เซ็นต์ เมื่อรวมภาพล่วงหน้า TTR ลด 83.7 เปอร์เซ็นต์ และ TTA ลด 33.3 เปอร์เซ็นต์ ผลต่างของการลด TTA คือหนึ่งจุดเปอร์เซ็นต์จากฐานเดียวกัน ไม่ใช่เร็วขึ้นหนึ่งเปอร์เซ็นต์เทียบแคชโดยตรง และยังสรุปนัยสำคัญไม่ได้ ด้านพื้นที่เพิ่มเฉลี่ย 21.2 เปอร์เซ็นต์ พร้อมส่วนเบี่ยงเบนมาตรฐาน 29.9 เปอร์เซ็นต์ การเลือกใช้จึงต้องดูเงื่อนไขแต่ละระบบ ไม่อาจถือค่าเฉลี่ยเป็นผลรับรองทุกกรณี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Figure 3–4, Table 1, §5 · PDF หน้า 4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215–250 วินาที (35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จุดเด่นของงานคือวางกรอบเปรียบเทียบภาพปรากฏกับพร้อมโต้ตอบ แสดงกลไกที่ใช้งานได้จริง และรายงานพื้นที่ที่ต้องแลกพร้อมเวลา อย่างไรก็ตาม ผลทดสอบยังจำกัดอยู่ที่เครื่องและเครือข่ายภายในชุดเดียว ไม่มีการทดลองบนมือถือหรือข้อมูลไหลเข้าตลอดเวลา อีกด้านหนึ่ง จำนวนสถานะการเลือกและมิติผลรวมอาจเพิ่มพื้นที่มาก รวมถึงข้อมูลที่เปลี่ยนต้องสร้างทรัพยากรใหม่ หลักฐานจึงสนับสนุนประสิทธิผลในชุดทดสอบ แต่ยังไม่ครอบคลุมเงื่อนไขการใช้งานทั้งหมด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§3–5 · PDF หน้า 2–4; ข้อวิจารณ์จากการอ่าน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250–295 วินาที (45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ข้อสรุปจากการอ่านคือ แคชล่วงหน้าลดงานก่อนพร้อมโต้ตอบ ส่วนภาพล่วงหน้าลดเวลารอเห็นภาพ ทั้งสองกลไกแก้คนละช่วงของการเปิดเว็บ และต้องชั่งน้ำหนักกับพื้นที่จัดเก็บ ด้านแนวทางที่ทีมวิจัยเสนอมีสามประเด็น หนึ่ง ศึกษา hydration ที่ละเอียดขึ้นเพื่อลดคอขวดฝั่งไคลเอนต์ สอง ผสานการคำนวณช่วงเผยแพร่กับรันไทม์ และสร้างทรัพยากรใหม่เฉพาะส่วนที่เปลี่ยน สาม พัฒนาวิธีเลือกระดับการปรับปรุงจากข้อมูลกับข้อกำหนดภาพโดยอัตโนมัติ แนวทางเหล่านี้ยังเป็นงานในอนาคต ไม่ใช่ผลที่ทดลองแล้ว ประเด็นหลักของบทความจึงอยู่ที่การจัดงานคำนวณให้เกิดในเวลาที่เหมาะสม พร้อมวัดทั้งความเร็วและต้นทุนที่ย้ายไปช่วงเผยแพร่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Table 1, Figure 4, §5–6 · PDF หน้า 4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58d6f9b0a448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f2ac20313d4f5e" /><Relationship Type="http://schemas.openxmlformats.org/officeDocument/2006/relationships/slideLayout" Target="/ppt/slideLayouts/slideLayout1.xml" Id="R2f4135f5ce0d4d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4135f5ce0d4d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acff5a5e5b440f" /><Relationship Type="http://schemas.openxmlformats.org/officeDocument/2006/relationships/notesSlide" Target="/ppt/notesSlides/notesSlide1.xml" Id="R1edb8f254c8d44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932edf8cfa4f14" /><Relationship Type="http://schemas.openxmlformats.org/officeDocument/2006/relationships/notesSlide" Target="/ppt/notesSlides/notesSlide2.xml" Id="R46689fd3a13348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59d9ffdb63420d" /><Relationship Type="http://schemas.openxmlformats.org/officeDocument/2006/relationships/image" Target="/ppt/media/image.png" Id="R9d318fb7da584287" /><Relationship Type="http://schemas.openxmlformats.org/officeDocument/2006/relationships/notesSlide" Target="/ppt/notesSlides/notesSlide3.xml" Id="R3701b3b7f6104c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392630b5fd4b7b" /><Relationship Type="http://schemas.openxmlformats.org/officeDocument/2006/relationships/image" Target="/ppt/media/image2.png" Id="Ra9330c9f798a416d" /><Relationship Type="http://schemas.openxmlformats.org/officeDocument/2006/relationships/notesSlide" Target="/ppt/notesSlides/notesSlide4.xml" Id="R47373061c77d43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ff4415c58d43b8" /><Relationship Type="http://schemas.openxmlformats.org/officeDocument/2006/relationships/image" Target="/ppt/media/image3.png" Id="R811ada52bdea46ab" /><Relationship Type="http://schemas.openxmlformats.org/officeDocument/2006/relationships/notesSlide" Target="/ppt/notesSlides/notesSlide5.xml" Id="Rb778018cce8f4d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bf3dc7ac9d4a8e" /><Relationship Type="http://schemas.openxmlformats.org/officeDocument/2006/relationships/notesSlide" Target="/ppt/notesSlides/notesSlide6.xml" Id="R1860d059aaa240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e991ab938c41d2" /><Relationship Type="http://schemas.openxmlformats.org/officeDocument/2006/relationships/notesSlide" Target="/ppt/notesSlides/notesSlide7.xml" Id="R4c4d1d54739343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7A4D179A-C7B6-42F7-A110-15DDF19A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1272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305432 เครือข่ายเซนเซอร์ (Sensor Networks)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3A82E954-182D-4169-94CA-62FEA1F3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12725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3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Publish-Time Optimizations</a:t>
            </a:r>
          </a:p>
          <a:p xmlns:a="http://schemas.openxmlformats.org/drawingml/2006/main">
            <a:pPr algn="ctr">
              <a:defRPr sz="3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3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for Web-Based Visualizations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61042121-F59D-460D-AC15-D8568B4F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1272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การเพิ่มประสิทธิภาพเว็บแสดงภาพข้อมูลเชิงโต้ตอบด้วยการประมวลผลล่วงหน้าช่วงเผยแพร่</a:t>
            </a:r>
          </a:p>
        </p:txBody>
      </p:sp>
      <p:sp>
        <p:nvSpPr>
          <p:cNvPr id="4" name="shape-4">
            <a:extLst xmlns:a="http://schemas.openxmlformats.org/drawingml/2006/main">
              <a:ext uri="{FF2B5EF4-FFF2-40B4-BE49-F238E27FC236}">
                <a16:creationId xmlns:a16="http://schemas.microsoft.com/office/drawing/2014/main" id="{658CA59E-2FEA-41FE-8DAE-FE8401B5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86250"/>
            <a:ext cx="2019300" cy="33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</a:ln>
        </p:spPr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5E14DCDB-406A-427E-BE8F-A328A03A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12725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Ron Pechuk, Jeffrey Heer</a:t>
            </a:r>
          </a:p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University of Washington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9E0A5EF1-927B-4865-9861-8A3DF594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272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2025 IEEE Visualization and Visual Analytics (VIS), pp. 226–230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707BFAAD-F414-400A-A8C9-93B9556A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24550"/>
            <a:ext cx="1272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IEEE Doc ID: 11298742     DOI: 10.1109/VIS60296.2025.00051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017C5EF6-49B8-4B66-9852-93556CCC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743700"/>
            <a:ext cx="1272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นำเสนอโดย นายธีรภัทร ภู่ระย้า     รหัสนิสิต 66362416</a:t>
            </a:r>
          </a:p>
        </p:txBody>
      </p:sp>
    </p:spTree>
    <p:extLst>
      <p:ext uri="{BB962C8B-B14F-4D97-AF65-F5344CB8AC3E}">
        <p14:creationId xmlns:p14="http://schemas.microsoft.com/office/powerpoint/2010/main" val="20950765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hape-9">
            <a:extLst xmlns:a="http://schemas.openxmlformats.org/drawingml/2006/main">
              <a:ext uri="{FF2B5EF4-FFF2-40B4-BE49-F238E27FC236}">
                <a16:creationId xmlns:a16="http://schemas.microsoft.com/office/drawing/2014/main" id="{3A298C91-C309-4F07-B529-45A09E11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10">
            <a:extLst xmlns:a="http://schemas.openxmlformats.org/drawingml/2006/main">
              <a:ext uri="{FF2B5EF4-FFF2-40B4-BE49-F238E27FC236}">
                <a16:creationId xmlns:a16="http://schemas.microsoft.com/office/drawing/2014/main" id="{A2DACF84-C9B0-41D5-B72F-5C4B8EA7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ที่มา ปัญหาความหน่วง และตัวชี้วัด</a:t>
            </a:r>
          </a:p>
        </p:txBody>
      </p:sp>
      <p:sp>
        <p:nvSpPr>
          <p:cNvPr id="3" name="shape-11">
            <a:extLst xmlns:a="http://schemas.openxmlformats.org/drawingml/2006/main">
              <a:ext uri="{FF2B5EF4-FFF2-40B4-BE49-F238E27FC236}">
                <a16:creationId xmlns:a16="http://schemas.microsoft.com/office/drawing/2014/main" id="{D1E7EBA6-AC66-462E-A749-4E6595B8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12">
            <a:extLst xmlns:a="http://schemas.openxmlformats.org/drawingml/2006/main">
              <a:ext uri="{FF2B5EF4-FFF2-40B4-BE49-F238E27FC236}">
                <a16:creationId xmlns:a16="http://schemas.microsoft.com/office/drawing/2014/main" id="{B42664E6-5BD7-48C9-8CC9-D474DC8E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13">
            <a:extLst xmlns:a="http://schemas.openxmlformats.org/drawingml/2006/main">
              <a:ext uri="{FF2B5EF4-FFF2-40B4-BE49-F238E27FC236}">
                <a16:creationId xmlns:a16="http://schemas.microsoft.com/office/drawing/2014/main" id="{C07B4862-8FAD-433A-A473-879D1FE0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6" name="shape-14">
            <a:extLst xmlns:a="http://schemas.openxmlformats.org/drawingml/2006/main">
              <a:ext uri="{FF2B5EF4-FFF2-40B4-BE49-F238E27FC236}">
                <a16:creationId xmlns:a16="http://schemas.microsoft.com/office/drawing/2014/main" id="{E5BC7A1E-FCD1-4325-B0BB-37441F5F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6324600" cy="59531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15">
            <a:extLst xmlns:a="http://schemas.openxmlformats.org/drawingml/2006/main">
              <a:ext uri="{FF2B5EF4-FFF2-40B4-BE49-F238E27FC236}">
                <a16:creationId xmlns:a16="http://schemas.microsoft.com/office/drawing/2014/main" id="{261CABB9-D57A-4AAE-8A78-ADF378E3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ข้อจำกัดของการประมวลผลตอนรันไทม์</a:t>
            </a:r>
          </a:p>
        </p:txBody>
      </p:sp>
      <p:sp>
        <p:nvSpPr>
          <p:cNvPr id="8" name="text-16">
            <a:extLst xmlns:a="http://schemas.openxmlformats.org/drawingml/2006/main">
              <a:ext uri="{FF2B5EF4-FFF2-40B4-BE49-F238E27FC236}">
                <a16:creationId xmlns:a16="http://schemas.microsoft.com/office/drawing/2014/main" id="{01A8623F-175B-4B76-8CF5-5E380C2B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9" name="text-17">
            <a:extLst xmlns:a="http://schemas.openxmlformats.org/drawingml/2006/main">
              <a:ext uri="{FF2B5EF4-FFF2-40B4-BE49-F238E27FC236}">
                <a16:creationId xmlns:a16="http://schemas.microsoft.com/office/drawing/2014/main" id="{65EEE872-2453-47C9-984B-5F3E5C95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0383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การคำนวณซ้ำซ้อนบนเบราว์เซอร์</a:t>
            </a:r>
          </a:p>
        </p:txBody>
      </p:sp>
      <p:sp>
        <p:nvSpPr>
          <p:cNvPr id="10" name="text-18">
            <a:extLst xmlns:a="http://schemas.openxmlformats.org/drawingml/2006/main">
              <a:ext uri="{FF2B5EF4-FFF2-40B4-BE49-F238E27FC236}">
                <a16:creationId xmlns:a16="http://schemas.microsoft.com/office/drawing/2014/main" id="{3E3BF666-EA0D-473A-A1CF-E50C67DE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3812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เบราว์เซอร์ต้องดาวน์โหลดข้อมูลดิบ รันคิวรีรวมกลุ่ม และวาดชาร์ตใหม่ทุกครั้ง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ส่งผลให้เกิดความหน่วงสูง โดยเฉพาะกับชุดข้อมูลขนาดใหญ่</a:t>
            </a:r>
          </a:p>
        </p:txBody>
      </p:sp>
      <p:sp>
        <p:nvSpPr>
          <p:cNvPr id="11" name="shape-19">
            <a:extLst xmlns:a="http://schemas.openxmlformats.org/drawingml/2006/main">
              <a:ext uri="{FF2B5EF4-FFF2-40B4-BE49-F238E27FC236}">
                <a16:creationId xmlns:a16="http://schemas.microsoft.com/office/drawing/2014/main" id="{6776DC92-90B1-451A-A749-646ECD1B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60997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2" name="text-20">
            <a:extLst xmlns:a="http://schemas.openxmlformats.org/drawingml/2006/main">
              <a:ext uri="{FF2B5EF4-FFF2-40B4-BE49-F238E27FC236}">
                <a16:creationId xmlns:a16="http://schemas.microsoft.com/office/drawing/2014/main" id="{66A5F080-BE11-4872-9846-A21CE128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13" name="text-21">
            <a:extLst xmlns:a="http://schemas.openxmlformats.org/drawingml/2006/main">
              <a:ext uri="{FF2B5EF4-FFF2-40B4-BE49-F238E27FC236}">
                <a16:creationId xmlns:a16="http://schemas.microsoft.com/office/drawing/2014/main" id="{8A2F5144-1F8F-480E-98B9-BD3D72F1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38100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ปัญหาความหน่วงตอนเปิดหน้าครั้งแรก</a:t>
            </a:r>
          </a:p>
        </p:txBody>
      </p:sp>
      <p:sp>
        <p:nvSpPr>
          <p:cNvPr id="14" name="text-22">
            <a:extLst xmlns:a="http://schemas.openxmlformats.org/drawingml/2006/main">
              <a:ext uri="{FF2B5EF4-FFF2-40B4-BE49-F238E27FC236}">
                <a16:creationId xmlns:a16="http://schemas.microsoft.com/office/drawing/2014/main" id="{E94BDE9D-721F-4E01-8818-F77EF488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415290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ระบบแคชแบบเดิมทำงานตอนรันไทม์ ทำให้ผู้เข้าชมคนแรก (Cold-Start)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ยังคงต้องรอโหลดข้อมูลและคำนวณใหม่ตั้งแต่ต้นโดยไม่ได้รับประโยชน์จากแคช</a:t>
            </a:r>
          </a:p>
        </p:txBody>
      </p:sp>
      <p:sp>
        <p:nvSpPr>
          <p:cNvPr id="15" name="shape-23">
            <a:extLst xmlns:a="http://schemas.openxmlformats.org/drawingml/2006/main">
              <a:ext uri="{FF2B5EF4-FFF2-40B4-BE49-F238E27FC236}">
                <a16:creationId xmlns:a16="http://schemas.microsoft.com/office/drawing/2014/main" id="{5C4F7593-F5FF-4DFC-B15D-0E9E373C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3816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6" name="text-24">
            <a:extLst xmlns:a="http://schemas.openxmlformats.org/drawingml/2006/main">
              <a:ext uri="{FF2B5EF4-FFF2-40B4-BE49-F238E27FC236}">
                <a16:creationId xmlns:a16="http://schemas.microsoft.com/office/drawing/2014/main" id="{4EB11546-E9B8-40FC-8359-652CAE3D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17" name="text-25">
            <a:extLst xmlns:a="http://schemas.openxmlformats.org/drawingml/2006/main">
              <a:ext uri="{FF2B5EF4-FFF2-40B4-BE49-F238E27FC236}">
                <a16:creationId xmlns:a16="http://schemas.microsoft.com/office/drawing/2014/main" id="{FD854E17-9E2F-44B5-823F-BA2BA6AD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55816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ภาพปรากฏแต่ยังไม่พร้อมโต้ตอบ</a:t>
            </a:r>
          </a:p>
        </p:txBody>
      </p:sp>
      <p:sp>
        <p:nvSpPr>
          <p:cNvPr id="18" name="text-26">
            <a:extLst xmlns:a="http://schemas.openxmlformats.org/drawingml/2006/main">
              <a:ext uri="{FF2B5EF4-FFF2-40B4-BE49-F238E27FC236}">
                <a16:creationId xmlns:a16="http://schemas.microsoft.com/office/drawing/2014/main" id="{8170E131-F12B-4DFC-AB0F-326B8E37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59245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ภาพปรากฏแล้ว แต่ยังต้องเริ่มคอมโพเนนต์และตัวกลางคิวรี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ระบบจึงยังรับการคลิก ซูม หรือการเลือกช่วงข้อมูลไม่ได้</a:t>
            </a:r>
          </a:p>
        </p:txBody>
      </p:sp>
      <p:sp>
        <p:nvSpPr>
          <p:cNvPr id="19" name="shape-27">
            <a:extLst xmlns:a="http://schemas.openxmlformats.org/drawingml/2006/main">
              <a:ext uri="{FF2B5EF4-FFF2-40B4-BE49-F238E27FC236}">
                <a16:creationId xmlns:a16="http://schemas.microsoft.com/office/drawing/2014/main" id="{947B736A-7725-4672-BDBE-69ECB1AC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238250"/>
            <a:ext cx="6324600" cy="59531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0" name="text-28">
            <a:extLst xmlns:a="http://schemas.openxmlformats.org/drawingml/2006/main">
              <a:ext uri="{FF2B5EF4-FFF2-40B4-BE49-F238E27FC236}">
                <a16:creationId xmlns:a16="http://schemas.microsoft.com/office/drawing/2014/main" id="{B391457C-7B5D-448E-9200-9636E5EC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ตัวชี้วัดประสิทธิภาพและต้นทุนระบบ</a:t>
            </a:r>
          </a:p>
        </p:txBody>
      </p:sp>
      <p:sp>
        <p:nvSpPr>
          <p:cNvPr id="21" name="text-29">
            <a:extLst xmlns:a="http://schemas.openxmlformats.org/drawingml/2006/main">
              <a:ext uri="{FF2B5EF4-FFF2-40B4-BE49-F238E27FC236}">
                <a16:creationId xmlns:a16="http://schemas.microsoft.com/office/drawing/2014/main" id="{60B2EAAE-9762-43E2-A4B9-4F94A374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22" name="text-30">
            <a:extLst xmlns:a="http://schemas.openxmlformats.org/drawingml/2006/main">
              <a:ext uri="{FF2B5EF4-FFF2-40B4-BE49-F238E27FC236}">
                <a16:creationId xmlns:a16="http://schemas.microsoft.com/office/drawing/2014/main" id="{E33BD56F-4937-44D2-81FC-88F50D32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20383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TTR (Time-to-Render) · เวลาจนภาพปรากฏ</a:t>
            </a:r>
          </a:p>
        </p:txBody>
      </p:sp>
      <p:sp>
        <p:nvSpPr>
          <p:cNvPr id="23" name="text-31">
            <a:extLst xmlns:a="http://schemas.openxmlformats.org/drawingml/2006/main">
              <a:ext uri="{FF2B5EF4-FFF2-40B4-BE49-F238E27FC236}">
                <a16:creationId xmlns:a16="http://schemas.microsoft.com/office/drawing/2014/main" id="{B4B4BA89-FEAE-43C9-95A1-AAAFF36E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23812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เวลาตั้งแต่เริ่มส่งคำขอ จนกระทั่งชาร์ตแสดงผลครบถ้วนบนหน้าจอ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สะท้อนความเร็วที่ผู้ใช้รับรู้ได้จริง (Perceived Latency) เทียบเคียงกับ FCP</a:t>
            </a:r>
          </a:p>
        </p:txBody>
      </p:sp>
      <p:sp>
        <p:nvSpPr>
          <p:cNvPr id="24" name="shape-32">
            <a:extLst xmlns:a="http://schemas.openxmlformats.org/drawingml/2006/main">
              <a:ext uri="{FF2B5EF4-FFF2-40B4-BE49-F238E27FC236}">
                <a16:creationId xmlns:a16="http://schemas.microsoft.com/office/drawing/2014/main" id="{4A197273-02D3-49C5-BFA8-A25A73D9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60997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5" name="text-33">
            <a:extLst xmlns:a="http://schemas.openxmlformats.org/drawingml/2006/main">
              <a:ext uri="{FF2B5EF4-FFF2-40B4-BE49-F238E27FC236}">
                <a16:creationId xmlns:a16="http://schemas.microsoft.com/office/drawing/2014/main" id="{DE4AA6E1-66C3-48FF-A2A5-509EFF29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26" name="text-34">
            <a:extLst xmlns:a="http://schemas.openxmlformats.org/drawingml/2006/main">
              <a:ext uri="{FF2B5EF4-FFF2-40B4-BE49-F238E27FC236}">
                <a16:creationId xmlns:a16="http://schemas.microsoft.com/office/drawing/2014/main" id="{31503461-C33C-494C-8264-CE5B9BDD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38100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TTA (Time-to-Activation) · เวลาจนพร้อมโต้ตอบ</a:t>
            </a:r>
          </a:p>
        </p:txBody>
      </p:sp>
      <p:sp>
        <p:nvSpPr>
          <p:cNvPr id="27" name="text-35">
            <a:extLst xmlns:a="http://schemas.openxmlformats.org/drawingml/2006/main">
              <a:ext uri="{FF2B5EF4-FFF2-40B4-BE49-F238E27FC236}">
                <a16:creationId xmlns:a16="http://schemas.microsoft.com/office/drawing/2014/main" id="{190301C2-CF56-480F-A59F-1A674C98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415290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เวลาจนกระทั่งระบบพร้อมรับการคลิก ซูม หรือเลือกฟิลเตอร์ข้อมูล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ชี้วัดความพร้อมใช้งานจริงของอินเทอร์เฟซ เทียบเคียงกับ TTI บนเว็บ</a:t>
            </a:r>
          </a:p>
        </p:txBody>
      </p:sp>
      <p:sp>
        <p:nvSpPr>
          <p:cNvPr id="28" name="shape-36">
            <a:extLst xmlns:a="http://schemas.openxmlformats.org/drawingml/2006/main">
              <a:ext uri="{FF2B5EF4-FFF2-40B4-BE49-F238E27FC236}">
                <a16:creationId xmlns:a16="http://schemas.microsoft.com/office/drawing/2014/main" id="{AD6E70A8-47C3-4FB5-8716-AA104674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3816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9" name="text-37">
            <a:extLst xmlns:a="http://schemas.openxmlformats.org/drawingml/2006/main">
              <a:ext uri="{FF2B5EF4-FFF2-40B4-BE49-F238E27FC236}">
                <a16:creationId xmlns:a16="http://schemas.microsoft.com/office/drawing/2014/main" id="{3EBE688A-F222-46AA-98D1-9245B1B2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0" name="text-38">
            <a:extLst xmlns:a="http://schemas.openxmlformats.org/drawingml/2006/main">
              <a:ext uri="{FF2B5EF4-FFF2-40B4-BE49-F238E27FC236}">
                <a16:creationId xmlns:a16="http://schemas.microsoft.com/office/drawing/2014/main" id="{0A3871BD-70B1-420A-928C-FC37F5B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55816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SC (Storage Cost) · ขนาดทรัพยากรที่เผยแพร่</a:t>
            </a:r>
          </a:p>
        </p:txBody>
      </p:sp>
      <p:sp>
        <p:nvSpPr>
          <p:cNvPr id="31" name="text-39">
            <a:extLst xmlns:a="http://schemas.openxmlformats.org/drawingml/2006/main">
              <a:ext uri="{FF2B5EF4-FFF2-40B4-BE49-F238E27FC236}">
                <a16:creationId xmlns:a16="http://schemas.microsoft.com/office/drawing/2014/main" id="{BC18E443-734E-47D0-B4B4-EA0F0BC2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59245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ขนาดทรัพยากรทั้งหมดที่เผยแพร่ รวมข้อมูลและผลคำนวณล่วงหน้า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เปรียบเทียบพื้นที่กับ Baseline เพื่อประเมินต้นทุนของการลดเวลา</a:t>
            </a:r>
          </a:p>
        </p:txBody>
      </p:sp>
      <p:sp>
        <p:nvSpPr>
          <p:cNvPr id="32" name="text-40">
            <a:extLst xmlns:a="http://schemas.openxmlformats.org/drawingml/2006/main">
              <a:ext uri="{FF2B5EF4-FFF2-40B4-BE49-F238E27FC236}">
                <a16:creationId xmlns:a16="http://schemas.microsoft.com/office/drawing/2014/main" id="{E2A2CBAF-C087-4C04-A608-CC2FC0F0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Sections 1 และ 3.1 (หน้า PDF 1–2)</a:t>
            </a:r>
          </a:p>
        </p:txBody>
      </p:sp>
    </p:spTree>
    <p:extLst>
      <p:ext uri="{BB962C8B-B14F-4D97-AF65-F5344CB8AC3E}">
        <p14:creationId xmlns:p14="http://schemas.microsoft.com/office/powerpoint/2010/main" val="20991580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-41">
            <a:extLst xmlns:a="http://schemas.openxmlformats.org/drawingml/2006/main">
              <a:ext uri="{FF2B5EF4-FFF2-40B4-BE49-F238E27FC236}">
                <a16:creationId xmlns:a16="http://schemas.microsoft.com/office/drawing/2014/main" id="{5732F09B-791C-4029-AB2B-CC19AD15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42">
            <a:extLst xmlns:a="http://schemas.openxmlformats.org/drawingml/2006/main">
              <a:ext uri="{FF2B5EF4-FFF2-40B4-BE49-F238E27FC236}">
                <a16:creationId xmlns:a16="http://schemas.microsoft.com/office/drawing/2014/main" id="{64DEF898-215F-4F58-9970-B245ED56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สถาปัตยกรรม Mosaic Publisher</a:t>
            </a:r>
          </a:p>
        </p:txBody>
      </p:sp>
      <p:sp>
        <p:nvSpPr>
          <p:cNvPr id="3" name="shape-43">
            <a:extLst xmlns:a="http://schemas.openxmlformats.org/drawingml/2006/main">
              <a:ext uri="{FF2B5EF4-FFF2-40B4-BE49-F238E27FC236}">
                <a16:creationId xmlns:a16="http://schemas.microsoft.com/office/drawing/2014/main" id="{A299F070-F169-4C4C-856C-8D09C7E5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44">
            <a:extLst xmlns:a="http://schemas.openxmlformats.org/drawingml/2006/main">
              <a:ext uri="{FF2B5EF4-FFF2-40B4-BE49-F238E27FC236}">
                <a16:creationId xmlns:a16="http://schemas.microsoft.com/office/drawing/2014/main" id="{25657769-A327-4D30-8362-5F7AC776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45">
            <a:extLst xmlns:a="http://schemas.openxmlformats.org/drawingml/2006/main">
              <a:ext uri="{FF2B5EF4-FFF2-40B4-BE49-F238E27FC236}">
                <a16:creationId xmlns:a16="http://schemas.microsoft.com/office/drawing/2014/main" id="{289A8F3C-C1A1-4101-9409-783A2EB9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6" name="shape-46">
            <a:extLst xmlns:a="http://schemas.openxmlformats.org/drawingml/2006/main">
              <a:ext uri="{FF2B5EF4-FFF2-40B4-BE49-F238E27FC236}">
                <a16:creationId xmlns:a16="http://schemas.microsoft.com/office/drawing/2014/main" id="{87EFC766-0BED-40C6-8433-C933C99B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8229600" cy="3667125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47">
            <a:extLst xmlns:a="http://schemas.openxmlformats.org/drawingml/2006/main">
              <a:ext uri="{FF2B5EF4-FFF2-40B4-BE49-F238E27FC236}">
                <a16:creationId xmlns:a16="http://schemas.microsoft.com/office/drawing/2014/main" id="{B9211F2B-4FA7-4138-B07B-F057CAD6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สถาปัตยกรรมไปป์ไลน์ช่วงเผยแพร่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318fb7da584287"/>
          <a:stretch xmlns:a="http://schemas.openxmlformats.org/drawingml/2006/main"/>
        </p:blipFill>
        <p:spPr>
          <a:xfrm xmlns:a="http://schemas.openxmlformats.org/drawingml/2006/main">
            <a:off x="1270469" y="1866900"/>
            <a:ext cx="7334582" cy="2428875"/>
          </a:xfrm>
          <a:prstGeom xmlns:a="http://schemas.openxmlformats.org/drawingml/2006/main" prst="rect">
            <a:avLst/>
          </a:prstGeom>
        </p:spPr>
      </p:pic>
      <p:sp>
        <p:nvSpPr>
          <p:cNvPr id="9" name="text-48">
            <a:extLst xmlns:a="http://schemas.openxmlformats.org/drawingml/2006/main">
              <a:ext uri="{FF2B5EF4-FFF2-40B4-BE49-F238E27FC236}">
                <a16:creationId xmlns:a16="http://schemas.microsoft.com/office/drawing/2014/main" id="{BF5E9F1B-8638-4458-9D45-AF6BF7EA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44100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Figure 1: การแบ่งกลุ่มงาน 3 ส่วนที่ย้ายไปทำล่วงหน้าก่อนผู้ใช้ส่งคำขอ (หน้า PDF 1)</a:t>
            </a:r>
          </a:p>
        </p:txBody>
      </p:sp>
      <p:sp>
        <p:nvSpPr>
          <p:cNvPr id="10" name="shape-49">
            <a:extLst xmlns:a="http://schemas.openxmlformats.org/drawingml/2006/main">
              <a:ext uri="{FF2B5EF4-FFF2-40B4-BE49-F238E27FC236}">
                <a16:creationId xmlns:a16="http://schemas.microsoft.com/office/drawing/2014/main" id="{CDD48147-079D-48C9-984A-2E4FCD51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76825"/>
            <a:ext cx="8229600" cy="211455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1" name="text-50">
            <a:extLst xmlns:a="http://schemas.openxmlformats.org/drawingml/2006/main">
              <a:ext uri="{FF2B5EF4-FFF2-40B4-BE49-F238E27FC236}">
                <a16:creationId xmlns:a16="http://schemas.microsoft.com/office/drawing/2014/main" id="{3CDE363C-12A4-437E-9FD6-1D0725AF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305425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ขั้นตอนการประมวลผลของ Publisher</a:t>
            </a:r>
          </a:p>
        </p:txBody>
      </p:sp>
      <p:sp>
        <p:nvSpPr>
          <p:cNvPr id="12" name="shape-51">
            <a:extLst xmlns:a="http://schemas.openxmlformats.org/drawingml/2006/main">
              <a:ext uri="{FF2B5EF4-FFF2-40B4-BE49-F238E27FC236}">
                <a16:creationId xmlns:a16="http://schemas.microsoft.com/office/drawing/2014/main" id="{9A14F2D0-F799-4312-A32B-53F0D2AC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676900"/>
            <a:ext cx="2362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3" name="text-52">
            <a:extLst xmlns:a="http://schemas.openxmlformats.org/drawingml/2006/main">
              <a:ext uri="{FF2B5EF4-FFF2-40B4-BE49-F238E27FC236}">
                <a16:creationId xmlns:a16="http://schemas.microsoft.com/office/drawing/2014/main" id="{F6533811-A0BA-4174-B3D8-3ABB514D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" y="5867400"/>
            <a:ext cx="217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1. วิเคราะห์ AST &amp;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จำลอง Virtual DOM</a:t>
            </a:r>
          </a:p>
        </p:txBody>
      </p:sp>
      <p:sp>
        <p:nvSpPr>
          <p:cNvPr id="14" name="shape-53">
            <a:extLst xmlns:a="http://schemas.openxmlformats.org/drawingml/2006/main">
              <a:ext uri="{FF2B5EF4-FFF2-40B4-BE49-F238E27FC236}">
                <a16:creationId xmlns:a16="http://schemas.microsoft.com/office/drawing/2014/main" id="{3985EA5F-D244-4E32-8F1B-9282087A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60" y="60960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5" name="flow-arrow-54">
            <a:extLst xmlns:a="http://schemas.openxmlformats.org/drawingml/2006/main">
              <a:ext uri="{FF2B5EF4-FFF2-40B4-BE49-F238E27FC236}">
                <a16:creationId xmlns:a16="http://schemas.microsoft.com/office/drawing/2014/main" id="{8B8696E1-15C1-4E1F-81B3-93E22909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661410" y="6057900"/>
            <a:ext cx="762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6" name="shape-55">
            <a:extLst xmlns:a="http://schemas.openxmlformats.org/drawingml/2006/main">
              <a:ext uri="{FF2B5EF4-FFF2-40B4-BE49-F238E27FC236}">
                <a16:creationId xmlns:a16="http://schemas.microsoft.com/office/drawing/2014/main" id="{DEC29B3A-035E-4A07-A00F-38A171BC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6660" y="5676900"/>
            <a:ext cx="2362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7" name="text-56">
            <a:extLst xmlns:a="http://schemas.openxmlformats.org/drawingml/2006/main">
              <a:ext uri="{FF2B5EF4-FFF2-40B4-BE49-F238E27FC236}">
                <a16:creationId xmlns:a16="http://schemas.microsoft.com/office/drawing/2014/main" id="{494EBBF9-AA1D-43FC-956A-A977D675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910" y="5867400"/>
            <a:ext cx="217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2. คำนวณคิวรีล่วงหน้า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ผ่าน DuckDB</a:t>
            </a:r>
          </a:p>
        </p:txBody>
      </p:sp>
      <p:sp>
        <p:nvSpPr>
          <p:cNvPr id="18" name="shape-57">
            <a:extLst xmlns:a="http://schemas.openxmlformats.org/drawingml/2006/main">
              <a:ext uri="{FF2B5EF4-FFF2-40B4-BE49-F238E27FC236}">
                <a16:creationId xmlns:a16="http://schemas.microsoft.com/office/drawing/2014/main" id="{D8D92F64-A0E2-4370-977C-45EDA102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6960" y="60960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9" name="flow-arrow-58">
            <a:extLst xmlns:a="http://schemas.openxmlformats.org/drawingml/2006/main">
              <a:ext uri="{FF2B5EF4-FFF2-40B4-BE49-F238E27FC236}">
                <a16:creationId xmlns:a16="http://schemas.microsoft.com/office/drawing/2014/main" id="{E00D462A-6348-4F9D-B27E-B0D643AB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90310" y="6057900"/>
            <a:ext cx="762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0" name="shape-59">
            <a:extLst xmlns:a="http://schemas.openxmlformats.org/drawingml/2006/main">
              <a:ext uri="{FF2B5EF4-FFF2-40B4-BE49-F238E27FC236}">
                <a16:creationId xmlns:a16="http://schemas.microsoft.com/office/drawing/2014/main" id="{F222AB32-045F-4906-99F3-FB5A223E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5560" y="5676900"/>
            <a:ext cx="2362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1" name="text-60">
            <a:extLst xmlns:a="http://schemas.openxmlformats.org/drawingml/2006/main">
              <a:ext uri="{FF2B5EF4-FFF2-40B4-BE49-F238E27FC236}">
                <a16:creationId xmlns:a16="http://schemas.microsoft.com/office/drawing/2014/main" id="{B9E2FDA7-B49B-4BC3-A251-AE18EF8F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810" y="5867400"/>
            <a:ext cx="217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3. Rewrite AST &amp;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สร้าง JS Bundle</a:t>
            </a:r>
          </a:p>
        </p:txBody>
      </p:sp>
      <p:sp>
        <p:nvSpPr>
          <p:cNvPr id="22" name="text-61">
            <a:extLst xmlns:a="http://schemas.openxmlformats.org/drawingml/2006/main">
              <a:ext uri="{FF2B5EF4-FFF2-40B4-BE49-F238E27FC236}">
                <a16:creationId xmlns:a16="http://schemas.microsoft.com/office/drawing/2014/main" id="{DA0365ED-CED0-4F34-B9CC-B358CBCA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67151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สรุปกลไกการทำงานจาก Sections 4.1–4.3 (หน้า PDF 3)</a:t>
            </a:r>
          </a:p>
        </p:txBody>
      </p:sp>
      <p:sp>
        <p:nvSpPr>
          <p:cNvPr id="23" name="shape-62">
            <a:extLst xmlns:a="http://schemas.openxmlformats.org/drawingml/2006/main">
              <a:ext uri="{FF2B5EF4-FFF2-40B4-BE49-F238E27FC236}">
                <a16:creationId xmlns:a16="http://schemas.microsoft.com/office/drawing/2014/main" id="{4C1055C5-29AB-4B84-9F94-AE622183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1238250"/>
            <a:ext cx="4419600" cy="5953125"/>
          </a:xfrm>
          <a:prstGeom xmlns:a="http://schemas.openxmlformats.org/drawingml/2006/main" prst="roundRect">
            <a:avLst>
              <a:gd name="adj" fmla="val 21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4" name="text-63">
            <a:extLst xmlns:a="http://schemas.openxmlformats.org/drawingml/2006/main">
              <a:ext uri="{FF2B5EF4-FFF2-40B4-BE49-F238E27FC236}">
                <a16:creationId xmlns:a16="http://schemas.microsoft.com/office/drawing/2014/main" id="{79000171-15F8-4D84-B242-A1B4721D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14668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ชิ้นส่วนผลลัพธ์ส่งมอบให้ไคลเอนต์</a:t>
            </a:r>
          </a:p>
        </p:txBody>
      </p:sp>
      <p:sp>
        <p:nvSpPr>
          <p:cNvPr id="25" name="text-64">
            <a:extLst xmlns:a="http://schemas.openxmlformats.org/drawingml/2006/main">
              <a:ext uri="{FF2B5EF4-FFF2-40B4-BE49-F238E27FC236}">
                <a16:creationId xmlns:a16="http://schemas.microsoft.com/office/drawing/2014/main" id="{0B7911FB-A6CB-4275-BBDE-E98BE785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54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26" name="text-65">
            <a:extLst xmlns:a="http://schemas.openxmlformats.org/drawingml/2006/main">
              <a:ext uri="{FF2B5EF4-FFF2-40B4-BE49-F238E27FC236}">
                <a16:creationId xmlns:a16="http://schemas.microsoft.com/office/drawing/2014/main" id="{98FEA132-4A8A-4CA7-ADBF-09F22ACE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2038350"/>
            <a:ext cx="3543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ข้อมูลจัดระเบียบพร้อมใช้</a:t>
            </a:r>
          </a:p>
        </p:txBody>
      </p:sp>
      <p:sp>
        <p:nvSpPr>
          <p:cNvPr id="27" name="text-66">
            <a:extLst xmlns:a="http://schemas.openxmlformats.org/drawingml/2006/main">
              <a:ext uri="{FF2B5EF4-FFF2-40B4-BE49-F238E27FC236}">
                <a16:creationId xmlns:a16="http://schemas.microsoft.com/office/drawing/2014/main" id="{C8E38C68-AFC6-48BE-B08C-B892EE76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2381250"/>
            <a:ext cx="3543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กรองเฉพาะคอลัมน์ที่จำเป็นและแปลงข้อมูล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ลดภาระการส่งข้อมูลข้ามเครือข่าย</a:t>
            </a:r>
          </a:p>
        </p:txBody>
      </p:sp>
      <p:sp>
        <p:nvSpPr>
          <p:cNvPr id="28" name="shape-67">
            <a:extLst xmlns:a="http://schemas.openxmlformats.org/drawingml/2006/main">
              <a:ext uri="{FF2B5EF4-FFF2-40B4-BE49-F238E27FC236}">
                <a16:creationId xmlns:a16="http://schemas.microsoft.com/office/drawing/2014/main" id="{A209A99B-E6AD-4925-9C29-4BE29F4F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540" y="3609975"/>
            <a:ext cx="388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9" name="text-68">
            <a:extLst xmlns:a="http://schemas.openxmlformats.org/drawingml/2006/main">
              <a:ext uri="{FF2B5EF4-FFF2-40B4-BE49-F238E27FC236}">
                <a16:creationId xmlns:a16="http://schemas.microsoft.com/office/drawing/2014/main" id="{87C96753-97CB-46F0-90EC-178D0779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54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30" name="text-69">
            <a:extLst xmlns:a="http://schemas.openxmlformats.org/drawingml/2006/main">
              <a:ext uri="{FF2B5EF4-FFF2-40B4-BE49-F238E27FC236}">
                <a16:creationId xmlns:a16="http://schemas.microsoft.com/office/drawing/2014/main" id="{CF6359F5-C856-47C2-9466-AFC5A039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3810000"/>
            <a:ext cx="3543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ผลคิวรีสำเร็จรูป</a:t>
            </a:r>
          </a:p>
        </p:txBody>
      </p:sp>
      <p:sp>
        <p:nvSpPr>
          <p:cNvPr id="31" name="text-70">
            <a:extLst xmlns:a="http://schemas.openxmlformats.org/drawingml/2006/main">
              <a:ext uri="{FF2B5EF4-FFF2-40B4-BE49-F238E27FC236}">
                <a16:creationId xmlns:a16="http://schemas.microsoft.com/office/drawing/2014/main" id="{B69BB6A6-F45B-4543-81D8-87BEF24A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4152900"/>
            <a:ext cx="3543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เติมแคชและฐานข้อมูล DuckDB-WASM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ล่วงหน้าผ่าน Mosaic Coordinator</a:t>
            </a:r>
          </a:p>
        </p:txBody>
      </p:sp>
      <p:sp>
        <p:nvSpPr>
          <p:cNvPr id="32" name="shape-71">
            <a:extLst xmlns:a="http://schemas.openxmlformats.org/drawingml/2006/main">
              <a:ext uri="{FF2B5EF4-FFF2-40B4-BE49-F238E27FC236}">
                <a16:creationId xmlns:a16="http://schemas.microsoft.com/office/drawing/2014/main" id="{539F8A27-85F4-4CC2-B3ED-83D1F007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540" y="5381625"/>
            <a:ext cx="388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33" name="text-72">
            <a:extLst xmlns:a="http://schemas.openxmlformats.org/drawingml/2006/main">
              <a:ext uri="{FF2B5EF4-FFF2-40B4-BE49-F238E27FC236}">
                <a16:creationId xmlns:a16="http://schemas.microsoft.com/office/drawing/2014/main" id="{DE0F83A2-3EE0-49FC-A2FA-E879E673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54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4" name="text-73">
            <a:extLst xmlns:a="http://schemas.openxmlformats.org/drawingml/2006/main">
              <a:ext uri="{FF2B5EF4-FFF2-40B4-BE49-F238E27FC236}">
                <a16:creationId xmlns:a16="http://schemas.microsoft.com/office/drawing/2014/main" id="{F04BD9AF-D031-4382-9F6C-A6698D0F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5581650"/>
            <a:ext cx="3543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ภาพเริ่มต้นและชุดสคริปต์</a:t>
            </a:r>
          </a:p>
        </p:txBody>
      </p:sp>
      <p:sp>
        <p:nvSpPr>
          <p:cNvPr id="35" name="text-74">
            <a:extLst xmlns:a="http://schemas.openxmlformats.org/drawingml/2006/main">
              <a:ext uri="{FF2B5EF4-FFF2-40B4-BE49-F238E27FC236}">
                <a16:creationId xmlns:a16="http://schemas.microsoft.com/office/drawing/2014/main" id="{8B909807-F179-462C-AADC-9ABD8747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5924550"/>
            <a:ext cx="3543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ส่งภาพเรนเดอร์สำเร็จให้แสดงผลทันที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พร้อมสคริปต์เปิดการโต้ตอบตามหลัง</a:t>
            </a:r>
          </a:p>
        </p:txBody>
      </p:sp>
      <p:sp>
        <p:nvSpPr>
          <p:cNvPr id="36" name="text-75">
            <a:extLst xmlns:a="http://schemas.openxmlformats.org/drawingml/2006/main">
              <a:ext uri="{FF2B5EF4-FFF2-40B4-BE49-F238E27FC236}">
                <a16:creationId xmlns:a16="http://schemas.microsoft.com/office/drawing/2014/main" id="{200BC747-6ED7-47C8-AC68-824B6618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Sections 3.2–3.4 และ 4.1–4.3 (หน้า PDF 2–3)</a:t>
            </a:r>
          </a:p>
        </p:txBody>
      </p:sp>
    </p:spTree>
    <p:extLst>
      <p:ext uri="{BB962C8B-B14F-4D97-AF65-F5344CB8AC3E}">
        <p14:creationId xmlns:p14="http://schemas.microsoft.com/office/powerpoint/2010/main" val="18966345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-76">
            <a:extLst xmlns:a="http://schemas.openxmlformats.org/drawingml/2006/main">
              <a:ext uri="{FF2B5EF4-FFF2-40B4-BE49-F238E27FC236}">
                <a16:creationId xmlns:a16="http://schemas.microsoft.com/office/drawing/2014/main" id="{BE187810-C3BE-4BD6-97AA-11CAE29F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77">
            <a:extLst xmlns:a="http://schemas.openxmlformats.org/drawingml/2006/main">
              <a:ext uri="{FF2B5EF4-FFF2-40B4-BE49-F238E27FC236}">
                <a16:creationId xmlns:a16="http://schemas.microsoft.com/office/drawing/2014/main" id="{76F17AE0-CC6A-49D8-9A6D-29080923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ภาพล่วงหน้าและต้นทุน Client Hydration</a:t>
            </a:r>
          </a:p>
        </p:txBody>
      </p:sp>
      <p:sp>
        <p:nvSpPr>
          <p:cNvPr id="3" name="shape-78">
            <a:extLst xmlns:a="http://schemas.openxmlformats.org/drawingml/2006/main">
              <a:ext uri="{FF2B5EF4-FFF2-40B4-BE49-F238E27FC236}">
                <a16:creationId xmlns:a16="http://schemas.microsoft.com/office/drawing/2014/main" id="{B8F79C15-E9A3-4921-A1CB-0627435B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79">
            <a:extLst xmlns:a="http://schemas.openxmlformats.org/drawingml/2006/main">
              <a:ext uri="{FF2B5EF4-FFF2-40B4-BE49-F238E27FC236}">
                <a16:creationId xmlns:a16="http://schemas.microsoft.com/office/drawing/2014/main" id="{A917CE2F-BC52-4ACA-8857-056358A0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80">
            <a:extLst xmlns:a="http://schemas.openxmlformats.org/drawingml/2006/main">
              <a:ext uri="{FF2B5EF4-FFF2-40B4-BE49-F238E27FC236}">
                <a16:creationId xmlns:a16="http://schemas.microsoft.com/office/drawing/2014/main" id="{B410FF5A-06CB-4A94-8E22-533F40F9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4</a:t>
            </a:r>
          </a:p>
        </p:txBody>
      </p:sp>
      <p:sp>
        <p:nvSpPr>
          <p:cNvPr id="6" name="shape-81">
            <a:extLst xmlns:a="http://schemas.openxmlformats.org/drawingml/2006/main">
              <a:ext uri="{FF2B5EF4-FFF2-40B4-BE49-F238E27FC236}">
                <a16:creationId xmlns:a16="http://schemas.microsoft.com/office/drawing/2014/main" id="{9CB3C65D-C9EA-4193-8C47-87039E07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7677150" cy="3333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82">
            <a:extLst xmlns:a="http://schemas.openxmlformats.org/drawingml/2006/main">
              <a:ext uri="{FF2B5EF4-FFF2-40B4-BE49-F238E27FC236}">
                <a16:creationId xmlns:a16="http://schemas.microsoft.com/office/drawing/2014/main" id="{BB7F285A-0C40-4ED6-B529-7A49CE86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706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การแยกสัดส่วนความหน่วงและคอขวด Hydration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330c9f798a416d"/>
          <a:stretch xmlns:a="http://schemas.openxmlformats.org/drawingml/2006/main"/>
        </p:blipFill>
        <p:spPr>
          <a:xfrm xmlns:a="http://schemas.openxmlformats.org/drawingml/2006/main">
            <a:off x="1536057" y="1866900"/>
            <a:ext cx="6250956" cy="2047875"/>
          </a:xfrm>
          <a:prstGeom xmlns:a="http://schemas.openxmlformats.org/drawingml/2006/main" prst="rect">
            <a:avLst/>
          </a:prstGeom>
        </p:spPr>
      </p:pic>
      <p:sp>
        <p:nvSpPr>
          <p:cNvPr id="9" name="text-83">
            <a:extLst xmlns:a="http://schemas.openxmlformats.org/drawingml/2006/main">
              <a:ext uri="{FF2B5EF4-FFF2-40B4-BE49-F238E27FC236}">
                <a16:creationId xmlns:a16="http://schemas.microsoft.com/office/drawing/2014/main" id="{871E0E7B-8E19-4EB6-BA84-0BE77799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4076700"/>
            <a:ext cx="706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Figure 4: สัดส่วนเวลาเฉลี่ยจาก 5 กรณีทดสอบ ที่ขนาดข้อมูล 10 ล้านแถว (หน้า PDF 4)</a:t>
            </a:r>
          </a:p>
        </p:txBody>
      </p:sp>
      <p:sp>
        <p:nvSpPr>
          <p:cNvPr id="10" name="shape-84">
            <a:extLst xmlns:a="http://schemas.openxmlformats.org/drawingml/2006/main">
              <a:ext uri="{FF2B5EF4-FFF2-40B4-BE49-F238E27FC236}">
                <a16:creationId xmlns:a16="http://schemas.microsoft.com/office/drawing/2014/main" id="{4212B798-A03E-4D45-B97E-023D2DA8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43450"/>
            <a:ext cx="7677150" cy="2447925"/>
          </a:xfrm>
          <a:prstGeom xmlns:a="http://schemas.openxmlformats.org/drawingml/2006/main" prst="roundRect">
            <a:avLst>
              <a:gd name="adj" fmla="val 38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1" name="text-85">
            <a:extLst xmlns:a="http://schemas.openxmlformats.org/drawingml/2006/main">
              <a:ext uri="{FF2B5EF4-FFF2-40B4-BE49-F238E27FC236}">
                <a16:creationId xmlns:a16="http://schemas.microsoft.com/office/drawing/2014/main" id="{5621FC85-1640-4D35-B266-5538698A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4972050"/>
            <a:ext cx="706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ลำดับเหตุการณ์การแสดงผลและการเปิดระบบโต้ตอบ</a:t>
            </a:r>
          </a:p>
        </p:txBody>
      </p:sp>
      <p:sp>
        <p:nvSpPr>
          <p:cNvPr id="12" name="shape-86">
            <a:extLst xmlns:a="http://schemas.openxmlformats.org/drawingml/2006/main">
              <a:ext uri="{FF2B5EF4-FFF2-40B4-BE49-F238E27FC236}">
                <a16:creationId xmlns:a16="http://schemas.microsoft.com/office/drawing/2014/main" id="{4D9C1E11-B48A-4302-8A27-D0626782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410200"/>
            <a:ext cx="21780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3" name="text-87">
            <a:extLst xmlns:a="http://schemas.openxmlformats.org/drawingml/2006/main">
              <a:ext uri="{FF2B5EF4-FFF2-40B4-BE49-F238E27FC236}">
                <a16:creationId xmlns:a16="http://schemas.microsoft.com/office/drawing/2014/main" id="{C324F797-E5C3-4BD3-998A-A05AE704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" y="5600700"/>
            <a:ext cx="1987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1. ภาพเริ่มต้นปรากฏ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(TTR ลดลง 83.7%)</a:t>
            </a:r>
          </a:p>
        </p:txBody>
      </p:sp>
      <p:sp>
        <p:nvSpPr>
          <p:cNvPr id="14" name="shape-88">
            <a:extLst xmlns:a="http://schemas.openxmlformats.org/drawingml/2006/main">
              <a:ext uri="{FF2B5EF4-FFF2-40B4-BE49-F238E27FC236}">
                <a16:creationId xmlns:a16="http://schemas.microsoft.com/office/drawing/2014/main" id="{A73E331D-CBA6-491A-BF3E-15E4103A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910" y="5867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5" name="flow-arrow-89">
            <a:extLst xmlns:a="http://schemas.openxmlformats.org/drawingml/2006/main">
              <a:ext uri="{FF2B5EF4-FFF2-40B4-BE49-F238E27FC236}">
                <a16:creationId xmlns:a16="http://schemas.microsoft.com/office/drawing/2014/main" id="{C2A66DBA-B1C2-4F24-B1BD-D0FB961D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477260" y="5829300"/>
            <a:ext cx="762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6" name="shape-90">
            <a:extLst xmlns:a="http://schemas.openxmlformats.org/drawingml/2006/main">
              <a:ext uri="{FF2B5EF4-FFF2-40B4-BE49-F238E27FC236}">
                <a16:creationId xmlns:a16="http://schemas.microsoft.com/office/drawing/2014/main" id="{C27961C8-BBA6-4AC9-81EB-5C2B9959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2510" y="5410200"/>
            <a:ext cx="21780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7" name="text-91">
            <a:extLst xmlns:a="http://schemas.openxmlformats.org/drawingml/2006/main">
              <a:ext uri="{FF2B5EF4-FFF2-40B4-BE49-F238E27FC236}">
                <a16:creationId xmlns:a16="http://schemas.microsoft.com/office/drawing/2014/main" id="{0E3093C1-2D80-4DB2-872E-1C0D89FA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760" y="5600700"/>
            <a:ext cx="1987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2. เริ่มคอมโพเนนต์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Client Hydration</a:t>
            </a:r>
          </a:p>
        </p:txBody>
      </p:sp>
      <p:sp>
        <p:nvSpPr>
          <p:cNvPr id="18" name="shape-92">
            <a:extLst xmlns:a="http://schemas.openxmlformats.org/drawingml/2006/main">
              <a:ext uri="{FF2B5EF4-FFF2-40B4-BE49-F238E27FC236}">
                <a16:creationId xmlns:a16="http://schemas.microsoft.com/office/drawing/2014/main" id="{35CA0899-8155-4BF4-8A34-E4AC87C8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660" y="5867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9" name="flow-arrow-93">
            <a:extLst xmlns:a="http://schemas.openxmlformats.org/drawingml/2006/main">
              <a:ext uri="{FF2B5EF4-FFF2-40B4-BE49-F238E27FC236}">
                <a16:creationId xmlns:a16="http://schemas.microsoft.com/office/drawing/2014/main" id="{3D300097-33E4-42B4-9893-1B9B1AC9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22010" y="5829300"/>
            <a:ext cx="762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0" name="shape-94">
            <a:extLst xmlns:a="http://schemas.openxmlformats.org/drawingml/2006/main">
              <a:ext uri="{FF2B5EF4-FFF2-40B4-BE49-F238E27FC236}">
                <a16:creationId xmlns:a16="http://schemas.microsoft.com/office/drawing/2014/main" id="{81B05C2C-BD68-4401-8714-D4E5656B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7260" y="5410200"/>
            <a:ext cx="21780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1" name="text-95">
            <a:extLst xmlns:a="http://schemas.openxmlformats.org/drawingml/2006/main">
              <a:ext uri="{FF2B5EF4-FFF2-40B4-BE49-F238E27FC236}">
                <a16:creationId xmlns:a16="http://schemas.microsoft.com/office/drawing/2014/main" id="{57E99B87-B142-44B7-8040-6027A004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2510" y="5600700"/>
            <a:ext cx="1987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3. พร้อมรับอินพุต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(TTA ลดลง 33.3%)</a:t>
            </a:r>
          </a:p>
        </p:txBody>
      </p:sp>
      <p:sp>
        <p:nvSpPr>
          <p:cNvPr id="22" name="text-96">
            <a:extLst xmlns:a="http://schemas.openxmlformats.org/drawingml/2006/main">
              <a:ext uri="{FF2B5EF4-FFF2-40B4-BE49-F238E27FC236}">
                <a16:creationId xmlns:a16="http://schemas.microsoft.com/office/drawing/2014/main" id="{F5B077A4-5235-42CB-8910-A21695CA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6515100"/>
            <a:ext cx="706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ผังสรุปลำดับเหตุการณ์จาก Section 4.3 (แสดงขั้นตอน ไม่ใช่แกนเวลา Benchmark)</a:t>
            </a:r>
          </a:p>
        </p:txBody>
      </p:sp>
      <p:sp>
        <p:nvSpPr>
          <p:cNvPr id="23" name="shape-97">
            <a:extLst xmlns:a="http://schemas.openxmlformats.org/drawingml/2006/main">
              <a:ext uri="{FF2B5EF4-FFF2-40B4-BE49-F238E27FC236}">
                <a16:creationId xmlns:a16="http://schemas.microsoft.com/office/drawing/2014/main" id="{3368E4C7-DD1C-4C4C-92AD-10183D9E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5390" y="1238250"/>
            <a:ext cx="4972050" cy="5953125"/>
          </a:xfrm>
          <a:prstGeom xmlns:a="http://schemas.openxmlformats.org/drawingml/2006/main" prst="roundRect">
            <a:avLst>
              <a:gd name="adj" fmla="val 19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4" name="text-98">
            <a:extLst xmlns:a="http://schemas.openxmlformats.org/drawingml/2006/main">
              <a:ext uri="{FF2B5EF4-FFF2-40B4-BE49-F238E27FC236}">
                <a16:creationId xmlns:a16="http://schemas.microsoft.com/office/drawing/2014/main" id="{6C85279C-C56A-4F1F-88CF-168C89A4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0190" y="1466850"/>
            <a:ext cx="436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การจำแนกประเภทมุมมองและข้อจำกัด</a:t>
            </a:r>
          </a:p>
        </p:txBody>
      </p:sp>
      <p:sp>
        <p:nvSpPr>
          <p:cNvPr id="25" name="text-99">
            <a:extLst xmlns:a="http://schemas.openxmlformats.org/drawingml/2006/main">
              <a:ext uri="{FF2B5EF4-FFF2-40B4-BE49-F238E27FC236}">
                <a16:creationId xmlns:a16="http://schemas.microsoft.com/office/drawing/2014/main" id="{7721B109-2A71-4074-8528-CF98EA35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14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26" name="text-100">
            <a:extLst xmlns:a="http://schemas.openxmlformats.org/drawingml/2006/main">
              <a:ext uri="{FF2B5EF4-FFF2-40B4-BE49-F238E27FC236}">
                <a16:creationId xmlns:a16="http://schemas.microsoft.com/office/drawing/2014/main" id="{3EE9FC9A-19AD-41EE-8E17-2009F1CB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038350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มุมมองแบบสถิต (Static Views)</a:t>
            </a:r>
          </a:p>
        </p:txBody>
      </p:sp>
      <p:sp>
        <p:nvSpPr>
          <p:cNvPr id="27" name="text-101">
            <a:extLst xmlns:a="http://schemas.openxmlformats.org/drawingml/2006/main">
              <a:ext uri="{FF2B5EF4-FFF2-40B4-BE49-F238E27FC236}">
                <a16:creationId xmlns:a16="http://schemas.microsoft.com/office/drawing/2014/main" id="{0950B350-40DF-4E5A-8472-234BD897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381250"/>
            <a:ext cx="4057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ส่งเฉพาะผลลัพธ์ภาพที่เรนเดอร์สำเร็จ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ไร้สคริปต์ ไม่ต้องเสียต้นทุน Hydration</a:t>
            </a:r>
          </a:p>
        </p:txBody>
      </p:sp>
      <p:sp>
        <p:nvSpPr>
          <p:cNvPr id="28" name="shape-102">
            <a:extLst xmlns:a="http://schemas.openxmlformats.org/drawingml/2006/main">
              <a:ext uri="{FF2B5EF4-FFF2-40B4-BE49-F238E27FC236}">
                <a16:creationId xmlns:a16="http://schemas.microsoft.com/office/drawing/2014/main" id="{4576424B-46EF-464F-AD2A-B21618AE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140" y="3609975"/>
            <a:ext cx="440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9" name="text-103">
            <a:extLst xmlns:a="http://schemas.openxmlformats.org/drawingml/2006/main">
              <a:ext uri="{FF2B5EF4-FFF2-40B4-BE49-F238E27FC236}">
                <a16:creationId xmlns:a16="http://schemas.microsoft.com/office/drawing/2014/main" id="{3647F60C-62CE-4A9F-A997-E2801F99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14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30" name="text-104">
            <a:extLst xmlns:a="http://schemas.openxmlformats.org/drawingml/2006/main">
              <a:ext uri="{FF2B5EF4-FFF2-40B4-BE49-F238E27FC236}">
                <a16:creationId xmlns:a16="http://schemas.microsoft.com/office/drawing/2014/main" id="{1FD48640-B322-4368-82F0-C2051CC1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3810000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มุมมองแบบโต้ตอบ (Interactive Views)</a:t>
            </a:r>
          </a:p>
        </p:txBody>
      </p:sp>
      <p:sp>
        <p:nvSpPr>
          <p:cNvPr id="31" name="text-105">
            <a:extLst xmlns:a="http://schemas.openxmlformats.org/drawingml/2006/main">
              <a:ext uri="{FF2B5EF4-FFF2-40B4-BE49-F238E27FC236}">
                <a16:creationId xmlns:a16="http://schemas.microsoft.com/office/drawing/2014/main" id="{9BA5A1F6-1999-4265-8A13-E57C26C2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4152900"/>
            <a:ext cx="4057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ส่งภาพแรกพร้อมสคริปต์ JavaScript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ต้องเติมแคชและผูก Event ก่อนใช้งาน</a:t>
            </a:r>
          </a:p>
        </p:txBody>
      </p:sp>
      <p:sp>
        <p:nvSpPr>
          <p:cNvPr id="32" name="shape-106">
            <a:extLst xmlns:a="http://schemas.openxmlformats.org/drawingml/2006/main">
              <a:ext uri="{FF2B5EF4-FFF2-40B4-BE49-F238E27FC236}">
                <a16:creationId xmlns:a16="http://schemas.microsoft.com/office/drawing/2014/main" id="{AA4D2589-8152-41D4-B1BF-AD7A9DBC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140" y="5381625"/>
            <a:ext cx="440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33" name="text-107">
            <a:extLst xmlns:a="http://schemas.openxmlformats.org/drawingml/2006/main">
              <a:ext uri="{FF2B5EF4-FFF2-40B4-BE49-F238E27FC236}">
                <a16:creationId xmlns:a16="http://schemas.microsoft.com/office/drawing/2014/main" id="{44016DEC-23F9-4262-9C98-2CB151F4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14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4" name="text-108">
            <a:extLst xmlns:a="http://schemas.openxmlformats.org/drawingml/2006/main">
              <a:ext uri="{FF2B5EF4-FFF2-40B4-BE49-F238E27FC236}">
                <a16:creationId xmlns:a16="http://schemas.microsoft.com/office/drawing/2014/main" id="{925D6F7B-2B56-4F97-8B1E-BB6014B2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5581650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คอขวด Hydration ฝั่งไคลเอนต์</a:t>
            </a:r>
          </a:p>
        </p:txBody>
      </p:sp>
      <p:sp>
        <p:nvSpPr>
          <p:cNvPr id="35" name="text-109">
            <a:extLst xmlns:a="http://schemas.openxmlformats.org/drawingml/2006/main">
              <a:ext uri="{FF2B5EF4-FFF2-40B4-BE49-F238E27FC236}">
                <a16:creationId xmlns:a16="http://schemas.microsoft.com/office/drawing/2014/main" id="{2E9A11CD-7C4A-4DF1-80AE-08E83B81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5924550"/>
            <a:ext cx="4057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ใช้เวลาเกือบเท่าการเรนเดอร์สดจากศูนย์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Hydration ที่ละเอียดขึ้นเป็นแนวทางวิจัยต่อ</a:t>
            </a:r>
          </a:p>
        </p:txBody>
      </p:sp>
      <p:sp>
        <p:nvSpPr>
          <p:cNvPr id="36" name="text-110">
            <a:extLst xmlns:a="http://schemas.openxmlformats.org/drawingml/2006/main">
              <a:ext uri="{FF2B5EF4-FFF2-40B4-BE49-F238E27FC236}">
                <a16:creationId xmlns:a16="http://schemas.microsoft.com/office/drawing/2014/main" id="{97E9139D-2E78-4BC1-8ACE-3D00233B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Sections 4.3 และ 5 (หน้า PDF 3–4)</a:t>
            </a:r>
          </a:p>
        </p:txBody>
      </p:sp>
    </p:spTree>
    <p:extLst>
      <p:ext uri="{BB962C8B-B14F-4D97-AF65-F5344CB8AC3E}">
        <p14:creationId xmlns:p14="http://schemas.microsoft.com/office/powerpoint/2010/main" val="7302771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hape-111">
            <a:extLst xmlns:a="http://schemas.openxmlformats.org/drawingml/2006/main">
              <a:ext uri="{FF2B5EF4-FFF2-40B4-BE49-F238E27FC236}">
                <a16:creationId xmlns:a16="http://schemas.microsoft.com/office/drawing/2014/main" id="{1C4755AA-40F9-4F8E-ACBD-06819776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112">
            <a:extLst xmlns:a="http://schemas.openxmlformats.org/drawingml/2006/main">
              <a:ext uri="{FF2B5EF4-FFF2-40B4-BE49-F238E27FC236}">
                <a16:creationId xmlns:a16="http://schemas.microsoft.com/office/drawing/2014/main" id="{FA49A6DE-A4F1-48D3-81A0-0F80B1CF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ผลทดลองและการชั่งน้ำหนักทรัพยากร</a:t>
            </a:r>
          </a:p>
        </p:txBody>
      </p:sp>
      <p:sp>
        <p:nvSpPr>
          <p:cNvPr id="3" name="shape-113">
            <a:extLst xmlns:a="http://schemas.openxmlformats.org/drawingml/2006/main">
              <a:ext uri="{FF2B5EF4-FFF2-40B4-BE49-F238E27FC236}">
                <a16:creationId xmlns:a16="http://schemas.microsoft.com/office/drawing/2014/main" id="{30A99CAF-35C1-4EA1-B5C0-D6AFB307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114">
            <a:extLst xmlns:a="http://schemas.openxmlformats.org/drawingml/2006/main">
              <a:ext uri="{FF2B5EF4-FFF2-40B4-BE49-F238E27FC236}">
                <a16:creationId xmlns:a16="http://schemas.microsoft.com/office/drawing/2014/main" id="{60029993-A893-4040-971F-0B80163E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115">
            <a:extLst xmlns:a="http://schemas.openxmlformats.org/drawingml/2006/main">
              <a:ext uri="{FF2B5EF4-FFF2-40B4-BE49-F238E27FC236}">
                <a16:creationId xmlns:a16="http://schemas.microsoft.com/office/drawing/2014/main" id="{139D09CD-7AB0-4003-B9BF-1BE23BCF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5</a:t>
            </a:r>
          </a:p>
        </p:txBody>
      </p:sp>
      <p:sp>
        <p:nvSpPr>
          <p:cNvPr id="6" name="shape-116">
            <a:extLst xmlns:a="http://schemas.openxmlformats.org/drawingml/2006/main">
              <a:ext uri="{FF2B5EF4-FFF2-40B4-BE49-F238E27FC236}">
                <a16:creationId xmlns:a16="http://schemas.microsoft.com/office/drawing/2014/main" id="{89E8C0F4-7DA2-4B23-8893-62EB4CBA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8096250" cy="3476625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117">
            <a:extLst xmlns:a="http://schemas.openxmlformats.org/drawingml/2006/main">
              <a:ext uri="{FF2B5EF4-FFF2-40B4-BE49-F238E27FC236}">
                <a16:creationId xmlns:a16="http://schemas.microsoft.com/office/drawing/2014/main" id="{20A05712-6521-4B91-B2A0-269EE709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7486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การเปรียบเทียบ TTR และ TTA ตามขนาดข้อมูล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1ada52bdea46ab"/>
          <a:stretch xmlns:a="http://schemas.openxmlformats.org/drawingml/2006/main"/>
        </p:blipFill>
        <p:spPr>
          <a:xfrm xmlns:a="http://schemas.openxmlformats.org/drawingml/2006/main">
            <a:off x="1258480" y="1847850"/>
            <a:ext cx="7225211" cy="2190750"/>
          </a:xfrm>
          <a:prstGeom xmlns:a="http://schemas.openxmlformats.org/drawingml/2006/main" prst="rect">
            <a:avLst/>
          </a:prstGeom>
        </p:spPr>
      </p:pic>
      <p:sp>
        <p:nvSpPr>
          <p:cNvPr id="9" name="text-118">
            <a:extLst xmlns:a="http://schemas.openxmlformats.org/drawingml/2006/main">
              <a:ext uri="{FF2B5EF4-FFF2-40B4-BE49-F238E27FC236}">
                <a16:creationId xmlns:a16="http://schemas.microsoft.com/office/drawing/2014/main" id="{D9B31620-7109-4710-9BCD-ED6E22B8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" y="4191000"/>
            <a:ext cx="752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Figure 3: เส้นมัธยฐาน (Median) และแรเงา IQR จากข้อมูล 10k–10M แถว (หน้า PDF 4)</a:t>
            </a:r>
          </a:p>
        </p:txBody>
      </p:sp>
      <p:sp>
        <p:nvSpPr>
          <p:cNvPr id="10" name="shape-119">
            <a:extLst xmlns:a="http://schemas.openxmlformats.org/drawingml/2006/main">
              <a:ext uri="{FF2B5EF4-FFF2-40B4-BE49-F238E27FC236}">
                <a16:creationId xmlns:a16="http://schemas.microsoft.com/office/drawing/2014/main" id="{15B5E9F8-720C-475D-9CF0-D44373B4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4490" y="1238250"/>
            <a:ext cx="4552950" cy="3476625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1" name="text-120">
            <a:extLst xmlns:a="http://schemas.openxmlformats.org/drawingml/2006/main">
              <a:ext uri="{FF2B5EF4-FFF2-40B4-BE49-F238E27FC236}">
                <a16:creationId xmlns:a16="http://schemas.microsoft.com/office/drawing/2014/main" id="{93B9DACA-065E-4F61-AF0D-A332F3C3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290" y="1466850"/>
            <a:ext cx="3943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การเปลี่ยนแปลงสัมพัทธ์เทียบ Baseline</a:t>
            </a:r>
          </a:p>
        </p:txBody>
      </p:sp>
      <p:graphicFrame>
        <p:nvGraphicFramePr>
          <p:cNvPr id="42" name=""/>
          <p:cNvGraphicFramePr/>
          <p:nvPr/>
        </p:nvGraphicFramePr>
        <p:xfrm>
          <a:off xmlns:a="http://schemas.openxmlformats.org/drawingml/2006/main" x="9483090" y="1866900"/>
          <a:ext xmlns:a="http://schemas.openxmlformats.org/drawingml/2006/main" cx="4095750" cy="1571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95350"/>
                <a:gridCol w="1066800"/>
                <a:gridCol w="1066800"/>
                <a:gridCol w="1066800"/>
              </a:tblGrid>
              <a:tr h="39290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ระดับ</a:t>
                      </a:r>
                    </a:p>
                  </a:txBody>
                  <a:tcPr marL="28575" marR="28575" marT="57150" marB="57150" anchor="ctr">
                    <a:solidFill>
                      <a:srgbClr val="0F2D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ΔSC %</a:t>
                      </a:r>
                    </a:p>
                  </a:txBody>
                  <a:tcPr marL="28575" marR="28575" marT="57150" marB="57150" anchor="ctr">
                    <a:solidFill>
                      <a:srgbClr val="0F2D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ΔTTR %</a:t>
                      </a:r>
                    </a:p>
                  </a:txBody>
                  <a:tcPr marL="28575" marR="28575" marT="57150" marB="57150" anchor="ctr">
                    <a:solidFill>
                      <a:srgbClr val="0F2D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ΔTTA %</a:t>
                      </a:r>
                    </a:p>
                  </a:txBody>
                  <a:tcPr marL="28575" marR="28575" marT="57150" marB="57150" anchor="ctr">
                    <a:solidFill>
                      <a:srgbClr val="0F2D4A"/>
                    </a:solidFill>
                  </a:tcPr>
                </a:tc>
              </a:tr>
              <a:tr h="39290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+prep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0.0 ± 0.0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−0.6 ± 4.0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−1.0 ± 2.5</a:t>
                      </a:r>
                    </a:p>
                  </a:txBody>
                  <a:tcPr marL="28575" marR="28575" marT="57150" marB="57150" anchor="ctr"/>
                </a:tc>
              </a:tr>
              <a:tr h="39290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+cache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21.1 ± 29.8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−16.6 ± 1.3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−32.3 ± 8.9</a:t>
                      </a:r>
                    </a:p>
                  </a:txBody>
                  <a:tcPr marL="28575" marR="28575" marT="57150" marB="57150" anchor="ctr"/>
                </a:tc>
              </a:tr>
              <a:tr h="39290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+most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21.2 ± 29.9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−83.7 ± 2.1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−33.3 ± 9.6</a:t>
                      </a:r>
                    </a:p>
                  </a:txBody>
                  <a:tcPr marL="28575" marR="28575" marT="57150" marB="57150" anchor="ctr"/>
                </a:tc>
              </a:tr>
            </a:tbl>
          </a:graphicData>
        </a:graphic>
      </p:graphicFrame>
      <p:sp>
        <p:nvSpPr>
          <p:cNvPr id="13" name="text-121">
            <a:extLst xmlns:a="http://schemas.openxmlformats.org/drawingml/2006/main">
              <a:ext uri="{FF2B5EF4-FFF2-40B4-BE49-F238E27FC236}">
                <a16:creationId xmlns:a16="http://schemas.microsoft.com/office/drawing/2014/main" id="{D52D8B0A-65BA-41A4-84F5-5FC74C87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090" y="35814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05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Table 1: ค่าเฉลี่ยและส่วนเบี่ยงเบนมาตรฐาน (Mean ± σ) ข้ามทุกชุดทดสอบ</a:t>
            </a:r>
          </a:p>
        </p:txBody>
      </p:sp>
      <p:sp>
        <p:nvSpPr>
          <p:cNvPr id="14" name="text-122">
            <a:extLst xmlns:a="http://schemas.openxmlformats.org/drawingml/2006/main">
              <a:ext uri="{FF2B5EF4-FFF2-40B4-BE49-F238E27FC236}">
                <a16:creationId xmlns:a16="http://schemas.microsoft.com/office/drawing/2014/main" id="{11725552-216E-42C7-B101-05DB803D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090" y="38481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013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แถว +most คือชุดรวมทุกกลยุทธ์ (ในเนื้อหาเปเปอร์ใช้ชื่อ +prerender)</a:t>
            </a:r>
          </a:p>
        </p:txBody>
      </p:sp>
      <p:sp>
        <p:nvSpPr>
          <p:cNvPr id="15" name="shape-123">
            <a:extLst xmlns:a="http://schemas.openxmlformats.org/drawingml/2006/main">
              <a:ext uri="{FF2B5EF4-FFF2-40B4-BE49-F238E27FC236}">
                <a16:creationId xmlns:a16="http://schemas.microsoft.com/office/drawing/2014/main" id="{1BDFC885-5215-4FFF-8E8E-7AE2F896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76800"/>
            <a:ext cx="4124325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6" name="text-124">
            <a:extLst xmlns:a="http://schemas.openxmlformats.org/drawingml/2006/main">
              <a:ext uri="{FF2B5EF4-FFF2-40B4-BE49-F238E27FC236}">
                <a16:creationId xmlns:a16="http://schemas.microsoft.com/office/drawing/2014/main" id="{D2DBFF26-3207-4297-AEE6-153CBF9D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" y="50292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−83.7%</a:t>
            </a:r>
          </a:p>
        </p:txBody>
      </p:sp>
      <p:sp>
        <p:nvSpPr>
          <p:cNvPr id="17" name="text-125">
            <a:extLst xmlns:a="http://schemas.openxmlformats.org/drawingml/2006/main">
              <a:ext uri="{FF2B5EF4-FFF2-40B4-BE49-F238E27FC236}">
                <a16:creationId xmlns:a16="http://schemas.microsoft.com/office/drawing/2014/main" id="{DCE2F46B-00F9-4096-AC93-95C48C92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" y="5467350"/>
            <a:ext cx="3590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เวลาจนภาพปรากฏ (TTR)</a:t>
            </a:r>
          </a:p>
        </p:txBody>
      </p:sp>
      <p:sp>
        <p:nvSpPr>
          <p:cNvPr id="18" name="text-126">
            <a:extLst xmlns:a="http://schemas.openxmlformats.org/drawingml/2006/main">
              <a:ext uri="{FF2B5EF4-FFF2-40B4-BE49-F238E27FC236}">
                <a16:creationId xmlns:a16="http://schemas.microsoft.com/office/drawing/2014/main" id="{062307E6-B02D-4F91-B8B3-46EF4AF3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" y="57531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σ = 2.1% · ลด Perceived Latency ชัดเจน</a:t>
            </a:r>
          </a:p>
        </p:txBody>
      </p:sp>
      <p:sp>
        <p:nvSpPr>
          <p:cNvPr id="19" name="shape-127">
            <a:extLst xmlns:a="http://schemas.openxmlformats.org/drawingml/2006/main">
              <a:ext uri="{FF2B5EF4-FFF2-40B4-BE49-F238E27FC236}">
                <a16:creationId xmlns:a16="http://schemas.microsoft.com/office/drawing/2014/main" id="{7EEC013B-31AE-4D64-9854-167292BE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038" y="4876800"/>
            <a:ext cx="4124325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0" name="text-128">
            <a:extLst xmlns:a="http://schemas.openxmlformats.org/drawingml/2006/main">
              <a:ext uri="{FF2B5EF4-FFF2-40B4-BE49-F238E27FC236}">
                <a16:creationId xmlns:a16="http://schemas.microsoft.com/office/drawing/2014/main" id="{82FD6670-C872-4A5B-8D9C-87D05A99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738" y="50292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−33.3%</a:t>
            </a:r>
          </a:p>
        </p:txBody>
      </p:sp>
      <p:sp>
        <p:nvSpPr>
          <p:cNvPr id="21" name="text-129">
            <a:extLst xmlns:a="http://schemas.openxmlformats.org/drawingml/2006/main">
              <a:ext uri="{FF2B5EF4-FFF2-40B4-BE49-F238E27FC236}">
                <a16:creationId xmlns:a16="http://schemas.microsoft.com/office/drawing/2014/main" id="{70AEDD55-8BCF-4E17-BA59-9D763212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738" y="5467350"/>
            <a:ext cx="3590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เวลาพร้อมโต้ตอบ (TTA)</a:t>
            </a:r>
          </a:p>
        </p:txBody>
      </p:sp>
      <p:sp>
        <p:nvSpPr>
          <p:cNvPr id="22" name="text-130">
            <a:extLst xmlns:a="http://schemas.openxmlformats.org/drawingml/2006/main">
              <a:ext uri="{FF2B5EF4-FFF2-40B4-BE49-F238E27FC236}">
                <a16:creationId xmlns:a16="http://schemas.microsoft.com/office/drawing/2014/main" id="{1CED89B8-34C6-4D78-AEF5-7527886C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738" y="57531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σ = 9.6% · แคชช่วยตัดเวลาหลัก (−32.3%)</a:t>
            </a:r>
          </a:p>
        </p:txBody>
      </p:sp>
      <p:sp>
        <p:nvSpPr>
          <p:cNvPr id="23" name="shape-131">
            <a:extLst xmlns:a="http://schemas.openxmlformats.org/drawingml/2006/main">
              <a:ext uri="{FF2B5EF4-FFF2-40B4-BE49-F238E27FC236}">
                <a16:creationId xmlns:a16="http://schemas.microsoft.com/office/drawing/2014/main" id="{FBA73B2D-D7A6-4C6A-ABED-E1A6E410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3115" y="4876800"/>
            <a:ext cx="4124325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4" name="text-132">
            <a:extLst xmlns:a="http://schemas.openxmlformats.org/drawingml/2006/main">
              <a:ext uri="{FF2B5EF4-FFF2-40B4-BE49-F238E27FC236}">
                <a16:creationId xmlns:a16="http://schemas.microsoft.com/office/drawing/2014/main" id="{FB6EC715-77E5-4EDD-AFA1-CE8E8228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50292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+21.2%</a:t>
            </a:r>
          </a:p>
        </p:txBody>
      </p:sp>
      <p:sp>
        <p:nvSpPr>
          <p:cNvPr id="25" name="text-133">
            <a:extLst xmlns:a="http://schemas.openxmlformats.org/drawingml/2006/main">
              <a:ext uri="{FF2B5EF4-FFF2-40B4-BE49-F238E27FC236}">
                <a16:creationId xmlns:a16="http://schemas.microsoft.com/office/drawing/2014/main" id="{798121D1-4D3E-4F02-8086-AF416972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5467350"/>
            <a:ext cx="3590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พื้นที่จัดเก็บเพิ่มเติม (SC)</a:t>
            </a:r>
          </a:p>
        </p:txBody>
      </p:sp>
      <p:sp>
        <p:nvSpPr>
          <p:cNvPr id="26" name="text-134">
            <a:extLst xmlns:a="http://schemas.openxmlformats.org/drawingml/2006/main">
              <a:ext uri="{FF2B5EF4-FFF2-40B4-BE49-F238E27FC236}">
                <a16:creationId xmlns:a16="http://schemas.microsoft.com/office/drawing/2014/main" id="{9275559C-7F2C-4B74-BB9C-C337291A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57531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σ = 29.9% · แลกกับความเร็วในการโหลด</a:t>
            </a:r>
          </a:p>
        </p:txBody>
      </p:sp>
      <p:sp>
        <p:nvSpPr>
          <p:cNvPr id="27" name="shape-135">
            <a:extLst xmlns:a="http://schemas.openxmlformats.org/drawingml/2006/main">
              <a:ext uri="{FF2B5EF4-FFF2-40B4-BE49-F238E27FC236}">
                <a16:creationId xmlns:a16="http://schemas.microsoft.com/office/drawing/2014/main" id="{36C69DB8-A795-4A68-BEBA-1461FD45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553200"/>
            <a:ext cx="1298448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8" name="text-136">
            <a:extLst xmlns:a="http://schemas.openxmlformats.org/drawingml/2006/main">
              <a:ext uri="{FF2B5EF4-FFF2-40B4-BE49-F238E27FC236}">
                <a16:creationId xmlns:a16="http://schemas.microsoft.com/office/drawing/2014/main" id="{3F4DE4C2-459D-4514-BC90-AE399AA3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29400"/>
            <a:ext cx="1253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สภาพแวดล้อม: MacBook Pro (M1 Pro, RAM 16 GB), Node 22.9, Local Server, DuckDB-WASM</a:t>
            </a:r>
          </a:p>
        </p:txBody>
      </p:sp>
      <p:sp>
        <p:nvSpPr>
          <p:cNvPr id="29" name="text-137">
            <a:extLst xmlns:a="http://schemas.openxmlformats.org/drawingml/2006/main">
              <a:ext uri="{FF2B5EF4-FFF2-40B4-BE49-F238E27FC236}">
                <a16:creationId xmlns:a16="http://schemas.microsoft.com/office/drawing/2014/main" id="{3813F9F4-3034-4219-8D46-6AB2F428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858000"/>
            <a:ext cx="1253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ผลต่างการลด TTA: 33.3 − 32.3 = 1.0 จุดเปอร์เซ็นต์ เมื่อใช้ Baseline เดียวกัน</a:t>
            </a:r>
          </a:p>
        </p:txBody>
      </p:sp>
      <p:sp>
        <p:nvSpPr>
          <p:cNvPr id="30" name="text-138">
            <a:extLst xmlns:a="http://schemas.openxmlformats.org/drawingml/2006/main">
              <a:ext uri="{FF2B5EF4-FFF2-40B4-BE49-F238E27FC236}">
                <a16:creationId xmlns:a16="http://schemas.microsoft.com/office/drawing/2014/main" id="{83A85E71-80D6-4208-8D25-3B7E934B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Figure 3 และ Table 1 (หน้า PDF 4) · ค่าเฉลี่ยข้าม 5 รูปแบบภาพและขนาดข้อมูล 10k–10M แถว</a:t>
            </a:r>
          </a:p>
        </p:txBody>
      </p:sp>
    </p:spTree>
    <p:extLst>
      <p:ext uri="{BB962C8B-B14F-4D97-AF65-F5344CB8AC3E}">
        <p14:creationId xmlns:p14="http://schemas.microsoft.com/office/powerpoint/2010/main" val="17534800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hape-139">
            <a:extLst xmlns:a="http://schemas.openxmlformats.org/drawingml/2006/main">
              <a:ext uri="{FF2B5EF4-FFF2-40B4-BE49-F238E27FC236}">
                <a16:creationId xmlns:a16="http://schemas.microsoft.com/office/drawing/2014/main" id="{7ABBB363-FA6D-4424-9CCF-FE40DC59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140">
            <a:extLst xmlns:a="http://schemas.openxmlformats.org/drawingml/2006/main">
              <a:ext uri="{FF2B5EF4-FFF2-40B4-BE49-F238E27FC236}">
                <a16:creationId xmlns:a16="http://schemas.microsoft.com/office/drawing/2014/main" id="{78595C55-8D96-4134-9CF1-ADEA5DEA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ผลงานหลักและข้อจำกัดของบทความ</a:t>
            </a:r>
          </a:p>
        </p:txBody>
      </p:sp>
      <p:sp>
        <p:nvSpPr>
          <p:cNvPr id="3" name="shape-141">
            <a:extLst xmlns:a="http://schemas.openxmlformats.org/drawingml/2006/main">
              <a:ext uri="{FF2B5EF4-FFF2-40B4-BE49-F238E27FC236}">
                <a16:creationId xmlns:a16="http://schemas.microsoft.com/office/drawing/2014/main" id="{D0C1D8F7-402E-41F1-BA72-8E936EAB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142">
            <a:extLst xmlns:a="http://schemas.openxmlformats.org/drawingml/2006/main">
              <a:ext uri="{FF2B5EF4-FFF2-40B4-BE49-F238E27FC236}">
                <a16:creationId xmlns:a16="http://schemas.microsoft.com/office/drawing/2014/main" id="{7CE6D14E-E7BE-4641-85F7-AED6A05D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143">
            <a:extLst xmlns:a="http://schemas.openxmlformats.org/drawingml/2006/main">
              <a:ext uri="{FF2B5EF4-FFF2-40B4-BE49-F238E27FC236}">
                <a16:creationId xmlns:a16="http://schemas.microsoft.com/office/drawing/2014/main" id="{24B204D5-C6FE-433C-A7DF-9C823234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6</a:t>
            </a:r>
          </a:p>
        </p:txBody>
      </p:sp>
      <p:sp>
        <p:nvSpPr>
          <p:cNvPr id="6" name="shape-144">
            <a:extLst xmlns:a="http://schemas.openxmlformats.org/drawingml/2006/main">
              <a:ext uri="{FF2B5EF4-FFF2-40B4-BE49-F238E27FC236}">
                <a16:creationId xmlns:a16="http://schemas.microsoft.com/office/drawing/2014/main" id="{C778B75A-B3E2-4CF4-8CD2-2640774B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6324600" cy="59531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145">
            <a:extLst xmlns:a="http://schemas.openxmlformats.org/drawingml/2006/main">
              <a:ext uri="{FF2B5EF4-FFF2-40B4-BE49-F238E27FC236}">
                <a16:creationId xmlns:a16="http://schemas.microsoft.com/office/drawing/2014/main" id="{75912D33-8AAF-4F7A-98B2-A7F4B74B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ผลงานหลักของบทความ</a:t>
            </a:r>
          </a:p>
        </p:txBody>
      </p:sp>
      <p:sp>
        <p:nvSpPr>
          <p:cNvPr id="8" name="text-146">
            <a:extLst xmlns:a="http://schemas.openxmlformats.org/drawingml/2006/main">
              <a:ext uri="{FF2B5EF4-FFF2-40B4-BE49-F238E27FC236}">
                <a16:creationId xmlns:a16="http://schemas.microsoft.com/office/drawing/2014/main" id="{D686B764-2D60-4EB3-BBA8-8FEF9BEB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9" name="text-147">
            <a:extLst xmlns:a="http://schemas.openxmlformats.org/drawingml/2006/main">
              <a:ext uri="{FF2B5EF4-FFF2-40B4-BE49-F238E27FC236}">
                <a16:creationId xmlns:a16="http://schemas.microsoft.com/office/drawing/2014/main" id="{93092CCC-4F46-4C04-8E1E-B11EDB07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0383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กลไกช่วงเผยแพร่ที่ใช้กับระบบจริง</a:t>
            </a:r>
          </a:p>
        </p:txBody>
      </p:sp>
      <p:sp>
        <p:nvSpPr>
          <p:cNvPr id="10" name="text-148">
            <a:extLst xmlns:a="http://schemas.openxmlformats.org/drawingml/2006/main">
              <a:ext uri="{FF2B5EF4-FFF2-40B4-BE49-F238E27FC236}">
                <a16:creationId xmlns:a16="http://schemas.microsoft.com/office/drawing/2014/main" id="{C410598D-8A8F-4BB3-8548-E5F316F4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3812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เตรียมข้อมูล ผลคิวรี และภาพเริ่มต้นผ่าน Mosaic Publisher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ใช้ตัวกลางคิวรีร่วมกับการแก้ข้อกำหนดเฉพาะจุด</a:t>
            </a:r>
          </a:p>
        </p:txBody>
      </p:sp>
      <p:sp>
        <p:nvSpPr>
          <p:cNvPr id="11" name="shape-149">
            <a:extLst xmlns:a="http://schemas.openxmlformats.org/drawingml/2006/main">
              <a:ext uri="{FF2B5EF4-FFF2-40B4-BE49-F238E27FC236}">
                <a16:creationId xmlns:a16="http://schemas.microsoft.com/office/drawing/2014/main" id="{37AC0DE9-D235-48DC-AC97-20714123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60997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2" name="text-150">
            <a:extLst xmlns:a="http://schemas.openxmlformats.org/drawingml/2006/main">
              <a:ext uri="{FF2B5EF4-FFF2-40B4-BE49-F238E27FC236}">
                <a16:creationId xmlns:a16="http://schemas.microsoft.com/office/drawing/2014/main" id="{1D0423FC-A419-45B6-8C3B-85A2036C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13" name="text-151">
            <a:extLst xmlns:a="http://schemas.openxmlformats.org/drawingml/2006/main">
              <a:ext uri="{FF2B5EF4-FFF2-40B4-BE49-F238E27FC236}">
                <a16:creationId xmlns:a16="http://schemas.microsoft.com/office/drawing/2014/main" id="{AEFE6792-C509-4E59-A9BC-D5F87F71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38100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กรอบประเมิน TTR / TTA / SC</a:t>
            </a:r>
          </a:p>
        </p:txBody>
      </p:sp>
      <p:sp>
        <p:nvSpPr>
          <p:cNvPr id="14" name="text-152">
            <a:extLst xmlns:a="http://schemas.openxmlformats.org/drawingml/2006/main">
              <a:ext uri="{FF2B5EF4-FFF2-40B4-BE49-F238E27FC236}">
                <a16:creationId xmlns:a16="http://schemas.microsoft.com/office/drawing/2014/main" id="{AF75BFEB-DD46-48FE-9AAE-750683D6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415290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แยกเวลาจนภาพครบจากเวลาพร้อมรับอินพุต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พร้อมรายงานต้นทุนพื้นที่ที่เพิ่มขึ้น</a:t>
            </a:r>
          </a:p>
        </p:txBody>
      </p:sp>
      <p:sp>
        <p:nvSpPr>
          <p:cNvPr id="15" name="shape-153">
            <a:extLst xmlns:a="http://schemas.openxmlformats.org/drawingml/2006/main">
              <a:ext uri="{FF2B5EF4-FFF2-40B4-BE49-F238E27FC236}">
                <a16:creationId xmlns:a16="http://schemas.microsoft.com/office/drawing/2014/main" id="{A626B45E-9F31-44CD-B0D4-D3EF3EA1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3816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6" name="text-154">
            <a:extLst xmlns:a="http://schemas.openxmlformats.org/drawingml/2006/main">
              <a:ext uri="{FF2B5EF4-FFF2-40B4-BE49-F238E27FC236}">
                <a16:creationId xmlns:a16="http://schemas.microsoft.com/office/drawing/2014/main" id="{C170A5FE-C062-4558-AE3E-F0374D08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17" name="text-155">
            <a:extLst xmlns:a="http://schemas.openxmlformats.org/drawingml/2006/main">
              <a:ext uri="{FF2B5EF4-FFF2-40B4-BE49-F238E27FC236}">
                <a16:creationId xmlns:a16="http://schemas.microsoft.com/office/drawing/2014/main" id="{2020AA6F-3BB4-4290-9AE5-83F4B1DD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55816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ทดสอบแบบเพิ่มระดับการปรับปรุง</a:t>
            </a:r>
          </a:p>
        </p:txBody>
      </p:sp>
      <p:sp>
        <p:nvSpPr>
          <p:cNvPr id="18" name="text-156">
            <a:extLst xmlns:a="http://schemas.openxmlformats.org/drawingml/2006/main">
              <a:ext uri="{FF2B5EF4-FFF2-40B4-BE49-F238E27FC236}">
                <a16:creationId xmlns:a16="http://schemas.microsoft.com/office/drawing/2014/main" id="{F135DA1C-2A35-472A-8EC7-454B5896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59245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ภาพข้อมูล 5 รูปแบบ ที่ข้อมูล 10k–10M แถว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ทำให้เห็นว่าแคชกับภาพล่วงหน้าช่วยคนละช่วง</a:t>
            </a:r>
          </a:p>
        </p:txBody>
      </p:sp>
      <p:sp>
        <p:nvSpPr>
          <p:cNvPr id="19" name="shape-157">
            <a:extLst xmlns:a="http://schemas.openxmlformats.org/drawingml/2006/main">
              <a:ext uri="{FF2B5EF4-FFF2-40B4-BE49-F238E27FC236}">
                <a16:creationId xmlns:a16="http://schemas.microsoft.com/office/drawing/2014/main" id="{9FE8896A-A0DC-40F7-BDC4-ADABC782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238250"/>
            <a:ext cx="6324600" cy="59531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0" name="text-158">
            <a:extLst xmlns:a="http://schemas.openxmlformats.org/drawingml/2006/main">
              <a:ext uri="{FF2B5EF4-FFF2-40B4-BE49-F238E27FC236}">
                <a16:creationId xmlns:a16="http://schemas.microsoft.com/office/drawing/2014/main" id="{C8E67C94-C7A9-437A-B7F5-54C1C5BD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ข้อจำกัดจากการอ่าน</a:t>
            </a:r>
          </a:p>
        </p:txBody>
      </p:sp>
      <p:sp>
        <p:nvSpPr>
          <p:cNvPr id="21" name="text-159">
            <a:extLst xmlns:a="http://schemas.openxmlformats.org/drawingml/2006/main">
              <a:ext uri="{FF2B5EF4-FFF2-40B4-BE49-F238E27FC236}">
                <a16:creationId xmlns:a16="http://schemas.microsoft.com/office/drawing/2014/main" id="{A77162C9-2F86-4AC0-9043-5DC4505B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22" name="text-160">
            <a:extLst xmlns:a="http://schemas.openxmlformats.org/drawingml/2006/main">
              <a:ext uri="{FF2B5EF4-FFF2-40B4-BE49-F238E27FC236}">
                <a16:creationId xmlns:a16="http://schemas.microsoft.com/office/drawing/2014/main" id="{B0142A57-8941-43EC-826B-6D35D114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20383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สภาพแวดล้อมการทดสอบจำกัด</a:t>
            </a:r>
          </a:p>
        </p:txBody>
      </p:sp>
      <p:sp>
        <p:nvSpPr>
          <p:cNvPr id="23" name="text-161">
            <a:extLst xmlns:a="http://schemas.openxmlformats.org/drawingml/2006/main">
              <a:ext uri="{FF2B5EF4-FFF2-40B4-BE49-F238E27FC236}">
                <a16:creationId xmlns:a16="http://schemas.microsoft.com/office/drawing/2014/main" id="{F3652D67-4421-4127-8A46-9D4F8154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23812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MacBook Pro M1 Pro และ Local Server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ยังไม่ได้ประเมินมือถือหรือเครือข่ายระยะไกล</a:t>
            </a:r>
          </a:p>
        </p:txBody>
      </p:sp>
      <p:sp>
        <p:nvSpPr>
          <p:cNvPr id="24" name="shape-162">
            <a:extLst xmlns:a="http://schemas.openxmlformats.org/drawingml/2006/main">
              <a:ext uri="{FF2B5EF4-FFF2-40B4-BE49-F238E27FC236}">
                <a16:creationId xmlns:a16="http://schemas.microsoft.com/office/drawing/2014/main" id="{50DE1F82-E23F-424A-8832-D9C2F442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60997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5" name="text-163">
            <a:extLst xmlns:a="http://schemas.openxmlformats.org/drawingml/2006/main">
              <a:ext uri="{FF2B5EF4-FFF2-40B4-BE49-F238E27FC236}">
                <a16:creationId xmlns:a16="http://schemas.microsoft.com/office/drawing/2014/main" id="{FE51FAEC-92A4-4350-BB54-DC0EB5AB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26" name="text-164">
            <a:extLst xmlns:a="http://schemas.openxmlformats.org/drawingml/2006/main">
              <a:ext uri="{FF2B5EF4-FFF2-40B4-BE49-F238E27FC236}">
                <a16:creationId xmlns:a16="http://schemas.microsoft.com/office/drawing/2014/main" id="{BDB67C87-E99A-4D39-84C3-86A3860B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38100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ต้นทุน Hydration และพื้นที่</a:t>
            </a:r>
          </a:p>
        </p:txBody>
      </p:sp>
      <p:sp>
        <p:nvSpPr>
          <p:cNvPr id="27" name="text-165">
            <a:extLst xmlns:a="http://schemas.openxmlformats.org/drawingml/2006/main">
              <a:ext uri="{FF2B5EF4-FFF2-40B4-BE49-F238E27FC236}">
                <a16:creationId xmlns:a16="http://schemas.microsoft.com/office/drawing/2014/main" id="{E787B909-9BE0-4806-83CA-1D013A20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415290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ยังเริ่มคอมโพเนนต์ฝั่งไคลเอนต์ตามปกติ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SC เพิ่มเฉลี่ย 21.2% แต่ σ สูงถึง 29.9%</a:t>
            </a:r>
          </a:p>
        </p:txBody>
      </p:sp>
      <p:sp>
        <p:nvSpPr>
          <p:cNvPr id="28" name="shape-166">
            <a:extLst xmlns:a="http://schemas.openxmlformats.org/drawingml/2006/main">
              <a:ext uri="{FF2B5EF4-FFF2-40B4-BE49-F238E27FC236}">
                <a16:creationId xmlns:a16="http://schemas.microsoft.com/office/drawing/2014/main" id="{82E11589-A904-4897-945F-D1E5FAF6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3816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9" name="text-167">
            <a:extLst xmlns:a="http://schemas.openxmlformats.org/drawingml/2006/main">
              <a:ext uri="{FF2B5EF4-FFF2-40B4-BE49-F238E27FC236}">
                <a16:creationId xmlns:a16="http://schemas.microsoft.com/office/drawing/2014/main" id="{3F237297-6960-4B2C-A819-F120673F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0" name="text-168">
            <a:extLst xmlns:a="http://schemas.openxmlformats.org/drawingml/2006/main">
              <a:ext uri="{FF2B5EF4-FFF2-40B4-BE49-F238E27FC236}">
                <a16:creationId xmlns:a16="http://schemas.microsoft.com/office/drawing/2014/main" id="{501C25E8-16D6-45CE-A76A-34E86C89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55816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ความสดและการรายงานการทดลอง</a:t>
            </a:r>
          </a:p>
        </p:txBody>
      </p:sp>
      <p:sp>
        <p:nvSpPr>
          <p:cNvPr id="31" name="text-169">
            <a:extLst xmlns:a="http://schemas.openxmlformats.org/drawingml/2006/main">
              <a:ext uri="{FF2B5EF4-FFF2-40B4-BE49-F238E27FC236}">
                <a16:creationId xmlns:a16="http://schemas.microsoft.com/office/drawing/2014/main" id="{79096250-1918-4AA9-988F-752EF4DF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59245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ข้อมูลเปลี่ยนต้องสร้างทรัพยากรใหม่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PDF ไม่ระบุจำนวนรอบทดลองซ้ำ</a:t>
            </a:r>
          </a:p>
        </p:txBody>
      </p:sp>
      <p:sp>
        <p:nvSpPr>
          <p:cNvPr id="32" name="text-170">
            <a:extLst xmlns:a="http://schemas.openxmlformats.org/drawingml/2006/main">
              <a:ext uri="{FF2B5EF4-FFF2-40B4-BE49-F238E27FC236}">
                <a16:creationId xmlns:a16="http://schemas.microsoft.com/office/drawing/2014/main" id="{EF62FBB2-F2D9-4A28-BD2F-6E256454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Sections 3–5 (หน้า PDF 2–4) · ข้อจำกัดสังเคราะห์จากขอบเขตหลักฐาน</a:t>
            </a:r>
          </a:p>
        </p:txBody>
      </p:sp>
    </p:spTree>
    <p:extLst>
      <p:ext uri="{BB962C8B-B14F-4D97-AF65-F5344CB8AC3E}">
        <p14:creationId xmlns:p14="http://schemas.microsoft.com/office/powerpoint/2010/main" val="11031429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hape-171">
            <a:extLst xmlns:a="http://schemas.openxmlformats.org/drawingml/2006/main">
              <a:ext uri="{FF2B5EF4-FFF2-40B4-BE49-F238E27FC236}">
                <a16:creationId xmlns:a16="http://schemas.microsoft.com/office/drawing/2014/main" id="{9D872E46-E09E-4EB0-AC1F-448719A9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172">
            <a:extLst xmlns:a="http://schemas.openxmlformats.org/drawingml/2006/main">
              <a:ext uri="{FF2B5EF4-FFF2-40B4-BE49-F238E27FC236}">
                <a16:creationId xmlns:a16="http://schemas.microsoft.com/office/drawing/2014/main" id="{12721488-724A-4DCF-A959-7D58187B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ข้อสรุปและแนวทางวิจัยต่อ</a:t>
            </a:r>
          </a:p>
        </p:txBody>
      </p:sp>
      <p:sp>
        <p:nvSpPr>
          <p:cNvPr id="3" name="shape-173">
            <a:extLst xmlns:a="http://schemas.openxmlformats.org/drawingml/2006/main">
              <a:ext uri="{FF2B5EF4-FFF2-40B4-BE49-F238E27FC236}">
                <a16:creationId xmlns:a16="http://schemas.microsoft.com/office/drawing/2014/main" id="{8B3F1B3C-BF14-40AD-95F9-349343B9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174">
            <a:extLst xmlns:a="http://schemas.openxmlformats.org/drawingml/2006/main">
              <a:ext uri="{FF2B5EF4-FFF2-40B4-BE49-F238E27FC236}">
                <a16:creationId xmlns:a16="http://schemas.microsoft.com/office/drawing/2014/main" id="{97A430C8-8014-4447-BF56-3F4EC34C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175">
            <a:extLst xmlns:a="http://schemas.openxmlformats.org/drawingml/2006/main">
              <a:ext uri="{FF2B5EF4-FFF2-40B4-BE49-F238E27FC236}">
                <a16:creationId xmlns:a16="http://schemas.microsoft.com/office/drawing/2014/main" id="{73BEB13F-5B98-44BB-A816-0A0FBBC4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7</a:t>
            </a:r>
          </a:p>
        </p:txBody>
      </p:sp>
      <p:sp>
        <p:nvSpPr>
          <p:cNvPr id="6" name="shape-176">
            <a:extLst xmlns:a="http://schemas.openxmlformats.org/drawingml/2006/main">
              <a:ext uri="{FF2B5EF4-FFF2-40B4-BE49-F238E27FC236}">
                <a16:creationId xmlns:a16="http://schemas.microsoft.com/office/drawing/2014/main" id="{43C5D854-DE5A-4516-A75D-98E9F9A4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6324600" cy="59531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177">
            <a:extLst xmlns:a="http://schemas.openxmlformats.org/drawingml/2006/main">
              <a:ext uri="{FF2B5EF4-FFF2-40B4-BE49-F238E27FC236}">
                <a16:creationId xmlns:a16="http://schemas.microsoft.com/office/drawing/2014/main" id="{5B9934B8-0E69-4B58-A9A5-0DBDBCB2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ข้อสรุปจากการอ่าน</a:t>
            </a:r>
          </a:p>
        </p:txBody>
      </p:sp>
      <p:sp>
        <p:nvSpPr>
          <p:cNvPr id="8" name="text-178">
            <a:extLst xmlns:a="http://schemas.openxmlformats.org/drawingml/2006/main">
              <a:ext uri="{FF2B5EF4-FFF2-40B4-BE49-F238E27FC236}">
                <a16:creationId xmlns:a16="http://schemas.microsoft.com/office/drawing/2014/main" id="{65332D43-A961-4EDA-ABB0-9DCB36D3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9" name="text-179">
            <a:extLst xmlns:a="http://schemas.openxmlformats.org/drawingml/2006/main">
              <a:ext uri="{FF2B5EF4-FFF2-40B4-BE49-F238E27FC236}">
                <a16:creationId xmlns:a16="http://schemas.microsoft.com/office/drawing/2014/main" id="{B4620535-5017-4AC0-AA16-436AD5A5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0383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แคชลดงานก่อนพร้อมโต้ตอบ</a:t>
            </a:r>
          </a:p>
        </p:txBody>
      </p:sp>
      <p:sp>
        <p:nvSpPr>
          <p:cNvPr id="10" name="text-180">
            <a:extLst xmlns:a="http://schemas.openxmlformats.org/drawingml/2006/main">
              <a:ext uri="{FF2B5EF4-FFF2-40B4-BE49-F238E27FC236}">
                <a16:creationId xmlns:a16="http://schemas.microsoft.com/office/drawing/2014/main" id="{1DCD0DD7-FC9E-4205-AA62-BDAFFEAF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3812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+cache ลด TTA เฉลี่ย 32.3% เทียบ none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เป็นส่วนหลักของการลด TTA ในชุดทดสอบ</a:t>
            </a:r>
          </a:p>
        </p:txBody>
      </p:sp>
      <p:sp>
        <p:nvSpPr>
          <p:cNvPr id="11" name="shape-181">
            <a:extLst xmlns:a="http://schemas.openxmlformats.org/drawingml/2006/main">
              <a:ext uri="{FF2B5EF4-FFF2-40B4-BE49-F238E27FC236}">
                <a16:creationId xmlns:a16="http://schemas.microsoft.com/office/drawing/2014/main" id="{3A0C86D6-1A1B-4FA1-A24C-DC99B9E8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60997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2" name="text-182">
            <a:extLst xmlns:a="http://schemas.openxmlformats.org/drawingml/2006/main">
              <a:ext uri="{FF2B5EF4-FFF2-40B4-BE49-F238E27FC236}">
                <a16:creationId xmlns:a16="http://schemas.microsoft.com/office/drawing/2014/main" id="{75F1C94A-8183-45C5-B56B-35AC58F3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13" name="text-183">
            <a:extLst xmlns:a="http://schemas.openxmlformats.org/drawingml/2006/main">
              <a:ext uri="{FF2B5EF4-FFF2-40B4-BE49-F238E27FC236}">
                <a16:creationId xmlns:a16="http://schemas.microsoft.com/office/drawing/2014/main" id="{ADD2F5FB-D1E8-43F9-B0C3-B9C1E4EF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38100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ภาพล่วงหน้าลดเวลารอเห็นภาพ</a:t>
            </a:r>
          </a:p>
        </p:txBody>
      </p:sp>
      <p:sp>
        <p:nvSpPr>
          <p:cNvPr id="14" name="text-184">
            <a:extLst xmlns:a="http://schemas.openxmlformats.org/drawingml/2006/main">
              <a:ext uri="{FF2B5EF4-FFF2-40B4-BE49-F238E27FC236}">
                <a16:creationId xmlns:a16="http://schemas.microsoft.com/office/drawing/2014/main" id="{DB971CC3-ED1B-4781-ADE8-F1FA5C91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415290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ชุดรวมลด TTR 83.7% และ TTA 33.3%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ภาพมาเร็ว แต่ยังเหลือต้นทุน Hydration</a:t>
            </a:r>
          </a:p>
        </p:txBody>
      </p:sp>
      <p:sp>
        <p:nvSpPr>
          <p:cNvPr id="15" name="shape-185">
            <a:extLst xmlns:a="http://schemas.openxmlformats.org/drawingml/2006/main">
              <a:ext uri="{FF2B5EF4-FFF2-40B4-BE49-F238E27FC236}">
                <a16:creationId xmlns:a16="http://schemas.microsoft.com/office/drawing/2014/main" id="{A36AC521-FC41-4531-A707-F4326A9C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3816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6" name="text-186">
            <a:extLst xmlns:a="http://schemas.openxmlformats.org/drawingml/2006/main">
              <a:ext uri="{FF2B5EF4-FFF2-40B4-BE49-F238E27FC236}">
                <a16:creationId xmlns:a16="http://schemas.microsoft.com/office/drawing/2014/main" id="{7B7B7190-7404-423B-AC46-357AD01B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17" name="text-187">
            <a:extLst xmlns:a="http://schemas.openxmlformats.org/drawingml/2006/main">
              <a:ext uri="{FF2B5EF4-FFF2-40B4-BE49-F238E27FC236}">
                <a16:creationId xmlns:a16="http://schemas.microsoft.com/office/drawing/2014/main" id="{8E37DDBE-3409-490E-97BB-9372539E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55816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ผลด้านความเร็วมีต้นทุนพื้นที่</a:t>
            </a:r>
          </a:p>
        </p:txBody>
      </p:sp>
      <p:sp>
        <p:nvSpPr>
          <p:cNvPr id="18" name="text-188">
            <a:extLst xmlns:a="http://schemas.openxmlformats.org/drawingml/2006/main">
              <a:ext uri="{FF2B5EF4-FFF2-40B4-BE49-F238E27FC236}">
                <a16:creationId xmlns:a16="http://schemas.microsoft.com/office/drawing/2014/main" id="{4B85E451-3942-4A66-945A-768846E3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59245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ชุดรวมเพิ่ม SC เฉลี่ย 21.2% ± 29.9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ประโยชน์ต้องพิจารณาตามเงื่อนไขของระบบ</a:t>
            </a:r>
          </a:p>
        </p:txBody>
      </p:sp>
      <p:sp>
        <p:nvSpPr>
          <p:cNvPr id="19" name="shape-189">
            <a:extLst xmlns:a="http://schemas.openxmlformats.org/drawingml/2006/main">
              <a:ext uri="{FF2B5EF4-FFF2-40B4-BE49-F238E27FC236}">
                <a16:creationId xmlns:a16="http://schemas.microsoft.com/office/drawing/2014/main" id="{303FD0E8-B6CF-44E3-BF84-90D516B2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238250"/>
            <a:ext cx="6324600" cy="59531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0" name="text-190">
            <a:extLst xmlns:a="http://schemas.openxmlformats.org/drawingml/2006/main">
              <a:ext uri="{FF2B5EF4-FFF2-40B4-BE49-F238E27FC236}">
                <a16:creationId xmlns:a16="http://schemas.microsoft.com/office/drawing/2014/main" id="{4DBCD417-04ED-4F0B-BF67-5C008021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แนวทางที่ทีมวิจัยเสนอ</a:t>
            </a:r>
          </a:p>
        </p:txBody>
      </p:sp>
      <p:sp>
        <p:nvSpPr>
          <p:cNvPr id="21" name="text-191">
            <a:extLst xmlns:a="http://schemas.openxmlformats.org/drawingml/2006/main">
              <a:ext uri="{FF2B5EF4-FFF2-40B4-BE49-F238E27FC236}">
                <a16:creationId xmlns:a16="http://schemas.microsoft.com/office/drawing/2014/main" id="{5515DB92-3ABF-4E11-8ADB-3245E1D5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22" name="text-192">
            <a:extLst xmlns:a="http://schemas.openxmlformats.org/drawingml/2006/main">
              <a:ext uri="{FF2B5EF4-FFF2-40B4-BE49-F238E27FC236}">
                <a16:creationId xmlns:a16="http://schemas.microsoft.com/office/drawing/2014/main" id="{9F634E85-9EC7-43AC-8842-786C6C25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20383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Hydration ที่ละเอียดขึ้น</a:t>
            </a:r>
          </a:p>
        </p:txBody>
      </p:sp>
      <p:sp>
        <p:nvSpPr>
          <p:cNvPr id="23" name="text-193">
            <a:extLst xmlns:a="http://schemas.openxmlformats.org/drawingml/2006/main">
              <a:ext uri="{FF2B5EF4-FFF2-40B4-BE49-F238E27FC236}">
                <a16:creationId xmlns:a16="http://schemas.microsoft.com/office/drawing/2014/main" id="{02E556F1-C67A-4D48-9F31-F1A85F4F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23812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ลดงานเริ่มคอมโพเนนต์ฝั่งไคลเอนต์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เพื่อลดต้นทุนที่ยังใกล้การเรนเดอร์เต็มชุด (§5)</a:t>
            </a:r>
          </a:p>
        </p:txBody>
      </p:sp>
      <p:sp>
        <p:nvSpPr>
          <p:cNvPr id="24" name="shape-194">
            <a:extLst xmlns:a="http://schemas.openxmlformats.org/drawingml/2006/main">
              <a:ext uri="{FF2B5EF4-FFF2-40B4-BE49-F238E27FC236}">
                <a16:creationId xmlns:a16="http://schemas.microsoft.com/office/drawing/2014/main" id="{CAEE5320-BB2A-4F12-A6A9-ABE3BD1C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60997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5" name="text-195">
            <a:extLst xmlns:a="http://schemas.openxmlformats.org/drawingml/2006/main">
              <a:ext uri="{FF2B5EF4-FFF2-40B4-BE49-F238E27FC236}">
                <a16:creationId xmlns:a16="http://schemas.microsoft.com/office/drawing/2014/main" id="{9CE0E0A7-99F6-4DE7-A561-44A4E2B5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26" name="text-196">
            <a:extLst xmlns:a="http://schemas.openxmlformats.org/drawingml/2006/main">
              <a:ext uri="{FF2B5EF4-FFF2-40B4-BE49-F238E27FC236}">
                <a16:creationId xmlns:a16="http://schemas.microsoft.com/office/drawing/2014/main" id="{5DA5361B-1271-4241-9E2D-BEF7F246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38100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Hybrid และ Incremental Regeneration</a:t>
            </a:r>
          </a:p>
        </p:txBody>
      </p:sp>
      <p:sp>
        <p:nvSpPr>
          <p:cNvPr id="27" name="text-197">
            <a:extLst xmlns:a="http://schemas.openxmlformats.org/drawingml/2006/main">
              <a:ext uri="{FF2B5EF4-FFF2-40B4-BE49-F238E27FC236}">
                <a16:creationId xmlns:a16="http://schemas.microsoft.com/office/drawing/2014/main" id="{F5B2E870-8F1B-4FBA-8DD3-6E0B9590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415290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ผสานการปรับปรุงช่วงเผยแพร่กับรันไทม์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และสร้างทรัพยากรใหม่เฉพาะส่วน (§6)</a:t>
            </a:r>
          </a:p>
        </p:txBody>
      </p:sp>
      <p:sp>
        <p:nvSpPr>
          <p:cNvPr id="28" name="shape-198">
            <a:extLst xmlns:a="http://schemas.openxmlformats.org/drawingml/2006/main">
              <a:ext uri="{FF2B5EF4-FFF2-40B4-BE49-F238E27FC236}">
                <a16:creationId xmlns:a16="http://schemas.microsoft.com/office/drawing/2014/main" id="{3064A32E-EB65-4A79-852A-184975E2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3816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9" name="text-199">
            <a:extLst xmlns:a="http://schemas.openxmlformats.org/drawingml/2006/main">
              <a:ext uri="{FF2B5EF4-FFF2-40B4-BE49-F238E27FC236}">
                <a16:creationId xmlns:a16="http://schemas.microsoft.com/office/drawing/2014/main" id="{278691C7-0698-48B5-A297-4243B6F5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0" name="text-200">
            <a:extLst xmlns:a="http://schemas.openxmlformats.org/drawingml/2006/main">
              <a:ext uri="{FF2B5EF4-FFF2-40B4-BE49-F238E27FC236}">
                <a16:creationId xmlns:a16="http://schemas.microsoft.com/office/drawing/2014/main" id="{C2148D51-8F8D-464F-B274-C017ABE2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55816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เลือกการตั้งค่าโดยอัตโนมัติ</a:t>
            </a:r>
          </a:p>
        </p:txBody>
      </p:sp>
      <p:sp>
        <p:nvSpPr>
          <p:cNvPr id="31" name="text-201">
            <a:extLst xmlns:a="http://schemas.openxmlformats.org/drawingml/2006/main">
              <a:ext uri="{FF2B5EF4-FFF2-40B4-BE49-F238E27FC236}">
                <a16:creationId xmlns:a16="http://schemas.microsoft.com/office/drawing/2014/main" id="{9DAE9FCF-6E07-45A8-9172-7E9F2641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59245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พัฒนาวิธีเลือกระดับการปรับปรุงจากข้อมูล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และข้อกำหนดภาพ แนวทางนี้ยังไม่ได้ทดลอง (§6)</a:t>
            </a:r>
          </a:p>
        </p:txBody>
      </p:sp>
      <p:sp>
        <p:nvSpPr>
          <p:cNvPr id="32" name="text-202">
            <a:extLst xmlns:a="http://schemas.openxmlformats.org/drawingml/2006/main">
              <a:ext uri="{FF2B5EF4-FFF2-40B4-BE49-F238E27FC236}">
                <a16:creationId xmlns:a16="http://schemas.microsoft.com/office/drawing/2014/main" id="{8A1BCAB2-835F-424F-93CD-F53C1739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ซ้าย Table 1 / Figure 4 · ขวา Sections 5–6 (หน้า PDF 4) · แนวทางวิจัยต่อยังไม่ได้ประเมิน</a:t>
            </a:r>
          </a:p>
        </p:txBody>
      </p:sp>
    </p:spTree>
    <p:extLst>
      <p:ext uri="{BB962C8B-B14F-4D97-AF65-F5344CB8AC3E}">
        <p14:creationId xmlns:p14="http://schemas.microsoft.com/office/powerpoint/2010/main" val="13634344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2026-10-06T23:55:07.4070000Z</dcterms:created>
  <dcterms:modified xsi:type="dcterms:W3CDTF">2026-10-06T23:55:07.4070000Z</dcterms:modified>
</coreProperties>
</file>