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c22d155274c4c" /><Relationship Type="http://schemas.openxmlformats.org/officeDocument/2006/relationships/extended-properties" Target="/docProps/app.xml" Id="R70965aa5dc8b4402" /><Relationship Type="http://schemas.openxmlformats.org/officeDocument/2006/relationships/officeDocument" Target="/ppt/presentation.xml" Id="Rcd8bb88a1b4649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c829415e21469d"/>
  </p:sldMasterIdLst>
  <p:notesMasterIdLst>
    <p:notesMasterId xmlns:r="http://schemas.openxmlformats.org/officeDocument/2006/relationships" r:id="Rab50108ac7c448b7"/>
  </p:notesMasterIdLst>
  <p:sldIdLst>
    <p:sldId xmlns:r="http://schemas.openxmlformats.org/officeDocument/2006/relationships" id="256" r:id="R1b729352c7074af1"/>
    <p:sldId xmlns:r="http://schemas.openxmlformats.org/officeDocument/2006/relationships" id="257" r:id="Rce5be50fabc94cde"/>
    <p:sldId xmlns:r="http://schemas.openxmlformats.org/officeDocument/2006/relationships" id="258" r:id="R05ddc677c9504ecc"/>
    <p:sldId xmlns:r="http://schemas.openxmlformats.org/officeDocument/2006/relationships" id="259" r:id="Ra98e7acc128e4198"/>
    <p:sldId xmlns:r="http://schemas.openxmlformats.org/officeDocument/2006/relationships" id="260" r:id="R6eedafcc6a1746ef"/>
    <p:sldId xmlns:r="http://schemas.openxmlformats.org/officeDocument/2006/relationships" id="261" r:id="Re649931d428c4979"/>
    <p:sldId xmlns:r="http://schemas.openxmlformats.org/officeDocument/2006/relationships" id="262" r:id="Rf22a2a3fe2b940df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33e7e76094713" /><Relationship Type="http://schemas.openxmlformats.org/officeDocument/2006/relationships/slideMaster" Target="/ppt/slideMasters/slideMaster1.xml" Id="R5ac829415e21469d" /><Relationship Type="http://schemas.openxmlformats.org/officeDocument/2006/relationships/notesMaster" Target="/ppt/notesMasters/notesMaster1.xml" Id="Rab50108ac7c448b7" /><Relationship Type="http://schemas.openxmlformats.org/officeDocument/2006/relationships/presProps" Target="/ppt/presProps.xml" Id="R2f4619be6f2a4b10" /><Relationship Type="http://schemas.openxmlformats.org/officeDocument/2006/relationships/tableStyles" Target="/ppt/tableStyles.xml" Id="Rd574815a207945d8" /><Relationship Type="http://schemas.openxmlformats.org/officeDocument/2006/relationships/slide" Target="/ppt/slides/slide1.xml" Id="R1b729352c7074af1" /><Relationship Type="http://schemas.openxmlformats.org/officeDocument/2006/relationships/slide" Target="/ppt/slides/slide2.xml" Id="Rce5be50fabc94cde" /><Relationship Type="http://schemas.openxmlformats.org/officeDocument/2006/relationships/slide" Target="/ppt/slides/slide3.xml" Id="R05ddc677c9504ecc" /><Relationship Type="http://schemas.openxmlformats.org/officeDocument/2006/relationships/slide" Target="/ppt/slides/slide4.xml" Id="Ra98e7acc128e4198" /><Relationship Type="http://schemas.openxmlformats.org/officeDocument/2006/relationships/slide" Target="/ppt/slides/slide5.xml" Id="R6eedafcc6a1746ef" /><Relationship Type="http://schemas.openxmlformats.org/officeDocument/2006/relationships/slide" Target="/ppt/slides/slide6.xml" Id="Re649931d428c4979" /><Relationship Type="http://schemas.openxmlformats.org/officeDocument/2006/relationships/slide" Target="/ppt/slides/slide7.xml" Id="Rf22a2a3fe2b940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427bdb658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f057490714a5a" /><Relationship Type="http://schemas.openxmlformats.org/officeDocument/2006/relationships/notesMaster" Target="/ppt/notesMasters/notesMaster1.xml" Id="R0ef06084b20048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c4011819442df" /><Relationship Type="http://schemas.openxmlformats.org/officeDocument/2006/relationships/notesMaster" Target="/ppt/notesMasters/notesMaster1.xml" Id="Rec1008b02e38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75d268fe14d85" /><Relationship Type="http://schemas.openxmlformats.org/officeDocument/2006/relationships/notesMaster" Target="/ppt/notesMasters/notesMaster1.xml" Id="Rc44e22d38e9b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6e55c8117c469f" /><Relationship Type="http://schemas.openxmlformats.org/officeDocument/2006/relationships/notesMaster" Target="/ppt/notesMasters/notesMaster1.xml" Id="R2f45a6ac1f3d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3b92d9c46b4c30" /><Relationship Type="http://schemas.openxmlformats.org/officeDocument/2006/relationships/notesMaster" Target="/ppt/notesMasters/notesMaster1.xml" Id="R18db3dd81e5c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75270a2cc64257" /><Relationship Type="http://schemas.openxmlformats.org/officeDocument/2006/relationships/notesMaster" Target="/ppt/notesMasters/notesMaster1.xml" Id="R9554852c497e46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db651a603c459d" /><Relationship Type="http://schemas.openxmlformats.org/officeDocument/2006/relationships/notesMaster" Target="/ppt/notesMasters/notesMaster1.xml" Id="R1b1170eab7d140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สวัสดีครับ วันนี้ผมขอแนะนำบทความวิจัยเรื่อง Publish-Time Optimizations for Web-Based Visualizations โดยคุณ Ron Pechuk และอาจารย์ Jeffrey Heer จากมหาวิทยาลัยวอชิงตัน ตีพิมพ์ในงานประชุม IEEE VIS 2025 ครับ งานนี้มุ่งแก้ปัญหาคอขวดของเว็บแสดงภาพข้อมูลเชิงโต้ตอบ โดยเสนอแนวคิดย้ายภาระงานที่ผู้ใช้ทุกคนต้องทำซ้ำ ไปประมวลผลล่วงหน้าตั้งแต่ตอนเผยแพร่ระบบครับ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เมื่อผู้ใช้เปิดหน้าเว็บภาพข้อมูลทั่วไป เบราว์เซอร์ต้องดาวน์โหลดข้อมูลดิบ รันคิวรีรวมกลุ่ม และเรนเดอร์ภาพใหม่ทั้งหมด แม้จะมีการทำแคชตอนใช้งาน แต่ผู้ใช้คนแรกก็ยังต้องแบกรับความหน่วงแบบ Cold-Start เสมอครับ ผู้วิจัยจึงแยกตัวชี้วัดออกเป็น 2 มิติ คือ TTR เวลาจนภาพกราฟิกปรากฏสมบูรณ์ เพื่อวัดความเร็วที่ผู้ใช้รับรู้ได้จริง กับ TTA เวลาจนระบบพร้อมรับการคลิกหรือฟิลเตอร์โต้ตอบจริง พร้อมทั้งวัดต้นทุนพื้นที่จัดเก็บ หรือ Storage Cost ที่เพิ่มขึ้น เพื่อดูความคุ้มค่าเชิงวิศวกรรมครับ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แบ่งการทำงานช่วงก่อนส่งให้ผู้ใช้ออกเป็น 3 ขั้นตอนหลักครับ เริ่มจากการวิเคราะห์โครงสร้าง AST และจำลอง Virtual DOM เพื่อค้นหาคิวรีที่จำเป็น จากนั้นใช้ DuckDB คำนวณผลลัพธ์ล่วงหน้าและจัดเก็บเป็นพาเกต์ไฟล์ แล้วทำการ Rewrite โค้ดเพื่อสร้าง JavaScript Runtime Bundle ส่งผลให้ฝั่งเบราว์เซอร์ได้รับข้อมูลที่พร้อมใช้ ผลคิวรีสำเร็จรูป และภาพโครงร่างเริ่มต้น โดยที่นักพัฒนายังคงเขียนโค้ดตามไวยากรณ์เดิมของ Mosaic ได้ทุกประการครับ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ที่วาดเสร็จแล้วให้แสดงผลได้ทันทีโดยไม่ต้องพึ่งสคริปต์ แต่สำหรับมุมมองที่ต้องโต้ตอบ แม้ภาพแรกจะมาเร็ว ผู้ใช้ก็ยังต้องรอขั้นตอน Hydration เพื่อให้เบราว์เซอร์เริ่มทำงานคอมโพเนนต์และผูก Event ครับ ผลการทดลองในรูปที่ 4 พบว่าขั้นตอน Hydration ยังมีต้นทุนเวลาเกือบเท่ากับการเรนเดอร์สดจากศูนย์ ภาพจึงปรากฏเร็วขึ้นมาก แต่เวลาพร้อมโต้ตอบยังลดลงได้ไม่เต็มที่ ซึ่งการทำ Progressive Hydration ที่ละเอียดขึ้นจะเป็นโจทย์วิจัยต่อไปครับ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จากการทดสอบกับ 5 ชุดแสดงผลจริง ตั้งแต่ข้อมูลหมื่นแถวจนถึงสิบล้านแถว ผลลัพธ์ในตารางที่ 1 ยืนยันว่าชุดปรับปรุงรวมสามารถลด TTR หรือเวลาจนเห็นภาพได้ถึง 83.7% ขณะที่เวลาจนพร้อมโต้ตอบ หรือ TTA ลดลงเฉลี่ย 33.3% โดยมีพระเอกหลักคือการแคชล่วงหน้าที่ช่วยตัดเวลา TTA ไปแล้ว 32.3% ครับ ทั้งนี้ผลลัพธ์ดังกล่าวแลกมาด้วยพื้นที่จัดเก็บข้อมูลที่เพิ่มขึ้นเฉลี่ย 21.2% ซึ่งถือเป็นการแลกเปลี่ยนที่คุ้มค่าอย่างยิ่งสำหรับเว็บแอปพลิเคชันยุคใหม่ครับ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คุณูปการหลักของบทความนี้ คือการเสนอไปป์ไลน์การเตรียมงานแบบแบ่งชั้นอย่างเป็นระบบ โดยคงไวยากรณ์เดิมไว้ และรายงานผลลัพธ์ทั้งมิติความเร็วคู่กับมิติพื้นที่อย่างโปร่งใสครับ ในด้านข้อจำกัด ตัวระบบยังติดคอขวดที่ Client Hydration ข้อมูลเปลี่ยนต้อง Re-generate แคชใหม่ทั้งหมด และผลการทดลองยังจำกัดอยู่บนเครื่องแล็ปท็อปสเปกสูงกับ Local Server ยังไม่ได้ประเมินผลบนเครือข่ายมือถือที่มีความผันผวนครับ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3.2–3.4, 4.3, 5 and 6, PDF pages 2–4.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สรุปบทเรียนสำคัญคือ การแคชล่วงหน้าเป็นกุญแจหลักในการลด TTA ส่วนภาพล่วงหน้าช่วยแก้ปัญหา Perceived Latency ได้อย่างเด็ดขาด โดยแลกกับพื้นที่จัดเก็บเพิ่มขึ้นเพียง 21% ครับ สำหรับการประยุกต์ใช้ในโครงงาน DivWy แพลตฟอร์มนิยายภาพขยับ เราสามารถนำแนวคิด Publish-Time ไป Pre-bake เลเอาต์ฉากและแคชบน Edge CDN จากนั้นใช้ Progressive Hydration แสดงภาพฉากแรกทันที แล้วค่อยโหลดระบบเสียงและแอนิเมชันตามหลัง พร้อมทั้งทำ Incremental Invalidation เพื่ออัปเดตเฉพาะฉากที่แก้ไขเนื้อหา ช่วยลดโหลดเซิร์ฟเวอร์และเพิ่มความลื่นไหลให้ผู้อ่านได้อย่างแท้จริงครับ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4 / Table 1 (Key Takeaways) and Sections 5–6 (DivWy &amp; Future Extensions).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9d94205fa46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07ef8acca43d3" /><Relationship Type="http://schemas.openxmlformats.org/officeDocument/2006/relationships/slideLayout" Target="/ppt/slideLayouts/slideLayout1.xml" Id="R4a88437b81e041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8437b81e041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7b0bf93394266" /><Relationship Type="http://schemas.openxmlformats.org/officeDocument/2006/relationships/notesSlide" Target="/ppt/notesSlides/notesSlide1.xml" Id="R72969041c41647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8c88006f04133" /><Relationship Type="http://schemas.openxmlformats.org/officeDocument/2006/relationships/notesSlide" Target="/ppt/notesSlides/notesSlide2.xml" Id="R01921213f38f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f49b0abe04adf" /><Relationship Type="http://schemas.openxmlformats.org/officeDocument/2006/relationships/image" Target="/ppt/media/image.png" Id="R3637d94dcb984f02" /><Relationship Type="http://schemas.openxmlformats.org/officeDocument/2006/relationships/notesSlide" Target="/ppt/notesSlides/notesSlide3.xml" Id="R46cea3d31c234e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02d70ba94a63" /><Relationship Type="http://schemas.openxmlformats.org/officeDocument/2006/relationships/image" Target="/ppt/media/image2.png" Id="R86e3745a53c84f50" /><Relationship Type="http://schemas.openxmlformats.org/officeDocument/2006/relationships/notesSlide" Target="/ppt/notesSlides/notesSlide4.xml" Id="Rcb31a7fdadc1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d3016e21d43e2" /><Relationship Type="http://schemas.openxmlformats.org/officeDocument/2006/relationships/image" Target="/ppt/media/image3.png" Id="R880fb5ef2f594efa" /><Relationship Type="http://schemas.openxmlformats.org/officeDocument/2006/relationships/notesSlide" Target="/ppt/notesSlides/notesSlide5.xml" Id="R7f82a15d237f4b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164b377eb4dbf" /><Relationship Type="http://schemas.openxmlformats.org/officeDocument/2006/relationships/notesSlide" Target="/ppt/notesSlides/notesSlide6.xml" Id="R8c1e1f13a96848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7816ffcd47d8" /><Relationship Type="http://schemas.openxmlformats.org/officeDocument/2006/relationships/notesSlide" Target="/ppt/notesSlides/notesSlide7.xml" Id="R42b3670ae4bb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3140442-1E8B-40F6-9F81-A31AAF3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28E1659-B78B-4C61-8EC5-7207DA6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196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52B784-9E42-49DB-A3C7-BB2DE17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234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035E5A7F-42EB-4903-AB69-A9C1D80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DF8BBE3-0E57-4F91-97A0-E11B1A9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1196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D0BABCA-E4F5-4ED1-B089-00F2080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6FDFF10-29C1-4A42-B6E0-06D2D20C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9C368AC-5B17-49B0-B172-4CEAA7FD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34967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9">
            <a:extLst xmlns:a="http://schemas.openxmlformats.org/drawingml/2006/main">
              <a:ext uri="{FF2B5EF4-FFF2-40B4-BE49-F238E27FC236}">
                <a16:creationId xmlns:a16="http://schemas.microsoft.com/office/drawing/2014/main" id="{89509D25-412B-4AD1-A208-2DDEAC87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9C268E80-9ACC-41B4-A7E0-2E26674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453DEBB9-FF3B-469E-A09F-8594064F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ED880D1-BD84-4A0D-984D-E1406366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721D3023-5A83-403C-91E7-2AE88A5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E81437E1-2894-4EF8-856E-69BF4D6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0555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27A4764B-1E9E-4E8D-855E-906EC4A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3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คอขวดประสิทธิภาพของเว็บแสดงภาพข้อมูล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D08307BB-199B-4F66-A9B5-82DA167B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891618DC-BB3D-489A-892D-0D34C14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9075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ภาระประมวลผลซ้ำซ้อนฝั่ง Client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6BD5C2E3-0A3D-4DCD-8DFE-2C5A5C4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เบราว์เซอร์ต้องโหลดข้อมูลดิบ รันคิวรีรวมกลุ่ม และวาดภาพใหม่ทุกครั้ง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F9C24F84-ACF0-4D01-BFAB-7AC9078F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341512C9-B9E7-45B9-856F-267817B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0AE676D4-7BD1-4A71-BE4A-5A29C06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 Cold-Start ของ Runtime Cache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40086CCE-E38A-4102-A9A2-3291E19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แคชที่สร้างตอนใช้งาน ผู้ใช้คนแรก (First Visitor) ต้องรับ Latency สูงสุด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DF54893A-E185-4AE0-989D-F58217B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F2411139-3242-4EFD-BADB-9C5F3F5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C78F9C3F-1066-4C53-8955-3050951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ความไม่สอดคล้องของภาพและการโต้ตอบ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6FC4CC7B-6BFE-4326-BD76-17DE066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ภาพเริ่มต้นปรากฏแล้ว แต่ระบบภายในยังไม่พร้อมรับอินพุตหรือการฟิลเตอร์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34044561-84F2-4F14-AC5F-AA1348A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54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BC084A71-FF0E-4A62-839E-F96EE4B1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9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C77D7975-E6CB-4E35-BDAD-F1859063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977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Trade-off ของการเตรียมข้อมูลล่วงหน้า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0290C898-417E-4085-8CB5-B342FA9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1982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การสร้างแคชล่วงหน้าช่วยลดความหน่วง แต่แลกมาด้วยพื้นที่และความสดของข้อมูล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356CD835-E27E-46C2-B02B-46F6E6C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13335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F600EA1A-7F0A-465F-9BAB-DEB6B00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15716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F79AF6DB-5C5D-472F-A118-6DEC10B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จนเห็น Visualization แสดงผลสมบูรณ์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C24C1643-99E6-4E1A-9E55-A986766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ชี้วัดความเร็วที่ผู้ใช้รับรู้ได้จริง (Perceived Latency) ไม่นับรวมเฉพาะ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496DFA05-05C9-4B8C-A00D-31D1312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5052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D4170901-A051-4B53-9A8F-56574F5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37433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C3307CE3-4087-41D4-8F20-49CEC00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เวลาจนกระทั่งระบบพร้อมรับการกรอง (Filter), ซูม หรือเลือกข้อมูล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60A8F78B-FE1A-4509-AFDC-CB02451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434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 โดยแยกขาดจากเวลาที่ภาพปรากฏบนจอ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96E0A7C8-F6D9-4E26-9FCE-06F9F66D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5676900"/>
            <a:ext cx="63436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AACBAC3C-163C-4924-A705-76744D1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59150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5EBF7B4A-13CF-4A3F-B8C2-5D749B5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419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ขนาดพื้นที่จัดเก็บไฟล์แคชและข้อมูลรวมกลุ่มที่เพิ่มขึ้นบนเซิร์ฟเวอร์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24BA67D6-F1BE-4F19-AF14-B5289DB2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24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 3.1, หน้า PDF 2 · ประเมินต้นทุนพื้นที่ที่ต้องแลกกับความเร็ว</a:t>
            </a:r>
          </a:p>
        </p:txBody>
      </p:sp>
    </p:spTree>
    <p:extLst>
      <p:ext uri="{BB962C8B-B14F-4D97-AF65-F5344CB8AC3E}">
        <p14:creationId xmlns:p14="http://schemas.microsoft.com/office/powerpoint/2010/main" val="2110391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43">
            <a:extLst xmlns:a="http://schemas.openxmlformats.org/drawingml/2006/main">
              <a:ext uri="{FF2B5EF4-FFF2-40B4-BE49-F238E27FC236}">
                <a16:creationId xmlns:a16="http://schemas.microsoft.com/office/drawing/2014/main" id="{46EA9C4C-0C07-4FE2-8781-B2AE30B8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4DA6B4BD-B707-4026-8B1F-AF41DD6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5">
            <a:extLst xmlns:a="http://schemas.openxmlformats.org/drawingml/2006/main">
              <a:ext uri="{FF2B5EF4-FFF2-40B4-BE49-F238E27FC236}">
                <a16:creationId xmlns:a16="http://schemas.microsoft.com/office/drawing/2014/main" id="{DE988835-8E55-4CDF-A44E-680121DF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3466FFEB-5A0F-48C6-94A5-FE428FAC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B07E42A7-AC3F-415A-B1B0-A71EDD3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8">
            <a:extLst xmlns:a="http://schemas.openxmlformats.org/drawingml/2006/main">
              <a:ext uri="{FF2B5EF4-FFF2-40B4-BE49-F238E27FC236}">
                <a16:creationId xmlns:a16="http://schemas.microsoft.com/office/drawing/2014/main" id="{5EEB156D-6598-494D-A1F3-F4DD0D7A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229600" cy="37623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1C2A7C30-6A8D-4C41-8671-80DB34C3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7d94dcb984f02"/>
          <a:stretch xmlns:a="http://schemas.openxmlformats.org/drawingml/2006/main"/>
        </p:blipFill>
        <p:spPr>
          <a:xfrm xmlns:a="http://schemas.openxmlformats.org/drawingml/2006/main">
            <a:off x="1055699" y="2114550"/>
            <a:ext cx="776602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text-50">
            <a:extLst xmlns:a="http://schemas.openxmlformats.org/drawingml/2006/main">
              <a:ext uri="{FF2B5EF4-FFF2-40B4-BE49-F238E27FC236}">
                <a16:creationId xmlns:a16="http://schemas.microsoft.com/office/drawing/2014/main" id="{324B9ACB-CE58-406A-A10B-823044F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51">
            <a:extLst xmlns:a="http://schemas.openxmlformats.org/drawingml/2006/main">
              <a:ext uri="{FF2B5EF4-FFF2-40B4-BE49-F238E27FC236}">
                <a16:creationId xmlns:a16="http://schemas.microsoft.com/office/drawing/2014/main" id="{38013E99-7401-4247-A91B-6D39023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4000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031A0472-295D-4068-8A1D-D062A4A3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55721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3">
            <a:extLst xmlns:a="http://schemas.openxmlformats.org/drawingml/2006/main">
              <a:ext uri="{FF2B5EF4-FFF2-40B4-BE49-F238E27FC236}">
                <a16:creationId xmlns:a16="http://schemas.microsoft.com/office/drawing/2014/main" id="{1147F3FF-BCB8-4C5A-8DD4-66DBE39C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668B349F-3E59-40E6-A56E-0C9B091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5">
            <a:extLst xmlns:a="http://schemas.openxmlformats.org/drawingml/2006/main">
              <a:ext uri="{FF2B5EF4-FFF2-40B4-BE49-F238E27FC236}">
                <a16:creationId xmlns:a16="http://schemas.microsoft.com/office/drawing/2014/main" id="{3CDD1D8A-7E2E-44EB-BFF3-519CB392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6">
            <a:extLst xmlns:a="http://schemas.openxmlformats.org/drawingml/2006/main">
              <a:ext uri="{FF2B5EF4-FFF2-40B4-BE49-F238E27FC236}">
                <a16:creationId xmlns:a16="http://schemas.microsoft.com/office/drawing/2014/main" id="{1A6E959A-F8F0-4C84-A3D5-BCB85F5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7">
            <a:extLst xmlns:a="http://schemas.openxmlformats.org/drawingml/2006/main">
              <a:ext uri="{FF2B5EF4-FFF2-40B4-BE49-F238E27FC236}">
                <a16:creationId xmlns:a16="http://schemas.microsoft.com/office/drawing/2014/main" id="{17012FB6-A8E8-445D-9C17-8CC3BEAC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414F8648-C76D-4AD8-9823-0A8F990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9">
            <a:extLst xmlns:a="http://schemas.openxmlformats.org/drawingml/2006/main">
              <a:ext uri="{FF2B5EF4-FFF2-40B4-BE49-F238E27FC236}">
                <a16:creationId xmlns:a16="http://schemas.microsoft.com/office/drawing/2014/main" id="{282ECFAC-684C-43EB-A556-6F9037DD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0">
            <a:extLst xmlns:a="http://schemas.openxmlformats.org/drawingml/2006/main">
              <a:ext uri="{FF2B5EF4-FFF2-40B4-BE49-F238E27FC236}">
                <a16:creationId xmlns:a16="http://schemas.microsoft.com/office/drawing/2014/main" id="{507485A3-087D-43EB-A31F-FA9B710F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602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1">
            <a:extLst xmlns:a="http://schemas.openxmlformats.org/drawingml/2006/main">
              <a:ext uri="{FF2B5EF4-FFF2-40B4-BE49-F238E27FC236}">
                <a16:creationId xmlns:a16="http://schemas.microsoft.com/office/drawing/2014/main" id="{C9A136E1-068E-481F-9C45-ABE41977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2">
            <a:extLst xmlns:a="http://schemas.openxmlformats.org/drawingml/2006/main">
              <a:ext uri="{FF2B5EF4-FFF2-40B4-BE49-F238E27FC236}">
                <a16:creationId xmlns:a16="http://schemas.microsoft.com/office/drawing/2014/main" id="{12E94AEB-79E0-4FEF-9195-5CEB14A0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8CB9BB60-301B-423C-BC47-07414630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96125"/>
            <a:ext cx="767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สรุปกลไกจาก Sections 4.1–4.3 (หน้า PDF 2–3)</a:t>
            </a:r>
          </a:p>
        </p:txBody>
      </p:sp>
      <p:sp>
        <p:nvSpPr>
          <p:cNvPr id="23" name="shape-64">
            <a:extLst xmlns:a="http://schemas.openxmlformats.org/drawingml/2006/main">
              <a:ext uri="{FF2B5EF4-FFF2-40B4-BE49-F238E27FC236}">
                <a16:creationId xmlns:a16="http://schemas.microsoft.com/office/drawing/2014/main" id="{E7BE4A78-8C57-4C03-B640-D7677E47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5" y="1333500"/>
            <a:ext cx="4419600" cy="611505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9C70DB29-CCAB-4C4B-A126-A64D7919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1571625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6">
            <a:extLst xmlns:a="http://schemas.openxmlformats.org/drawingml/2006/main">
              <a:ext uri="{FF2B5EF4-FFF2-40B4-BE49-F238E27FC236}">
                <a16:creationId xmlns:a16="http://schemas.microsoft.com/office/drawing/2014/main" id="{5FBA8254-2738-47DF-88AE-12DB6DD3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7">
            <a:extLst xmlns:a="http://schemas.openxmlformats.org/drawingml/2006/main">
              <a:ext uri="{FF2B5EF4-FFF2-40B4-BE49-F238E27FC236}">
                <a16:creationId xmlns:a16="http://schemas.microsoft.com/office/drawing/2014/main" id="{487316AA-3917-4001-8664-069FFEE3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8">
            <a:extLst xmlns:a="http://schemas.openxmlformats.org/drawingml/2006/main">
              <a:ext uri="{FF2B5EF4-FFF2-40B4-BE49-F238E27FC236}">
                <a16:creationId xmlns:a16="http://schemas.microsoft.com/office/drawing/2014/main" id="{B1C33228-CFA3-4089-9885-72D7AE4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670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ลดภาระการถ่ายโอนข้ามเครือข่าย</a:t>
            </a:r>
          </a:p>
        </p:txBody>
      </p:sp>
      <p:sp>
        <p:nvSpPr>
          <p:cNvPr id="28" name="shape-69">
            <a:extLst xmlns:a="http://schemas.openxmlformats.org/drawingml/2006/main">
              <a:ext uri="{FF2B5EF4-FFF2-40B4-BE49-F238E27FC236}">
                <a16:creationId xmlns:a16="http://schemas.microsoft.com/office/drawing/2014/main" id="{711ECB9B-9896-4E75-8A4D-982F9E1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0">
            <a:extLst xmlns:a="http://schemas.openxmlformats.org/drawingml/2006/main">
              <a:ext uri="{FF2B5EF4-FFF2-40B4-BE49-F238E27FC236}">
                <a16:creationId xmlns:a16="http://schemas.microsoft.com/office/drawing/2014/main" id="{E782718D-359E-4C6A-B692-7721B0E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1">
            <a:extLst xmlns:a="http://schemas.openxmlformats.org/drawingml/2006/main">
              <a:ext uri="{FF2B5EF4-FFF2-40B4-BE49-F238E27FC236}">
                <a16:creationId xmlns:a16="http://schemas.microsoft.com/office/drawing/2014/main" id="{D920FAC7-0725-484C-AD96-219E209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67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2">
            <a:extLst xmlns:a="http://schemas.openxmlformats.org/drawingml/2006/main">
              <a:ext uri="{FF2B5EF4-FFF2-40B4-BE49-F238E27FC236}">
                <a16:creationId xmlns:a16="http://schemas.microsoft.com/office/drawing/2014/main" id="{56A09682-7D49-4E60-A2C2-EFC12C8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67225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3">
            <a:extLst xmlns:a="http://schemas.openxmlformats.org/drawingml/2006/main">
              <a:ext uri="{FF2B5EF4-FFF2-40B4-BE49-F238E27FC236}">
                <a16:creationId xmlns:a16="http://schemas.microsoft.com/office/drawing/2014/main" id="{67E46A1D-E0BF-4941-871D-614AC00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4">
            <a:extLst xmlns:a="http://schemas.openxmlformats.org/drawingml/2006/main">
              <a:ext uri="{FF2B5EF4-FFF2-40B4-BE49-F238E27FC236}">
                <a16:creationId xmlns:a16="http://schemas.microsoft.com/office/drawing/2014/main" id="{49596D72-67D3-44C5-907C-45BC61FA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6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5">
            <a:extLst xmlns:a="http://schemas.openxmlformats.org/drawingml/2006/main">
              <a:ext uri="{FF2B5EF4-FFF2-40B4-BE49-F238E27FC236}">
                <a16:creationId xmlns:a16="http://schemas.microsoft.com/office/drawing/2014/main" id="{6879F596-9767-493A-B7B2-5DB905C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6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6">
            <a:extLst xmlns:a="http://schemas.openxmlformats.org/drawingml/2006/main">
              <a:ext uri="{FF2B5EF4-FFF2-40B4-BE49-F238E27FC236}">
                <a16:creationId xmlns:a16="http://schemas.microsoft.com/office/drawing/2014/main" id="{844104CD-7A1F-4046-A373-59CD47E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674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</p:spTree>
    <p:extLst>
      <p:ext uri="{BB962C8B-B14F-4D97-AF65-F5344CB8AC3E}">
        <p14:creationId xmlns:p14="http://schemas.microsoft.com/office/powerpoint/2010/main" val="1092436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7">
            <a:extLst xmlns:a="http://schemas.openxmlformats.org/drawingml/2006/main">
              <a:ext uri="{FF2B5EF4-FFF2-40B4-BE49-F238E27FC236}">
                <a16:creationId xmlns:a16="http://schemas.microsoft.com/office/drawing/2014/main" id="{9B47A1CD-9040-4D26-BC61-D635898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5B470AAD-B8EA-4C7E-851C-7908A9D7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79">
            <a:extLst xmlns:a="http://schemas.openxmlformats.org/drawingml/2006/main">
              <a:ext uri="{FF2B5EF4-FFF2-40B4-BE49-F238E27FC236}">
                <a16:creationId xmlns:a16="http://schemas.microsoft.com/office/drawing/2014/main" id="{F909DDEE-11BC-430D-BAAF-D2CA0D2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EACA9A5D-7A77-45AC-A933-727D353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062231CA-8815-4668-A4A6-62EDC30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2">
            <a:extLst xmlns:a="http://schemas.openxmlformats.org/drawingml/2006/main">
              <a:ext uri="{FF2B5EF4-FFF2-40B4-BE49-F238E27FC236}">
                <a16:creationId xmlns:a16="http://schemas.microsoft.com/office/drawing/2014/main" id="{DC5D57D1-BF3D-4CAB-8331-241DBCB1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7677150" cy="3171825"/>
          </a:xfrm>
          <a:prstGeom xmlns:a="http://schemas.openxmlformats.org/drawingml/2006/main" prst="roundRect">
            <a:avLst>
              <a:gd name="adj" fmla="val 30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3B32A7B6-EC76-41A7-B0F0-6891F81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3745a53c84f50"/>
          <a:stretch xmlns:a="http://schemas.openxmlformats.org/drawingml/2006/main"/>
        </p:blipFill>
        <p:spPr>
          <a:xfrm xmlns:a="http://schemas.openxmlformats.org/drawingml/2006/main">
            <a:off x="1973123" y="2152650"/>
            <a:ext cx="5378730" cy="1762125"/>
          </a:xfrm>
          <a:prstGeom xmlns:a="http://schemas.openxmlformats.org/drawingml/2006/main" prst="rect">
            <a:avLst/>
          </a:prstGeom>
        </p:spPr>
      </p:pic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8BE0640C-F9D9-4114-8F06-9FFFF34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718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7A9BB9C9-7060-442F-B796-69DC6D17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7051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B0D739AB-CFDB-40CB-8512-5BAFCBA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9815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4EF5E454-E188-45F7-A15F-AFAEA51C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D5AD348E-E4BA-41D8-9E79-FAB06DE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(TTR)</a:t>
            </a:r>
          </a:p>
        </p:txBody>
      </p:sp>
      <p:sp>
        <p:nvSpPr>
          <p:cNvPr id="14" name="shape-89">
            <a:extLst xmlns:a="http://schemas.openxmlformats.org/drawingml/2006/main">
              <a:ext uri="{FF2B5EF4-FFF2-40B4-BE49-F238E27FC236}">
                <a16:creationId xmlns:a16="http://schemas.microsoft.com/office/drawing/2014/main" id="{C6260490-0426-4415-9C7B-7FBA7814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0">
            <a:extLst xmlns:a="http://schemas.openxmlformats.org/drawingml/2006/main">
              <a:ext uri="{FF2B5EF4-FFF2-40B4-BE49-F238E27FC236}">
                <a16:creationId xmlns:a16="http://schemas.microsoft.com/office/drawing/2014/main" id="{0C085D2B-1B2B-4BC1-A68D-53365167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02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4DC2D316-1845-40DF-A2B1-D52F125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D65588D8-4869-4386-AF20-B0869924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Hydration</a:t>
            </a:r>
          </a:p>
        </p:txBody>
      </p:sp>
      <p:sp>
        <p:nvSpPr>
          <p:cNvPr id="18" name="shape-93">
            <a:extLst xmlns:a="http://schemas.openxmlformats.org/drawingml/2006/main">
              <a:ext uri="{FF2B5EF4-FFF2-40B4-BE49-F238E27FC236}">
                <a16:creationId xmlns:a16="http://schemas.microsoft.com/office/drawing/2014/main" id="{7117B990-5906-4930-A49C-F89C2046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4">
            <a:extLst xmlns:a="http://schemas.openxmlformats.org/drawingml/2006/main">
              <a:ext uri="{FF2B5EF4-FFF2-40B4-BE49-F238E27FC236}">
                <a16:creationId xmlns:a16="http://schemas.microsoft.com/office/drawing/2014/main" id="{001C1019-48E6-4B78-8F47-989089E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13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5">
            <a:extLst xmlns:a="http://schemas.openxmlformats.org/drawingml/2006/main">
              <a:ext uri="{FF2B5EF4-FFF2-40B4-BE49-F238E27FC236}">
                <a16:creationId xmlns:a16="http://schemas.microsoft.com/office/drawing/2014/main" id="{6008BC31-B44E-42A1-BDBA-B464321E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C3428963-268A-4C1A-B41F-DFDE876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8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(TTA)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8528A450-01E8-4D4F-B67B-63327660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0087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ไม่ใช่เวลา Benchmark)</a:t>
            </a:r>
          </a:p>
        </p:txBody>
      </p:sp>
      <p:sp>
        <p:nvSpPr>
          <p:cNvPr id="23" name="shape-98">
            <a:extLst xmlns:a="http://schemas.openxmlformats.org/drawingml/2006/main">
              <a:ext uri="{FF2B5EF4-FFF2-40B4-BE49-F238E27FC236}">
                <a16:creationId xmlns:a16="http://schemas.microsoft.com/office/drawing/2014/main" id="{F07B8C37-F593-4F68-863A-7DE4C2B3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1333500"/>
            <a:ext cx="4972050" cy="611505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9">
            <a:extLst xmlns:a="http://schemas.openxmlformats.org/drawingml/2006/main">
              <a:ext uri="{FF2B5EF4-FFF2-40B4-BE49-F238E27FC236}">
                <a16:creationId xmlns:a16="http://schemas.microsoft.com/office/drawing/2014/main" id="{6EC71034-0BCA-4596-8ACC-4871EB1B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15716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C8569655-715E-43B3-B7B3-B8B76DC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A073F009-19A4-49AA-92EE-472E071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2">
            <a:extLst xmlns:a="http://schemas.openxmlformats.org/drawingml/2006/main">
              <a:ext uri="{FF2B5EF4-FFF2-40B4-BE49-F238E27FC236}">
                <a16:creationId xmlns:a16="http://schemas.microsoft.com/office/drawing/2014/main" id="{3DADA367-65C4-4F90-BBAD-118D61D1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38425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3">
            <a:extLst xmlns:a="http://schemas.openxmlformats.org/drawingml/2006/main">
              <a:ext uri="{FF2B5EF4-FFF2-40B4-BE49-F238E27FC236}">
                <a16:creationId xmlns:a16="http://schemas.microsoft.com/office/drawing/2014/main" id="{5563E0F3-6886-448D-9FB5-30427F4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4">
            <a:extLst xmlns:a="http://schemas.openxmlformats.org/drawingml/2006/main">
              <a:ext uri="{FF2B5EF4-FFF2-40B4-BE49-F238E27FC236}">
                <a16:creationId xmlns:a16="http://schemas.microsoft.com/office/drawing/2014/main" id="{8A3EAFF1-1552-4321-98B9-1D81A30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43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5">
            <a:extLst xmlns:a="http://schemas.openxmlformats.org/drawingml/2006/main">
              <a:ext uri="{FF2B5EF4-FFF2-40B4-BE49-F238E27FC236}">
                <a16:creationId xmlns:a16="http://schemas.microsoft.com/office/drawing/2014/main" id="{D79FB20C-7F5C-43AD-87A1-11B06680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43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6">
            <a:extLst xmlns:a="http://schemas.openxmlformats.org/drawingml/2006/main">
              <a:ext uri="{FF2B5EF4-FFF2-40B4-BE49-F238E27FC236}">
                <a16:creationId xmlns:a16="http://schemas.microsoft.com/office/drawing/2014/main" id="{512CDB08-ECD6-4242-935A-2B6F66D5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4340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7">
            <a:extLst xmlns:a="http://schemas.openxmlformats.org/drawingml/2006/main">
              <a:ext uri="{FF2B5EF4-FFF2-40B4-BE49-F238E27FC236}">
                <a16:creationId xmlns:a16="http://schemas.microsoft.com/office/drawing/2014/main" id="{CC671F8E-736D-47C2-A9A7-1C6C1526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959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8">
            <a:extLst xmlns:a="http://schemas.openxmlformats.org/drawingml/2006/main">
              <a:ext uri="{FF2B5EF4-FFF2-40B4-BE49-F238E27FC236}">
                <a16:creationId xmlns:a16="http://schemas.microsoft.com/office/drawing/2014/main" id="{3DA02460-E0CD-493D-84AE-4443729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9">
            <a:extLst xmlns:a="http://schemas.openxmlformats.org/drawingml/2006/main">
              <a:ext uri="{FF2B5EF4-FFF2-40B4-BE49-F238E27FC236}">
                <a16:creationId xmlns:a16="http://schemas.microsoft.com/office/drawing/2014/main" id="{0969C849-AB7C-4366-A7F7-C2796007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638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10">
            <a:extLst xmlns:a="http://schemas.openxmlformats.org/drawingml/2006/main">
              <a:ext uri="{FF2B5EF4-FFF2-40B4-BE49-F238E27FC236}">
                <a16:creationId xmlns:a16="http://schemas.microsoft.com/office/drawing/2014/main" id="{7509ABEC-1996-4B1F-A24C-EB27DB6D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03885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1">
            <a:extLst xmlns:a="http://schemas.openxmlformats.org/drawingml/2006/main">
              <a:ext uri="{FF2B5EF4-FFF2-40B4-BE49-F238E27FC236}">
                <a16:creationId xmlns:a16="http://schemas.microsoft.com/office/drawing/2014/main" id="{28CFDD77-B77B-48E5-A00B-7410E815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1342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5, หน้า PDF 3–4</a:t>
            </a:r>
          </a:p>
        </p:txBody>
      </p:sp>
    </p:spTree>
    <p:extLst>
      <p:ext uri="{BB962C8B-B14F-4D97-AF65-F5344CB8AC3E}">
        <p14:creationId xmlns:p14="http://schemas.microsoft.com/office/powerpoint/2010/main" val="876042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12">
            <a:extLst xmlns:a="http://schemas.openxmlformats.org/drawingml/2006/main">
              <a:ext uri="{FF2B5EF4-FFF2-40B4-BE49-F238E27FC236}">
                <a16:creationId xmlns:a16="http://schemas.microsoft.com/office/drawing/2014/main" id="{18C151AE-3941-4764-B5A8-2079350E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BA8D3629-8E99-45F0-B78A-F02444E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4">
            <a:extLst xmlns:a="http://schemas.openxmlformats.org/drawingml/2006/main">
              <a:ext uri="{FF2B5EF4-FFF2-40B4-BE49-F238E27FC236}">
                <a16:creationId xmlns:a16="http://schemas.microsoft.com/office/drawing/2014/main" id="{BFEFE883-4587-4A3A-BCDD-93D5E36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F5FF6813-1166-49DD-A1C6-54D03F7A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13E59D33-35FC-46C7-9763-F093F151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7">
            <a:extLst xmlns:a="http://schemas.openxmlformats.org/drawingml/2006/main">
              <a:ext uri="{FF2B5EF4-FFF2-40B4-BE49-F238E27FC236}">
                <a16:creationId xmlns:a16="http://schemas.microsoft.com/office/drawing/2014/main" id="{02A5D5B5-81DB-437E-9A0C-C515A4F5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105775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DB8AD7A1-A7D8-4D8C-A4A4-6E4F854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534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fb5ef2f594efa"/>
          <a:stretch xmlns:a="http://schemas.openxmlformats.org/drawingml/2006/main"/>
        </p:blipFill>
        <p:spPr>
          <a:xfrm xmlns:a="http://schemas.openxmlformats.org/drawingml/2006/main">
            <a:off x="1055241" y="1981200"/>
            <a:ext cx="7633592" cy="2314575"/>
          </a:xfrm>
          <a:prstGeom xmlns:a="http://schemas.openxmlformats.org/drawingml/2006/main" prst="rect">
            <a:avLst/>
          </a:prstGeom>
        </p:spPr>
      </p:pic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9F713670-EE56-4D7A-8714-F9B49F3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67225"/>
            <a:ext cx="761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20">
            <a:extLst xmlns:a="http://schemas.openxmlformats.org/drawingml/2006/main">
              <a:ext uri="{FF2B5EF4-FFF2-40B4-BE49-F238E27FC236}">
                <a16:creationId xmlns:a16="http://schemas.microsoft.com/office/drawing/2014/main" id="{E0847450-D89A-43E6-89CF-C9780B9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333500"/>
            <a:ext cx="4572000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015829E3-830B-4D2A-92BB-06C37A89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285" y="1571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448800" y="2133600"/>
          <a:ext xmlns:a="http://schemas.openxmlformats.org/drawingml/2006/main" cx="4143375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1057275"/>
                <a:gridCol w="1057275"/>
                <a:gridCol w="1057275"/>
              </a:tblGrid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66675" marB="66675" anchor="ctr"/>
                </a:tc>
              </a:tr>
            </a:tbl>
          </a:graphicData>
        </a:graphic>
      </p:graphicFrame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C011F85C-4274-473C-B733-84F326F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8622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3">
            <a:extLst xmlns:a="http://schemas.openxmlformats.org/drawingml/2006/main">
              <a:ext uri="{FF2B5EF4-FFF2-40B4-BE49-F238E27FC236}">
                <a16:creationId xmlns:a16="http://schemas.microsoft.com/office/drawing/2014/main" id="{1BB34214-058E-4A47-801A-E93D63BB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00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</a:t>
            </a:r>
          </a:p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(ในเนื้อหาเปเปอร์ใช้ชื่อ +prerender)</a:t>
            </a:r>
          </a:p>
        </p:txBody>
      </p:sp>
      <p:sp>
        <p:nvSpPr>
          <p:cNvPr id="15" name="shape-124">
            <a:extLst xmlns:a="http://schemas.openxmlformats.org/drawingml/2006/main">
              <a:ext uri="{FF2B5EF4-FFF2-40B4-BE49-F238E27FC236}">
                <a16:creationId xmlns:a16="http://schemas.microsoft.com/office/drawing/2014/main" id="{7D85D659-21F8-4087-BA7E-208DDFBD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4D42E9FC-A99B-4068-9B79-80AD0672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51F29326-27D3-4132-BE99-AB3F38D7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TTR</a:t>
            </a:r>
          </a:p>
        </p:txBody>
      </p:sp>
      <p:sp>
        <p:nvSpPr>
          <p:cNvPr id="18" name="text-127">
            <a:extLst xmlns:a="http://schemas.openxmlformats.org/drawingml/2006/main">
              <a:ext uri="{FF2B5EF4-FFF2-40B4-BE49-F238E27FC236}">
                <a16:creationId xmlns:a16="http://schemas.microsoft.com/office/drawing/2014/main" id="{6EB2D14B-1439-4895-9275-2EC2726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ปรับปรุง Perceived Latency  (Table 1, ชุดรวม)</a:t>
            </a:r>
          </a:p>
        </p:txBody>
      </p:sp>
      <p:sp>
        <p:nvSpPr>
          <p:cNvPr id="19" name="shape-128">
            <a:extLst xmlns:a="http://schemas.openxmlformats.org/drawingml/2006/main">
              <a:ext uri="{FF2B5EF4-FFF2-40B4-BE49-F238E27FC236}">
                <a16:creationId xmlns:a16="http://schemas.microsoft.com/office/drawing/2014/main" id="{EA325777-7E85-4306-9B26-73C8F1A7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472EB607-D058-41ED-9372-4C951320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0">
            <a:extLst xmlns:a="http://schemas.openxmlformats.org/drawingml/2006/main">
              <a:ext uri="{FF2B5EF4-FFF2-40B4-BE49-F238E27FC236}">
                <a16:creationId xmlns:a16="http://schemas.microsoft.com/office/drawing/2014/main" id="{E4BD3F94-7407-4981-9842-43F3C8E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TTA</a:t>
            </a:r>
          </a:p>
        </p:txBody>
      </p:sp>
      <p:sp>
        <p:nvSpPr>
          <p:cNvPr id="22" name="text-131">
            <a:extLst xmlns:a="http://schemas.openxmlformats.org/drawingml/2006/main">
              <a:ext uri="{FF2B5EF4-FFF2-40B4-BE49-F238E27FC236}">
                <a16:creationId xmlns:a16="http://schemas.microsoft.com/office/drawing/2014/main" id="{F28B6A7C-B3E4-48B8-973D-173E30C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  (Table 1, ชุดรวม)</a:t>
            </a:r>
          </a:p>
        </p:txBody>
      </p:sp>
      <p:sp>
        <p:nvSpPr>
          <p:cNvPr id="23" name="shape-132">
            <a:extLst xmlns:a="http://schemas.openxmlformats.org/drawingml/2006/main">
              <a:ext uri="{FF2B5EF4-FFF2-40B4-BE49-F238E27FC236}">
                <a16:creationId xmlns:a16="http://schemas.microsoft.com/office/drawing/2014/main" id="{3934FE43-F3A6-46C2-A06B-07D27EA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3">
            <a:extLst xmlns:a="http://schemas.openxmlformats.org/drawingml/2006/main">
              <a:ext uri="{FF2B5EF4-FFF2-40B4-BE49-F238E27FC236}">
                <a16:creationId xmlns:a16="http://schemas.microsoft.com/office/drawing/2014/main" id="{6C07B6FA-B2AC-491C-93BE-94FF44E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A599E0E1-D261-4E06-9463-9822205D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 SC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59245BA8-6293-4464-AF18-4744BA2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Trade-off ที่แลกกับความเร็ว  (Table 1, ชุดรวม)</a:t>
            </a:r>
          </a:p>
        </p:txBody>
      </p:sp>
      <p:sp>
        <p:nvSpPr>
          <p:cNvPr id="27" name="text-136">
            <a:extLst xmlns:a="http://schemas.openxmlformats.org/drawingml/2006/main">
              <a:ext uri="{FF2B5EF4-FFF2-40B4-BE49-F238E27FC236}">
                <a16:creationId xmlns:a16="http://schemas.microsoft.com/office/drawing/2014/main" id="{CA551D48-E636-4E76-ACEC-A8B1C3BA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สภาพแวดล้อมทดสอบ: MacBook Pro (M1 Pro, RAM 16 GB), Node 22.9.0, Local Server, DuckDB-WASM</a:t>
            </a:r>
          </a:p>
        </p:txBody>
      </p:sp>
      <p:sp>
        <p:nvSpPr>
          <p:cNvPr id="28" name="text-137">
            <a:extLst xmlns:a="http://schemas.openxmlformats.org/drawingml/2006/main">
              <a:ext uri="{FF2B5EF4-FFF2-40B4-BE49-F238E27FC236}">
                <a16:creationId xmlns:a16="http://schemas.microsoft.com/office/drawing/2014/main" id="{67C40DBC-4389-48C3-8A14-386C6416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67575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ข้อสังเกต: การแคชลด TTA ไปแล้ว 32.3% ขณะที่การเรนเดอร์ภาพล่วงหน้าช่วยลด TTA เพิ่มเติมอีก 1.0% เทียบกับ Baseline</a:t>
            </a:r>
          </a:p>
        </p:txBody>
      </p:sp>
    </p:spTree>
    <p:extLst>
      <p:ext uri="{BB962C8B-B14F-4D97-AF65-F5344CB8AC3E}">
        <p14:creationId xmlns:p14="http://schemas.microsoft.com/office/powerpoint/2010/main" val="296693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8">
            <a:extLst xmlns:a="http://schemas.openxmlformats.org/drawingml/2006/main">
              <a:ext uri="{FF2B5EF4-FFF2-40B4-BE49-F238E27FC236}">
                <a16:creationId xmlns:a16="http://schemas.microsoft.com/office/drawing/2014/main" id="{EDD961F4-1D40-416A-B71C-EC19A38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B03C148E-6198-4703-B365-A012616E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คุณูปการทางวิชาการและข้อจำกัดเชิงวิศวกรรม</a:t>
            </a:r>
          </a:p>
        </p:txBody>
      </p:sp>
      <p:sp>
        <p:nvSpPr>
          <p:cNvPr id="3" name="shape-140">
            <a:extLst xmlns:a="http://schemas.openxmlformats.org/drawingml/2006/main">
              <a:ext uri="{FF2B5EF4-FFF2-40B4-BE49-F238E27FC236}">
                <a16:creationId xmlns:a16="http://schemas.microsoft.com/office/drawing/2014/main" id="{FA1F7D06-43B8-4C50-A3BC-AD842018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F7D9601C-D5CD-46A4-AD87-0AD57B3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91DBA90F-9A38-4B87-A087-0A88A67A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3">
            <a:extLst xmlns:a="http://schemas.openxmlformats.org/drawingml/2006/main">
              <a:ext uri="{FF2B5EF4-FFF2-40B4-BE49-F238E27FC236}">
                <a16:creationId xmlns:a16="http://schemas.microsoft.com/office/drawing/2014/main" id="{0532D384-B29D-48E3-A3C8-B7466BBC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4">
            <a:extLst xmlns:a="http://schemas.openxmlformats.org/drawingml/2006/main">
              <a:ext uri="{FF2B5EF4-FFF2-40B4-BE49-F238E27FC236}">
                <a16:creationId xmlns:a16="http://schemas.microsoft.com/office/drawing/2014/main" id="{A10D848A-CA32-43D0-98BE-C4009847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คุณูปการทางวิชาการและจุดเด่น</a:t>
            </a:r>
          </a:p>
        </p:txBody>
      </p:sp>
      <p:sp>
        <p:nvSpPr>
          <p:cNvPr id="8" name="shape-145">
            <a:extLst xmlns:a="http://schemas.openxmlformats.org/drawingml/2006/main">
              <a:ext uri="{FF2B5EF4-FFF2-40B4-BE49-F238E27FC236}">
                <a16:creationId xmlns:a16="http://schemas.microsoft.com/office/drawing/2014/main" id="{02C85E25-C213-443F-B9E6-FF1E3945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9207B076-4423-47A7-920C-B85B11E2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ข้อจำกัดเชิงวิศวกรรม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47CD8708-4C49-4FDE-96D5-639037CD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DBC10B80-64DC-40E2-8472-9B40794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การจัดสถาปัตยกรรมแบ่งชั้นเป็นระบบ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A3B634D6-E4DE-4092-BF4A-1187608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แคชผลรวม และภาพล่วงหน้า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โดยคงไวยากรณ์การเขียนโค้ดเดิมไว้ทั้งหมด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5243F0C0-D5D5-40FB-A104-D15C6D3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E27C4ECB-C7F9-497E-A186-FEDC8E49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คอขวดกระบวนการ Client Hydration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E9B3FA6A-2EE1-49D5-8E87-5D3301B0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ยังใช้ Client-Side Rendering เต็มชุด ทำให้ TTA ลดลงไม่มาก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และยังไม่มีผลทดสอบ Progressive Hydration ในงานนี้</a:t>
            </a:r>
          </a:p>
        </p:txBody>
      </p:sp>
      <p:sp>
        <p:nvSpPr>
          <p:cNvPr id="16" name="shape-153">
            <a:extLst xmlns:a="http://schemas.openxmlformats.org/drawingml/2006/main">
              <a:ext uri="{FF2B5EF4-FFF2-40B4-BE49-F238E27FC236}">
                <a16:creationId xmlns:a16="http://schemas.microsoft.com/office/drawing/2014/main" id="{CB794394-001C-493F-AD08-FCD1623A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54">
            <a:extLst xmlns:a="http://schemas.openxmlformats.org/drawingml/2006/main">
              <a:ext uri="{FF2B5EF4-FFF2-40B4-BE49-F238E27FC236}">
                <a16:creationId xmlns:a16="http://schemas.microsoft.com/office/drawing/2014/main" id="{C13AE81B-A34B-4EBC-9C2A-6921C7E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24B2CD7D-21A5-4B8D-A277-32BAC7C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47ACA99E-3A12-4606-8066-8ED36B3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การประเมินผลครอบคลุมหลายรูปแบบ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4612C91D-4F0B-4CB2-A38B-E78780E6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ทดสอบกับ 5 ชุดแสดงผล ทั้งมุมมองเดี่ยวและแดชบอร์ด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ครอบคลุมขนาดข้อมูลตั้งแต่ 10k ถึง 10M แถว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9E2708A5-E30D-44EE-8175-39DEC47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55D55950-76B0-4B3C-AD0F-4E3AA042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ความเสี่ยงข้อมูลค้างเก่าและพื้นที่จัดเก็บ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19E7B13D-988F-4751-85F1-023D3B5B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ข้อมูลเปลี่ยนต้องสร้างใหม่ทั้งหมด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และขนาดพื้นที่จัดเก็บมีค่าเบี่ยงเบนสูง (σ = 29.9%)</a:t>
            </a:r>
          </a:p>
        </p:txBody>
      </p:sp>
      <p:sp>
        <p:nvSpPr>
          <p:cNvPr id="24" name="shape-161">
            <a:extLst xmlns:a="http://schemas.openxmlformats.org/drawingml/2006/main">
              <a:ext uri="{FF2B5EF4-FFF2-40B4-BE49-F238E27FC236}">
                <a16:creationId xmlns:a16="http://schemas.microsoft.com/office/drawing/2014/main" id="{3D3CCE3B-A0DC-4A6E-AE0B-D5B948FC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62">
            <a:extLst xmlns:a="http://schemas.openxmlformats.org/drawingml/2006/main">
              <a:ext uri="{FF2B5EF4-FFF2-40B4-BE49-F238E27FC236}">
                <a16:creationId xmlns:a16="http://schemas.microsoft.com/office/drawing/2014/main" id="{17EC2043-0854-41B7-99E7-EC7AC675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6B55457A-F4FE-444F-920F-F74CEBB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28C0C66C-B8C0-4D32-BCCE-CF5D8B3F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การรายงานผลลัพธ์รอบด้านและโปร่งใส</a:t>
            </a:r>
          </a:p>
        </p:txBody>
      </p:sp>
      <p:sp>
        <p:nvSpPr>
          <p:cNvPr id="28" name="text-165">
            <a:extLst xmlns:a="http://schemas.openxmlformats.org/drawingml/2006/main">
              <a:ext uri="{FF2B5EF4-FFF2-40B4-BE49-F238E27FC236}">
                <a16:creationId xmlns:a16="http://schemas.microsoft.com/office/drawing/2014/main" id="{8F93A8D8-CE36-4A56-A660-26F62D95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แยกตัวชี้วัด TTR ออกจาก TTA อย่างชัดเจน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(SC) ที่ต้องแลก</a:t>
            </a:r>
          </a:p>
        </p:txBody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8C3747D0-6F3E-47AE-9FF5-99AF26F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209F5EC7-2061-4BB1-9B2B-71BA9A73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ขอบเขตสภาพแวดล้อมการทดสอบ</a:t>
            </a:r>
          </a:p>
        </p:txBody>
      </p:sp>
      <p:sp>
        <p:nvSpPr>
          <p:cNvPr id="31" name="text-168">
            <a:extLst xmlns:a="http://schemas.openxmlformats.org/drawingml/2006/main">
              <a:ext uri="{FF2B5EF4-FFF2-40B4-BE49-F238E27FC236}">
                <a16:creationId xmlns:a16="http://schemas.microsoft.com/office/drawing/2014/main" id="{2F1B4356-E1AF-4164-A4A7-C35F4BB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ประเมินบนแล็ปท็อปประสิทธิภาพสูงกับ Local Server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ยังไม่ได้วัดบนเครือข่ายมือถือจริงหรือแจกแจงรอบทดสอบ</a:t>
            </a:r>
          </a:p>
        </p:txBody>
      </p:sp>
      <p:sp>
        <p:nvSpPr>
          <p:cNvPr id="32" name="text-169">
            <a:extLst xmlns:a="http://schemas.openxmlformats.org/drawingml/2006/main">
              <a:ext uri="{FF2B5EF4-FFF2-40B4-BE49-F238E27FC236}">
                <a16:creationId xmlns:a16="http://schemas.microsoft.com/office/drawing/2014/main" id="{F9680FD7-4DA0-45E1-80DC-4A7A1F3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3–6 และ Table 1, หน้า PDF 2–4</a:t>
            </a:r>
          </a:p>
        </p:txBody>
      </p:sp>
    </p:spTree>
    <p:extLst>
      <p:ext uri="{BB962C8B-B14F-4D97-AF65-F5344CB8AC3E}">
        <p14:creationId xmlns:p14="http://schemas.microsoft.com/office/powerpoint/2010/main" val="715629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0">
            <a:extLst xmlns:a="http://schemas.openxmlformats.org/drawingml/2006/main">
              <a:ext uri="{FF2B5EF4-FFF2-40B4-BE49-F238E27FC236}">
                <a16:creationId xmlns:a16="http://schemas.microsoft.com/office/drawing/2014/main" id="{861DD00D-8EAA-4EA1-979D-27147AD7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1">
            <a:extLst xmlns:a="http://schemas.openxmlformats.org/drawingml/2006/main">
              <a:ext uri="{FF2B5EF4-FFF2-40B4-BE49-F238E27FC236}">
                <a16:creationId xmlns:a16="http://schemas.microsoft.com/office/drawing/2014/main" id="{76D5CC54-8C27-4C91-83A3-25D5C9B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บทสรุปเชิงวิศวกรรมและการต่อยอดโครงงาน CPE (DivWy)</a:t>
            </a:r>
          </a:p>
        </p:txBody>
      </p:sp>
      <p:sp>
        <p:nvSpPr>
          <p:cNvPr id="3" name="shape-172">
            <a:extLst xmlns:a="http://schemas.openxmlformats.org/drawingml/2006/main">
              <a:ext uri="{FF2B5EF4-FFF2-40B4-BE49-F238E27FC236}">
                <a16:creationId xmlns:a16="http://schemas.microsoft.com/office/drawing/2014/main" id="{747FF8DA-767E-4925-B4DB-EF12FA80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3">
            <a:extLst xmlns:a="http://schemas.openxmlformats.org/drawingml/2006/main">
              <a:ext uri="{FF2B5EF4-FFF2-40B4-BE49-F238E27FC236}">
                <a16:creationId xmlns:a16="http://schemas.microsoft.com/office/drawing/2014/main" id="{D0E4641E-D90C-4872-B7CE-BB0959C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0620017E-0B70-4176-8B9A-3625FBE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5">
            <a:extLst xmlns:a="http://schemas.openxmlformats.org/drawingml/2006/main">
              <a:ext uri="{FF2B5EF4-FFF2-40B4-BE49-F238E27FC236}">
                <a16:creationId xmlns:a16="http://schemas.microsoft.com/office/drawing/2014/main" id="{563A3575-CB42-4D72-B038-D0564109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6">
            <a:extLst xmlns:a="http://schemas.openxmlformats.org/drawingml/2006/main">
              <a:ext uri="{FF2B5EF4-FFF2-40B4-BE49-F238E27FC236}">
                <a16:creationId xmlns:a16="http://schemas.microsoft.com/office/drawing/2014/main" id="{C5632D4C-E2C8-4016-BADB-73AAB565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บทสรุปสำคัญเชิงสถาปัตยกรรม</a:t>
            </a:r>
          </a:p>
        </p:txBody>
      </p:sp>
      <p:sp>
        <p:nvSpPr>
          <p:cNvPr id="8" name="shape-177">
            <a:extLst xmlns:a="http://schemas.openxmlformats.org/drawingml/2006/main">
              <a:ext uri="{FF2B5EF4-FFF2-40B4-BE49-F238E27FC236}">
                <a16:creationId xmlns:a16="http://schemas.microsoft.com/office/drawing/2014/main" id="{2B1C074D-C248-4D3C-A19B-1E7F7EC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78">
            <a:extLst xmlns:a="http://schemas.openxmlformats.org/drawingml/2006/main">
              <a:ext uri="{FF2B5EF4-FFF2-40B4-BE49-F238E27FC236}">
                <a16:creationId xmlns:a16="http://schemas.microsoft.com/office/drawing/2014/main" id="{07AB9EEE-709E-4F72-B35C-BC9CF1D7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การต่อยอดโครงงาน CPE: DivWy</a:t>
            </a:r>
          </a:p>
        </p:txBody>
      </p:sp>
      <p:sp>
        <p:nvSpPr>
          <p:cNvPr id="10" name="text-179">
            <a:extLst xmlns:a="http://schemas.openxmlformats.org/drawingml/2006/main">
              <a:ext uri="{FF2B5EF4-FFF2-40B4-BE49-F238E27FC236}">
                <a16:creationId xmlns:a16="http://schemas.microsoft.com/office/drawing/2014/main" id="{87F3D051-23D8-4942-B6D4-E92FAA2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80">
            <a:extLst xmlns:a="http://schemas.openxmlformats.org/drawingml/2006/main">
              <a:ext uri="{FF2B5EF4-FFF2-40B4-BE49-F238E27FC236}">
                <a16:creationId xmlns:a16="http://schemas.microsoft.com/office/drawing/2014/main" id="{4A72A8E2-736C-4F40-8491-B79C971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Pre-computed Cache หัวใจการลด TTA</a:t>
            </a:r>
          </a:p>
        </p:txBody>
      </p:sp>
      <p:sp>
        <p:nvSpPr>
          <p:cNvPr id="12" name="text-181">
            <a:extLst xmlns:a="http://schemas.openxmlformats.org/drawingml/2006/main">
              <a:ext uri="{FF2B5EF4-FFF2-40B4-BE49-F238E27FC236}">
                <a16:creationId xmlns:a16="http://schemas.microsoft.com/office/drawing/2014/main" id="{61BB0D58-A73F-443C-B904-7F0B441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การคำนวณและแคชผลลัพธ์ Aggregation ล่วงหน้า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ช่วยตัดภาระเบราว์เซอร์ ลด TTA ลงได้ทันที 32.3%</a:t>
            </a:r>
          </a:p>
        </p:txBody>
      </p:sp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6FDAE8E5-D045-48C9-A85A-0207A195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ABDBCE15-D858-4CA3-81EC-8A842566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Scene Pre-baking</a:t>
            </a:r>
          </a:p>
        </p:txBody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F76B0CA8-A80F-42A2-8878-DFA3FD0C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เมื่อผู้แต่ง Publish นิยาย ให้ระบบ Pre-compile เลเอาต์ฉาก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และแคช Static Assets บน Edge CDN ล่วงหน้าทันที</a:t>
            </a:r>
          </a:p>
        </p:txBody>
      </p:sp>
      <p:sp>
        <p:nvSpPr>
          <p:cNvPr id="16" name="shape-185">
            <a:extLst xmlns:a="http://schemas.openxmlformats.org/drawingml/2006/main">
              <a:ext uri="{FF2B5EF4-FFF2-40B4-BE49-F238E27FC236}">
                <a16:creationId xmlns:a16="http://schemas.microsoft.com/office/drawing/2014/main" id="{F1DFF1DB-338E-4AAE-899B-143FE335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86">
            <a:extLst xmlns:a="http://schemas.openxmlformats.org/drawingml/2006/main">
              <a:ext uri="{FF2B5EF4-FFF2-40B4-BE49-F238E27FC236}">
                <a16:creationId xmlns:a16="http://schemas.microsoft.com/office/drawing/2014/main" id="{E564445A-F7ED-4711-AEF5-8ADAB7A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87">
            <a:extLst xmlns:a="http://schemas.openxmlformats.org/drawingml/2006/main">
              <a:ext uri="{FF2B5EF4-FFF2-40B4-BE49-F238E27FC236}">
                <a16:creationId xmlns:a16="http://schemas.microsoft.com/office/drawing/2014/main" id="{70D6E22F-94C4-406B-B55F-679BB17E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88">
            <a:extLst xmlns:a="http://schemas.openxmlformats.org/drawingml/2006/main">
              <a:ext uri="{FF2B5EF4-FFF2-40B4-BE49-F238E27FC236}">
                <a16:creationId xmlns:a16="http://schemas.microsoft.com/office/drawing/2014/main" id="{92909DDE-D376-429D-97D9-70453507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Initial Pre-rendering ปิดจุดอ่อน TTR</a:t>
            </a:r>
          </a:p>
        </p:txBody>
      </p:sp>
      <p:sp>
        <p:nvSpPr>
          <p:cNvPr id="20" name="text-189">
            <a:extLst xmlns:a="http://schemas.openxmlformats.org/drawingml/2006/main">
              <a:ext uri="{FF2B5EF4-FFF2-40B4-BE49-F238E27FC236}">
                <a16:creationId xmlns:a16="http://schemas.microsoft.com/office/drawing/2014/main" id="{6B9635AD-5BD0-4CDE-8B51-7F23AE6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การส่งภาพที่วาดสำเร็จช่วยลด TTR ได้ถึง 83.7%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แก้ปัญหา Perceived Latency ผู้ใช้เห็นหน้าจอทันที</a:t>
            </a:r>
          </a:p>
        </p:txBody>
      </p:sp>
      <p:sp>
        <p:nvSpPr>
          <p:cNvPr id="21" name="text-190">
            <a:extLst xmlns:a="http://schemas.openxmlformats.org/drawingml/2006/main">
              <a:ext uri="{FF2B5EF4-FFF2-40B4-BE49-F238E27FC236}">
                <a16:creationId xmlns:a16="http://schemas.microsoft.com/office/drawing/2014/main" id="{1B8F1815-A07D-41D7-8E46-EBA3F152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91">
            <a:extLst xmlns:a="http://schemas.openxmlformats.org/drawingml/2006/main">
              <a:ext uri="{FF2B5EF4-FFF2-40B4-BE49-F238E27FC236}">
                <a16:creationId xmlns:a16="http://schemas.microsoft.com/office/drawing/2014/main" id="{CDFAD701-CDC0-4101-B7B8-B63299C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Progressive Hydration สำหรับฉากนิยาย</a:t>
            </a:r>
          </a:p>
        </p:txBody>
      </p:sp>
      <p:sp>
        <p:nvSpPr>
          <p:cNvPr id="23" name="text-192">
            <a:extLst xmlns:a="http://schemas.openxmlformats.org/drawingml/2006/main">
              <a:ext uri="{FF2B5EF4-FFF2-40B4-BE49-F238E27FC236}">
                <a16:creationId xmlns:a16="http://schemas.microsoft.com/office/drawing/2014/main" id="{CFB1E7A3-EBE1-4606-B549-E4EC9EA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แสดงภาพเฟรมแรกของฉากให้เห็นทันที (&lt; 300 ms)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จากนั้นค่อยเริ่มระบบเสียง Web Audio และแอนิเมชันภาพขยับ</a:t>
            </a:r>
          </a:p>
        </p:txBody>
      </p:sp>
      <p:sp>
        <p:nvSpPr>
          <p:cNvPr id="24" name="shape-193">
            <a:extLst xmlns:a="http://schemas.openxmlformats.org/drawingml/2006/main">
              <a:ext uri="{FF2B5EF4-FFF2-40B4-BE49-F238E27FC236}">
                <a16:creationId xmlns:a16="http://schemas.microsoft.com/office/drawing/2014/main" id="{9D8EA3DE-D956-4BB6-9359-98138DA0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94">
            <a:extLst xmlns:a="http://schemas.openxmlformats.org/drawingml/2006/main">
              <a:ext uri="{FF2B5EF4-FFF2-40B4-BE49-F238E27FC236}">
                <a16:creationId xmlns:a16="http://schemas.microsoft.com/office/drawing/2014/main" id="{DC5E6D82-3108-4749-BC08-CA1F47C9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95">
            <a:extLst xmlns:a="http://schemas.openxmlformats.org/drawingml/2006/main">
              <a:ext uri="{FF2B5EF4-FFF2-40B4-BE49-F238E27FC236}">
                <a16:creationId xmlns:a16="http://schemas.microsoft.com/office/drawing/2014/main" id="{28132D70-AC54-40A7-A40C-4A276B0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96">
            <a:extLst xmlns:a="http://schemas.openxmlformats.org/drawingml/2006/main">
              <a:ext uri="{FF2B5EF4-FFF2-40B4-BE49-F238E27FC236}">
                <a16:creationId xmlns:a16="http://schemas.microsoft.com/office/drawing/2014/main" id="{0762BA70-559E-4CAD-AE24-35FDB98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ความคุ้มค่าของการแลกพื้นที่จัดเก็บ</a:t>
            </a:r>
          </a:p>
        </p:txBody>
      </p:sp>
      <p:sp>
        <p:nvSpPr>
          <p:cNvPr id="28" name="text-197">
            <a:extLst xmlns:a="http://schemas.openxmlformats.org/drawingml/2006/main">
              <a:ext uri="{FF2B5EF4-FFF2-40B4-BE49-F238E27FC236}">
                <a16:creationId xmlns:a16="http://schemas.microsoft.com/office/drawing/2014/main" id="{CE801C56-5C69-461E-8B24-A65843D6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พื้นที่จัดเก็บเพิ่มขึ้นเฉลี่ย 21.2% (SC) ถือเป็น Trade-off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ที่ยอมรับได้สำหรับ Web Application ยุคใหม่</a:t>
            </a:r>
          </a:p>
        </p:txBody>
      </p:sp>
      <p:sp>
        <p:nvSpPr>
          <p:cNvPr id="29" name="text-198">
            <a:extLst xmlns:a="http://schemas.openxmlformats.org/drawingml/2006/main">
              <a:ext uri="{FF2B5EF4-FFF2-40B4-BE49-F238E27FC236}">
                <a16:creationId xmlns:a16="http://schemas.microsoft.com/office/drawing/2014/main" id="{2BDA7B2C-2553-435C-B247-C398E04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99">
            <a:extLst xmlns:a="http://schemas.openxmlformats.org/drawingml/2006/main">
              <a:ext uri="{FF2B5EF4-FFF2-40B4-BE49-F238E27FC236}">
                <a16:creationId xmlns:a16="http://schemas.microsoft.com/office/drawing/2014/main" id="{77AB1083-DAE8-4402-B9D5-CAD9A23C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Incremental Asset Invalidation</a:t>
            </a:r>
          </a:p>
        </p:txBody>
      </p:sp>
      <p:sp>
        <p:nvSpPr>
          <p:cNvPr id="31" name="text-200">
            <a:extLst xmlns:a="http://schemas.openxmlformats.org/drawingml/2006/main">
              <a:ext uri="{FF2B5EF4-FFF2-40B4-BE49-F238E27FC236}">
                <a16:creationId xmlns:a16="http://schemas.microsoft.com/office/drawing/2014/main" id="{004CC9A5-1BC7-448E-94FB-FAAB9BDD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ต่อยอดแนวคิดผู้วิจัย Re-generate เฉพาะฉากที่แก้เนื้อหา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ไม่ต้องสร้างใหม่ทั้งเรื่องเพื่อคุม Storage และความสดข้อมูล</a:t>
            </a:r>
          </a:p>
        </p:txBody>
      </p:sp>
      <p:sp>
        <p:nvSpPr>
          <p:cNvPr id="32" name="text-201">
            <a:extLst xmlns:a="http://schemas.openxmlformats.org/drawingml/2006/main">
              <a:ext uri="{FF2B5EF4-FFF2-40B4-BE49-F238E27FC236}">
                <a16:creationId xmlns:a16="http://schemas.microsoft.com/office/drawing/2014/main" id="{47FFBD2F-2F35-4866-A68E-7CFEBD7E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ข้อสรุปสถาปัตยกรรม: Figure 4 / Table 1   การประยุกต์ใช้: CPE Senior Project (DivWy) &amp; Sections 5–6</a:t>
            </a:r>
          </a:p>
        </p:txBody>
      </p:sp>
    </p:spTree>
    <p:extLst>
      <p:ext uri="{BB962C8B-B14F-4D97-AF65-F5344CB8AC3E}">
        <p14:creationId xmlns:p14="http://schemas.microsoft.com/office/powerpoint/2010/main" val="1050101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2026-10-05T08:12:18.2850000Z</dcterms:created>
  <dcterms:modified xsi:type="dcterms:W3CDTF">2026-10-05T08:12:18.2850000Z</dcterms:modified>
</coreProperties>
</file>