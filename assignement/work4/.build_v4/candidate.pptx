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61218830258499b" /><Relationship Type="http://schemas.openxmlformats.org/officeDocument/2006/relationships/extended-properties" Target="/docProps/app.xml" Id="Rd4d2f3c787d541ae" /><Relationship Type="http://schemas.openxmlformats.org/officeDocument/2006/relationships/officeDocument" Target="/ppt/presentation.xml" Id="R2e7a227ed38a4e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903916e4c4d4919"/>
  </p:sldMasterIdLst>
  <p:notesMasterIdLst>
    <p:notesMasterId xmlns:r="http://schemas.openxmlformats.org/officeDocument/2006/relationships" r:id="R31f57817de8d4f2f"/>
  </p:notesMasterIdLst>
  <p:sldIdLst>
    <p:sldId xmlns:r="http://schemas.openxmlformats.org/officeDocument/2006/relationships" id="256" r:id="R2cbf051e716f4477"/>
    <p:sldId xmlns:r="http://schemas.openxmlformats.org/officeDocument/2006/relationships" id="257" r:id="R43fed9cabfe74c0a"/>
    <p:sldId xmlns:r="http://schemas.openxmlformats.org/officeDocument/2006/relationships" id="258" r:id="Rb513e3f7244d4711"/>
    <p:sldId xmlns:r="http://schemas.openxmlformats.org/officeDocument/2006/relationships" id="259" r:id="Rbf57ee3efa3542e0"/>
    <p:sldId xmlns:r="http://schemas.openxmlformats.org/officeDocument/2006/relationships" id="260" r:id="Rbf4284cd8cee4e47"/>
    <p:sldId xmlns:r="http://schemas.openxmlformats.org/officeDocument/2006/relationships" id="261" r:id="R16128a73e99649e3"/>
    <p:sldId xmlns:r="http://schemas.openxmlformats.org/officeDocument/2006/relationships" id="262" r:id="Ra971af00a11846ac"/>
  </p:sldIdLst>
  <p:sldSz cx="14630400" cy="82296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4b0c4e2c330422b" /><Relationship Type="http://schemas.openxmlformats.org/officeDocument/2006/relationships/slideMaster" Target="/ppt/slideMasters/slideMaster1.xml" Id="Rb903916e4c4d4919" /><Relationship Type="http://schemas.openxmlformats.org/officeDocument/2006/relationships/notesMaster" Target="/ppt/notesMasters/notesMaster1.xml" Id="R31f57817de8d4f2f" /><Relationship Type="http://schemas.openxmlformats.org/officeDocument/2006/relationships/presProps" Target="/ppt/presProps.xml" Id="Re43ab224b24f4ced" /><Relationship Type="http://schemas.openxmlformats.org/officeDocument/2006/relationships/tableStyles" Target="/ppt/tableStyles.xml" Id="Rdc9f03f0582c44d2" /><Relationship Type="http://schemas.openxmlformats.org/officeDocument/2006/relationships/slide" Target="/ppt/slides/slide1.xml" Id="R2cbf051e716f4477" /><Relationship Type="http://schemas.openxmlformats.org/officeDocument/2006/relationships/slide" Target="/ppt/slides/slide2.xml" Id="R43fed9cabfe74c0a" /><Relationship Type="http://schemas.openxmlformats.org/officeDocument/2006/relationships/slide" Target="/ppt/slides/slide3.xml" Id="Rb513e3f7244d4711" /><Relationship Type="http://schemas.openxmlformats.org/officeDocument/2006/relationships/slide" Target="/ppt/slides/slide4.xml" Id="Rbf57ee3efa3542e0" /><Relationship Type="http://schemas.openxmlformats.org/officeDocument/2006/relationships/slide" Target="/ppt/slides/slide5.xml" Id="Rbf4284cd8cee4e47" /><Relationship Type="http://schemas.openxmlformats.org/officeDocument/2006/relationships/slide" Target="/ppt/slides/slide6.xml" Id="R16128a73e99649e3" /><Relationship Type="http://schemas.openxmlformats.org/officeDocument/2006/relationships/slide" Target="/ppt/slides/slide7.xml" Id="Ra971af00a11846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1c51f509fc24c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e87b8c65de4476b" /><Relationship Type="http://schemas.openxmlformats.org/officeDocument/2006/relationships/notesMaster" Target="/ppt/notesMasters/notesMaster1.xml" Id="R102a5c3fbcc745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12e1eb9f7dd4900" /><Relationship Type="http://schemas.openxmlformats.org/officeDocument/2006/relationships/notesMaster" Target="/ppt/notesMasters/notesMaster1.xml" Id="R0d972363511540c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5f6a9b14e3c4f51" /><Relationship Type="http://schemas.openxmlformats.org/officeDocument/2006/relationships/notesMaster" Target="/ppt/notesMasters/notesMaster1.xml" Id="R3cdfbb819cf6425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ec07d02a80b46d3" /><Relationship Type="http://schemas.openxmlformats.org/officeDocument/2006/relationships/notesMaster" Target="/ppt/notesMasters/notesMaster1.xml" Id="Re3b15c0a1de64c7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322acdfaaaa4668" /><Relationship Type="http://schemas.openxmlformats.org/officeDocument/2006/relationships/notesMaster" Target="/ppt/notesMasters/notesMaster1.xml" Id="R622658b80754430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e15799948ff4885" /><Relationship Type="http://schemas.openxmlformats.org/officeDocument/2006/relationships/notesMaster" Target="/ppt/notesMasters/notesMaster1.xml" Id="R8d3599e5f3314fe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4fb81345128411f" /><Relationship Type="http://schemas.openxmlformats.org/officeDocument/2006/relationships/notesMaster" Target="/ppt/notesMasters/notesMaster1.xml" Id="R4a521169ce4248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0–25 วินาที (25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บทความ Publish-Time Optimizations for Web-Based Visualizations ของ Ron Pechuk และ Jeffrey Heer จาก University of Washington ตีพิมพ์ใน IEEE VIS ปี 2025 ศึกษาว่าเว็บแสดงภาพข้อมูลจะเปิดเร็วขึ้นได้อย่างไร แนวคิดคือย้ายงานเตรียมข้อมูล แคช และภาพเริ่มต้นไปทำก่อนเผยแพร่ แล้วใช้ผลนั้นซ้ำเมื่อเปิดเว็บ โดยใช้ Mosaic เป็นระบบทดลอง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ชื่อเรื่องและ Abstract · PDF หน้า 1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25–65 วินาที (40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ฝั่งซ้ายมีปัญหาสามข้อ เบราว์เซอร์ต้องโหลดข้อมูล รันคิวรี และวาดภาพซ้ำ แคชที่สร้างตอนใช้งานยังว่างเมื่อเริ่มเซสชัน เรียกว่า cold start และแม้ภาพปรากฏแล้ว ระบบรับการโต้ตอบอาจยังไม่พร้อม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ฝั่งขวาจึงแยกตัวชี้วัด TTR คือเวลาตั้งแต่ขอหน้าเว็บจนชาร์ตปรากฏครบ ต่างจาก FCP ที่นับเนื้อหาแรก ส่วน TTA คือเวลาจนพร้อมรับการกรองหรือซูม เทียบแนวคิดกับ TTI ได้ แต่ไม่ใช่นิยามเดียวกัน ตัวสุดท้าย SC คือขนาดทรัพยากรทั้งหมดที่เผยแพร่ เพราะการลดเวลารอต้องดูต้นทุนพื้นที่ด้วย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§1, §3.1 · PDF หน้า 1–2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65–110 วินาที (45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Figure 1 ฝั่งซ้ายแสดงงานที่ย้ายก่อนคำขอสามกลุ่ม สีเหลืองเตรียมข้อมูล สีแดงคำนวณผลคิวรีและผลรวม สีเขียววาดภาพเริ่มต้น เมื่อขยับงานเหล่านี้ไปก่อนเปิดเว็บ ช่วงรันไทม์จึงสั้นลง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ผังล่างแสดงขั้นตอนของ Publisher เริ่มจากแปลงข้อกำหนดเป็นโครงสร้าง AST และจำลองอินพุตผ่าน Virtual DOM เพื่อค้นคิวรี จากนั้นใช้ DuckDB คำนวณและบันทึกผล แล้วแก้ AST พร้อมสร้าง JavaScript เริ่มระบบ ทรัพยากรฝั่งขวาจึงมีสามชนิด คือข้อมูลที่เตรียมแล้ว ผลคิวรีกับผลรวมที่เติมผ่าน Coordinator และภาพพร้อมสคริปต์โต้ตอบ การเติมแคชทำผ่านตัวกลางได้ แต่การเปลี่ยนแหล่งข้อมูลต้องแก้ข้อกำหนดเฉพาะส่วน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Figure 1, §4.1–4.3 · PDF หน้า 1, 3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110–155 วินาที (45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Figure 4 แยกเวลาเฉลี่ยบนข้อมูลสิบล้านแถวเป็นเครือข่าย การวาดภาพ hydration และ activation เมื่อส่งภาพล่วงหน้า งานวาดตอนเปิดหน้าลดลง แต่ยังเหลือส่วน hydration ขนาดมาก ผังล่างจึงแยกจุด TTR ที่ภาพปรากฏครบ ออกจากจุด TTA ที่ระบบพร้อมกรองหรือซูม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ฝั่งขวาเปรียบเทียบสองมุมมอง ภาพสถิตส่งเนื้อหาที่วาดแล้วได้โดยไม่เพิ่มตรรกะโต้ตอบ ส่วนภาพโต้ตอบต้องเริ่มคอมโพเนนต์ฝั่งเบราว์เซอร์ วิธีทดลองใช้กระบวนการสร้างคอมโพเนนต์มาตรฐาน จึงมีต้นทุนใกล้การเรนเดอร์เต็มชุด นี่อธิบายว่าภาพมาเร็วมาก แต่ TTA ลดเพิ่มจากแคชเพียงเล็กน้อย วิธี hydration ที่ละเอียดขึ้นยังเป็นงานอนาคต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§4.3, Figure 4, §5 · PDF หน้า 3–4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155–215 วินาที (60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กราฟซ้ายทดสอบภาพห้ารูปแบบ ตั้งแต่หนึ่งหมื่นถึงสิบล้านแถว แถวบนคือ TTR แถวล่างคือ TTA เส้นเป็นมัธยฐานและเงาเป็น IQR เส้นภาพล่วงหน้าแยกต่ำชัดในกราฟบน แต่กราฟล่างยังมีต้นทุนเปิดระบบโต้ตอบ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ตารางขวาเป็นค่าเฉลี่ยการเปลี่ยนแปลงร้อยละเทียบ none พร้อมส่วนเบี่ยงเบนมาตรฐาน จึงเป็นคนละสถิติกับกราฟ +prep ช่วยน้อยในชุดที่ไม่มีคอลัมน์เกินหรืองานเตรียมหนัก +cache ลด TTA เฉลี่ย 32.3 เปอร์เซ็นต์ ส่วนชุดรวม +most ซึ่งในกราฟเรียก +prerender ลด TTR 83.7 และ TTA 33.3 เปอร์เซ็นต์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การลดเวลาในชุดรวมแลกกับพื้นที่เพิ่มเฉลี่ย 21.2 เปอร์เซ็นต์ และส่วนเบี่ยงเบนมาตรฐาน 29.9 เปอร์เซ็นต์ จึงมีต้นทุนพื้นที่ต่างกันมากระหว่างกรณี ผลลด TTA เพิ่มจากแคชคือหนึ่งจุดเปอร์เซ็นต์เมื่อใช้ฐานเดียวกัน ผลนี้วัดบน M1 Pro และ local server ไม่ใช่การรับรองผลบนทุกอุปกรณ์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Figure 3–4, Table 1, §5 · PDF หน้า 4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215–250 วินาที (35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ฝั่งซ้ายสรุปผลงานสามข้อ มีกลไก Publisher ที่ใช้ได้จริง แยกกรอบ TTR TTA และ SC และทดสอบแบบเพิ่มระดับบนภาพห้ารูปแบบกับข้อมูลหลายขนาด จึงเห็นว่าประโยชน์มาจากงานส่วนใด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ฝั่งขวาคือข้อจำกัด เครื่องกับ local server ชุดเดียวไม่ครอบคลุมมือถือหรือ WAN ยังเหลือต้นทุน hydration และพื้นที่มีความแปรปรวน อีกทั้งข้อมูลเปลี่ยนต้องสร้างทรัพยากรใหม่ จำนวนรอบทดลองซ้ำไม่ได้ระบุใน PDF ข้อจำกัดเหล่านี้จำกัดการขยายผล แต่ไม่ได้หักล้างผลที่วัดในชุดทดลอง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§3–5 · PDF หน้า 2–4; ข้อจำกัดตามสภาพแวดล้อมและข้อมูลที่รายงาน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250–295 วินาที (45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ผลทดลองด้านซ้ายสรุปว่า แคชกับผลรวมล่วงหน้าลดงานคิวรีก่อนพร้อมโต้ตอบ ส่วนภาพล่วงหน้าทำให้เห็นข้อมูลเร็วขึ้น แต่ยังต้องเริ่มคอมโพเนนต์โต้ตอบ ผลลด TTR จึงมากกว่า TTA และมีพื้นที่จัดเก็บเพิ่มที่ต่างกันตามกรณี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ฝั่งขวาคือแนวทางที่ทีมวิจัยเสนอ หนึ่ง ศึกษา hydration ที่ละเอียดขึ้นเพื่อลดงานเริ่มคอมโพเนนต์ สอง ผสานช่วงเผยแพร่กับรันไทม์และสร้างทรัพยากรใหม่เฉพาะส่วนที่เปลี่ยน สาม เลือกระดับการปรับปรุงจากข้อมูลและข้อกำหนดภาพโดยอัตโนมัติ ทั้งสามยังเป็นทิศทางอนาคต ข้อค้นพบของบทความนี้คือการย้ายงานไปก่อนเซสชันช่วยลดเวลารอได้จริงในชุดทดสอบ โดยต้องประเมินต้นทุนที่ย้ายไปด้วย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Table 1, Figure 4, §5–6 · PDF หน้า 4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8d115cb8eb488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40d9b336bf4467" /><Relationship Type="http://schemas.openxmlformats.org/officeDocument/2006/relationships/slideLayout" Target="/ppt/slideLayouts/slideLayout1.xml" Id="Rc92977036dfb481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92977036dfb481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0b58c9fd644475" /><Relationship Type="http://schemas.openxmlformats.org/officeDocument/2006/relationships/notesSlide" Target="/ppt/notesSlides/notesSlide1.xml" Id="R837cf8a409d7420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774d4414ea458c" /><Relationship Type="http://schemas.openxmlformats.org/officeDocument/2006/relationships/notesSlide" Target="/ppt/notesSlides/notesSlide2.xml" Id="R3a7440d46629433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3ed8e787ea4c44" /><Relationship Type="http://schemas.openxmlformats.org/officeDocument/2006/relationships/image" Target="/ppt/media/image.png" Id="Racd008cd2c9b48a5" /><Relationship Type="http://schemas.openxmlformats.org/officeDocument/2006/relationships/notesSlide" Target="/ppt/notesSlides/notesSlide3.xml" Id="R3d66fdbb648342f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b90800df3f44b8" /><Relationship Type="http://schemas.openxmlformats.org/officeDocument/2006/relationships/image" Target="/ppt/media/image2.png" Id="Rdbdb3df13bde4793" /><Relationship Type="http://schemas.openxmlformats.org/officeDocument/2006/relationships/notesSlide" Target="/ppt/notesSlides/notesSlide4.xml" Id="Ree47c0bf29694e7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91f257bd884c6c" /><Relationship Type="http://schemas.openxmlformats.org/officeDocument/2006/relationships/image" Target="/ppt/media/image3.png" Id="R836341958edf495a" /><Relationship Type="http://schemas.openxmlformats.org/officeDocument/2006/relationships/notesSlide" Target="/ppt/notesSlides/notesSlide5.xml" Id="R55334cdf7e804b4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22df8c04614e8b" /><Relationship Type="http://schemas.openxmlformats.org/officeDocument/2006/relationships/notesSlide" Target="/ppt/notesSlides/notesSlide6.xml" Id="Rc548492183c8497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be2c7813644c86" /><Relationship Type="http://schemas.openxmlformats.org/officeDocument/2006/relationships/notesSlide" Target="/ppt/notesSlides/notesSlide7.xml" Id="R36f88c5253024b8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">
            <a:extLst xmlns:a="http://schemas.openxmlformats.org/drawingml/2006/main">
              <a:ext uri="{FF2B5EF4-FFF2-40B4-BE49-F238E27FC236}">
                <a16:creationId xmlns:a16="http://schemas.microsoft.com/office/drawing/2014/main" id="{F06FDCB6-572D-4FFB-8376-725935D5E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71625"/>
            <a:ext cx="1272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305432 เครือข่ายเซนเซอร์ (Sensor Networks)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7BA1D046-01F9-4CBE-9C20-7666181D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12725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4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34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Publish-Time Optimizations</a:t>
            </a:r>
          </a:p>
          <a:p xmlns:a="http://schemas.openxmlformats.org/drawingml/2006/main">
            <a:pPr algn="ctr">
              <a:defRPr sz="34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34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for Web-Based Visualizations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151D7FE1-A05A-431B-A08B-338FD9F4F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1272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การเพิ่มประสิทธิภาพเว็บแสดงภาพข้อมูลเชิงโต้ตอบด้วยการประมวลผลล่วงหน้าช่วงเผยแพร่</a:t>
            </a:r>
          </a:p>
        </p:txBody>
      </p:sp>
      <p:sp>
        <p:nvSpPr>
          <p:cNvPr id="4" name="shape-4">
            <a:extLst xmlns:a="http://schemas.openxmlformats.org/drawingml/2006/main">
              <a:ext uri="{FF2B5EF4-FFF2-40B4-BE49-F238E27FC236}">
                <a16:creationId xmlns:a16="http://schemas.microsoft.com/office/drawing/2014/main" id="{7E1F7F88-D5BA-4FDC-B1CD-BCDA303A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86250"/>
            <a:ext cx="2019300" cy="33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noFill/>
          </a:ln>
        </p:spPr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FCDB4DE8-9B8F-40FF-9BD8-CED3F54EA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12725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Ron Pechuk, Jeffrey Heer</a:t>
            </a:r>
          </a:p>
          <a:p xmlns:a="http://schemas.openxmlformats.org/drawingml/2006/main">
            <a:pPr algn="ctr">
              <a:def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University of Washington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558CD477-8E31-4433-865F-1C854B211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1272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2025 IEEE Visualization and Visual Analytics (VIS), pp. 226–230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149A82B1-6DE2-4227-92DA-05BCC44E5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24550"/>
            <a:ext cx="1272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IEEE Doc ID: 11298742     DOI: 10.1109/VIS60296.2025.00051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549B0636-3C27-4BE3-8183-BD0F1BC39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743700"/>
            <a:ext cx="12725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นำเสนอโดย นายธีรภัทร ภู่ระย้า     รหัสนิสิต 66362416</a:t>
            </a:r>
          </a:p>
        </p:txBody>
      </p:sp>
    </p:spTree>
    <p:extLst>
      <p:ext uri="{BB962C8B-B14F-4D97-AF65-F5344CB8AC3E}">
        <p14:creationId xmlns:p14="http://schemas.microsoft.com/office/powerpoint/2010/main" val="19815692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hape-9">
            <a:extLst xmlns:a="http://schemas.openxmlformats.org/drawingml/2006/main">
              <a:ext uri="{FF2B5EF4-FFF2-40B4-BE49-F238E27FC236}">
                <a16:creationId xmlns:a16="http://schemas.microsoft.com/office/drawing/2014/main" id="{1A055DB4-D27E-4194-AFCF-89ABC5C5B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" name="text-10">
            <a:extLst xmlns:a="http://schemas.openxmlformats.org/drawingml/2006/main">
              <a:ext uri="{FF2B5EF4-FFF2-40B4-BE49-F238E27FC236}">
                <a16:creationId xmlns:a16="http://schemas.microsoft.com/office/drawing/2014/main" id="{81B29BD2-FA6A-4115-9917-EAA995A53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"/>
            <a:ext cx="1298448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rPr>
              <a:t>ที่มา ปัญหาความหน่วง และตัวชี้วัด</a:t>
            </a:r>
          </a:p>
        </p:txBody>
      </p:sp>
      <p:sp>
        <p:nvSpPr>
          <p:cNvPr id="3" name="shape-11">
            <a:extLst xmlns:a="http://schemas.openxmlformats.org/drawingml/2006/main">
              <a:ext uri="{FF2B5EF4-FFF2-40B4-BE49-F238E27FC236}">
                <a16:creationId xmlns:a16="http://schemas.microsoft.com/office/drawing/2014/main" id="{5CFB6CB1-947F-4CB2-80DD-39647FFEA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8120"/>
            <a:ext cx="1463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4" name="text-12">
            <a:extLst xmlns:a="http://schemas.openxmlformats.org/drawingml/2006/main">
              <a:ext uri="{FF2B5EF4-FFF2-40B4-BE49-F238E27FC236}">
                <a16:creationId xmlns:a16="http://schemas.microsoft.com/office/drawing/2014/main" id="{2C58E1F3-1BAD-4810-A7FE-EDF6A5B07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972425"/>
            <a:ext cx="1200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เอกสารอ้างอิง: Pechuk &amp; Heer, IEEE VIS 2025 (IEEE Doc ID: 11298742)</a:t>
            </a:r>
          </a:p>
        </p:txBody>
      </p:sp>
      <p:sp>
        <p:nvSpPr>
          <p:cNvPr id="5" name="text-13">
            <a:extLst xmlns:a="http://schemas.openxmlformats.org/drawingml/2006/main">
              <a:ext uri="{FF2B5EF4-FFF2-40B4-BE49-F238E27FC236}">
                <a16:creationId xmlns:a16="http://schemas.microsoft.com/office/drawing/2014/main" id="{28672BCB-5DCF-43CB-AAB2-DC91A0AD4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79533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6" name="shape-14">
            <a:extLst xmlns:a="http://schemas.openxmlformats.org/drawingml/2006/main">
              <a:ext uri="{FF2B5EF4-FFF2-40B4-BE49-F238E27FC236}">
                <a16:creationId xmlns:a16="http://schemas.microsoft.com/office/drawing/2014/main" id="{F83DBE37-356F-45DE-86B1-9EEF15116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238250"/>
            <a:ext cx="6324600" cy="5953125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text-15">
            <a:extLst xmlns:a="http://schemas.openxmlformats.org/drawingml/2006/main">
              <a:ext uri="{FF2B5EF4-FFF2-40B4-BE49-F238E27FC236}">
                <a16:creationId xmlns:a16="http://schemas.microsoft.com/office/drawing/2014/main" id="{C19548DF-4709-4ED5-8230-8DF65BDA0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14668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ปัญหาเมื่อเปิดเว็บแสดงภาพข้อมูล</a:t>
            </a:r>
          </a:p>
        </p:txBody>
      </p:sp>
      <p:sp>
        <p:nvSpPr>
          <p:cNvPr id="8" name="text-16">
            <a:extLst xmlns:a="http://schemas.openxmlformats.org/drawingml/2006/main">
              <a:ext uri="{FF2B5EF4-FFF2-40B4-BE49-F238E27FC236}">
                <a16:creationId xmlns:a16="http://schemas.microsoft.com/office/drawing/2014/main" id="{BC920B47-8E4F-410C-B2B1-1FDA938D6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20383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9" name="text-17">
            <a:extLst xmlns:a="http://schemas.openxmlformats.org/drawingml/2006/main">
              <a:ext uri="{FF2B5EF4-FFF2-40B4-BE49-F238E27FC236}">
                <a16:creationId xmlns:a16="http://schemas.microsoft.com/office/drawing/2014/main" id="{ECE45015-3E5C-488A-A3DB-756491FCD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20383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แต่ละเซสชันต้องคำนวณข้อมูลใหม่</a:t>
            </a:r>
          </a:p>
        </p:txBody>
      </p:sp>
      <p:sp>
        <p:nvSpPr>
          <p:cNvPr id="10" name="text-18">
            <a:extLst xmlns:a="http://schemas.openxmlformats.org/drawingml/2006/main">
              <a:ext uri="{FF2B5EF4-FFF2-40B4-BE49-F238E27FC236}">
                <a16:creationId xmlns:a16="http://schemas.microsoft.com/office/drawing/2014/main" id="{4E9B9F6E-DDA7-4E25-AD4A-94E6238CC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23812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เมื่อเปิดเว็บ เบราว์เซอร์ต้องโหลดข้อมูล รันคิวรี และวาดภาพ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การทำงานซ้ำนี้เพิ่มเวลารอ โดยเฉพาะกับข้อมูลขนาดใหญ่</a:t>
            </a:r>
          </a:p>
        </p:txBody>
      </p:sp>
      <p:sp>
        <p:nvSpPr>
          <p:cNvPr id="11" name="shape-19">
            <a:extLst xmlns:a="http://schemas.openxmlformats.org/drawingml/2006/main">
              <a:ext uri="{FF2B5EF4-FFF2-40B4-BE49-F238E27FC236}">
                <a16:creationId xmlns:a16="http://schemas.microsoft.com/office/drawing/2014/main" id="{494D86B6-6829-40DD-8445-ED9DF765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360997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12" name="text-20">
            <a:extLst xmlns:a="http://schemas.openxmlformats.org/drawingml/2006/main">
              <a:ext uri="{FF2B5EF4-FFF2-40B4-BE49-F238E27FC236}">
                <a16:creationId xmlns:a16="http://schemas.microsoft.com/office/drawing/2014/main" id="{5AC14880-FAC1-44EB-96CE-615DD676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38100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13" name="text-21">
            <a:extLst xmlns:a="http://schemas.openxmlformats.org/drawingml/2006/main">
              <a:ext uri="{FF2B5EF4-FFF2-40B4-BE49-F238E27FC236}">
                <a16:creationId xmlns:a16="http://schemas.microsoft.com/office/drawing/2014/main" id="{2956BD99-665B-46D5-91ED-50ECE317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381000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แคชยังไม่พร้อมในช่วงเริ่มเซสชัน</a:t>
            </a:r>
          </a:p>
        </p:txBody>
      </p:sp>
      <p:sp>
        <p:nvSpPr>
          <p:cNvPr id="14" name="text-22">
            <a:extLst xmlns:a="http://schemas.openxmlformats.org/drawingml/2006/main">
              <a:ext uri="{FF2B5EF4-FFF2-40B4-BE49-F238E27FC236}">
                <a16:creationId xmlns:a16="http://schemas.microsoft.com/office/drawing/2014/main" id="{E68D0501-7FE0-42C7-8061-E72D19A50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415290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แคชที่สร้างระหว่างใช้งานยังไม่มีผลให้ใช้ตอนเริ่มต้น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จึงต้องรอคำนวณก่อน แม้คำขอถัดไปจะใช้แคชได้ (Cold Start)</a:t>
            </a:r>
          </a:p>
        </p:txBody>
      </p:sp>
      <p:sp>
        <p:nvSpPr>
          <p:cNvPr id="15" name="shape-23">
            <a:extLst xmlns:a="http://schemas.openxmlformats.org/drawingml/2006/main">
              <a:ext uri="{FF2B5EF4-FFF2-40B4-BE49-F238E27FC236}">
                <a16:creationId xmlns:a16="http://schemas.microsoft.com/office/drawing/2014/main" id="{4E81C6B2-41FA-40CD-A00D-F0C35BBA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538162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16" name="text-24">
            <a:extLst xmlns:a="http://schemas.openxmlformats.org/drawingml/2006/main">
              <a:ext uri="{FF2B5EF4-FFF2-40B4-BE49-F238E27FC236}">
                <a16:creationId xmlns:a16="http://schemas.microsoft.com/office/drawing/2014/main" id="{2499A2AC-BA2A-4D18-8571-9D6E86E3C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55816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17" name="text-25">
            <a:extLst xmlns:a="http://schemas.openxmlformats.org/drawingml/2006/main">
              <a:ext uri="{FF2B5EF4-FFF2-40B4-BE49-F238E27FC236}">
                <a16:creationId xmlns:a16="http://schemas.microsoft.com/office/drawing/2014/main" id="{CA410F3D-E3B6-49A6-BC15-7C39747FA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55816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ภาพแสดงแล้ว แต่ระบบยังรับอินพุตไม่ได้</a:t>
            </a:r>
          </a:p>
        </p:txBody>
      </p:sp>
      <p:sp>
        <p:nvSpPr>
          <p:cNvPr id="18" name="text-26">
            <a:extLst xmlns:a="http://schemas.openxmlformats.org/drawingml/2006/main">
              <a:ext uri="{FF2B5EF4-FFF2-40B4-BE49-F238E27FC236}">
                <a16:creationId xmlns:a16="http://schemas.microsoft.com/office/drawing/2014/main" id="{B3BF0D0A-FE75-4F17-96C2-79DD4898D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59245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การกรองหรือซูมต้องรอคอมโพเนนต์และตัวกลางคิวรีเริ่มทำงาน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การเห็นภาพจึงไม่เท่ากับระบบพร้อมรับการโต้ตอบ</a:t>
            </a:r>
          </a:p>
        </p:txBody>
      </p:sp>
      <p:sp>
        <p:nvSpPr>
          <p:cNvPr id="19" name="shape-27">
            <a:extLst xmlns:a="http://schemas.openxmlformats.org/drawingml/2006/main">
              <a:ext uri="{FF2B5EF4-FFF2-40B4-BE49-F238E27FC236}">
                <a16:creationId xmlns:a16="http://schemas.microsoft.com/office/drawing/2014/main" id="{ED16590B-ED2F-41B2-89B6-B89540B3B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1238250"/>
            <a:ext cx="6324600" cy="5953125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0" name="text-28">
            <a:extLst xmlns:a="http://schemas.openxmlformats.org/drawingml/2006/main">
              <a:ext uri="{FF2B5EF4-FFF2-40B4-BE49-F238E27FC236}">
                <a16:creationId xmlns:a16="http://schemas.microsoft.com/office/drawing/2014/main" id="{09AD6957-B050-48AD-80A5-4480F0F32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14668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ตัวชี้วัดเวลาและพื้นที่จัดเก็บ</a:t>
            </a:r>
          </a:p>
        </p:txBody>
      </p:sp>
      <p:sp>
        <p:nvSpPr>
          <p:cNvPr id="21" name="text-29">
            <a:extLst xmlns:a="http://schemas.openxmlformats.org/drawingml/2006/main">
              <a:ext uri="{FF2B5EF4-FFF2-40B4-BE49-F238E27FC236}">
                <a16:creationId xmlns:a16="http://schemas.microsoft.com/office/drawing/2014/main" id="{7616DB2E-4187-4BED-84BF-95D4A0441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20383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22" name="text-30">
            <a:extLst xmlns:a="http://schemas.openxmlformats.org/drawingml/2006/main">
              <a:ext uri="{FF2B5EF4-FFF2-40B4-BE49-F238E27FC236}">
                <a16:creationId xmlns:a16="http://schemas.microsoft.com/office/drawing/2014/main" id="{593F76CE-2931-4E71-8A4A-1AE41ED9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20383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TTR: เวลาจนภาพข้อมูลปรากฏครบ</a:t>
            </a:r>
          </a:p>
        </p:txBody>
      </p:sp>
      <p:sp>
        <p:nvSpPr>
          <p:cNvPr id="23" name="text-31">
            <a:extLst xmlns:a="http://schemas.openxmlformats.org/drawingml/2006/main">
              <a:ext uri="{FF2B5EF4-FFF2-40B4-BE49-F238E27FC236}">
                <a16:creationId xmlns:a16="http://schemas.microsoft.com/office/drawing/2014/main" id="{ECD86647-128E-4E65-9F82-384CEB85B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23812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Time-to-Render วัดตั้งแต่ส่งคำขอจนภาพข้อมูลครบถ้วน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ต่างจาก FCP ซึ่งนับเนื้อหาแรกที่ปรากฏบนหน้าเว็บ</a:t>
            </a:r>
          </a:p>
        </p:txBody>
      </p:sp>
      <p:sp>
        <p:nvSpPr>
          <p:cNvPr id="24" name="shape-32">
            <a:extLst xmlns:a="http://schemas.openxmlformats.org/drawingml/2006/main">
              <a:ext uri="{FF2B5EF4-FFF2-40B4-BE49-F238E27FC236}">
                <a16:creationId xmlns:a16="http://schemas.microsoft.com/office/drawing/2014/main" id="{78060AF7-2978-401E-A74C-7B0E6B22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360997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5" name="text-33">
            <a:extLst xmlns:a="http://schemas.openxmlformats.org/drawingml/2006/main">
              <a:ext uri="{FF2B5EF4-FFF2-40B4-BE49-F238E27FC236}">
                <a16:creationId xmlns:a16="http://schemas.microsoft.com/office/drawing/2014/main" id="{BCFF7EDB-0F0C-4F9E-863E-0337D3BD9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38100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26" name="text-34">
            <a:extLst xmlns:a="http://schemas.openxmlformats.org/drawingml/2006/main">
              <a:ext uri="{FF2B5EF4-FFF2-40B4-BE49-F238E27FC236}">
                <a16:creationId xmlns:a16="http://schemas.microsoft.com/office/drawing/2014/main" id="{64EE2DA7-4025-43EB-992C-CA1D4ABC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381000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TTA: เวลาจนระบบพร้อมโต้ตอบ</a:t>
            </a:r>
          </a:p>
        </p:txBody>
      </p:sp>
      <p:sp>
        <p:nvSpPr>
          <p:cNvPr id="27" name="text-35">
            <a:extLst xmlns:a="http://schemas.openxmlformats.org/drawingml/2006/main">
              <a:ext uri="{FF2B5EF4-FFF2-40B4-BE49-F238E27FC236}">
                <a16:creationId xmlns:a16="http://schemas.microsoft.com/office/drawing/2014/main" id="{351BF9FE-8597-4182-A2E4-06890574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415290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Time-to-Activation วัดจนพร้อมรับการเลือก กรอง หรือซูม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เทียบแนวคิดกับ TTI แต่ไม่ใช่เวลาประมวลผลทุกการคลิก</a:t>
            </a:r>
          </a:p>
        </p:txBody>
      </p:sp>
      <p:sp>
        <p:nvSpPr>
          <p:cNvPr id="28" name="shape-36">
            <a:extLst xmlns:a="http://schemas.openxmlformats.org/drawingml/2006/main">
              <a:ext uri="{FF2B5EF4-FFF2-40B4-BE49-F238E27FC236}">
                <a16:creationId xmlns:a16="http://schemas.microsoft.com/office/drawing/2014/main" id="{E99E44E1-3C20-493C-BE58-A5A619B5B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538162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9" name="text-37">
            <a:extLst xmlns:a="http://schemas.openxmlformats.org/drawingml/2006/main">
              <a:ext uri="{FF2B5EF4-FFF2-40B4-BE49-F238E27FC236}">
                <a16:creationId xmlns:a16="http://schemas.microsoft.com/office/drawing/2014/main" id="{41DF9CB2-8CD6-4634-B58D-16808B47C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55816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30" name="text-38">
            <a:extLst xmlns:a="http://schemas.openxmlformats.org/drawingml/2006/main">
              <a:ext uri="{FF2B5EF4-FFF2-40B4-BE49-F238E27FC236}">
                <a16:creationId xmlns:a16="http://schemas.microsoft.com/office/drawing/2014/main" id="{51075845-BC99-47FB-94A0-26B124E1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55816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SC: ขนาดทรัพยากรทั้งหมดที่เผยแพร่</a:t>
            </a:r>
          </a:p>
        </p:txBody>
      </p:sp>
      <p:sp>
        <p:nvSpPr>
          <p:cNvPr id="31" name="text-39">
            <a:extLst xmlns:a="http://schemas.openxmlformats.org/drawingml/2006/main">
              <a:ext uri="{FF2B5EF4-FFF2-40B4-BE49-F238E27FC236}">
                <a16:creationId xmlns:a16="http://schemas.microsoft.com/office/drawing/2014/main" id="{8351259A-CB56-42A4-9234-D021235C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59245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Storage Cost รวมข้อมูล สคริปต์ ภาพ และผลคำนวณล่วงหน้า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ใช้เทียบกับกรณีไม่ปรับปรุง (none) เพื่อประเมินต้นทุนพื้นที่</a:t>
            </a:r>
          </a:p>
        </p:txBody>
      </p:sp>
      <p:sp>
        <p:nvSpPr>
          <p:cNvPr id="32" name="text-40">
            <a:extLst xmlns:a="http://schemas.openxmlformats.org/drawingml/2006/main">
              <a:ext uri="{FF2B5EF4-FFF2-40B4-BE49-F238E27FC236}">
                <a16:creationId xmlns:a16="http://schemas.microsoft.com/office/drawing/2014/main" id="{45FB7EF8-5678-48A9-B3AE-3B2308E99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315200"/>
            <a:ext cx="129844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ที่มา: Sections 1 และ 3.1 (หน้า PDF 1–2)</a:t>
            </a:r>
          </a:p>
        </p:txBody>
      </p:sp>
    </p:spTree>
    <p:extLst>
      <p:ext uri="{BB962C8B-B14F-4D97-AF65-F5344CB8AC3E}">
        <p14:creationId xmlns:p14="http://schemas.microsoft.com/office/powerpoint/2010/main" val="17599338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-41">
            <a:extLst xmlns:a="http://schemas.openxmlformats.org/drawingml/2006/main">
              <a:ext uri="{FF2B5EF4-FFF2-40B4-BE49-F238E27FC236}">
                <a16:creationId xmlns:a16="http://schemas.microsoft.com/office/drawing/2014/main" id="{7E17CFF2-A053-4B1E-9E6B-2BFE65610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" name="text-42">
            <a:extLst xmlns:a="http://schemas.openxmlformats.org/drawingml/2006/main">
              <a:ext uri="{FF2B5EF4-FFF2-40B4-BE49-F238E27FC236}">
                <a16:creationId xmlns:a16="http://schemas.microsoft.com/office/drawing/2014/main" id="{21F2B9AA-1E1F-457A-ABEF-E10325F26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"/>
            <a:ext cx="1298448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rPr>
              <a:t>สถาปัตยกรรม Mosaic Publisher</a:t>
            </a:r>
          </a:p>
        </p:txBody>
      </p:sp>
      <p:sp>
        <p:nvSpPr>
          <p:cNvPr id="3" name="shape-43">
            <a:extLst xmlns:a="http://schemas.openxmlformats.org/drawingml/2006/main">
              <a:ext uri="{FF2B5EF4-FFF2-40B4-BE49-F238E27FC236}">
                <a16:creationId xmlns:a16="http://schemas.microsoft.com/office/drawing/2014/main" id="{EC6EA50E-140B-40DB-9538-C84D40D1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8120"/>
            <a:ext cx="1463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4" name="text-44">
            <a:extLst xmlns:a="http://schemas.openxmlformats.org/drawingml/2006/main">
              <a:ext uri="{FF2B5EF4-FFF2-40B4-BE49-F238E27FC236}">
                <a16:creationId xmlns:a16="http://schemas.microsoft.com/office/drawing/2014/main" id="{A40E1491-39C5-4172-B4EE-D90B3C1A2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972425"/>
            <a:ext cx="1200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เอกสารอ้างอิง: Pechuk &amp; Heer, IEEE VIS 2025 (IEEE Doc ID: 11298742)</a:t>
            </a:r>
          </a:p>
        </p:txBody>
      </p:sp>
      <p:sp>
        <p:nvSpPr>
          <p:cNvPr id="5" name="text-45">
            <a:extLst xmlns:a="http://schemas.openxmlformats.org/drawingml/2006/main">
              <a:ext uri="{FF2B5EF4-FFF2-40B4-BE49-F238E27FC236}">
                <a16:creationId xmlns:a16="http://schemas.microsoft.com/office/drawing/2014/main" id="{30D1B65C-4468-4EE3-A6DD-F5DA5E47E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79533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6" name="shape-46">
            <a:extLst xmlns:a="http://schemas.openxmlformats.org/drawingml/2006/main">
              <a:ext uri="{FF2B5EF4-FFF2-40B4-BE49-F238E27FC236}">
                <a16:creationId xmlns:a16="http://schemas.microsoft.com/office/drawing/2014/main" id="{8B01E42C-15CD-4E96-8937-747EA528F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238250"/>
            <a:ext cx="8229600" cy="3667125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text-47">
            <a:extLst xmlns:a="http://schemas.openxmlformats.org/drawingml/2006/main">
              <a:ext uri="{FF2B5EF4-FFF2-40B4-BE49-F238E27FC236}">
                <a16:creationId xmlns:a16="http://schemas.microsoft.com/office/drawing/2014/main" id="{3D3274DF-A0E1-42AC-9DC8-E32F0DB1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1466850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งานสามกลุ่มที่ย้ายไปทำก่อนเปิดเว็บ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d008cd2c9b48a5"/>
          <a:stretch xmlns:a="http://schemas.openxmlformats.org/drawingml/2006/main"/>
        </p:blipFill>
        <p:spPr>
          <a:xfrm xmlns:a="http://schemas.openxmlformats.org/drawingml/2006/main">
            <a:off x="1270469" y="1866900"/>
            <a:ext cx="7334582" cy="2428875"/>
          </a:xfrm>
          <a:prstGeom xmlns:a="http://schemas.openxmlformats.org/drawingml/2006/main" prst="rect">
            <a:avLst/>
          </a:prstGeom>
        </p:spPr>
      </p:pic>
      <p:sp>
        <p:nvSpPr>
          <p:cNvPr id="9" name="text-48">
            <a:extLst xmlns:a="http://schemas.openxmlformats.org/drawingml/2006/main">
              <a:ext uri="{FF2B5EF4-FFF2-40B4-BE49-F238E27FC236}">
                <a16:creationId xmlns:a16="http://schemas.microsoft.com/office/drawing/2014/main" id="{B24AA24B-D889-4B4D-A39C-222DE34E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44100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Figure 1: เตรียมข้อมูล ผลคิวรี และภาพก่อนคำขอ แล้วใช้ผลในช่วงรันไทม์ (PDF หน้า 1)</a:t>
            </a:r>
          </a:p>
        </p:txBody>
      </p:sp>
      <p:sp>
        <p:nvSpPr>
          <p:cNvPr id="10" name="shape-49">
            <a:extLst xmlns:a="http://schemas.openxmlformats.org/drawingml/2006/main">
              <a:ext uri="{FF2B5EF4-FFF2-40B4-BE49-F238E27FC236}">
                <a16:creationId xmlns:a16="http://schemas.microsoft.com/office/drawing/2014/main" id="{21E53483-36E5-4083-8BA9-1C35DB599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076825"/>
            <a:ext cx="8229600" cy="2114550"/>
          </a:xfrm>
          <a:prstGeom xmlns:a="http://schemas.openxmlformats.org/drawingml/2006/main" prst="roundRect">
            <a:avLst>
              <a:gd name="adj" fmla="val 45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1" name="text-50">
            <a:extLst xmlns:a="http://schemas.openxmlformats.org/drawingml/2006/main">
              <a:ext uri="{FF2B5EF4-FFF2-40B4-BE49-F238E27FC236}">
                <a16:creationId xmlns:a16="http://schemas.microsoft.com/office/drawing/2014/main" id="{D038075A-F58D-47B7-BA56-272573079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5305425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ขั้นตอนเตรียมทรัพยากรของ Publisher</a:t>
            </a:r>
          </a:p>
        </p:txBody>
      </p:sp>
      <p:sp>
        <p:nvSpPr>
          <p:cNvPr id="12" name="shape-51">
            <a:extLst xmlns:a="http://schemas.openxmlformats.org/drawingml/2006/main">
              <a:ext uri="{FF2B5EF4-FFF2-40B4-BE49-F238E27FC236}">
                <a16:creationId xmlns:a16="http://schemas.microsoft.com/office/drawing/2014/main" id="{015BC3DB-B4D7-4B0E-9FAE-32A1C8477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5676900"/>
            <a:ext cx="2362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3" name="text-52">
            <a:extLst xmlns:a="http://schemas.openxmlformats.org/drawingml/2006/main">
              <a:ext uri="{FF2B5EF4-FFF2-40B4-BE49-F238E27FC236}">
                <a16:creationId xmlns:a16="http://schemas.microsoft.com/office/drawing/2014/main" id="{D4EB3B60-AACE-4A1F-9F4C-957E57B04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" y="5867400"/>
            <a:ext cx="217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1. อ่านข้อกำหนด</a:t>
            </a:r>
          </a:p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และจำลองอินพุต</a:t>
            </a:r>
          </a:p>
        </p:txBody>
      </p:sp>
      <p:sp>
        <p:nvSpPr>
          <p:cNvPr id="14" name="shape-53">
            <a:extLst xmlns:a="http://schemas.openxmlformats.org/drawingml/2006/main">
              <a:ext uri="{FF2B5EF4-FFF2-40B4-BE49-F238E27FC236}">
                <a16:creationId xmlns:a16="http://schemas.microsoft.com/office/drawing/2014/main" id="{08733C55-26E2-4ED2-840E-AEF604F60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8060" y="60960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15" name="flow-arrow-54">
            <a:extLst xmlns:a="http://schemas.openxmlformats.org/drawingml/2006/main">
              <a:ext uri="{FF2B5EF4-FFF2-40B4-BE49-F238E27FC236}">
                <a16:creationId xmlns:a16="http://schemas.microsoft.com/office/drawing/2014/main" id="{E665A083-003C-4C4E-8431-C3715BFC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661410" y="6057900"/>
            <a:ext cx="7620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16" name="shape-55">
            <a:extLst xmlns:a="http://schemas.openxmlformats.org/drawingml/2006/main">
              <a:ext uri="{FF2B5EF4-FFF2-40B4-BE49-F238E27FC236}">
                <a16:creationId xmlns:a16="http://schemas.microsoft.com/office/drawing/2014/main" id="{8B7B1DA2-562D-4FE6-B6D3-418B54459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6660" y="5676900"/>
            <a:ext cx="2362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7" name="text-56">
            <a:extLst xmlns:a="http://schemas.openxmlformats.org/drawingml/2006/main">
              <a:ext uri="{FF2B5EF4-FFF2-40B4-BE49-F238E27FC236}">
                <a16:creationId xmlns:a16="http://schemas.microsoft.com/office/drawing/2014/main" id="{69063B70-17E9-4BD7-9966-81AF5B93A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910" y="5867400"/>
            <a:ext cx="217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2. ใช้ DuckDB คำนวณ</a:t>
            </a:r>
          </a:p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และบันทึกผลล่วงหน้า</a:t>
            </a:r>
          </a:p>
        </p:txBody>
      </p:sp>
      <p:sp>
        <p:nvSpPr>
          <p:cNvPr id="18" name="shape-57">
            <a:extLst xmlns:a="http://schemas.openxmlformats.org/drawingml/2006/main">
              <a:ext uri="{FF2B5EF4-FFF2-40B4-BE49-F238E27FC236}">
                <a16:creationId xmlns:a16="http://schemas.microsoft.com/office/drawing/2014/main" id="{406F840A-2C59-4C40-9B75-77E28A97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6960" y="60960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19" name="flow-arrow-58">
            <a:extLst xmlns:a="http://schemas.openxmlformats.org/drawingml/2006/main">
              <a:ext uri="{FF2B5EF4-FFF2-40B4-BE49-F238E27FC236}">
                <a16:creationId xmlns:a16="http://schemas.microsoft.com/office/drawing/2014/main" id="{46EE0DED-D78B-4C88-A301-ED4E58E3C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290310" y="6057900"/>
            <a:ext cx="7620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0" name="shape-59">
            <a:extLst xmlns:a="http://schemas.openxmlformats.org/drawingml/2006/main">
              <a:ext uri="{FF2B5EF4-FFF2-40B4-BE49-F238E27FC236}">
                <a16:creationId xmlns:a16="http://schemas.microsoft.com/office/drawing/2014/main" id="{73C32C22-8C4B-4293-AAF9-236AD2721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5560" y="5676900"/>
            <a:ext cx="2362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1" name="text-60">
            <a:extLst xmlns:a="http://schemas.openxmlformats.org/drawingml/2006/main">
              <a:ext uri="{FF2B5EF4-FFF2-40B4-BE49-F238E27FC236}">
                <a16:creationId xmlns:a16="http://schemas.microsoft.com/office/drawing/2014/main" id="{D33B8B7B-817F-460D-A878-5FB04F09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0810" y="5867400"/>
            <a:ext cx="217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3. แก้ข้อกำหนด</a:t>
            </a:r>
          </a:p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และสร้าง JavaScript</a:t>
            </a:r>
          </a:p>
        </p:txBody>
      </p:sp>
      <p:sp>
        <p:nvSpPr>
          <p:cNvPr id="22" name="text-61">
            <a:extLst xmlns:a="http://schemas.openxmlformats.org/drawingml/2006/main">
              <a:ext uri="{FF2B5EF4-FFF2-40B4-BE49-F238E27FC236}">
                <a16:creationId xmlns:a16="http://schemas.microsoft.com/office/drawing/2014/main" id="{B1528FA8-0282-4443-96A3-2781A02E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67151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วิเคราะห์โครงสร้างข้อกำหนด (AST) และจำลองอินพุตใน Virtual DOM (PDF หน้า 3)</a:t>
            </a:r>
          </a:p>
        </p:txBody>
      </p:sp>
      <p:sp>
        <p:nvSpPr>
          <p:cNvPr id="23" name="shape-62">
            <a:extLst xmlns:a="http://schemas.openxmlformats.org/drawingml/2006/main">
              <a:ext uri="{FF2B5EF4-FFF2-40B4-BE49-F238E27FC236}">
                <a16:creationId xmlns:a16="http://schemas.microsoft.com/office/drawing/2014/main" id="{684D7B59-2FBA-4A75-93AE-E7C697C4A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0" y="1238250"/>
            <a:ext cx="4419600" cy="5953125"/>
          </a:xfrm>
          <a:prstGeom xmlns:a="http://schemas.openxmlformats.org/drawingml/2006/main" prst="roundRect">
            <a:avLst>
              <a:gd name="adj" fmla="val 21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4" name="text-63">
            <a:extLst xmlns:a="http://schemas.openxmlformats.org/drawingml/2006/main">
              <a:ext uri="{FF2B5EF4-FFF2-40B4-BE49-F238E27FC236}">
                <a16:creationId xmlns:a16="http://schemas.microsoft.com/office/drawing/2014/main" id="{0B647CEB-FCD7-4F76-BBAE-5D585AFE7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146685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ทรัพยากรที่ส่งไปยังเบราว์เซอร์</a:t>
            </a:r>
          </a:p>
        </p:txBody>
      </p:sp>
      <p:sp>
        <p:nvSpPr>
          <p:cNvPr id="25" name="text-64">
            <a:extLst xmlns:a="http://schemas.openxmlformats.org/drawingml/2006/main">
              <a:ext uri="{FF2B5EF4-FFF2-40B4-BE49-F238E27FC236}">
                <a16:creationId xmlns:a16="http://schemas.microsoft.com/office/drawing/2014/main" id="{9A800341-DBB9-4403-BCAE-A81C0B06C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4540" y="20383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26" name="text-65">
            <a:extLst xmlns:a="http://schemas.openxmlformats.org/drawingml/2006/main">
              <a:ext uri="{FF2B5EF4-FFF2-40B4-BE49-F238E27FC236}">
                <a16:creationId xmlns:a16="http://schemas.microsoft.com/office/drawing/2014/main" id="{B7882D6B-611F-495A-AB9D-DC16ED2E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440" y="2038350"/>
            <a:ext cx="3543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ข้อมูลที่เตรียมพร้อมใช้</a:t>
            </a:r>
          </a:p>
        </p:txBody>
      </p:sp>
      <p:sp>
        <p:nvSpPr>
          <p:cNvPr id="27" name="text-66">
            <a:extLst xmlns:a="http://schemas.openxmlformats.org/drawingml/2006/main">
              <a:ext uri="{FF2B5EF4-FFF2-40B4-BE49-F238E27FC236}">
                <a16:creationId xmlns:a16="http://schemas.microsoft.com/office/drawing/2014/main" id="{F80EFD7D-ECCC-47B8-8454-F4F84DD3B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440" y="2381250"/>
            <a:ext cx="35433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เลือกคอลัมน์และแปลงข้อมูลก่อนเผยแพร่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เบราว์เซอร์จึงโหลดข้อมูลที่พร้อมวิเคราะห์</a:t>
            </a:r>
          </a:p>
        </p:txBody>
      </p:sp>
      <p:sp>
        <p:nvSpPr>
          <p:cNvPr id="28" name="shape-67">
            <a:extLst xmlns:a="http://schemas.openxmlformats.org/drawingml/2006/main">
              <a:ext uri="{FF2B5EF4-FFF2-40B4-BE49-F238E27FC236}">
                <a16:creationId xmlns:a16="http://schemas.microsoft.com/office/drawing/2014/main" id="{5085318B-5F5F-415C-97E8-964E9E4D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4540" y="3609975"/>
            <a:ext cx="3886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9" name="text-68">
            <a:extLst xmlns:a="http://schemas.openxmlformats.org/drawingml/2006/main">
              <a:ext uri="{FF2B5EF4-FFF2-40B4-BE49-F238E27FC236}">
                <a16:creationId xmlns:a16="http://schemas.microsoft.com/office/drawing/2014/main" id="{C3733385-4285-4D2A-9BC9-257CF836E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4540" y="38100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30" name="text-69">
            <a:extLst xmlns:a="http://schemas.openxmlformats.org/drawingml/2006/main">
              <a:ext uri="{FF2B5EF4-FFF2-40B4-BE49-F238E27FC236}">
                <a16:creationId xmlns:a16="http://schemas.microsoft.com/office/drawing/2014/main" id="{B92A6095-5A32-4E8D-978F-C11A21F56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440" y="3810000"/>
            <a:ext cx="3543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ผลคิวรีและผลรวมล่วงหน้า</a:t>
            </a:r>
          </a:p>
        </p:txBody>
      </p:sp>
      <p:sp>
        <p:nvSpPr>
          <p:cNvPr id="31" name="text-70">
            <a:extLst xmlns:a="http://schemas.openxmlformats.org/drawingml/2006/main">
              <a:ext uri="{FF2B5EF4-FFF2-40B4-BE49-F238E27FC236}">
                <a16:creationId xmlns:a16="http://schemas.microsoft.com/office/drawing/2014/main" id="{C469F1FE-C6C1-4566-9A97-F00E4F9D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440" y="4152900"/>
            <a:ext cx="35433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เติมแคชและฐานข้อมูล DuckDB-WASM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Coordinator ใช้ผลที่เตรียมแทนคำนวณซ้ำ</a:t>
            </a:r>
          </a:p>
        </p:txBody>
      </p:sp>
      <p:sp>
        <p:nvSpPr>
          <p:cNvPr id="32" name="shape-71">
            <a:extLst xmlns:a="http://schemas.openxmlformats.org/drawingml/2006/main">
              <a:ext uri="{FF2B5EF4-FFF2-40B4-BE49-F238E27FC236}">
                <a16:creationId xmlns:a16="http://schemas.microsoft.com/office/drawing/2014/main" id="{5C79B8BF-B3F7-4081-9EE6-8317012C4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4540" y="5381625"/>
            <a:ext cx="3886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33" name="text-72">
            <a:extLst xmlns:a="http://schemas.openxmlformats.org/drawingml/2006/main">
              <a:ext uri="{FF2B5EF4-FFF2-40B4-BE49-F238E27FC236}">
                <a16:creationId xmlns:a16="http://schemas.microsoft.com/office/drawing/2014/main" id="{C521BFF2-DB14-4D90-9AF0-A991A88B9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4540" y="55816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34" name="text-73">
            <a:extLst xmlns:a="http://schemas.openxmlformats.org/drawingml/2006/main">
              <a:ext uri="{FF2B5EF4-FFF2-40B4-BE49-F238E27FC236}">
                <a16:creationId xmlns:a16="http://schemas.microsoft.com/office/drawing/2014/main" id="{EB7FC646-7A73-4D92-AB32-5989974E8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440" y="5581650"/>
            <a:ext cx="3543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ภาพเริ่มต้นและสคริปต์โต้ตอบ</a:t>
            </a:r>
          </a:p>
        </p:txBody>
      </p:sp>
      <p:sp>
        <p:nvSpPr>
          <p:cNvPr id="35" name="text-74">
            <a:extLst xmlns:a="http://schemas.openxmlformats.org/drawingml/2006/main">
              <a:ext uri="{FF2B5EF4-FFF2-40B4-BE49-F238E27FC236}">
                <a16:creationId xmlns:a16="http://schemas.microsoft.com/office/drawing/2014/main" id="{A92A876A-F238-401B-9AE8-F02939621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440" y="5924550"/>
            <a:ext cx="35433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ส่งภาพที่วาดแล้วให้แสดงก่อน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พร้อม JavaScript เปิดการโต้ตอบภายหลัง</a:t>
            </a:r>
          </a:p>
        </p:txBody>
      </p:sp>
      <p:sp>
        <p:nvSpPr>
          <p:cNvPr id="36" name="text-75">
            <a:extLst xmlns:a="http://schemas.openxmlformats.org/drawingml/2006/main">
              <a:ext uri="{FF2B5EF4-FFF2-40B4-BE49-F238E27FC236}">
                <a16:creationId xmlns:a16="http://schemas.microsoft.com/office/drawing/2014/main" id="{D28EFA14-5633-42C3-8423-A8885FC33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315200"/>
            <a:ext cx="129844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ที่มา: Sections 3.2–3.4 และ 4.1–4.3 (หน้า PDF 2–3)</a:t>
            </a:r>
          </a:p>
        </p:txBody>
      </p:sp>
    </p:spTree>
    <p:extLst>
      <p:ext uri="{BB962C8B-B14F-4D97-AF65-F5344CB8AC3E}">
        <p14:creationId xmlns:p14="http://schemas.microsoft.com/office/powerpoint/2010/main" val="20255326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-76">
            <a:extLst xmlns:a="http://schemas.openxmlformats.org/drawingml/2006/main">
              <a:ext uri="{FF2B5EF4-FFF2-40B4-BE49-F238E27FC236}">
                <a16:creationId xmlns:a16="http://schemas.microsoft.com/office/drawing/2014/main" id="{10D268C7-AC44-45C9-A524-DC870E737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" name="text-77">
            <a:extLst xmlns:a="http://schemas.openxmlformats.org/drawingml/2006/main">
              <a:ext uri="{FF2B5EF4-FFF2-40B4-BE49-F238E27FC236}">
                <a16:creationId xmlns:a16="http://schemas.microsoft.com/office/drawing/2014/main" id="{ABC16570-CE01-4471-9C1A-6E863F7A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"/>
            <a:ext cx="1298448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rPr>
              <a:t>ภาพล่วงหน้าและการเริ่มระบบโต้ตอบ</a:t>
            </a:r>
          </a:p>
        </p:txBody>
      </p:sp>
      <p:sp>
        <p:nvSpPr>
          <p:cNvPr id="3" name="shape-78">
            <a:extLst xmlns:a="http://schemas.openxmlformats.org/drawingml/2006/main">
              <a:ext uri="{FF2B5EF4-FFF2-40B4-BE49-F238E27FC236}">
                <a16:creationId xmlns:a16="http://schemas.microsoft.com/office/drawing/2014/main" id="{9BEF27F2-164D-4F7D-B2AB-31023927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8120"/>
            <a:ext cx="1463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4" name="text-79">
            <a:extLst xmlns:a="http://schemas.openxmlformats.org/drawingml/2006/main">
              <a:ext uri="{FF2B5EF4-FFF2-40B4-BE49-F238E27FC236}">
                <a16:creationId xmlns:a16="http://schemas.microsoft.com/office/drawing/2014/main" id="{F85C538D-83EF-4B45-8AFE-BD63D96D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972425"/>
            <a:ext cx="1200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เอกสารอ้างอิง: Pechuk &amp; Heer, IEEE VIS 2025 (IEEE Doc ID: 11298742)</a:t>
            </a:r>
          </a:p>
        </p:txBody>
      </p:sp>
      <p:sp>
        <p:nvSpPr>
          <p:cNvPr id="5" name="text-80">
            <a:extLst xmlns:a="http://schemas.openxmlformats.org/drawingml/2006/main">
              <a:ext uri="{FF2B5EF4-FFF2-40B4-BE49-F238E27FC236}">
                <a16:creationId xmlns:a16="http://schemas.microsoft.com/office/drawing/2014/main" id="{A9021668-968A-4F53-A98E-24E857A98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79533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6" name="shape-81">
            <a:extLst xmlns:a="http://schemas.openxmlformats.org/drawingml/2006/main">
              <a:ext uri="{FF2B5EF4-FFF2-40B4-BE49-F238E27FC236}">
                <a16:creationId xmlns:a16="http://schemas.microsoft.com/office/drawing/2014/main" id="{13D1E443-7353-4866-B6C7-E144029A4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238250"/>
            <a:ext cx="7677150" cy="3333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text-82">
            <a:extLst xmlns:a="http://schemas.openxmlformats.org/drawingml/2006/main">
              <a:ext uri="{FF2B5EF4-FFF2-40B4-BE49-F238E27FC236}">
                <a16:creationId xmlns:a16="http://schemas.microsoft.com/office/drawing/2014/main" id="{EBEEB713-5A7C-4A69-B7C2-17E3E164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1466850"/>
            <a:ext cx="7067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เวลาที่ใช้โหลดภาพและเริ่มระบบโต้ตอบ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db3df13bde4793"/>
          <a:stretch xmlns:a="http://schemas.openxmlformats.org/drawingml/2006/main"/>
        </p:blipFill>
        <p:spPr>
          <a:xfrm xmlns:a="http://schemas.openxmlformats.org/drawingml/2006/main">
            <a:off x="1536057" y="1866900"/>
            <a:ext cx="6250956" cy="2047875"/>
          </a:xfrm>
          <a:prstGeom xmlns:a="http://schemas.openxmlformats.org/drawingml/2006/main" prst="rect">
            <a:avLst/>
          </a:prstGeom>
        </p:spPr>
      </p:pic>
      <p:sp>
        <p:nvSpPr>
          <p:cNvPr id="9" name="text-83">
            <a:extLst xmlns:a="http://schemas.openxmlformats.org/drawingml/2006/main">
              <a:ext uri="{FF2B5EF4-FFF2-40B4-BE49-F238E27FC236}">
                <a16:creationId xmlns:a16="http://schemas.microsoft.com/office/drawing/2014/main" id="{3286D208-A8EB-4301-8525-3B010F8E6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4076700"/>
            <a:ext cx="706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Figure 4: เวลาเฉลี่ยแยกตามขั้นตอน จาก 5 รูปแบบภาพที่ข้อมูล 10 ล้านแถว (PDF หน้า 4)</a:t>
            </a:r>
          </a:p>
        </p:txBody>
      </p:sp>
      <p:sp>
        <p:nvSpPr>
          <p:cNvPr id="10" name="shape-84">
            <a:extLst xmlns:a="http://schemas.openxmlformats.org/drawingml/2006/main">
              <a:ext uri="{FF2B5EF4-FFF2-40B4-BE49-F238E27FC236}">
                <a16:creationId xmlns:a16="http://schemas.microsoft.com/office/drawing/2014/main" id="{A7426146-DB30-4221-BB39-ACC5D766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743450"/>
            <a:ext cx="7677150" cy="2447925"/>
          </a:xfrm>
          <a:prstGeom xmlns:a="http://schemas.openxmlformats.org/drawingml/2006/main" prst="roundRect">
            <a:avLst>
              <a:gd name="adj" fmla="val 38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1" name="text-85">
            <a:extLst xmlns:a="http://schemas.openxmlformats.org/drawingml/2006/main">
              <a:ext uri="{FF2B5EF4-FFF2-40B4-BE49-F238E27FC236}">
                <a16:creationId xmlns:a16="http://schemas.microsoft.com/office/drawing/2014/main" id="{02201A8A-CD60-4459-B82F-00A94AF1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4972050"/>
            <a:ext cx="7067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เห็นภาพก่อน แล้วจึงเปิดการโต้ตอบ</a:t>
            </a:r>
          </a:p>
        </p:txBody>
      </p:sp>
      <p:sp>
        <p:nvSpPr>
          <p:cNvPr id="12" name="shape-86">
            <a:extLst xmlns:a="http://schemas.openxmlformats.org/drawingml/2006/main">
              <a:ext uri="{FF2B5EF4-FFF2-40B4-BE49-F238E27FC236}">
                <a16:creationId xmlns:a16="http://schemas.microsoft.com/office/drawing/2014/main" id="{B82D94C8-D62D-4869-A7C8-7878F724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5410200"/>
            <a:ext cx="21780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3" name="text-87">
            <a:extLst xmlns:a="http://schemas.openxmlformats.org/drawingml/2006/main">
              <a:ext uri="{FF2B5EF4-FFF2-40B4-BE49-F238E27FC236}">
                <a16:creationId xmlns:a16="http://schemas.microsoft.com/office/drawing/2014/main" id="{6605B31D-C4D0-4E43-A980-E80A8C4C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" y="5600700"/>
            <a:ext cx="1987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1. ภาพปรากฏครบ</a:t>
            </a:r>
          </a:p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ถึงจุดวัด TTR</a:t>
            </a:r>
          </a:p>
        </p:txBody>
      </p:sp>
      <p:sp>
        <p:nvSpPr>
          <p:cNvPr id="14" name="shape-88">
            <a:extLst xmlns:a="http://schemas.openxmlformats.org/drawingml/2006/main">
              <a:ext uri="{FF2B5EF4-FFF2-40B4-BE49-F238E27FC236}">
                <a16:creationId xmlns:a16="http://schemas.microsoft.com/office/drawing/2014/main" id="{E975C7EA-B946-48D9-815D-6073A5784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910" y="5867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15" name="flow-arrow-89">
            <a:extLst xmlns:a="http://schemas.openxmlformats.org/drawingml/2006/main">
              <a:ext uri="{FF2B5EF4-FFF2-40B4-BE49-F238E27FC236}">
                <a16:creationId xmlns:a16="http://schemas.microsoft.com/office/drawing/2014/main" id="{45E3EE20-5BCD-428B-B82D-421382A3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477260" y="5829300"/>
            <a:ext cx="7620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16" name="shape-90">
            <a:extLst xmlns:a="http://schemas.openxmlformats.org/drawingml/2006/main">
              <a:ext uri="{FF2B5EF4-FFF2-40B4-BE49-F238E27FC236}">
                <a16:creationId xmlns:a16="http://schemas.microsoft.com/office/drawing/2014/main" id="{820A62D8-A3D5-4674-9EE7-B24793821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2510" y="5410200"/>
            <a:ext cx="21780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7" name="text-91">
            <a:extLst xmlns:a="http://schemas.openxmlformats.org/drawingml/2006/main">
              <a:ext uri="{FF2B5EF4-FFF2-40B4-BE49-F238E27FC236}">
                <a16:creationId xmlns:a16="http://schemas.microsoft.com/office/drawing/2014/main" id="{C987F283-82EE-467D-9194-67D031A5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760" y="5600700"/>
            <a:ext cx="1987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2. เริ่มคอมโพเนนต์</a:t>
            </a:r>
          </a:p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ฝั่งไคลเอนต์ (Hydration)</a:t>
            </a:r>
          </a:p>
        </p:txBody>
      </p:sp>
      <p:sp>
        <p:nvSpPr>
          <p:cNvPr id="18" name="shape-92">
            <a:extLst xmlns:a="http://schemas.openxmlformats.org/drawingml/2006/main">
              <a:ext uri="{FF2B5EF4-FFF2-40B4-BE49-F238E27FC236}">
                <a16:creationId xmlns:a16="http://schemas.microsoft.com/office/drawing/2014/main" id="{ADE8C34B-4B41-4168-B3B0-AEF0F4829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660" y="5867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19" name="flow-arrow-93">
            <a:extLst xmlns:a="http://schemas.openxmlformats.org/drawingml/2006/main">
              <a:ext uri="{FF2B5EF4-FFF2-40B4-BE49-F238E27FC236}">
                <a16:creationId xmlns:a16="http://schemas.microsoft.com/office/drawing/2014/main" id="{C1A93983-528F-4EE4-BF1C-38295EDF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922010" y="5829300"/>
            <a:ext cx="7620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0" name="shape-94">
            <a:extLst xmlns:a="http://schemas.openxmlformats.org/drawingml/2006/main">
              <a:ext uri="{FF2B5EF4-FFF2-40B4-BE49-F238E27FC236}">
                <a16:creationId xmlns:a16="http://schemas.microsoft.com/office/drawing/2014/main" id="{78EB6473-1390-4C62-A2DB-C7F8F537B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7260" y="5410200"/>
            <a:ext cx="21780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1" name="text-95">
            <a:extLst xmlns:a="http://schemas.openxmlformats.org/drawingml/2006/main">
              <a:ext uri="{FF2B5EF4-FFF2-40B4-BE49-F238E27FC236}">
                <a16:creationId xmlns:a16="http://schemas.microsoft.com/office/drawing/2014/main" id="{88697872-5B13-4E38-AD4C-842F5B78C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2510" y="5600700"/>
            <a:ext cx="1987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3. พร้อมกรองและซูม</a:t>
            </a:r>
          </a:p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ถึงจุดวัด TTA</a:t>
            </a:r>
          </a:p>
        </p:txBody>
      </p:sp>
      <p:sp>
        <p:nvSpPr>
          <p:cNvPr id="22" name="text-96">
            <a:extLst xmlns:a="http://schemas.openxmlformats.org/drawingml/2006/main">
              <a:ext uri="{FF2B5EF4-FFF2-40B4-BE49-F238E27FC236}">
                <a16:creationId xmlns:a16="http://schemas.microsoft.com/office/drawing/2014/main" id="{61577AF2-3811-4454-A86F-E59AA3D9F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6515100"/>
            <a:ext cx="706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ผังแสดงขั้นตอนตาม Section 4.3 ไม่ได้แสดงสัดส่วนเวลา (PDF หน้า 3)</a:t>
            </a:r>
          </a:p>
        </p:txBody>
      </p:sp>
      <p:sp>
        <p:nvSpPr>
          <p:cNvPr id="23" name="shape-97">
            <a:extLst xmlns:a="http://schemas.openxmlformats.org/drawingml/2006/main">
              <a:ext uri="{FF2B5EF4-FFF2-40B4-BE49-F238E27FC236}">
                <a16:creationId xmlns:a16="http://schemas.microsoft.com/office/drawing/2014/main" id="{419AEFAB-A21E-4556-A244-A0275846B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5390" y="1238250"/>
            <a:ext cx="4972050" cy="5953125"/>
          </a:xfrm>
          <a:prstGeom xmlns:a="http://schemas.openxmlformats.org/drawingml/2006/main" prst="roundRect">
            <a:avLst>
              <a:gd name="adj" fmla="val 19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4" name="text-98">
            <a:extLst xmlns:a="http://schemas.openxmlformats.org/drawingml/2006/main">
              <a:ext uri="{FF2B5EF4-FFF2-40B4-BE49-F238E27FC236}">
                <a16:creationId xmlns:a16="http://schemas.microsoft.com/office/drawing/2014/main" id="{EF176AAE-8498-4EFB-860F-DEF70949B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0190" y="1466850"/>
            <a:ext cx="436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ภาพสองประเภทและต้นทุน Hydration</a:t>
            </a:r>
          </a:p>
        </p:txBody>
      </p:sp>
      <p:sp>
        <p:nvSpPr>
          <p:cNvPr id="25" name="text-99">
            <a:extLst xmlns:a="http://schemas.openxmlformats.org/drawingml/2006/main">
              <a:ext uri="{FF2B5EF4-FFF2-40B4-BE49-F238E27FC236}">
                <a16:creationId xmlns:a16="http://schemas.microsoft.com/office/drawing/2014/main" id="{AC6D7F0A-28F1-47BD-A7B0-C9ABEA1D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1140" y="20383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26" name="text-100">
            <a:extLst xmlns:a="http://schemas.openxmlformats.org/drawingml/2006/main">
              <a:ext uri="{FF2B5EF4-FFF2-40B4-BE49-F238E27FC236}">
                <a16:creationId xmlns:a16="http://schemas.microsoft.com/office/drawing/2014/main" id="{C74D6625-BF35-47E7-AD91-6D60271CC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038350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ภาพสถิต (Static Views)</a:t>
            </a:r>
          </a:p>
        </p:txBody>
      </p:sp>
      <p:sp>
        <p:nvSpPr>
          <p:cNvPr id="27" name="text-101">
            <a:extLst xmlns:a="http://schemas.openxmlformats.org/drawingml/2006/main">
              <a:ext uri="{FF2B5EF4-FFF2-40B4-BE49-F238E27FC236}">
                <a16:creationId xmlns:a16="http://schemas.microsoft.com/office/drawing/2014/main" id="{A110602C-711B-44B4-8F9F-AC61E9BF4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381250"/>
            <a:ext cx="4057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ส่งเนื้อหาที่วาดไว้โดยไม่ต้องเพิ่ม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สคริปต์สำหรับการโต้ตอบ</a:t>
            </a:r>
          </a:p>
        </p:txBody>
      </p:sp>
      <p:sp>
        <p:nvSpPr>
          <p:cNvPr id="28" name="shape-102">
            <a:extLst xmlns:a="http://schemas.openxmlformats.org/drawingml/2006/main">
              <a:ext uri="{FF2B5EF4-FFF2-40B4-BE49-F238E27FC236}">
                <a16:creationId xmlns:a16="http://schemas.microsoft.com/office/drawing/2014/main" id="{B46390A1-9F3F-4AE4-BD9E-B81D5CB51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1140" y="3609975"/>
            <a:ext cx="4400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9" name="text-103">
            <a:extLst xmlns:a="http://schemas.openxmlformats.org/drawingml/2006/main">
              <a:ext uri="{FF2B5EF4-FFF2-40B4-BE49-F238E27FC236}">
                <a16:creationId xmlns:a16="http://schemas.microsoft.com/office/drawing/2014/main" id="{8BBC5586-BFCF-475F-B91B-EB42EEFC2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1140" y="38100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30" name="text-104">
            <a:extLst xmlns:a="http://schemas.openxmlformats.org/drawingml/2006/main">
              <a:ext uri="{FF2B5EF4-FFF2-40B4-BE49-F238E27FC236}">
                <a16:creationId xmlns:a16="http://schemas.microsoft.com/office/drawing/2014/main" id="{4785E51B-00E8-4875-8321-9B625C43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3810000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ภาพโต้ตอบ (Interactive Views)</a:t>
            </a:r>
          </a:p>
        </p:txBody>
      </p:sp>
      <p:sp>
        <p:nvSpPr>
          <p:cNvPr id="31" name="text-105">
            <a:extLst xmlns:a="http://schemas.openxmlformats.org/drawingml/2006/main">
              <a:ext uri="{FF2B5EF4-FFF2-40B4-BE49-F238E27FC236}">
                <a16:creationId xmlns:a16="http://schemas.microsoft.com/office/drawing/2014/main" id="{3B4AAA54-4608-42E6-8530-3D029CC7E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4152900"/>
            <a:ext cx="4057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ส่งภาพพร้อม JavaScript เพื่อเริ่มคอมโพเนนต์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และส่วนรับอินพุต ก่อนกรองหรือซูมได้</a:t>
            </a:r>
          </a:p>
        </p:txBody>
      </p:sp>
      <p:sp>
        <p:nvSpPr>
          <p:cNvPr id="32" name="shape-106">
            <a:extLst xmlns:a="http://schemas.openxmlformats.org/drawingml/2006/main">
              <a:ext uri="{FF2B5EF4-FFF2-40B4-BE49-F238E27FC236}">
                <a16:creationId xmlns:a16="http://schemas.microsoft.com/office/drawing/2014/main" id="{6FA97541-9445-40E7-BE5C-D887621FA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1140" y="5381625"/>
            <a:ext cx="4400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33" name="text-107">
            <a:extLst xmlns:a="http://schemas.openxmlformats.org/drawingml/2006/main">
              <a:ext uri="{FF2B5EF4-FFF2-40B4-BE49-F238E27FC236}">
                <a16:creationId xmlns:a16="http://schemas.microsoft.com/office/drawing/2014/main" id="{9FA754C3-F7A1-4BFF-BA7B-1683C57A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1140" y="55816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34" name="text-108">
            <a:extLst xmlns:a="http://schemas.openxmlformats.org/drawingml/2006/main">
              <a:ext uri="{FF2B5EF4-FFF2-40B4-BE49-F238E27FC236}">
                <a16:creationId xmlns:a16="http://schemas.microsoft.com/office/drawing/2014/main" id="{7370220A-12CA-49EB-8D03-E0C9D6AB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5581650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63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63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rPr>
              <a:t>Hydration ยังเป็นคอขวด</a:t>
            </a:r>
          </a:p>
        </p:txBody>
      </p:sp>
      <p:sp>
        <p:nvSpPr>
          <p:cNvPr id="35" name="text-109">
            <a:extLst xmlns:a="http://schemas.openxmlformats.org/drawingml/2006/main">
              <a:ext uri="{FF2B5EF4-FFF2-40B4-BE49-F238E27FC236}">
                <a16:creationId xmlns:a16="http://schemas.microsoft.com/office/drawing/2014/main" id="{80DAFEE8-C586-4126-B934-4DDECFC26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5924550"/>
            <a:ext cx="4057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วิธีที่ทดลองใช้ต้นทุนใกล้การเรนเดอร์เต็มชุด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ผู้วิจัยเสนอให้ลดงานเริ่มคอมโพเนนต์ต่อไป</a:t>
            </a:r>
          </a:p>
        </p:txBody>
      </p:sp>
      <p:sp>
        <p:nvSpPr>
          <p:cNvPr id="36" name="text-110">
            <a:extLst xmlns:a="http://schemas.openxmlformats.org/drawingml/2006/main">
              <a:ext uri="{FF2B5EF4-FFF2-40B4-BE49-F238E27FC236}">
                <a16:creationId xmlns:a16="http://schemas.microsoft.com/office/drawing/2014/main" id="{44947057-B4E2-4E9F-B7D2-C3D1A317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315200"/>
            <a:ext cx="129844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ที่มา: Sections 4.3 และ 5 (หน้า PDF 3–4)</a:t>
            </a:r>
          </a:p>
        </p:txBody>
      </p:sp>
    </p:spTree>
    <p:extLst>
      <p:ext uri="{BB962C8B-B14F-4D97-AF65-F5344CB8AC3E}">
        <p14:creationId xmlns:p14="http://schemas.microsoft.com/office/powerpoint/2010/main" val="382441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hape-111">
            <a:extLst xmlns:a="http://schemas.openxmlformats.org/drawingml/2006/main">
              <a:ext uri="{FF2B5EF4-FFF2-40B4-BE49-F238E27FC236}">
                <a16:creationId xmlns:a16="http://schemas.microsoft.com/office/drawing/2014/main" id="{9A777508-C253-423E-AE31-171B76900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" name="text-112">
            <a:extLst xmlns:a="http://schemas.openxmlformats.org/drawingml/2006/main">
              <a:ext uri="{FF2B5EF4-FFF2-40B4-BE49-F238E27FC236}">
                <a16:creationId xmlns:a16="http://schemas.microsoft.com/office/drawing/2014/main" id="{F8FFD9ED-5612-451B-AB64-CE2F81214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"/>
            <a:ext cx="1298448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rPr>
              <a:t>ผลการทดลอง: เวลาเปิดภาพและต้นทุนพื้นที่</a:t>
            </a:r>
          </a:p>
        </p:txBody>
      </p:sp>
      <p:sp>
        <p:nvSpPr>
          <p:cNvPr id="3" name="shape-113">
            <a:extLst xmlns:a="http://schemas.openxmlformats.org/drawingml/2006/main">
              <a:ext uri="{FF2B5EF4-FFF2-40B4-BE49-F238E27FC236}">
                <a16:creationId xmlns:a16="http://schemas.microsoft.com/office/drawing/2014/main" id="{477B68E4-50A6-422E-97CA-4C65A8DB5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8120"/>
            <a:ext cx="1463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4" name="text-114">
            <a:extLst xmlns:a="http://schemas.openxmlformats.org/drawingml/2006/main">
              <a:ext uri="{FF2B5EF4-FFF2-40B4-BE49-F238E27FC236}">
                <a16:creationId xmlns:a16="http://schemas.microsoft.com/office/drawing/2014/main" id="{CDA0E23A-2049-459C-BB91-4E8EE672D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972425"/>
            <a:ext cx="1200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เอกสารอ้างอิง: Pechuk &amp; Heer, IEEE VIS 2025 (IEEE Doc ID: 11298742)</a:t>
            </a:r>
          </a:p>
        </p:txBody>
      </p:sp>
      <p:sp>
        <p:nvSpPr>
          <p:cNvPr id="5" name="text-115">
            <a:extLst xmlns:a="http://schemas.openxmlformats.org/drawingml/2006/main">
              <a:ext uri="{FF2B5EF4-FFF2-40B4-BE49-F238E27FC236}">
                <a16:creationId xmlns:a16="http://schemas.microsoft.com/office/drawing/2014/main" id="{E4BFD112-CE79-4C24-B01D-C65F9319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79533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4</a:t>
            </a:r>
          </a:p>
        </p:txBody>
      </p:sp>
      <p:sp>
        <p:nvSpPr>
          <p:cNvPr id="6" name="shape-116">
            <a:extLst xmlns:a="http://schemas.openxmlformats.org/drawingml/2006/main">
              <a:ext uri="{FF2B5EF4-FFF2-40B4-BE49-F238E27FC236}">
                <a16:creationId xmlns:a16="http://schemas.microsoft.com/office/drawing/2014/main" id="{8C518BEB-695A-4D14-937C-E31CDD717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238250"/>
            <a:ext cx="8096250" cy="3476625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text-117">
            <a:extLst xmlns:a="http://schemas.openxmlformats.org/drawingml/2006/main">
              <a:ext uri="{FF2B5EF4-FFF2-40B4-BE49-F238E27FC236}">
                <a16:creationId xmlns:a16="http://schemas.microsoft.com/office/drawing/2014/main" id="{F6A1553B-1E8A-430C-88D9-889EE6F21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1466850"/>
            <a:ext cx="7486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ผล TTR และ TTA เมื่อขนาดข้อมูลเพิ่มขึ้น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6341958edf495a"/>
          <a:stretch xmlns:a="http://schemas.openxmlformats.org/drawingml/2006/main"/>
        </p:blipFill>
        <p:spPr>
          <a:xfrm xmlns:a="http://schemas.openxmlformats.org/drawingml/2006/main">
            <a:off x="1258480" y="1847850"/>
            <a:ext cx="7225211" cy="2190750"/>
          </a:xfrm>
          <a:prstGeom xmlns:a="http://schemas.openxmlformats.org/drawingml/2006/main" prst="rect">
            <a:avLst/>
          </a:prstGeom>
        </p:spPr>
      </p:pic>
      <p:sp>
        <p:nvSpPr>
          <p:cNvPr id="9" name="text-118">
            <a:extLst xmlns:a="http://schemas.openxmlformats.org/drawingml/2006/main">
              <a:ext uri="{FF2B5EF4-FFF2-40B4-BE49-F238E27FC236}">
                <a16:creationId xmlns:a16="http://schemas.microsoft.com/office/drawing/2014/main" id="{972FE703-0D80-4B2F-BD6B-15E4079BC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" y="4191000"/>
            <a:ext cx="752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Figure 3: เส้นมัธยฐาน (Median) และแรเงา IQR จากข้อมูล 10k–10M แถว (หน้า PDF 4)</a:t>
            </a:r>
          </a:p>
        </p:txBody>
      </p:sp>
      <p:sp>
        <p:nvSpPr>
          <p:cNvPr id="10" name="shape-119">
            <a:extLst xmlns:a="http://schemas.openxmlformats.org/drawingml/2006/main">
              <a:ext uri="{FF2B5EF4-FFF2-40B4-BE49-F238E27FC236}">
                <a16:creationId xmlns:a16="http://schemas.microsoft.com/office/drawing/2014/main" id="{29B699B8-FB04-4A4D-B7DE-720510EE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4490" y="1238250"/>
            <a:ext cx="4552950" cy="3476625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1" name="text-120">
            <a:extLst xmlns:a="http://schemas.openxmlformats.org/drawingml/2006/main">
              <a:ext uri="{FF2B5EF4-FFF2-40B4-BE49-F238E27FC236}">
                <a16:creationId xmlns:a16="http://schemas.microsoft.com/office/drawing/2014/main" id="{E04D0C65-C888-40FA-88FD-C7B01BDBB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9290" y="1466850"/>
            <a:ext cx="3943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ผลเทียบกรณีไม่ปรับปรุง (none)</a:t>
            </a:r>
          </a:p>
        </p:txBody>
      </p:sp>
      <p:graphicFrame>
        <p:nvGraphicFramePr>
          <p:cNvPr id="42" name=""/>
          <p:cNvGraphicFramePr/>
          <p:nvPr/>
        </p:nvGraphicFramePr>
        <p:xfrm>
          <a:off xmlns:a="http://schemas.openxmlformats.org/drawingml/2006/main" x="9483090" y="1866900"/>
          <a:ext xmlns:a="http://schemas.openxmlformats.org/drawingml/2006/main" cx="4095750" cy="1571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95350"/>
                <a:gridCol w="1066800"/>
                <a:gridCol w="1066800"/>
                <a:gridCol w="1066800"/>
              </a:tblGrid>
              <a:tr h="392906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ระดับ</a:t>
                      </a:r>
                    </a:p>
                  </a:txBody>
                  <a:tcPr marL="28575" marR="28575" marT="57150" marB="57150" anchor="ctr">
                    <a:solidFill>
                      <a:srgbClr val="0F2D4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ΔSC %</a:t>
                      </a:r>
                    </a:p>
                  </a:txBody>
                  <a:tcPr marL="28575" marR="28575" marT="57150" marB="57150" anchor="ctr">
                    <a:solidFill>
                      <a:srgbClr val="0F2D4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ΔTTR %</a:t>
                      </a:r>
                    </a:p>
                  </a:txBody>
                  <a:tcPr marL="28575" marR="28575" marT="57150" marB="57150" anchor="ctr">
                    <a:solidFill>
                      <a:srgbClr val="0F2D4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ΔTTA %</a:t>
                      </a:r>
                    </a:p>
                  </a:txBody>
                  <a:tcPr marL="28575" marR="28575" marT="57150" marB="57150" anchor="ctr">
                    <a:solidFill>
                      <a:srgbClr val="0F2D4A"/>
                    </a:solidFill>
                  </a:tcPr>
                </a:tc>
              </a:tr>
              <a:tr h="392906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+prep</a:t>
                      </a:r>
                    </a:p>
                  </a:txBody>
                  <a:tcPr marL="28575" marR="28575" marT="57150" marB="571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0.0 ± 0.0</a:t>
                      </a:r>
                    </a:p>
                  </a:txBody>
                  <a:tcPr marL="28575" marR="28575" marT="57150" marB="571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−0.6 ± 4.0</a:t>
                      </a:r>
                    </a:p>
                  </a:txBody>
                  <a:tcPr marL="28575" marR="28575" marT="57150" marB="571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−1.0 ± 2.5</a:t>
                      </a:r>
                    </a:p>
                  </a:txBody>
                  <a:tcPr marL="28575" marR="28575" marT="57150" marB="57150" anchor="ctr"/>
                </a:tc>
              </a:tr>
              <a:tr h="392906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+cache</a:t>
                      </a:r>
                    </a:p>
                  </a:txBody>
                  <a:tcPr marL="28575" marR="28575" marT="57150" marB="571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21.1 ± 29.8</a:t>
                      </a:r>
                    </a:p>
                  </a:txBody>
                  <a:tcPr marL="28575" marR="28575" marT="57150" marB="571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−16.6 ± 1.3</a:t>
                      </a:r>
                    </a:p>
                  </a:txBody>
                  <a:tcPr marL="28575" marR="28575" marT="57150" marB="571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−32.3 ± 8.9</a:t>
                      </a:r>
                    </a:p>
                  </a:txBody>
                  <a:tcPr marL="28575" marR="28575" marT="57150" marB="57150" anchor="ctr"/>
                </a:tc>
              </a:tr>
              <a:tr h="392906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+most</a:t>
                      </a:r>
                    </a:p>
                  </a:txBody>
                  <a:tcPr marL="28575" marR="28575" marT="57150" marB="571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21.2 ± 29.9</a:t>
                      </a:r>
                    </a:p>
                  </a:txBody>
                  <a:tcPr marL="28575" marR="28575" marT="57150" marB="571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−83.7 ± 2.1</a:t>
                      </a:r>
                    </a:p>
                  </a:txBody>
                  <a:tcPr marL="28575" marR="28575" marT="57150" marB="571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−33.3 ± 9.6</a:t>
                      </a:r>
                    </a:p>
                  </a:txBody>
                  <a:tcPr marL="28575" marR="28575" marT="57150" marB="57150" anchor="ctr"/>
                </a:tc>
              </a:tr>
            </a:tbl>
          </a:graphicData>
        </a:graphic>
      </p:graphicFrame>
      <p:sp>
        <p:nvSpPr>
          <p:cNvPr id="13" name="text-121">
            <a:extLst xmlns:a="http://schemas.openxmlformats.org/drawingml/2006/main">
              <a:ext uri="{FF2B5EF4-FFF2-40B4-BE49-F238E27FC236}">
                <a16:creationId xmlns:a16="http://schemas.microsoft.com/office/drawing/2014/main" id="{86027C54-1230-452E-8DFE-EB4084B6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090" y="35814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05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Table 1: ค่าเฉลี่ย ± SD ของการเปลี่ยนแปลง (%)</a:t>
            </a:r>
          </a:p>
        </p:txBody>
      </p:sp>
      <p:sp>
        <p:nvSpPr>
          <p:cNvPr id="14" name="text-122">
            <a:extLst xmlns:a="http://schemas.openxmlformats.org/drawingml/2006/main">
              <a:ext uri="{FF2B5EF4-FFF2-40B4-BE49-F238E27FC236}">
                <a16:creationId xmlns:a16="http://schemas.microsoft.com/office/drawing/2014/main" id="{821B207F-5A5C-43D7-870C-AFD3F68F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090" y="38481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013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+most คือระดับรวมที่เพิ่มภาพล่วงหน้า</a:t>
            </a:r>
          </a:p>
          <a:p xmlns:a="http://schemas.openxmlformats.org/drawingml/2006/main">
            <a:pPr algn="l">
              <a:defRPr sz="1013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013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ในกราฟใช้ชื่อ +prerender</a:t>
            </a:r>
          </a:p>
        </p:txBody>
      </p:sp>
      <p:sp>
        <p:nvSpPr>
          <p:cNvPr id="15" name="shape-123">
            <a:extLst xmlns:a="http://schemas.openxmlformats.org/drawingml/2006/main">
              <a:ext uri="{FF2B5EF4-FFF2-40B4-BE49-F238E27FC236}">
                <a16:creationId xmlns:a16="http://schemas.microsoft.com/office/drawing/2014/main" id="{75243C44-1641-4AF9-A806-D844800D1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876800"/>
            <a:ext cx="4124325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6" name="text-124">
            <a:extLst xmlns:a="http://schemas.openxmlformats.org/drawingml/2006/main">
              <a:ext uri="{FF2B5EF4-FFF2-40B4-BE49-F238E27FC236}">
                <a16:creationId xmlns:a16="http://schemas.microsoft.com/office/drawing/2014/main" id="{35F7A78C-768C-4978-81D8-74E15BB1C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" y="5029200"/>
            <a:ext cx="3590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−83.7%</a:t>
            </a:r>
          </a:p>
        </p:txBody>
      </p:sp>
      <p:sp>
        <p:nvSpPr>
          <p:cNvPr id="17" name="text-125">
            <a:extLst xmlns:a="http://schemas.openxmlformats.org/drawingml/2006/main">
              <a:ext uri="{FF2B5EF4-FFF2-40B4-BE49-F238E27FC236}">
                <a16:creationId xmlns:a16="http://schemas.microsoft.com/office/drawing/2014/main" id="{E552E791-4C3D-4133-B8EA-CA4164E2E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" y="5467350"/>
            <a:ext cx="3590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25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เวลาจนภาพข้อมูลปรากฏครบ (TTR)</a:t>
            </a:r>
          </a:p>
        </p:txBody>
      </p:sp>
      <p:sp>
        <p:nvSpPr>
          <p:cNvPr id="18" name="text-126">
            <a:extLst xmlns:a="http://schemas.openxmlformats.org/drawingml/2006/main">
              <a:ext uri="{FF2B5EF4-FFF2-40B4-BE49-F238E27FC236}">
                <a16:creationId xmlns:a16="http://schemas.microsoft.com/office/drawing/2014/main" id="{6C36AB0A-9537-439D-AAAD-88686930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" y="5753100"/>
            <a:ext cx="3590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ชุดรวมเทียบ none · SD = 2.1%</a:t>
            </a:r>
          </a:p>
        </p:txBody>
      </p:sp>
      <p:sp>
        <p:nvSpPr>
          <p:cNvPr id="19" name="shape-127">
            <a:extLst xmlns:a="http://schemas.openxmlformats.org/drawingml/2006/main">
              <a:ext uri="{FF2B5EF4-FFF2-40B4-BE49-F238E27FC236}">
                <a16:creationId xmlns:a16="http://schemas.microsoft.com/office/drawing/2014/main" id="{78293BDA-64CA-4096-AF92-2C3B83499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3038" y="4876800"/>
            <a:ext cx="4124325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0" name="text-128">
            <a:extLst xmlns:a="http://schemas.openxmlformats.org/drawingml/2006/main">
              <a:ext uri="{FF2B5EF4-FFF2-40B4-BE49-F238E27FC236}">
                <a16:creationId xmlns:a16="http://schemas.microsoft.com/office/drawing/2014/main" id="{2B7319A2-2678-478D-B6AF-8A0D0903B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9738" y="5029200"/>
            <a:ext cx="3590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−33.3%</a:t>
            </a:r>
          </a:p>
        </p:txBody>
      </p:sp>
      <p:sp>
        <p:nvSpPr>
          <p:cNvPr id="21" name="text-129">
            <a:extLst xmlns:a="http://schemas.openxmlformats.org/drawingml/2006/main">
              <a:ext uri="{FF2B5EF4-FFF2-40B4-BE49-F238E27FC236}">
                <a16:creationId xmlns:a16="http://schemas.microsoft.com/office/drawing/2014/main" id="{97092DAE-5B85-4A33-8527-97C4F335E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9738" y="5467350"/>
            <a:ext cx="3590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25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เวลาจนระบบพร้อมโต้ตอบ (TTA)</a:t>
            </a:r>
          </a:p>
        </p:txBody>
      </p:sp>
      <p:sp>
        <p:nvSpPr>
          <p:cNvPr id="22" name="text-130">
            <a:extLst xmlns:a="http://schemas.openxmlformats.org/drawingml/2006/main">
              <a:ext uri="{FF2B5EF4-FFF2-40B4-BE49-F238E27FC236}">
                <a16:creationId xmlns:a16="http://schemas.microsoft.com/office/drawing/2014/main" id="{11A974AA-6CED-4F1A-9192-6A40D30E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9738" y="5753100"/>
            <a:ext cx="3590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แคชลด TTA 32.3% · ชุดรวม SD = 9.6%</a:t>
            </a:r>
          </a:p>
        </p:txBody>
      </p:sp>
      <p:sp>
        <p:nvSpPr>
          <p:cNvPr id="23" name="shape-131">
            <a:extLst xmlns:a="http://schemas.openxmlformats.org/drawingml/2006/main">
              <a:ext uri="{FF2B5EF4-FFF2-40B4-BE49-F238E27FC236}">
                <a16:creationId xmlns:a16="http://schemas.microsoft.com/office/drawing/2014/main" id="{0D84A356-3E60-458C-89D4-96E5BB621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3115" y="4876800"/>
            <a:ext cx="4124325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4" name="text-132">
            <a:extLst xmlns:a="http://schemas.openxmlformats.org/drawingml/2006/main">
              <a:ext uri="{FF2B5EF4-FFF2-40B4-BE49-F238E27FC236}">
                <a16:creationId xmlns:a16="http://schemas.microsoft.com/office/drawing/2014/main" id="{613E09EF-093C-4C01-842E-3A55FA97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9815" y="5029200"/>
            <a:ext cx="3590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+21.2%</a:t>
            </a:r>
          </a:p>
        </p:txBody>
      </p:sp>
      <p:sp>
        <p:nvSpPr>
          <p:cNvPr id="25" name="text-133">
            <a:extLst xmlns:a="http://schemas.openxmlformats.org/drawingml/2006/main">
              <a:ext uri="{FF2B5EF4-FFF2-40B4-BE49-F238E27FC236}">
                <a16:creationId xmlns:a16="http://schemas.microsoft.com/office/drawing/2014/main" id="{0086222E-A028-4F38-BB25-A0554A9A8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9815" y="5467350"/>
            <a:ext cx="3590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25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ขนาดทรัพยากรที่เผยแพร่ (SC)</a:t>
            </a:r>
          </a:p>
        </p:txBody>
      </p:sp>
      <p:sp>
        <p:nvSpPr>
          <p:cNvPr id="26" name="text-134">
            <a:extLst xmlns:a="http://schemas.openxmlformats.org/drawingml/2006/main">
              <a:ext uri="{FF2B5EF4-FFF2-40B4-BE49-F238E27FC236}">
                <a16:creationId xmlns:a16="http://schemas.microsoft.com/office/drawing/2014/main" id="{E8869998-B2B1-45AB-9F27-12C65230B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9815" y="5753100"/>
            <a:ext cx="3590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พื้นที่เพิ่มเฉลี่ย · SD = 29.9%</a:t>
            </a:r>
          </a:p>
        </p:txBody>
      </p:sp>
      <p:sp>
        <p:nvSpPr>
          <p:cNvPr id="27" name="shape-135">
            <a:extLst xmlns:a="http://schemas.openxmlformats.org/drawingml/2006/main">
              <a:ext uri="{FF2B5EF4-FFF2-40B4-BE49-F238E27FC236}">
                <a16:creationId xmlns:a16="http://schemas.microsoft.com/office/drawing/2014/main" id="{834CA70D-6DD3-4C14-8A72-93FA09C53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553200"/>
            <a:ext cx="1298448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8" name="text-136">
            <a:extLst xmlns:a="http://schemas.openxmlformats.org/drawingml/2006/main">
              <a:ext uri="{FF2B5EF4-FFF2-40B4-BE49-F238E27FC236}">
                <a16:creationId xmlns:a16="http://schemas.microsoft.com/office/drawing/2014/main" id="{4D452C1F-DD3D-476C-A879-43BD91419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629400"/>
            <a:ext cx="1253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25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สภาพแวดล้อม: MacBook Pro (M1 Pro, RAM 16 GB), Node 22.9.0, Local Server, DuckDB-WASM</a:t>
            </a:r>
          </a:p>
        </p:txBody>
      </p:sp>
      <p:sp>
        <p:nvSpPr>
          <p:cNvPr id="29" name="text-137">
            <a:extLst xmlns:a="http://schemas.openxmlformats.org/drawingml/2006/main">
              <a:ext uri="{FF2B5EF4-FFF2-40B4-BE49-F238E27FC236}">
                <a16:creationId xmlns:a16="http://schemas.microsoft.com/office/drawing/2014/main" id="{D999E365-10E7-4087-8C8D-AD412B3BD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858000"/>
            <a:ext cx="1253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25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TTA ลดเพิ่มจาก +cache อีก 1.0 จุดเปอร์เซ็นต์ (33.3 − 32.3) เมื่อเทียบฐาน none เดียวกัน</a:t>
            </a:r>
          </a:p>
        </p:txBody>
      </p:sp>
      <p:sp>
        <p:nvSpPr>
          <p:cNvPr id="30" name="text-138">
            <a:extLst xmlns:a="http://schemas.openxmlformats.org/drawingml/2006/main">
              <a:ext uri="{FF2B5EF4-FFF2-40B4-BE49-F238E27FC236}">
                <a16:creationId xmlns:a16="http://schemas.microsoft.com/office/drawing/2014/main" id="{86EDE25E-3C84-49D5-BCBC-8F35FA4E4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315200"/>
            <a:ext cx="1298448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ที่มา: Figure 3 และ Table 1 (PDF หน้า 4) · ตารางเฉลี่ยข้าม 5 รูปแบบภาพและข้อมูล 10k–10M แถว</a:t>
            </a:r>
          </a:p>
        </p:txBody>
      </p:sp>
    </p:spTree>
    <p:extLst>
      <p:ext uri="{BB962C8B-B14F-4D97-AF65-F5344CB8AC3E}">
        <p14:creationId xmlns:p14="http://schemas.microsoft.com/office/powerpoint/2010/main" val="13414959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hape-139">
            <a:extLst xmlns:a="http://schemas.openxmlformats.org/drawingml/2006/main">
              <a:ext uri="{FF2B5EF4-FFF2-40B4-BE49-F238E27FC236}">
                <a16:creationId xmlns:a16="http://schemas.microsoft.com/office/drawing/2014/main" id="{870C72D9-1E48-4221-952C-EEE6D7FE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" name="text-140">
            <a:extLst xmlns:a="http://schemas.openxmlformats.org/drawingml/2006/main">
              <a:ext uri="{FF2B5EF4-FFF2-40B4-BE49-F238E27FC236}">
                <a16:creationId xmlns:a16="http://schemas.microsoft.com/office/drawing/2014/main" id="{0623D173-5CBD-4315-958F-9601C0849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"/>
            <a:ext cx="1298448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rPr>
              <a:t>ผลงานวิจัยและข้อจำกัดของการทดลอง</a:t>
            </a:r>
          </a:p>
        </p:txBody>
      </p:sp>
      <p:sp>
        <p:nvSpPr>
          <p:cNvPr id="3" name="shape-141">
            <a:extLst xmlns:a="http://schemas.openxmlformats.org/drawingml/2006/main">
              <a:ext uri="{FF2B5EF4-FFF2-40B4-BE49-F238E27FC236}">
                <a16:creationId xmlns:a16="http://schemas.microsoft.com/office/drawing/2014/main" id="{ECE95FB7-13CC-43ED-8E90-25DD5C00F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8120"/>
            <a:ext cx="1463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4" name="text-142">
            <a:extLst xmlns:a="http://schemas.openxmlformats.org/drawingml/2006/main">
              <a:ext uri="{FF2B5EF4-FFF2-40B4-BE49-F238E27FC236}">
                <a16:creationId xmlns:a16="http://schemas.microsoft.com/office/drawing/2014/main" id="{BDA78C66-BAD1-4B45-96DE-2CBDC864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972425"/>
            <a:ext cx="1200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เอกสารอ้างอิง: Pechuk &amp; Heer, IEEE VIS 2025 (IEEE Doc ID: 11298742)</a:t>
            </a:r>
          </a:p>
        </p:txBody>
      </p:sp>
      <p:sp>
        <p:nvSpPr>
          <p:cNvPr id="5" name="text-143">
            <a:extLst xmlns:a="http://schemas.openxmlformats.org/drawingml/2006/main">
              <a:ext uri="{FF2B5EF4-FFF2-40B4-BE49-F238E27FC236}">
                <a16:creationId xmlns:a16="http://schemas.microsoft.com/office/drawing/2014/main" id="{261185E7-3F4D-4A26-A817-365804F9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79533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5</a:t>
            </a:r>
          </a:p>
        </p:txBody>
      </p:sp>
      <p:sp>
        <p:nvSpPr>
          <p:cNvPr id="6" name="shape-144">
            <a:extLst xmlns:a="http://schemas.openxmlformats.org/drawingml/2006/main">
              <a:ext uri="{FF2B5EF4-FFF2-40B4-BE49-F238E27FC236}">
                <a16:creationId xmlns:a16="http://schemas.microsoft.com/office/drawing/2014/main" id="{6513B3FD-AB68-41C4-B3D7-FFBD7CBAE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238250"/>
            <a:ext cx="6324600" cy="5953125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text-145">
            <a:extLst xmlns:a="http://schemas.openxmlformats.org/drawingml/2006/main">
              <a:ext uri="{FF2B5EF4-FFF2-40B4-BE49-F238E27FC236}">
                <a16:creationId xmlns:a16="http://schemas.microsoft.com/office/drawing/2014/main" id="{2D2733F0-A865-4311-892D-AD46D0C80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14668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ผลงานสำคัญของบทความ</a:t>
            </a:r>
          </a:p>
        </p:txBody>
      </p:sp>
      <p:sp>
        <p:nvSpPr>
          <p:cNvPr id="8" name="text-146">
            <a:extLst xmlns:a="http://schemas.openxmlformats.org/drawingml/2006/main">
              <a:ext uri="{FF2B5EF4-FFF2-40B4-BE49-F238E27FC236}">
                <a16:creationId xmlns:a16="http://schemas.microsoft.com/office/drawing/2014/main" id="{2EECAD8B-6C11-47F3-8EEF-4768DC333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20383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9" name="text-147">
            <a:extLst xmlns:a="http://schemas.openxmlformats.org/drawingml/2006/main">
              <a:ext uri="{FF2B5EF4-FFF2-40B4-BE49-F238E27FC236}">
                <a16:creationId xmlns:a16="http://schemas.microsoft.com/office/drawing/2014/main" id="{08B29C61-66FD-411E-B99E-48E85018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20383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พัฒนา Publisher บนระบบ Mosaic</a:t>
            </a:r>
          </a:p>
        </p:txBody>
      </p:sp>
      <p:sp>
        <p:nvSpPr>
          <p:cNvPr id="10" name="text-148">
            <a:extLst xmlns:a="http://schemas.openxmlformats.org/drawingml/2006/main">
              <a:ext uri="{FF2B5EF4-FFF2-40B4-BE49-F238E27FC236}">
                <a16:creationId xmlns:a16="http://schemas.microsoft.com/office/drawing/2014/main" id="{2F4345B4-EFAA-4BB2-8201-6BFB3C843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23812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เตรียมข้อมูล ผลคิวรี และภาพเริ่มต้นจากข้อกำหนดเดิม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เติมแคชผ่านตัวกลางคิวรี และแก้แหล่งข้อมูลเฉพาะส่วนที่จำเป็น</a:t>
            </a:r>
          </a:p>
        </p:txBody>
      </p:sp>
      <p:sp>
        <p:nvSpPr>
          <p:cNvPr id="11" name="shape-149">
            <a:extLst xmlns:a="http://schemas.openxmlformats.org/drawingml/2006/main">
              <a:ext uri="{FF2B5EF4-FFF2-40B4-BE49-F238E27FC236}">
                <a16:creationId xmlns:a16="http://schemas.microsoft.com/office/drawing/2014/main" id="{A57789A3-F6E6-4B8C-809B-FBCD514F3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360997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12" name="text-150">
            <a:extLst xmlns:a="http://schemas.openxmlformats.org/drawingml/2006/main">
              <a:ext uri="{FF2B5EF4-FFF2-40B4-BE49-F238E27FC236}">
                <a16:creationId xmlns:a16="http://schemas.microsoft.com/office/drawing/2014/main" id="{5787703F-E46B-4AB0-BE8D-C6F01AFF8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38100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13" name="text-151">
            <a:extLst xmlns:a="http://schemas.openxmlformats.org/drawingml/2006/main">
              <a:ext uri="{FF2B5EF4-FFF2-40B4-BE49-F238E27FC236}">
                <a16:creationId xmlns:a16="http://schemas.microsoft.com/office/drawing/2014/main" id="{D008867B-4AEE-4801-B784-39B41DFFE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381000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ประเมินทั้งการแสดงภาพและการโต้ตอบ</a:t>
            </a:r>
          </a:p>
        </p:txBody>
      </p:sp>
      <p:sp>
        <p:nvSpPr>
          <p:cNvPr id="14" name="text-152">
            <a:extLst xmlns:a="http://schemas.openxmlformats.org/drawingml/2006/main">
              <a:ext uri="{FF2B5EF4-FFF2-40B4-BE49-F238E27FC236}">
                <a16:creationId xmlns:a16="http://schemas.microsoft.com/office/drawing/2014/main" id="{530BE056-82BF-4E71-B749-4B60437FE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415290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ใช้ TTR และ TTA แยกเวลารอของสองขั้นตอน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พร้อมวัด SC เพื่อรายงานต้นทุนพื้นที่ของการปรับปรุง</a:t>
            </a:r>
          </a:p>
        </p:txBody>
      </p:sp>
      <p:sp>
        <p:nvSpPr>
          <p:cNvPr id="15" name="shape-153">
            <a:extLst xmlns:a="http://schemas.openxmlformats.org/drawingml/2006/main">
              <a:ext uri="{FF2B5EF4-FFF2-40B4-BE49-F238E27FC236}">
                <a16:creationId xmlns:a16="http://schemas.microsoft.com/office/drawing/2014/main" id="{AB3C06BC-2C29-4779-87B3-5D8965314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538162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16" name="text-154">
            <a:extLst xmlns:a="http://schemas.openxmlformats.org/drawingml/2006/main">
              <a:ext uri="{FF2B5EF4-FFF2-40B4-BE49-F238E27FC236}">
                <a16:creationId xmlns:a16="http://schemas.microsoft.com/office/drawing/2014/main" id="{0FA472D7-8ACD-4268-A9FD-AFF55D84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55816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17" name="text-155">
            <a:extLst xmlns:a="http://schemas.openxmlformats.org/drawingml/2006/main">
              <a:ext uri="{FF2B5EF4-FFF2-40B4-BE49-F238E27FC236}">
                <a16:creationId xmlns:a16="http://schemas.microsoft.com/office/drawing/2014/main" id="{69E9C867-9295-4F1D-A8E7-ECA9AC79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55816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เปรียบเทียบการปรับปรุงทีละระดับ</a:t>
            </a:r>
          </a:p>
        </p:txBody>
      </p:sp>
      <p:sp>
        <p:nvSpPr>
          <p:cNvPr id="18" name="text-156">
            <a:extLst xmlns:a="http://schemas.openxmlformats.org/drawingml/2006/main">
              <a:ext uri="{FF2B5EF4-FFF2-40B4-BE49-F238E27FC236}">
                <a16:creationId xmlns:a16="http://schemas.microsoft.com/office/drawing/2014/main" id="{D39498FE-B659-4FD2-A6B9-D44425AAB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59245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ทดสอบ 5 รูปแบบภาพและข้อมูล 10k–10M แถว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พบว่าแคชช่วย TTA ส่วนภาพล่วงหน้าช่วย TTR เด่นกว่า</a:t>
            </a:r>
          </a:p>
        </p:txBody>
      </p:sp>
      <p:sp>
        <p:nvSpPr>
          <p:cNvPr id="19" name="shape-157">
            <a:extLst xmlns:a="http://schemas.openxmlformats.org/drawingml/2006/main">
              <a:ext uri="{FF2B5EF4-FFF2-40B4-BE49-F238E27FC236}">
                <a16:creationId xmlns:a16="http://schemas.microsoft.com/office/drawing/2014/main" id="{A3980119-CB16-45E7-A429-0082B3691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1238250"/>
            <a:ext cx="6324600" cy="5953125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0" name="text-158">
            <a:extLst xmlns:a="http://schemas.openxmlformats.org/drawingml/2006/main">
              <a:ext uri="{FF2B5EF4-FFF2-40B4-BE49-F238E27FC236}">
                <a16:creationId xmlns:a16="http://schemas.microsoft.com/office/drawing/2014/main" id="{5C8C3A5B-960C-48C5-8B45-5CB33606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14668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rPr>
              <a:t>ข้อจำกัดของการทดลอง</a:t>
            </a:r>
          </a:p>
        </p:txBody>
      </p:sp>
      <p:sp>
        <p:nvSpPr>
          <p:cNvPr id="21" name="text-159">
            <a:extLst xmlns:a="http://schemas.openxmlformats.org/drawingml/2006/main">
              <a:ext uri="{FF2B5EF4-FFF2-40B4-BE49-F238E27FC236}">
                <a16:creationId xmlns:a16="http://schemas.microsoft.com/office/drawing/2014/main" id="{EF5A832D-7FF4-4597-B8B7-7E1599F49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20383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22" name="text-160">
            <a:extLst xmlns:a="http://schemas.openxmlformats.org/drawingml/2006/main">
              <a:ext uri="{FF2B5EF4-FFF2-40B4-BE49-F238E27FC236}">
                <a16:creationId xmlns:a16="http://schemas.microsoft.com/office/drawing/2014/main" id="{09565ACA-693C-405E-A061-6EEEAA31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20383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ยังไม่ครอบคลุมอุปกรณ์และเครือข่ายอื่น</a:t>
            </a:r>
          </a:p>
        </p:txBody>
      </p:sp>
      <p:sp>
        <p:nvSpPr>
          <p:cNvPr id="23" name="text-161">
            <a:extLst xmlns:a="http://schemas.openxmlformats.org/drawingml/2006/main">
              <a:ext uri="{FF2B5EF4-FFF2-40B4-BE49-F238E27FC236}">
                <a16:creationId xmlns:a16="http://schemas.microsoft.com/office/drawing/2014/main" id="{07AD6470-5DF9-414B-8F77-5ADBF8E50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23812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ทดสอบบน M1 Pro กับ local server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ยังไม่มีผลบนมือถือหรือเครือข่ายระยะไกล</a:t>
            </a:r>
          </a:p>
        </p:txBody>
      </p:sp>
      <p:sp>
        <p:nvSpPr>
          <p:cNvPr id="24" name="shape-162">
            <a:extLst xmlns:a="http://schemas.openxmlformats.org/drawingml/2006/main">
              <a:ext uri="{FF2B5EF4-FFF2-40B4-BE49-F238E27FC236}">
                <a16:creationId xmlns:a16="http://schemas.microsoft.com/office/drawing/2014/main" id="{DDE5BD01-FED1-4005-8972-40FC2E2B8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360997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5" name="text-163">
            <a:extLst xmlns:a="http://schemas.openxmlformats.org/drawingml/2006/main">
              <a:ext uri="{FF2B5EF4-FFF2-40B4-BE49-F238E27FC236}">
                <a16:creationId xmlns:a16="http://schemas.microsoft.com/office/drawing/2014/main" id="{EC533AF6-F865-48F8-BE9F-A8792BCA7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38100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26" name="text-164">
            <a:extLst xmlns:a="http://schemas.openxmlformats.org/drawingml/2006/main">
              <a:ext uri="{FF2B5EF4-FFF2-40B4-BE49-F238E27FC236}">
                <a16:creationId xmlns:a16="http://schemas.microsoft.com/office/drawing/2014/main" id="{E9020C1C-2422-423F-B32B-B0CC1E8EB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381000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ยังมีต้นทุนเริ่มระบบและพื้นที่เพิ่ม</a:t>
            </a:r>
          </a:p>
        </p:txBody>
      </p:sp>
      <p:sp>
        <p:nvSpPr>
          <p:cNvPr id="27" name="text-165">
            <a:extLst xmlns:a="http://schemas.openxmlformats.org/drawingml/2006/main">
              <a:ext uri="{FF2B5EF4-FFF2-40B4-BE49-F238E27FC236}">
                <a16:creationId xmlns:a16="http://schemas.microsoft.com/office/drawing/2014/main" id="{0026733B-9905-4232-8ED3-83160F78C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415290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Hydration ใช้วิธีสร้างคอมโพเนนต์ตามปกติ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SC เพิ่มเฉลี่ย 21.2% และต่างกันมากระหว่างกรณี (SD 29.9%)</a:t>
            </a:r>
          </a:p>
        </p:txBody>
      </p:sp>
      <p:sp>
        <p:nvSpPr>
          <p:cNvPr id="28" name="shape-166">
            <a:extLst xmlns:a="http://schemas.openxmlformats.org/drawingml/2006/main">
              <a:ext uri="{FF2B5EF4-FFF2-40B4-BE49-F238E27FC236}">
                <a16:creationId xmlns:a16="http://schemas.microsoft.com/office/drawing/2014/main" id="{622D6362-105B-4DAA-A1AC-F720B6140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538162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9" name="text-167">
            <a:extLst xmlns:a="http://schemas.openxmlformats.org/drawingml/2006/main">
              <a:ext uri="{FF2B5EF4-FFF2-40B4-BE49-F238E27FC236}">
                <a16:creationId xmlns:a16="http://schemas.microsoft.com/office/drawing/2014/main" id="{EC64A32C-2246-43FD-9BDD-7289910DA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55816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30" name="text-168">
            <a:extLst xmlns:a="http://schemas.openxmlformats.org/drawingml/2006/main">
              <a:ext uri="{FF2B5EF4-FFF2-40B4-BE49-F238E27FC236}">
                <a16:creationId xmlns:a16="http://schemas.microsoft.com/office/drawing/2014/main" id="{2AB8E5C3-29A9-49DD-9562-F85702D2C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55816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การอัปเดตข้อมูลและรายละเอียดการวัด</a:t>
            </a:r>
          </a:p>
        </p:txBody>
      </p:sp>
      <p:sp>
        <p:nvSpPr>
          <p:cNvPr id="31" name="text-169">
            <a:extLst xmlns:a="http://schemas.openxmlformats.org/drawingml/2006/main">
              <a:ext uri="{FF2B5EF4-FFF2-40B4-BE49-F238E27FC236}">
                <a16:creationId xmlns:a16="http://schemas.microsoft.com/office/drawing/2014/main" id="{9D0D24A2-578E-485E-8174-E3B79C8BD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59245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ข้อมูลที่เปลี่ยนต้องสร้างทรัพยากรใหม่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เอกสารไม่ได้ระบุจำนวนรอบทดลองซ้ำ</a:t>
            </a:r>
          </a:p>
        </p:txBody>
      </p:sp>
      <p:sp>
        <p:nvSpPr>
          <p:cNvPr id="32" name="text-170">
            <a:extLst xmlns:a="http://schemas.openxmlformats.org/drawingml/2006/main">
              <a:ext uri="{FF2B5EF4-FFF2-40B4-BE49-F238E27FC236}">
                <a16:creationId xmlns:a16="http://schemas.microsoft.com/office/drawing/2014/main" id="{10E43B24-CE7C-4F3B-B4F7-5D53F7211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315200"/>
            <a:ext cx="129844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ที่มา: Sections 3–5 (PDF หน้า 2–4) · พิจารณาข้อจำกัดตามสภาพแวดล้อมและข้อมูลที่รายงาน</a:t>
            </a:r>
          </a:p>
        </p:txBody>
      </p:sp>
    </p:spTree>
    <p:extLst>
      <p:ext uri="{BB962C8B-B14F-4D97-AF65-F5344CB8AC3E}">
        <p14:creationId xmlns:p14="http://schemas.microsoft.com/office/powerpoint/2010/main" val="20159517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hape-171">
            <a:extLst xmlns:a="http://schemas.openxmlformats.org/drawingml/2006/main">
              <a:ext uri="{FF2B5EF4-FFF2-40B4-BE49-F238E27FC236}">
                <a16:creationId xmlns:a16="http://schemas.microsoft.com/office/drawing/2014/main" id="{E7BCA1F8-C637-417B-9AEA-AF67FA277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" name="text-172">
            <a:extLst xmlns:a="http://schemas.openxmlformats.org/drawingml/2006/main">
              <a:ext uri="{FF2B5EF4-FFF2-40B4-BE49-F238E27FC236}">
                <a16:creationId xmlns:a16="http://schemas.microsoft.com/office/drawing/2014/main" id="{FE51468F-EE84-4265-9F2E-D33CDE060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"/>
            <a:ext cx="1298448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rPr>
              <a:t>สรุปผลและแนวทางวิจัยในอนาคต</a:t>
            </a:r>
          </a:p>
        </p:txBody>
      </p:sp>
      <p:sp>
        <p:nvSpPr>
          <p:cNvPr id="3" name="shape-173">
            <a:extLst xmlns:a="http://schemas.openxmlformats.org/drawingml/2006/main">
              <a:ext uri="{FF2B5EF4-FFF2-40B4-BE49-F238E27FC236}">
                <a16:creationId xmlns:a16="http://schemas.microsoft.com/office/drawing/2014/main" id="{66DC76CC-4D76-4D85-AAD6-67C517A42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8120"/>
            <a:ext cx="1463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4" name="text-174">
            <a:extLst xmlns:a="http://schemas.openxmlformats.org/drawingml/2006/main">
              <a:ext uri="{FF2B5EF4-FFF2-40B4-BE49-F238E27FC236}">
                <a16:creationId xmlns:a16="http://schemas.microsoft.com/office/drawing/2014/main" id="{04F4EA35-976C-4038-A04C-D52EBA862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972425"/>
            <a:ext cx="1200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เอกสารอ้างอิง: Pechuk &amp; Heer, IEEE VIS 2025 (IEEE Doc ID: 11298742)</a:t>
            </a:r>
          </a:p>
        </p:txBody>
      </p:sp>
      <p:sp>
        <p:nvSpPr>
          <p:cNvPr id="5" name="text-175">
            <a:extLst xmlns:a="http://schemas.openxmlformats.org/drawingml/2006/main">
              <a:ext uri="{FF2B5EF4-FFF2-40B4-BE49-F238E27FC236}">
                <a16:creationId xmlns:a16="http://schemas.microsoft.com/office/drawing/2014/main" id="{82ED5D2D-84A0-4DA2-862B-25F3E3DC2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79533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6</a:t>
            </a:r>
          </a:p>
        </p:txBody>
      </p:sp>
      <p:sp>
        <p:nvSpPr>
          <p:cNvPr id="6" name="shape-176">
            <a:extLst xmlns:a="http://schemas.openxmlformats.org/drawingml/2006/main">
              <a:ext uri="{FF2B5EF4-FFF2-40B4-BE49-F238E27FC236}">
                <a16:creationId xmlns:a16="http://schemas.microsoft.com/office/drawing/2014/main" id="{D29465DF-0959-44A4-B105-5BCEFFF14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238250"/>
            <a:ext cx="6324600" cy="5953125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text-177">
            <a:extLst xmlns:a="http://schemas.openxmlformats.org/drawingml/2006/main">
              <a:ext uri="{FF2B5EF4-FFF2-40B4-BE49-F238E27FC236}">
                <a16:creationId xmlns:a16="http://schemas.microsoft.com/office/drawing/2014/main" id="{87B86CEF-AB62-4924-8F1C-6B195DA22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14668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ผลที่ได้จากการทดลอง</a:t>
            </a:r>
          </a:p>
        </p:txBody>
      </p:sp>
      <p:sp>
        <p:nvSpPr>
          <p:cNvPr id="8" name="text-178">
            <a:extLst xmlns:a="http://schemas.openxmlformats.org/drawingml/2006/main">
              <a:ext uri="{FF2B5EF4-FFF2-40B4-BE49-F238E27FC236}">
                <a16:creationId xmlns:a16="http://schemas.microsoft.com/office/drawing/2014/main" id="{C8D0FB0A-1E45-479E-8BC6-4747FB525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20383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9" name="text-179">
            <a:extLst xmlns:a="http://schemas.openxmlformats.org/drawingml/2006/main">
              <a:ext uri="{FF2B5EF4-FFF2-40B4-BE49-F238E27FC236}">
                <a16:creationId xmlns:a16="http://schemas.microsoft.com/office/drawing/2014/main" id="{E7A326FC-8BC0-41E1-ADB7-BB09EE418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20383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แคชล่วงหน้าลดเวลาจนพร้อมโต้ตอบ</a:t>
            </a:r>
          </a:p>
        </p:txBody>
      </p:sp>
      <p:sp>
        <p:nvSpPr>
          <p:cNvPr id="10" name="text-180">
            <a:extLst xmlns:a="http://schemas.openxmlformats.org/drawingml/2006/main">
              <a:ext uri="{FF2B5EF4-FFF2-40B4-BE49-F238E27FC236}">
                <a16:creationId xmlns:a16="http://schemas.microsoft.com/office/drawing/2014/main" id="{F26C4498-F8A0-450B-94C8-ADE8C53F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23812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การเพิ่มแคชและผลรวม (+cache) ลด TTA เฉลี่ย 32.3%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ช่วยลดงานคิวรีที่ต้องคำนวณตอนเปิดเว็บ</a:t>
            </a:r>
          </a:p>
        </p:txBody>
      </p:sp>
      <p:sp>
        <p:nvSpPr>
          <p:cNvPr id="11" name="shape-181">
            <a:extLst xmlns:a="http://schemas.openxmlformats.org/drawingml/2006/main">
              <a:ext uri="{FF2B5EF4-FFF2-40B4-BE49-F238E27FC236}">
                <a16:creationId xmlns:a16="http://schemas.microsoft.com/office/drawing/2014/main" id="{280D378A-4B50-42B8-9B48-BFCBF8F97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360997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12" name="text-182">
            <a:extLst xmlns:a="http://schemas.openxmlformats.org/drawingml/2006/main">
              <a:ext uri="{FF2B5EF4-FFF2-40B4-BE49-F238E27FC236}">
                <a16:creationId xmlns:a16="http://schemas.microsoft.com/office/drawing/2014/main" id="{398DD0E5-6576-42C7-8F88-F254EC2B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38100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13" name="text-183">
            <a:extLst xmlns:a="http://schemas.openxmlformats.org/drawingml/2006/main">
              <a:ext uri="{FF2B5EF4-FFF2-40B4-BE49-F238E27FC236}">
                <a16:creationId xmlns:a16="http://schemas.microsoft.com/office/drawing/2014/main" id="{24B8A471-7F3C-4CF0-AC1B-56F58A01F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381000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ภาพล่วงหน้าทำให้เห็นข้อมูลเร็วขึ้น</a:t>
            </a:r>
          </a:p>
        </p:txBody>
      </p:sp>
      <p:sp>
        <p:nvSpPr>
          <p:cNvPr id="14" name="text-184">
            <a:extLst xmlns:a="http://schemas.openxmlformats.org/drawingml/2006/main">
              <a:ext uri="{FF2B5EF4-FFF2-40B4-BE49-F238E27FC236}">
                <a16:creationId xmlns:a16="http://schemas.microsoft.com/office/drawing/2014/main" id="{9BB81B31-4FD3-437F-A31C-6DE2C6530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415290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ชุดรวมลด TTR เฉลี่ย 83.7% และ TTA 33.3%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ภาพแสดงเร็วขึ้น แต่ยังต้องรอเริ่มคอมโพเนนต์โต้ตอบ</a:t>
            </a:r>
          </a:p>
        </p:txBody>
      </p:sp>
      <p:sp>
        <p:nvSpPr>
          <p:cNvPr id="15" name="shape-185">
            <a:extLst xmlns:a="http://schemas.openxmlformats.org/drawingml/2006/main">
              <a:ext uri="{FF2B5EF4-FFF2-40B4-BE49-F238E27FC236}">
                <a16:creationId xmlns:a16="http://schemas.microsoft.com/office/drawing/2014/main" id="{B05CE669-BBF0-4086-B592-BCB95795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538162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16" name="text-186">
            <a:extLst xmlns:a="http://schemas.openxmlformats.org/drawingml/2006/main">
              <a:ext uri="{FF2B5EF4-FFF2-40B4-BE49-F238E27FC236}">
                <a16:creationId xmlns:a16="http://schemas.microsoft.com/office/drawing/2014/main" id="{4E278D90-5840-422D-8D86-FF6EACA7B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55816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17" name="text-187">
            <a:extLst xmlns:a="http://schemas.openxmlformats.org/drawingml/2006/main">
              <a:ext uri="{FF2B5EF4-FFF2-40B4-BE49-F238E27FC236}">
                <a16:creationId xmlns:a16="http://schemas.microsoft.com/office/drawing/2014/main" id="{1B88605E-0D33-41FE-83C4-75CE7AB96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55816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การลดเวลารอต้องแลกกับพื้นที่จัดเก็บ</a:t>
            </a:r>
          </a:p>
        </p:txBody>
      </p:sp>
      <p:sp>
        <p:nvSpPr>
          <p:cNvPr id="18" name="text-188">
            <a:extLst xmlns:a="http://schemas.openxmlformats.org/drawingml/2006/main">
              <a:ext uri="{FF2B5EF4-FFF2-40B4-BE49-F238E27FC236}">
                <a16:creationId xmlns:a16="http://schemas.microsoft.com/office/drawing/2014/main" id="{3DC728E0-E154-4D35-AA69-55B53482E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59245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SC เพิ่มเฉลี่ย 21.2% (SD 29.9%) เทียบ none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ต้นทุนพื้นที่ต่างกันตามรูปแบบภาพและขนาดข้อมูล</a:t>
            </a:r>
          </a:p>
        </p:txBody>
      </p:sp>
      <p:sp>
        <p:nvSpPr>
          <p:cNvPr id="19" name="shape-189">
            <a:extLst xmlns:a="http://schemas.openxmlformats.org/drawingml/2006/main">
              <a:ext uri="{FF2B5EF4-FFF2-40B4-BE49-F238E27FC236}">
                <a16:creationId xmlns:a16="http://schemas.microsoft.com/office/drawing/2014/main" id="{EE369FDD-359D-4A66-BA9A-519E10CA8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1238250"/>
            <a:ext cx="6324600" cy="5953125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0" name="text-190">
            <a:extLst xmlns:a="http://schemas.openxmlformats.org/drawingml/2006/main">
              <a:ext uri="{FF2B5EF4-FFF2-40B4-BE49-F238E27FC236}">
                <a16:creationId xmlns:a16="http://schemas.microsoft.com/office/drawing/2014/main" id="{1B5B05B5-6454-43DD-B097-7696EA506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14668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แนวทางที่ผู้วิจัยเสนอ</a:t>
            </a:r>
          </a:p>
        </p:txBody>
      </p:sp>
      <p:sp>
        <p:nvSpPr>
          <p:cNvPr id="21" name="text-191">
            <a:extLst xmlns:a="http://schemas.openxmlformats.org/drawingml/2006/main">
              <a:ext uri="{FF2B5EF4-FFF2-40B4-BE49-F238E27FC236}">
                <a16:creationId xmlns:a16="http://schemas.microsoft.com/office/drawing/2014/main" id="{037D1997-AE1F-42EE-B31F-EC48039C7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20383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22" name="text-192">
            <a:extLst xmlns:a="http://schemas.openxmlformats.org/drawingml/2006/main">
              <a:ext uri="{FF2B5EF4-FFF2-40B4-BE49-F238E27FC236}">
                <a16:creationId xmlns:a16="http://schemas.microsoft.com/office/drawing/2014/main" id="{5FBB30B0-173C-4FA5-A6A2-8417E18E2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20383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ลดภาระการเริ่มคอมโพเนนต์</a:t>
            </a:r>
          </a:p>
        </p:txBody>
      </p:sp>
      <p:sp>
        <p:nvSpPr>
          <p:cNvPr id="23" name="text-193">
            <a:extLst xmlns:a="http://schemas.openxmlformats.org/drawingml/2006/main">
              <a:ext uri="{FF2B5EF4-FFF2-40B4-BE49-F238E27FC236}">
                <a16:creationId xmlns:a16="http://schemas.microsoft.com/office/drawing/2014/main" id="{EDA56F2A-B07D-4D26-88E9-E6138E4C7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23812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ศึกษาวิธี Hydration ที่ละเอียดขึ้น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เพื่อลดต้นทุนที่ยังใกล้การเรนเดอร์เต็มชุด (§5)</a:t>
            </a:r>
          </a:p>
        </p:txBody>
      </p:sp>
      <p:sp>
        <p:nvSpPr>
          <p:cNvPr id="24" name="shape-194">
            <a:extLst xmlns:a="http://schemas.openxmlformats.org/drawingml/2006/main">
              <a:ext uri="{FF2B5EF4-FFF2-40B4-BE49-F238E27FC236}">
                <a16:creationId xmlns:a16="http://schemas.microsoft.com/office/drawing/2014/main" id="{987EAACC-E5C6-479F-869D-1E377F6A7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360997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5" name="text-195">
            <a:extLst xmlns:a="http://schemas.openxmlformats.org/drawingml/2006/main">
              <a:ext uri="{FF2B5EF4-FFF2-40B4-BE49-F238E27FC236}">
                <a16:creationId xmlns:a16="http://schemas.microsoft.com/office/drawing/2014/main" id="{9403FE57-82D5-43CE-905E-384CB4F97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38100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26" name="text-196">
            <a:extLst xmlns:a="http://schemas.openxmlformats.org/drawingml/2006/main">
              <a:ext uri="{FF2B5EF4-FFF2-40B4-BE49-F238E27FC236}">
                <a16:creationId xmlns:a16="http://schemas.microsoft.com/office/drawing/2014/main" id="{28491C1B-70A7-48A0-883D-FC813626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381000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ผสานการคำนวณและสร้างใหม่เฉพาะส่วน</a:t>
            </a:r>
          </a:p>
        </p:txBody>
      </p:sp>
      <p:sp>
        <p:nvSpPr>
          <p:cNvPr id="27" name="text-197">
            <a:extLst xmlns:a="http://schemas.openxmlformats.org/drawingml/2006/main">
              <a:ext uri="{FF2B5EF4-FFF2-40B4-BE49-F238E27FC236}">
                <a16:creationId xmlns:a16="http://schemas.microsoft.com/office/drawing/2014/main" id="{AD94DDD2-6D8B-406A-B69C-13E75B273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415290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ใช้ทั้งช่วงเผยแพร่และรันไทม์ (Hybrid) และสร้างใหม่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เฉพาะส่วนที่เปลี่ยน (Incremental Regeneration, §6)</a:t>
            </a:r>
          </a:p>
        </p:txBody>
      </p:sp>
      <p:sp>
        <p:nvSpPr>
          <p:cNvPr id="28" name="shape-198">
            <a:extLst xmlns:a="http://schemas.openxmlformats.org/drawingml/2006/main">
              <a:ext uri="{FF2B5EF4-FFF2-40B4-BE49-F238E27FC236}">
                <a16:creationId xmlns:a16="http://schemas.microsoft.com/office/drawing/2014/main" id="{6E456634-E5F5-40B0-B9B4-A8E98192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538162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9" name="text-199">
            <a:extLst xmlns:a="http://schemas.openxmlformats.org/drawingml/2006/main">
              <a:ext uri="{FF2B5EF4-FFF2-40B4-BE49-F238E27FC236}">
                <a16:creationId xmlns:a16="http://schemas.microsoft.com/office/drawing/2014/main" id="{6ED0875D-48FA-436D-A513-5D025518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55816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30" name="text-200">
            <a:extLst xmlns:a="http://schemas.openxmlformats.org/drawingml/2006/main">
              <a:ext uri="{FF2B5EF4-FFF2-40B4-BE49-F238E27FC236}">
                <a16:creationId xmlns:a16="http://schemas.microsoft.com/office/drawing/2014/main" id="{E42352F4-A50F-47E0-A9DC-027EB0EF2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55816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เลือกระดับการปรับปรุงโดยอัตโนมัติ</a:t>
            </a:r>
          </a:p>
        </p:txBody>
      </p:sp>
      <p:sp>
        <p:nvSpPr>
          <p:cNvPr id="31" name="text-201">
            <a:extLst xmlns:a="http://schemas.openxmlformats.org/drawingml/2006/main">
              <a:ext uri="{FF2B5EF4-FFF2-40B4-BE49-F238E27FC236}">
                <a16:creationId xmlns:a16="http://schemas.microsoft.com/office/drawing/2014/main" id="{797D6167-289B-47A4-8BFF-030C03497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59245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พัฒนาวิธีเลือกการตั้งค่าจากข้อมูลและข้อกำหนดภาพ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ให้เหมาะกับประโยชน์และต้นทุนของแต่ละกรณี (§6)</a:t>
            </a:r>
          </a:p>
        </p:txBody>
      </p:sp>
      <p:sp>
        <p:nvSpPr>
          <p:cNvPr id="32" name="text-202">
            <a:extLst xmlns:a="http://schemas.openxmlformats.org/drawingml/2006/main">
              <a:ext uri="{FF2B5EF4-FFF2-40B4-BE49-F238E27FC236}">
                <a16:creationId xmlns:a16="http://schemas.microsoft.com/office/drawing/2014/main" id="{530533FA-6EE2-464A-805A-43E2CF54F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315200"/>
            <a:ext cx="129844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ที่มา: ผลทดลอง Table 1 / Figure 4 · แนวทางอนาคต Sections 5–6 (PDF หน้า 4) ยังไม่ได้ทดสอบ</a:t>
            </a:r>
          </a:p>
        </p:txBody>
      </p:sp>
    </p:spTree>
    <p:extLst>
      <p:ext uri="{BB962C8B-B14F-4D97-AF65-F5344CB8AC3E}">
        <p14:creationId xmlns:p14="http://schemas.microsoft.com/office/powerpoint/2010/main" val="11153791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2026-10-07T04:53:39.7900000Z</dcterms:created>
  <dcterms:modified xsi:type="dcterms:W3CDTF">2026-10-07T04:53:39.7900000Z</dcterms:modified>
</coreProperties>
</file>