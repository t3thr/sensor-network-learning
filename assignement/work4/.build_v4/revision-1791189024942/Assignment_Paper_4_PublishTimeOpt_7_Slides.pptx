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02af7105de4e6e" /><Relationship Type="http://schemas.openxmlformats.org/officeDocument/2006/relationships/extended-properties" Target="/docProps/app.xml" Id="R617898320b624e17" /><Relationship Type="http://schemas.openxmlformats.org/officeDocument/2006/relationships/officeDocument" Target="/ppt/presentation.xml" Id="R6cf22466943246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5375d649ce4253"/>
  </p:sldMasterIdLst>
  <p:notesMasterIdLst>
    <p:notesMasterId xmlns:r="http://schemas.openxmlformats.org/officeDocument/2006/relationships" r:id="R75705c9f5e6e4116"/>
  </p:notesMasterIdLst>
  <p:sldIdLst>
    <p:sldId xmlns:r="http://schemas.openxmlformats.org/officeDocument/2006/relationships" id="256" r:id="Rd59476085b0042dc"/>
    <p:sldId xmlns:r="http://schemas.openxmlformats.org/officeDocument/2006/relationships" id="257" r:id="Rbef2dd30c7f44b5d"/>
    <p:sldId xmlns:r="http://schemas.openxmlformats.org/officeDocument/2006/relationships" id="258" r:id="R5d9c1e7a0a95458e"/>
    <p:sldId xmlns:r="http://schemas.openxmlformats.org/officeDocument/2006/relationships" id="259" r:id="Rc053535ae28048b6"/>
    <p:sldId xmlns:r="http://schemas.openxmlformats.org/officeDocument/2006/relationships" id="260" r:id="R5606550bbec8437b"/>
    <p:sldId xmlns:r="http://schemas.openxmlformats.org/officeDocument/2006/relationships" id="261" r:id="Rd0de436094b34cd2"/>
    <p:sldId xmlns:r="http://schemas.openxmlformats.org/officeDocument/2006/relationships" id="262" r:id="R990f010490f74b2a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02c3bdd55a436e" /><Relationship Type="http://schemas.openxmlformats.org/officeDocument/2006/relationships/slideMaster" Target="/ppt/slideMasters/slideMaster1.xml" Id="R565375d649ce4253" /><Relationship Type="http://schemas.openxmlformats.org/officeDocument/2006/relationships/notesMaster" Target="/ppt/notesMasters/notesMaster1.xml" Id="R75705c9f5e6e4116" /><Relationship Type="http://schemas.openxmlformats.org/officeDocument/2006/relationships/presProps" Target="/ppt/presProps.xml" Id="Rfa18397301ec4a53" /><Relationship Type="http://schemas.openxmlformats.org/officeDocument/2006/relationships/tableStyles" Target="/ppt/tableStyles.xml" Id="R52ca198a626f419a" /><Relationship Type="http://schemas.openxmlformats.org/officeDocument/2006/relationships/slide" Target="/ppt/slides/slide1.xml" Id="Rd59476085b0042dc" /><Relationship Type="http://schemas.openxmlformats.org/officeDocument/2006/relationships/slide" Target="/ppt/slides/slide2.xml" Id="Rbef2dd30c7f44b5d" /><Relationship Type="http://schemas.openxmlformats.org/officeDocument/2006/relationships/slide" Target="/ppt/slides/slide3.xml" Id="R5d9c1e7a0a95458e" /><Relationship Type="http://schemas.openxmlformats.org/officeDocument/2006/relationships/slide" Target="/ppt/slides/slide4.xml" Id="Rc053535ae28048b6" /><Relationship Type="http://schemas.openxmlformats.org/officeDocument/2006/relationships/slide" Target="/ppt/slides/slide5.xml" Id="R5606550bbec8437b" /><Relationship Type="http://schemas.openxmlformats.org/officeDocument/2006/relationships/slide" Target="/ppt/slides/slide6.xml" Id="Rd0de436094b34cd2" /><Relationship Type="http://schemas.openxmlformats.org/officeDocument/2006/relationships/slide" Target="/ppt/slides/slide7.xml" Id="R990f010490f74b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1235d4f92740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0278892e364ac5" /><Relationship Type="http://schemas.openxmlformats.org/officeDocument/2006/relationships/notesMaster" Target="/ppt/notesMasters/notesMaster1.xml" Id="R9f210a914470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01dfbd8d704aae" /><Relationship Type="http://schemas.openxmlformats.org/officeDocument/2006/relationships/notesMaster" Target="/ppt/notesMasters/notesMaster1.xml" Id="R79a90f12a70d43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e88c89ee4b475b" /><Relationship Type="http://schemas.openxmlformats.org/officeDocument/2006/relationships/notesMaster" Target="/ppt/notesMasters/notesMaster1.xml" Id="R478be52228db46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f3b81f79664499" /><Relationship Type="http://schemas.openxmlformats.org/officeDocument/2006/relationships/notesMaster" Target="/ppt/notesMasters/notesMaster1.xml" Id="Ra1c3aa50a9da49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4ea670aadc412b" /><Relationship Type="http://schemas.openxmlformats.org/officeDocument/2006/relationships/notesMaster" Target="/ppt/notesMasters/notesMaster1.xml" Id="R3879f510df8649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d544e1391c4d8f" /><Relationship Type="http://schemas.openxmlformats.org/officeDocument/2006/relationships/notesMaster" Target="/ppt/notesMasters/notesMaster1.xml" Id="Rabf7d79c424046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c6c29c0bd241f5" /><Relationship Type="http://schemas.openxmlformats.org/officeDocument/2006/relationships/notesMaster" Target="/ppt/notesMasters/notesMaster1.xml" Id="Rdf29e925302c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0–25 วินาที (25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การนำเสนอนี้สรุปบทความวิจัยเรื่อง Publish-Time Optimizations for Web-Based Visualizations โดย Ron Pechuk และ Jeffrey Heer จาก University of Washington ตีพิมพ์ในการประชุมวิชาการ IEEE VIS 2025 โดยนำเสนอแนวทางย้ายภาระงานประมวลผลที่ต้องทำซ้ำไปไว้ในช่วงเผยแพร่ระบบ เพื่อลดความหน่วงเริ่มต้นของเว็บแสดงภาพข้อมูลเชิงโต้ตอบ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Title and Abstract, PDF page 1. IEEE metadata: DOI 10.1109/VIS60296.2025.00051.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25–65 วินาที (40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เมื่อเปิดหน้าเว็บแสดงภาพข้อมูล เบราว์เซอร์มักต้องดาวน์โหลดข้อมูลดิบ รันคิวรีรวมกลุ่ม และวาดภาพใหม่ทั้งหมด ทำให้ผู้ใช้งานคนแรกต้องรอคอยความหน่วงแบบ Cold-Start ผู้วิจัยจึงจำแนกตัวชี้วัดประสิทธิภาพออกเป็นสองส่วน คือ TTR หรือเวลาจนภาพแสดงผลสมบูรณ์ ซึ่งสะท้อนความเร็วที่ผู้ใช้รับรู้จริง และ TTA หรือเวลาจนระบบพร้อมรับการคลิกหรือฟิลเตอร์โต้ตอบ พร้อมทั้งวัดขนาดพื้นที่จัดเก็บเพิ่มเติม หรือ Storage Cost เพื่อประเมินความคุ้มค่าเชิงวิศวกรรม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 and 3.1, PDF pages 1–2.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65–110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สถาปัตยกรรม Mosaic Publisher แบ่งกระบวนการช่วงเผยแพร่ออกเป็นสามขั้นตอนหลัก เริ่มจากการวิเคราะห์โครงสร้าง Abstract Syntax Tree และจำลอง Virtual DOM เพื่อระบุคิวรีที่จำเป็น จากนั้นใช้ DuckDB คำนวณผลลัพธ์ล่วงหน้าและจัดเก็บเป็นไฟล์ แล้วทำการปรับแก้โค้ดเพื่อสร้าง JavaScript Runtime Bundle ผลลัพธ์ที่ส่งมอบให้เบราว์เซอร์ประกอบด้วยข้อมูลที่ตัดทอนคอลัมน์แล้ว ผลคิวรีสำเร็จรูปสำหรับเติมแคช และภาพร่างเริ่มต้น โดยนักพัฒนายังคงใช้ไวยากรณ์เดิมของระบบได้ทั้งหมด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1, PDF page 1. Sections 3.2–3.4 and 4.1–4.3, PDF pages 2–3.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110–155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สำหรับมุมมองแบบสถิต ระบบสามารถส่งภาพ SVG หรือ Canvas ที่วาดเสร็จแล้วให้แสดงผลได้ทันทีโดยไม่ต้องพึ่งพาสคริปต์ แต่สำหรับมุมมองแบบโต้ตอบ แม้ภาพเริ่มต้นจะปรากฏรวดเร็ว ผู้ใช้งานยังต้องรอขั้นตอน Hydration เพื่อให้เบราว์เซอร์เริ่มทำงานคอมโพเนนต์และผูก Event ผลการทดลองในรูปที่ 4 พบว่าขั้นตอน Hydration ยังมีต้นทุนเวลาใกล้เคียงกับการเรนเดอร์ใหม่ทั้งหมด ทำให้ภาพปรากฏเร็วขึ้นมาก แต่เวลาพร้อมโต้ตอบยังลดลงได้จำกัด ซึ่งการพัฒนา Progressive Hydration เป็นโจทย์วิจัยสำคัญต่อไป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 4.3, PDF page 3. Figure 4 and Section 5, PDF page 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155–215 วินาที (60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ผลการทดสอบกับ 5 ชุดแสดงผลจริง ตั้งแต่ข้อมูลหนึ่งหมื่นแถวจนถึงสิบล้านแถวในตารางที่ 1 ระบุว่าชุดปรับปรุงรวมสามารถลด TTR ได้เฉลี่ย 83.7% และลด TTA ลงเฉลี่ย 33.3% โดยมีกลไกแคชล่วงหน้าเป็นปัจจัยหลักที่ช่วยลด TTA ได้ 32.3% ขณะที่การเรนเดอร์ภาพล่วงหน้าช่วยลด TTA เพิ่มเติมเพียง 1.0% เมื่อเทียบกับ Baseline เดียวกัน ทั้งนี้ระบบต้องแลกกับพื้นที่จัดเก็บเพิ่มเติมเฉลี่ย 21.2% ซึ่งถือเป็นการแลกเปลี่ยนที่คุ้มค่าสำหรับเว็บแอปพลิเคชันยุคใหม่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Figure 3 and Table 1, PDF page 4. Table values: mean ± sigma across specifications and dataset sizes.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215–250 วินาที (35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คุณูปการทางวิชาการของงานวิจัยนี้ คือการสร้างไปป์ไลน์ปรับปรุงประสิทธิภาพแบบแบ่งชั้นที่รักษาไวยากรณ์เดิม การนำเสนอกรอบการประเมินแบบคู่ขนานระหว่าง TTR และ TTA ร่วมกับมิติพื้นที่จัดเก็บ และการยืนยันประสิทธิผลเชิงประจักษ์กับข้อมูลขนาดใหญ่ ในด้านการนำไปประยุกต์ใช้งานจริง สถาปัตยกรรมนี้นำไปใช้ลดความหน่วงเริ่มต้นของแดชบอร์ดวิเคราะห์ข้อมูล การกระจายไฟล์แคชผ่าน Edge CDN เพื่อลดภาระเซิร์ฟเวอร์ และเป็นแนวทางพัฒนาระบบ In-Browser OLAP ร่วมกับ DuckDB-WASM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Sections 1, 3 and 5, PDF pages 1–4.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250–295 วินาที (45 วินาที)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ข้อจำกัดสำคัญของระบบคือขั้นตอน Client Hydration ที่ยังเป็นคอขวดหลัก ความผันแปรของพื้นที่จัดเก็บที่มีค่าเบี่ยงเบนมาตรฐานสูงถึง 29.9% และข้อจำกัดจากการทดสอบบนแล็ปท็อปประสิทธิภาพสูงกับข้อมูลสถิต บทสรุปเชิงสถาปัตยกรรมยืนยันว่าการแคชล่วงหน้าเป็นหัวใจของการลดเวลาตอบสนอง ส่วนภาพล่วงหน้าช่วยแก้ปัญหาความหน่วงที่รับรู้ได้ โดยผู้วิจัยเสนอแนวทางพัฒนาในอนาคต ได้แก่ การทำ Progressive Hydration การผสานกลยุทธ์แบบไฮบริดร่วมกับรันไทม์ และระบบคำนวณซ้ำเฉพาะส่วนที่ข้อมูลเปลี่ยนแปลง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Table 1 (Key Takeaways) and Sections 5–6, PDF pages 4–5.</a:t>
            </a:r>
          </a:p>
          <a:p xmlns:a="http://schemas.openxmlformats.org/drawingml/2006/main">
            <a:r>
              <a:t>DOI: 10.1109/VIS60296.2025.00051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4d8d528a049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97cb3ac02f4045" /><Relationship Type="http://schemas.openxmlformats.org/officeDocument/2006/relationships/slideLayout" Target="/ppt/slideLayouts/slideLayout1.xml" Id="R33af88b0817e40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af88b0817e40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632a955b34c2e" /><Relationship Type="http://schemas.openxmlformats.org/officeDocument/2006/relationships/notesSlide" Target="/ppt/notesSlides/notesSlide1.xml" Id="Rc2abb6c743b746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14f4efa994b1d" /><Relationship Type="http://schemas.openxmlformats.org/officeDocument/2006/relationships/notesSlide" Target="/ppt/notesSlides/notesSlide2.xml" Id="Ra7ffe2ca35c746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8913f808c4097" /><Relationship Type="http://schemas.openxmlformats.org/officeDocument/2006/relationships/image" Target="/ppt/media/image.png" Id="Ra52a1c9468864cb1" /><Relationship Type="http://schemas.openxmlformats.org/officeDocument/2006/relationships/notesSlide" Target="/ppt/notesSlides/notesSlide3.xml" Id="R12b2c95a952844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2ce3f086e4616" /><Relationship Type="http://schemas.openxmlformats.org/officeDocument/2006/relationships/image" Target="/ppt/media/image2.png" Id="Ra625f5b7e6ec4c94" /><Relationship Type="http://schemas.openxmlformats.org/officeDocument/2006/relationships/notesSlide" Target="/ppt/notesSlides/notesSlide4.xml" Id="R1f3736f38b85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fe4eb2da4665" /><Relationship Type="http://schemas.openxmlformats.org/officeDocument/2006/relationships/image" Target="/ppt/media/image3.png" Id="Rc4e7b7fde7164227" /><Relationship Type="http://schemas.openxmlformats.org/officeDocument/2006/relationships/notesSlide" Target="/ppt/notesSlides/notesSlide5.xml" Id="R4bebeea05b8042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0808f31eb4557" /><Relationship Type="http://schemas.openxmlformats.org/officeDocument/2006/relationships/notesSlide" Target="/ppt/notesSlides/notesSlide6.xml" Id="R363547d59da749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5c032192c45c4" /><Relationship Type="http://schemas.openxmlformats.org/officeDocument/2006/relationships/notesSlide" Target="/ppt/notesSlides/notesSlide7.xml" Id="Rfa8998d96d674b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F4F3840C-0FBD-4F63-AA54-409F8F14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272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305432 เครือข่ายเซนเซอร์ (Sensor Networks)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133285A-EDE5-49B8-BAC0-DA1A90D4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2725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Publish-Time Optimizations</a:t>
            </a:r>
          </a:p>
          <a:p xmlns:a="http://schemas.openxmlformats.org/drawingml/2006/main">
            <a:pPr algn="ctr">
              <a:def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3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for Web-Based Visualizations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8A06602-E8A1-43FB-A5DB-5911CD06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272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การเพิ่มประสิทธิภาพเว็บแสดงภาพข้อมูลเชิงโต้ตอบด้วยการประมวลผลล่วงหน้าช่วงเผยแพร่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F281943A-0169-4B2F-83F8-5174CBB1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86250"/>
            <a:ext cx="2019300" cy="333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noFill/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2A8B888-3E64-4EDA-A92C-0041DD04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2725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Ron Pechuk, Jeffrey Heer</a:t>
            </a:r>
          </a:p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University of Washington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A65DB92-B666-4B28-B922-1F056A49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2025 IEEE Visualization and Visual Analytics (VIS), pp. 226–230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6D5A9A6-D1D7-466F-8DE4-3D578B74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272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IEEE Doc ID: 11298742     DOI: 10.1109/VIS60296.2025.00051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CB74CE9-A785-45B6-9B34-ED114CA6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743700"/>
            <a:ext cx="1272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นำเสนอโดย นายธีรภัทร ภู่ระย้า     รหัสนิสิต 66362416</a:t>
            </a:r>
          </a:p>
        </p:txBody>
      </p:sp>
    </p:spTree>
    <p:extLst>
      <p:ext uri="{BB962C8B-B14F-4D97-AF65-F5344CB8AC3E}">
        <p14:creationId xmlns:p14="http://schemas.microsoft.com/office/powerpoint/2010/main" val="1905297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9">
            <a:extLst xmlns:a="http://schemas.openxmlformats.org/drawingml/2006/main">
              <a:ext uri="{FF2B5EF4-FFF2-40B4-BE49-F238E27FC236}">
                <a16:creationId xmlns:a16="http://schemas.microsoft.com/office/drawing/2014/main" id="{1E1D78EC-BCB9-479F-9BEB-E7A9738B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53586CEF-C069-409A-BD74-993DA198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ที่มา ปัญหาความหน่วง และตัวชี้วัดประสิทธิภาพเว็บ</a:t>
            </a:r>
          </a:p>
        </p:txBody>
      </p:sp>
      <p:sp>
        <p:nvSpPr>
          <p:cNvPr id="3" name="shape-11">
            <a:extLst xmlns:a="http://schemas.openxmlformats.org/drawingml/2006/main">
              <a:ext uri="{FF2B5EF4-FFF2-40B4-BE49-F238E27FC236}">
                <a16:creationId xmlns:a16="http://schemas.microsoft.com/office/drawing/2014/main" id="{5A0F8185-8AE1-4804-BD7A-7957972A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CDBE0271-A217-4387-AF41-C624DF6E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3">
            <a:extLst xmlns:a="http://schemas.openxmlformats.org/drawingml/2006/main">
              <a:ext uri="{FF2B5EF4-FFF2-40B4-BE49-F238E27FC236}">
                <a16:creationId xmlns:a16="http://schemas.microsoft.com/office/drawing/2014/main" id="{3EE0E80D-9614-4759-A3AC-C5F8634B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6" name="shape-14">
            <a:extLst xmlns:a="http://schemas.openxmlformats.org/drawingml/2006/main">
              <a:ext uri="{FF2B5EF4-FFF2-40B4-BE49-F238E27FC236}">
                <a16:creationId xmlns:a16="http://schemas.microsoft.com/office/drawing/2014/main" id="{80C495E9-8A00-4976-B74B-210BEB71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33CFD5B3-F218-4EAA-99E7-2D61CE8D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คอขวดประสิทธิภาพของเว็บแสดงภาพข้อมูล</a:t>
            </a:r>
          </a:p>
        </p:txBody>
      </p:sp>
      <p:sp>
        <p:nvSpPr>
          <p:cNvPr id="8" name="text-16">
            <a:extLst xmlns:a="http://schemas.openxmlformats.org/drawingml/2006/main">
              <a:ext uri="{FF2B5EF4-FFF2-40B4-BE49-F238E27FC236}">
                <a16:creationId xmlns:a16="http://schemas.microsoft.com/office/drawing/2014/main" id="{03417415-7BF5-44AB-82F9-026519B5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002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5F464017-2F53-4FD0-9A8B-9D5F54DB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002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ภาระประมวลผลซ้ำซ้อนฝั่ง Client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94CEA3ED-9B07-4342-99D9-F150CC14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2410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เบราว์เซอร์ต้องโหลดข้อมูลดิบ รันคิวรีรวมกลุ่ม และวาดภาพใหม่ทุกครั้ง</a:t>
            </a:r>
          </a:p>
        </p:txBody>
      </p:sp>
      <p:sp>
        <p:nvSpPr>
          <p:cNvPr id="11" name="shape-19">
            <a:extLst xmlns:a="http://schemas.openxmlformats.org/drawingml/2006/main">
              <a:ext uri="{FF2B5EF4-FFF2-40B4-BE49-F238E27FC236}">
                <a16:creationId xmlns:a16="http://schemas.microsoft.com/office/drawing/2014/main" id="{EF7BEE4B-8300-4FD7-B984-31AC7E70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10515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22FD4722-D20A-4EB2-8BFB-53247287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4D0E7A84-CF17-4B8A-93A0-36B73E85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2385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ปัญหา Cold-Start ของ Runtime Cache</a:t>
            </a:r>
          </a:p>
        </p:txBody>
      </p:sp>
      <p:sp>
        <p:nvSpPr>
          <p:cNvPr id="14" name="text-22">
            <a:extLst xmlns:a="http://schemas.openxmlformats.org/drawingml/2006/main">
              <a:ext uri="{FF2B5EF4-FFF2-40B4-BE49-F238E27FC236}">
                <a16:creationId xmlns:a16="http://schemas.microsoft.com/office/drawing/2014/main" id="{A08E0DF2-4EF5-443C-A157-E1318B8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5623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แคชที่สร้างตอนใช้งาน ผู้ใช้คนแรก (First Visitor) ต้องรับ Latency สูงสุด</a:t>
            </a:r>
          </a:p>
        </p:txBody>
      </p:sp>
      <p:sp>
        <p:nvSpPr>
          <p:cNvPr id="15" name="shape-23">
            <a:extLst xmlns:a="http://schemas.openxmlformats.org/drawingml/2006/main">
              <a:ext uri="{FF2B5EF4-FFF2-40B4-BE49-F238E27FC236}">
                <a16:creationId xmlns:a16="http://schemas.microsoft.com/office/drawing/2014/main" id="{FBF2EB9E-0D2D-4273-98B4-5A3F2757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34340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24">
            <a:extLst xmlns:a="http://schemas.openxmlformats.org/drawingml/2006/main">
              <a:ext uri="{FF2B5EF4-FFF2-40B4-BE49-F238E27FC236}">
                <a16:creationId xmlns:a16="http://schemas.microsoft.com/office/drawing/2014/main" id="{7E609124-B30D-4247-BC6D-94CB9D2E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76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25">
            <a:extLst xmlns:a="http://schemas.openxmlformats.org/drawingml/2006/main">
              <a:ext uri="{FF2B5EF4-FFF2-40B4-BE49-F238E27FC236}">
                <a16:creationId xmlns:a16="http://schemas.microsoft.com/office/drawing/2014/main" id="{B4866AEF-4EC3-4BB6-A3ED-1F9B927B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4767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ความไม่สอดคล้องของภาพและการโต้ตอบ</a:t>
            </a:r>
          </a:p>
        </p:txBody>
      </p:sp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8C525DDE-E945-449A-9910-61CC3EF7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80060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ภาพเริ่มต้นปรากฏแล้ว แต่ระบบภายในยังไม่พร้อมรับอินพุตหรือการฟิลเตอร์</a:t>
            </a:r>
          </a:p>
        </p:txBody>
      </p:sp>
      <p:sp>
        <p:nvSpPr>
          <p:cNvPr id="19" name="shape-27">
            <a:extLst xmlns:a="http://schemas.openxmlformats.org/drawingml/2006/main">
              <a:ext uri="{FF2B5EF4-FFF2-40B4-BE49-F238E27FC236}">
                <a16:creationId xmlns:a16="http://schemas.microsoft.com/office/drawing/2014/main" id="{7421B6EE-285D-4516-BBB4-FCCE2EE0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5676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0" name="text-28">
            <a:extLst xmlns:a="http://schemas.openxmlformats.org/drawingml/2006/main">
              <a:ext uri="{FF2B5EF4-FFF2-40B4-BE49-F238E27FC236}">
                <a16:creationId xmlns:a16="http://schemas.microsoft.com/office/drawing/2014/main" id="{FD2521DE-344B-4695-9FDD-B9AE7CC6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7150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21" name="text-29">
            <a:extLst xmlns:a="http://schemas.openxmlformats.org/drawingml/2006/main">
              <a:ext uri="{FF2B5EF4-FFF2-40B4-BE49-F238E27FC236}">
                <a16:creationId xmlns:a16="http://schemas.microsoft.com/office/drawing/2014/main" id="{711AACDF-EC29-4661-A60F-1C5A9086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71500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Trade-off ของการเตรียมข้อมูลล่วงหน้า</a:t>
            </a:r>
          </a:p>
        </p:txBody>
      </p:sp>
      <p:sp>
        <p:nvSpPr>
          <p:cNvPr id="22" name="text-30">
            <a:extLst xmlns:a="http://schemas.openxmlformats.org/drawingml/2006/main">
              <a:ext uri="{FF2B5EF4-FFF2-40B4-BE49-F238E27FC236}">
                <a16:creationId xmlns:a16="http://schemas.microsoft.com/office/drawing/2014/main" id="{14684EE7-6635-43F5-83DF-B93EFB30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6038850"/>
            <a:ext cx="531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การสร้างแคชล่วงหน้าช่วยลดความหน่วง แต่แลกมาด้วยพื้นที่และความสดข้อมูล</a:t>
            </a:r>
          </a:p>
        </p:txBody>
      </p:sp>
      <p:sp>
        <p:nvSpPr>
          <p:cNvPr id="23" name="shape-31">
            <a:extLst xmlns:a="http://schemas.openxmlformats.org/drawingml/2006/main">
              <a:ext uri="{FF2B5EF4-FFF2-40B4-BE49-F238E27FC236}">
                <a16:creationId xmlns:a16="http://schemas.microsoft.com/office/drawing/2014/main" id="{B562A023-19DB-4BC1-BBAE-8AC0503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187642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32">
            <a:extLst xmlns:a="http://schemas.openxmlformats.org/drawingml/2006/main">
              <a:ext uri="{FF2B5EF4-FFF2-40B4-BE49-F238E27FC236}">
                <a16:creationId xmlns:a16="http://schemas.microsoft.com/office/drawing/2014/main" id="{DE5FA5E9-792D-4EB4-B8F6-2885ED5E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TTR (Time-to-Render) · เวลาจนภาพปรากฏ</a:t>
            </a:r>
          </a:p>
        </p:txBody>
      </p:sp>
      <p:sp>
        <p:nvSpPr>
          <p:cNvPr id="25" name="text-33">
            <a:extLst xmlns:a="http://schemas.openxmlformats.org/drawingml/2006/main">
              <a:ext uri="{FF2B5EF4-FFF2-40B4-BE49-F238E27FC236}">
                <a16:creationId xmlns:a16="http://schemas.microsoft.com/office/drawing/2014/main" id="{AC0418CE-0D17-445D-BCED-E0CDB7DD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8478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เวลาตั้งแต่เริ่มส่งคำขอ จนเห็น Visualization แสดงผลสมบูรณ์</a:t>
            </a:r>
          </a:p>
        </p:txBody>
      </p:sp>
      <p:sp>
        <p:nvSpPr>
          <p:cNvPr id="26" name="text-34">
            <a:extLst xmlns:a="http://schemas.openxmlformats.org/drawingml/2006/main">
              <a:ext uri="{FF2B5EF4-FFF2-40B4-BE49-F238E27FC236}">
                <a16:creationId xmlns:a16="http://schemas.microsoft.com/office/drawing/2014/main" id="{048FE4F9-B1CF-4BC6-BA32-4CA98EC9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4193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ชี้วัดความเร็วที่ผู้ใช้รับรู้ได้จริง (Perceived Latency) ไม่นับรวมเฉพาะ Header</a:t>
            </a:r>
          </a:p>
        </p:txBody>
      </p:sp>
      <p:sp>
        <p:nvSpPr>
          <p:cNvPr id="27" name="shape-35">
            <a:extLst xmlns:a="http://schemas.openxmlformats.org/drawingml/2006/main">
              <a:ext uri="{FF2B5EF4-FFF2-40B4-BE49-F238E27FC236}">
                <a16:creationId xmlns:a16="http://schemas.microsoft.com/office/drawing/2014/main" id="{5E501E68-D27D-47A9-BCD0-F5EA64D1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3276600"/>
            <a:ext cx="6324600" cy="187642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36">
            <a:extLst xmlns:a="http://schemas.openxmlformats.org/drawingml/2006/main">
              <a:ext uri="{FF2B5EF4-FFF2-40B4-BE49-F238E27FC236}">
                <a16:creationId xmlns:a16="http://schemas.microsoft.com/office/drawing/2014/main" id="{30D7DDA3-051F-4086-809F-EE808A71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5052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TTA (Time-to-Activation) · เวลาจนพร้อมโต้ตอบ</a:t>
            </a:r>
          </a:p>
        </p:txBody>
      </p:sp>
      <p:sp>
        <p:nvSpPr>
          <p:cNvPr id="29" name="text-37">
            <a:extLst xmlns:a="http://schemas.openxmlformats.org/drawingml/2006/main">
              <a:ext uri="{FF2B5EF4-FFF2-40B4-BE49-F238E27FC236}">
                <a16:creationId xmlns:a16="http://schemas.microsoft.com/office/drawing/2014/main" id="{273CCDBA-0491-41A6-B088-81B2212F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8620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เวลาจนกระทั่งระบบพร้อมรับการกรอง (Filter), ซูม หรือเลือกข้อมูล</a:t>
            </a:r>
          </a:p>
        </p:txBody>
      </p:sp>
      <p:sp>
        <p:nvSpPr>
          <p:cNvPr id="30" name="text-38">
            <a:extLst xmlns:a="http://schemas.openxmlformats.org/drawingml/2006/main">
              <a:ext uri="{FF2B5EF4-FFF2-40B4-BE49-F238E27FC236}">
                <a16:creationId xmlns:a16="http://schemas.microsoft.com/office/drawing/2014/main" id="{DA146AC8-C311-48D5-AD6F-C54CE8BD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44577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ชี้วัดความพร้อมใช้งานจริง โดยแยกขาดจากเวลาที่ภาพปรากฏบนจออย่างชัดเจน</a:t>
            </a:r>
          </a:p>
        </p:txBody>
      </p:sp>
      <p:sp>
        <p:nvSpPr>
          <p:cNvPr id="31" name="shape-39">
            <a:extLst xmlns:a="http://schemas.openxmlformats.org/drawingml/2006/main">
              <a:ext uri="{FF2B5EF4-FFF2-40B4-BE49-F238E27FC236}">
                <a16:creationId xmlns:a16="http://schemas.microsoft.com/office/drawing/2014/main" id="{B297CD17-CBBA-413C-B3CB-C9DB79E0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5314950"/>
            <a:ext cx="6324600" cy="1876425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2" name="text-40">
            <a:extLst xmlns:a="http://schemas.openxmlformats.org/drawingml/2006/main">
              <a:ext uri="{FF2B5EF4-FFF2-40B4-BE49-F238E27FC236}">
                <a16:creationId xmlns:a16="http://schemas.microsoft.com/office/drawing/2014/main" id="{ADE332B0-A72C-4E08-ACF1-8F2ADB6A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435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SC (Storage Cost) · ขนาดพื้นที่จัดเก็บเพิ่มเติม</a:t>
            </a:r>
          </a:p>
        </p:txBody>
      </p:sp>
      <p:sp>
        <p:nvSpPr>
          <p:cNvPr id="33" name="text-41">
            <a:extLst xmlns:a="http://schemas.openxmlformats.org/drawingml/2006/main">
              <a:ext uri="{FF2B5EF4-FFF2-40B4-BE49-F238E27FC236}">
                <a16:creationId xmlns:a16="http://schemas.microsoft.com/office/drawing/2014/main" id="{E80088F7-FEFB-49C6-BDB9-55A34827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924550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ขนาดพื้นที่จัดเก็บไฟล์แคชและข้อมูลรวมกลุ่มที่เพิ่มขึ้นบนเซิร์ฟเวอร์</a:t>
            </a:r>
          </a:p>
        </p:txBody>
      </p:sp>
      <p:sp>
        <p:nvSpPr>
          <p:cNvPr id="34" name="text-42">
            <a:extLst xmlns:a="http://schemas.openxmlformats.org/drawingml/2006/main">
              <a:ext uri="{FF2B5EF4-FFF2-40B4-BE49-F238E27FC236}">
                <a16:creationId xmlns:a16="http://schemas.microsoft.com/office/drawing/2014/main" id="{60F8D50D-6766-47EA-B975-24D38F57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64960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6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ประเมินต้นทุนพื้นที่จัดเก็บข้อมูลบนเซิร์ฟเวอร์ที่ต้องแลกกับความเร็วในการโหลด</a:t>
            </a:r>
          </a:p>
        </p:txBody>
      </p:sp>
      <p:sp>
        <p:nvSpPr>
          <p:cNvPr id="35" name="text-43">
            <a:extLst xmlns:a="http://schemas.openxmlformats.org/drawingml/2006/main">
              <a:ext uri="{FF2B5EF4-FFF2-40B4-BE49-F238E27FC236}">
                <a16:creationId xmlns:a16="http://schemas.microsoft.com/office/drawing/2014/main" id="{1A86282D-7F8A-4DA7-ACFB-F750C9C4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 และ 3.1 (หน้า PDF 1–2)</a:t>
            </a:r>
          </a:p>
        </p:txBody>
      </p:sp>
    </p:spTree>
    <p:extLst>
      <p:ext uri="{BB962C8B-B14F-4D97-AF65-F5344CB8AC3E}">
        <p14:creationId xmlns:p14="http://schemas.microsoft.com/office/powerpoint/2010/main" val="4401302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44">
            <a:extLst xmlns:a="http://schemas.openxmlformats.org/drawingml/2006/main">
              <a:ext uri="{FF2B5EF4-FFF2-40B4-BE49-F238E27FC236}">
                <a16:creationId xmlns:a16="http://schemas.microsoft.com/office/drawing/2014/main" id="{A1273B0F-10C5-4FA8-AB69-62648C0B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A6FD749C-A0D4-4FEF-97E2-2A514DC0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 (Mosaic Publisher)</a:t>
            </a:r>
          </a:p>
        </p:txBody>
      </p:sp>
      <p:sp>
        <p:nvSpPr>
          <p:cNvPr id="3" name="shape-46">
            <a:extLst xmlns:a="http://schemas.openxmlformats.org/drawingml/2006/main">
              <a:ext uri="{FF2B5EF4-FFF2-40B4-BE49-F238E27FC236}">
                <a16:creationId xmlns:a16="http://schemas.microsoft.com/office/drawing/2014/main" id="{6BC303DC-F1FB-4727-A9AD-7AFFF1FC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2B8881F9-D94D-4799-83A7-869163A1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04115333-737B-4A1F-9085-C06481BC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6" name="shape-49">
            <a:extLst xmlns:a="http://schemas.openxmlformats.org/drawingml/2006/main">
              <a:ext uri="{FF2B5EF4-FFF2-40B4-BE49-F238E27FC236}">
                <a16:creationId xmlns:a16="http://schemas.microsoft.com/office/drawing/2014/main" id="{CF1ABB38-7A55-48D4-B44C-9F2A3297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229600" cy="3667125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9AB5C981-A8BE-4867-A82D-233989F4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สถาปัตยกรรมไปป์ไลน์ช่วงเผยแพร่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a1c9468864cb1"/>
          <a:stretch xmlns:a="http://schemas.openxmlformats.org/drawingml/2006/main"/>
        </p:blipFill>
        <p:spPr>
          <a:xfrm xmlns:a="http://schemas.openxmlformats.org/drawingml/2006/main">
            <a:off x="1270469" y="1866900"/>
            <a:ext cx="7334582" cy="2428875"/>
          </a:xfrm>
          <a:prstGeom xmlns:a="http://schemas.openxmlformats.org/drawingml/2006/main" prst="rect">
            <a:avLst/>
          </a:prstGeom>
        </p:spPr>
      </p:pic>
      <p:sp>
        <p:nvSpPr>
          <p:cNvPr id="9" name="text-51">
            <a:extLst xmlns:a="http://schemas.openxmlformats.org/drawingml/2006/main">
              <a:ext uri="{FF2B5EF4-FFF2-40B4-BE49-F238E27FC236}">
                <a16:creationId xmlns:a16="http://schemas.microsoft.com/office/drawing/2014/main" id="{05271B14-5EE4-456F-9861-6C9E2BD7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41007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1: การแบ่งกลุ่มงาน 3 ส่วนที่ย้ายไปทำล่วงหน้าก่อนผู้ใช้ส่งคำขอ (หน้า PDF 1)</a:t>
            </a:r>
          </a:p>
        </p:txBody>
      </p:sp>
      <p:sp>
        <p:nvSpPr>
          <p:cNvPr id="10" name="shape-52">
            <a:extLst xmlns:a="http://schemas.openxmlformats.org/drawingml/2006/main">
              <a:ext uri="{FF2B5EF4-FFF2-40B4-BE49-F238E27FC236}">
                <a16:creationId xmlns:a16="http://schemas.microsoft.com/office/drawing/2014/main" id="{F3DE4174-8A00-4B7D-9E9B-ECC5332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6825"/>
            <a:ext cx="8229600" cy="2114550"/>
          </a:xfrm>
          <a:prstGeom xmlns:a="http://schemas.openxmlformats.org/drawingml/2006/main" prst="roundRect">
            <a:avLst>
              <a:gd name="adj" fmla="val 4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53">
            <a:extLst xmlns:a="http://schemas.openxmlformats.org/drawingml/2006/main">
              <a:ext uri="{FF2B5EF4-FFF2-40B4-BE49-F238E27FC236}">
                <a16:creationId xmlns:a16="http://schemas.microsoft.com/office/drawing/2014/main" id="{DD7335DB-9328-4190-AEE6-20DFBA36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054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ขั้นตอนการประมวลผลของ Publisher</a:t>
            </a:r>
          </a:p>
        </p:txBody>
      </p:sp>
      <p:sp>
        <p:nvSpPr>
          <p:cNvPr id="12" name="shape-54">
            <a:extLst xmlns:a="http://schemas.openxmlformats.org/drawingml/2006/main">
              <a:ext uri="{FF2B5EF4-FFF2-40B4-BE49-F238E27FC236}">
                <a16:creationId xmlns:a16="http://schemas.microsoft.com/office/drawing/2014/main" id="{CED877C9-2DE8-4F17-9B56-37DD795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55">
            <a:extLst xmlns:a="http://schemas.openxmlformats.org/drawingml/2006/main">
              <a:ext uri="{FF2B5EF4-FFF2-40B4-BE49-F238E27FC236}">
                <a16:creationId xmlns:a16="http://schemas.microsoft.com/office/drawing/2014/main" id="{0CB2459E-3E3A-4CBE-8F18-A3D4CFD8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วิเคราะห์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จำลอง Virtual DOM</a:t>
            </a:r>
          </a:p>
        </p:txBody>
      </p:sp>
      <p:sp>
        <p:nvSpPr>
          <p:cNvPr id="14" name="shape-56">
            <a:extLst xmlns:a="http://schemas.openxmlformats.org/drawingml/2006/main">
              <a:ext uri="{FF2B5EF4-FFF2-40B4-BE49-F238E27FC236}">
                <a16:creationId xmlns:a16="http://schemas.microsoft.com/office/drawing/2014/main" id="{89715558-C7A5-46E0-81EC-8F939A07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80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57">
            <a:extLst xmlns:a="http://schemas.openxmlformats.org/drawingml/2006/main">
              <a:ext uri="{FF2B5EF4-FFF2-40B4-BE49-F238E27FC236}">
                <a16:creationId xmlns:a16="http://schemas.microsoft.com/office/drawing/2014/main" id="{2310DC03-EF1E-493A-B813-E2E5DBC4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14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58">
            <a:extLst xmlns:a="http://schemas.openxmlformats.org/drawingml/2006/main">
              <a:ext uri="{FF2B5EF4-FFF2-40B4-BE49-F238E27FC236}">
                <a16:creationId xmlns:a16="http://schemas.microsoft.com/office/drawing/2014/main" id="{0E418235-7BA9-4A88-AFB7-7666C123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6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A861983C-95A3-49D9-BC3B-3411622F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9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คำนวณคิวรีล่วงหน้า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ผ่าน DuckDB</a:t>
            </a:r>
          </a:p>
        </p:txBody>
      </p:sp>
      <p:sp>
        <p:nvSpPr>
          <p:cNvPr id="18" name="shape-60">
            <a:extLst xmlns:a="http://schemas.openxmlformats.org/drawingml/2006/main">
              <a:ext uri="{FF2B5EF4-FFF2-40B4-BE49-F238E27FC236}">
                <a16:creationId xmlns:a16="http://schemas.microsoft.com/office/drawing/2014/main" id="{922512AC-4A48-4D57-B651-20B65683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960" y="6096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61">
            <a:extLst xmlns:a="http://schemas.openxmlformats.org/drawingml/2006/main">
              <a:ext uri="{FF2B5EF4-FFF2-40B4-BE49-F238E27FC236}">
                <a16:creationId xmlns:a16="http://schemas.microsoft.com/office/drawing/2014/main" id="{CA1AD42F-476C-4156-AB4A-89FC87CE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290310" y="60579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62">
            <a:extLst xmlns:a="http://schemas.openxmlformats.org/drawingml/2006/main">
              <a:ext uri="{FF2B5EF4-FFF2-40B4-BE49-F238E27FC236}">
                <a16:creationId xmlns:a16="http://schemas.microsoft.com/office/drawing/2014/main" id="{20F32A78-A8CB-4540-B93D-C89D18E9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5560" y="5676900"/>
            <a:ext cx="2362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63">
            <a:extLst xmlns:a="http://schemas.openxmlformats.org/drawingml/2006/main">
              <a:ext uri="{FF2B5EF4-FFF2-40B4-BE49-F238E27FC236}">
                <a16:creationId xmlns:a16="http://schemas.microsoft.com/office/drawing/2014/main" id="{9EBDF155-90B3-43C1-9777-F433C62C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0810" y="5867400"/>
            <a:ext cx="217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Rewrite AST &amp;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สร้าง JS Bundle</a:t>
            </a:r>
          </a:p>
        </p:txBody>
      </p:sp>
      <p:sp>
        <p:nvSpPr>
          <p:cNvPr id="22" name="text-64">
            <a:extLst xmlns:a="http://schemas.openxmlformats.org/drawingml/2006/main">
              <a:ext uri="{FF2B5EF4-FFF2-40B4-BE49-F238E27FC236}">
                <a16:creationId xmlns:a16="http://schemas.microsoft.com/office/drawing/2014/main" id="{FF827A0E-665C-4570-93C2-85339337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715125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สรุปกลไกการทำงานจาก Sections 4.1–4.3 (หน้า PDF 2–3)</a:t>
            </a:r>
          </a:p>
        </p:txBody>
      </p:sp>
      <p:sp>
        <p:nvSpPr>
          <p:cNvPr id="23" name="shape-65">
            <a:extLst xmlns:a="http://schemas.openxmlformats.org/drawingml/2006/main">
              <a:ext uri="{FF2B5EF4-FFF2-40B4-BE49-F238E27FC236}">
                <a16:creationId xmlns:a16="http://schemas.microsoft.com/office/drawing/2014/main" id="{8C8D5C5F-4A87-48F8-93AB-1D3AEAD8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1238250"/>
            <a:ext cx="4419600" cy="5953125"/>
          </a:xfrm>
          <a:prstGeom xmlns:a="http://schemas.openxmlformats.org/drawingml/2006/main" prst="roundRect">
            <a:avLst>
              <a:gd name="adj" fmla="val 2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66">
            <a:extLst xmlns:a="http://schemas.openxmlformats.org/drawingml/2006/main">
              <a:ext uri="{FF2B5EF4-FFF2-40B4-BE49-F238E27FC236}">
                <a16:creationId xmlns:a16="http://schemas.microsoft.com/office/drawing/2014/main" id="{6D894EF8-2992-4D65-8010-481FAC66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1466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ชิ้นส่วนผลลัพธ์ส่งมอบให้ไคลเอนต์</a:t>
            </a:r>
          </a:p>
        </p:txBody>
      </p:sp>
      <p:sp>
        <p:nvSpPr>
          <p:cNvPr id="25" name="text-67">
            <a:extLst xmlns:a="http://schemas.openxmlformats.org/drawingml/2006/main">
              <a:ext uri="{FF2B5EF4-FFF2-40B4-BE49-F238E27FC236}">
                <a16:creationId xmlns:a16="http://schemas.microsoft.com/office/drawing/2014/main" id="{A587479B-2E06-414B-BEC8-1C895FB8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68">
            <a:extLst xmlns:a="http://schemas.openxmlformats.org/drawingml/2006/main">
              <a:ext uri="{FF2B5EF4-FFF2-40B4-BE49-F238E27FC236}">
                <a16:creationId xmlns:a16="http://schemas.microsoft.com/office/drawing/2014/main" id="{FA1DE288-72A7-49AE-BBE0-CC29D2C0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0383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ข้อมูลจัดระเบียบพร้อมใช้</a:t>
            </a:r>
          </a:p>
        </p:txBody>
      </p:sp>
      <p:sp>
        <p:nvSpPr>
          <p:cNvPr id="27" name="text-69">
            <a:extLst xmlns:a="http://schemas.openxmlformats.org/drawingml/2006/main">
              <a:ext uri="{FF2B5EF4-FFF2-40B4-BE49-F238E27FC236}">
                <a16:creationId xmlns:a16="http://schemas.microsoft.com/office/drawing/2014/main" id="{C32BA4D7-56FA-4B26-BA16-C6B47116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23812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กรองเฉพาะคอลัมน์ที่จำเป็นและแปลงข้อมูล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ลดภาระการถ่ายโอนข้อมูลข้ามเครือข่าย</a:t>
            </a:r>
          </a:p>
        </p:txBody>
      </p:sp>
      <p:sp>
        <p:nvSpPr>
          <p:cNvPr id="28" name="shape-70">
            <a:extLst xmlns:a="http://schemas.openxmlformats.org/drawingml/2006/main">
              <a:ext uri="{FF2B5EF4-FFF2-40B4-BE49-F238E27FC236}">
                <a16:creationId xmlns:a16="http://schemas.microsoft.com/office/drawing/2014/main" id="{1CF24A79-5157-46C0-9B55-DCCB409B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60997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71">
            <a:extLst xmlns:a="http://schemas.openxmlformats.org/drawingml/2006/main">
              <a:ext uri="{FF2B5EF4-FFF2-40B4-BE49-F238E27FC236}">
                <a16:creationId xmlns:a16="http://schemas.microsoft.com/office/drawing/2014/main" id="{00CADFA9-6BE0-452C-8388-2BC84FD9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72">
            <a:extLst xmlns:a="http://schemas.openxmlformats.org/drawingml/2006/main">
              <a:ext uri="{FF2B5EF4-FFF2-40B4-BE49-F238E27FC236}">
                <a16:creationId xmlns:a16="http://schemas.microsoft.com/office/drawing/2014/main" id="{61D9D41F-4572-4B47-9163-1AC2375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8100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ผลคิวรีสำเร็จรูป</a:t>
            </a:r>
          </a:p>
        </p:txBody>
      </p:sp>
      <p:sp>
        <p:nvSpPr>
          <p:cNvPr id="31" name="text-73">
            <a:extLst xmlns:a="http://schemas.openxmlformats.org/drawingml/2006/main">
              <a:ext uri="{FF2B5EF4-FFF2-40B4-BE49-F238E27FC236}">
                <a16:creationId xmlns:a16="http://schemas.microsoft.com/office/drawing/2014/main" id="{92ED2F6B-B3AC-4643-814A-C705CA0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15290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เติมแคชและฐานข้อมูล DuckDB-WASM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ล่วงหน้าผ่าน Mosaic Coordinator</a:t>
            </a:r>
          </a:p>
        </p:txBody>
      </p:sp>
      <p:sp>
        <p:nvSpPr>
          <p:cNvPr id="32" name="shape-74">
            <a:extLst xmlns:a="http://schemas.openxmlformats.org/drawingml/2006/main">
              <a:ext uri="{FF2B5EF4-FFF2-40B4-BE49-F238E27FC236}">
                <a16:creationId xmlns:a16="http://schemas.microsoft.com/office/drawing/2014/main" id="{9610F17D-3F1B-4CCD-8E61-02DA253B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381625"/>
            <a:ext cx="3886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75">
            <a:extLst xmlns:a="http://schemas.openxmlformats.org/drawingml/2006/main">
              <a:ext uri="{FF2B5EF4-FFF2-40B4-BE49-F238E27FC236}">
                <a16:creationId xmlns:a16="http://schemas.microsoft.com/office/drawing/2014/main" id="{C99414AB-A2E7-4AE1-908A-BB7E030B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5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76">
            <a:extLst xmlns:a="http://schemas.openxmlformats.org/drawingml/2006/main">
              <a:ext uri="{FF2B5EF4-FFF2-40B4-BE49-F238E27FC236}">
                <a16:creationId xmlns:a16="http://schemas.microsoft.com/office/drawing/2014/main" id="{A44BA31B-0FB7-4E2F-B7FE-1720B78E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58165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ภาพเริ่มต้นและชุดสคริปต์</a:t>
            </a:r>
          </a:p>
        </p:txBody>
      </p:sp>
      <p:sp>
        <p:nvSpPr>
          <p:cNvPr id="35" name="text-77">
            <a:extLst xmlns:a="http://schemas.openxmlformats.org/drawingml/2006/main">
              <a:ext uri="{FF2B5EF4-FFF2-40B4-BE49-F238E27FC236}">
                <a16:creationId xmlns:a16="http://schemas.microsoft.com/office/drawing/2014/main" id="{AF29389D-3D5A-4B21-8096-C539E651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5924550"/>
            <a:ext cx="35433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ส่งภาพเรนเดอร์สำเร็จให้แสดงผลทันที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พร้อมสคริปต์เปิดการโต้ตอบตามหลัง</a:t>
            </a:r>
          </a:p>
        </p:txBody>
      </p:sp>
      <p:sp>
        <p:nvSpPr>
          <p:cNvPr id="36" name="text-78">
            <a:extLst xmlns:a="http://schemas.openxmlformats.org/drawingml/2006/main">
              <a:ext uri="{FF2B5EF4-FFF2-40B4-BE49-F238E27FC236}">
                <a16:creationId xmlns:a16="http://schemas.microsoft.com/office/drawing/2014/main" id="{599AAC50-C33B-4152-A914-DFF78218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3.2–3.4 และ 4.1–4.3 (หน้า PDF 2–3)</a:t>
            </a:r>
          </a:p>
        </p:txBody>
      </p:sp>
    </p:spTree>
    <p:extLst>
      <p:ext uri="{BB962C8B-B14F-4D97-AF65-F5344CB8AC3E}">
        <p14:creationId xmlns:p14="http://schemas.microsoft.com/office/powerpoint/2010/main" val="703660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-79">
            <a:extLst xmlns:a="http://schemas.openxmlformats.org/drawingml/2006/main">
              <a:ext uri="{FF2B5EF4-FFF2-40B4-BE49-F238E27FC236}">
                <a16:creationId xmlns:a16="http://schemas.microsoft.com/office/drawing/2014/main" id="{881FF063-F9BF-42D7-9F49-F138BA27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80">
            <a:extLst xmlns:a="http://schemas.openxmlformats.org/drawingml/2006/main">
              <a:ext uri="{FF2B5EF4-FFF2-40B4-BE49-F238E27FC236}">
                <a16:creationId xmlns:a16="http://schemas.microsoft.com/office/drawing/2014/main" id="{DBD505FD-6173-41BB-A2E6-FBEC3074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กลไก Pre-rendering และต้นทุนของ Client Hydration</a:t>
            </a:r>
          </a:p>
        </p:txBody>
      </p:sp>
      <p:sp>
        <p:nvSpPr>
          <p:cNvPr id="3" name="shape-81">
            <a:extLst xmlns:a="http://schemas.openxmlformats.org/drawingml/2006/main">
              <a:ext uri="{FF2B5EF4-FFF2-40B4-BE49-F238E27FC236}">
                <a16:creationId xmlns:a16="http://schemas.microsoft.com/office/drawing/2014/main" id="{8D4968C9-5309-4956-9682-46BE3686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82">
            <a:extLst xmlns:a="http://schemas.openxmlformats.org/drawingml/2006/main">
              <a:ext uri="{FF2B5EF4-FFF2-40B4-BE49-F238E27FC236}">
                <a16:creationId xmlns:a16="http://schemas.microsoft.com/office/drawing/2014/main" id="{34A5776A-7F32-4829-8597-8084DA41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83">
            <a:extLst xmlns:a="http://schemas.openxmlformats.org/drawingml/2006/main">
              <a:ext uri="{FF2B5EF4-FFF2-40B4-BE49-F238E27FC236}">
                <a16:creationId xmlns:a16="http://schemas.microsoft.com/office/drawing/2014/main" id="{46FE2190-48BA-438D-B957-855FB2B5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4</a:t>
            </a:r>
          </a:p>
        </p:txBody>
      </p:sp>
      <p:sp>
        <p:nvSpPr>
          <p:cNvPr id="6" name="shape-84">
            <a:extLst xmlns:a="http://schemas.openxmlformats.org/drawingml/2006/main">
              <a:ext uri="{FF2B5EF4-FFF2-40B4-BE49-F238E27FC236}">
                <a16:creationId xmlns:a16="http://schemas.microsoft.com/office/drawing/2014/main" id="{421D7DDC-CE33-45EF-8584-BE074139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767715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85">
            <a:extLst xmlns:a="http://schemas.openxmlformats.org/drawingml/2006/main">
              <a:ext uri="{FF2B5EF4-FFF2-40B4-BE49-F238E27FC236}">
                <a16:creationId xmlns:a16="http://schemas.microsoft.com/office/drawing/2014/main" id="{198032DA-BF3A-44B0-9263-A2BFF88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การแยกสัดส่วนความหน่วงและคอขวด Hydration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5f5b7e6ec4c94"/>
          <a:stretch xmlns:a="http://schemas.openxmlformats.org/drawingml/2006/main"/>
        </p:blipFill>
        <p:spPr>
          <a:xfrm xmlns:a="http://schemas.openxmlformats.org/drawingml/2006/main">
            <a:off x="1536057" y="1866900"/>
            <a:ext cx="6250956" cy="2047875"/>
          </a:xfrm>
          <a:prstGeom xmlns:a="http://schemas.openxmlformats.org/drawingml/2006/main" prst="rect">
            <a:avLst/>
          </a:prstGeom>
        </p:spPr>
      </p:pic>
      <p:sp>
        <p:nvSpPr>
          <p:cNvPr id="9" name="text-86">
            <a:extLst xmlns:a="http://schemas.openxmlformats.org/drawingml/2006/main">
              <a:ext uri="{FF2B5EF4-FFF2-40B4-BE49-F238E27FC236}">
                <a16:creationId xmlns:a16="http://schemas.microsoft.com/office/drawing/2014/main" id="{F3ACB7E9-263B-4208-A23C-9E638D2D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0767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4: สัดส่วนเวลาเฉลี่ยจาก 5 กรณีทดสอบ ที่ขนาดข้อมูล 10 ล้านแถว (หน้า PDF 4)</a:t>
            </a:r>
          </a:p>
        </p:txBody>
      </p:sp>
      <p:sp>
        <p:nvSpPr>
          <p:cNvPr id="10" name="shape-87">
            <a:extLst xmlns:a="http://schemas.openxmlformats.org/drawingml/2006/main">
              <a:ext uri="{FF2B5EF4-FFF2-40B4-BE49-F238E27FC236}">
                <a16:creationId xmlns:a16="http://schemas.microsoft.com/office/drawing/2014/main" id="{A5B400B9-D2D8-4C2B-8C19-602F67C5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43450"/>
            <a:ext cx="7677150" cy="2447925"/>
          </a:xfrm>
          <a:prstGeom xmlns:a="http://schemas.openxmlformats.org/drawingml/2006/main" prst="roundRect">
            <a:avLst>
              <a:gd name="adj" fmla="val 3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88">
            <a:extLst xmlns:a="http://schemas.openxmlformats.org/drawingml/2006/main">
              <a:ext uri="{FF2B5EF4-FFF2-40B4-BE49-F238E27FC236}">
                <a16:creationId xmlns:a16="http://schemas.microsoft.com/office/drawing/2014/main" id="{A708A3EB-64D7-4872-8A6E-CC5F90CE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4972050"/>
            <a:ext cx="706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ลำดับเหตุการณ์การแสดงผลและการเปิดระบบโต้ตอบ</a:t>
            </a:r>
          </a:p>
        </p:txBody>
      </p:sp>
      <p:sp>
        <p:nvSpPr>
          <p:cNvPr id="12" name="shape-89">
            <a:extLst xmlns:a="http://schemas.openxmlformats.org/drawingml/2006/main">
              <a:ext uri="{FF2B5EF4-FFF2-40B4-BE49-F238E27FC236}">
                <a16:creationId xmlns:a16="http://schemas.microsoft.com/office/drawing/2014/main" id="{6EF618E0-F72C-4336-BA82-34700A01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text-90">
            <a:extLst xmlns:a="http://schemas.openxmlformats.org/drawingml/2006/main">
              <a:ext uri="{FF2B5EF4-FFF2-40B4-BE49-F238E27FC236}">
                <a16:creationId xmlns:a16="http://schemas.microsoft.com/office/drawing/2014/main" id="{507C2C19-1202-4134-903A-08D04E9A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1. ภาพเริ่มต้นปรากฏ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(TTR เร็วขึ้น 83.7%)</a:t>
            </a:r>
          </a:p>
        </p:txBody>
      </p:sp>
      <p:sp>
        <p:nvSpPr>
          <p:cNvPr id="14" name="shape-91">
            <a:extLst xmlns:a="http://schemas.openxmlformats.org/drawingml/2006/main">
              <a:ext uri="{FF2B5EF4-FFF2-40B4-BE49-F238E27FC236}">
                <a16:creationId xmlns:a16="http://schemas.microsoft.com/office/drawing/2014/main" id="{0084F83D-A930-41B4-9F81-5C349C4E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91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5" name="flow-arrow-92">
            <a:extLst xmlns:a="http://schemas.openxmlformats.org/drawingml/2006/main">
              <a:ext uri="{FF2B5EF4-FFF2-40B4-BE49-F238E27FC236}">
                <a16:creationId xmlns:a16="http://schemas.microsoft.com/office/drawing/2014/main" id="{124EAA76-B89A-4E08-9B69-438C96D0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7726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6" name="shape-93">
            <a:extLst xmlns:a="http://schemas.openxmlformats.org/drawingml/2006/main">
              <a:ext uri="{FF2B5EF4-FFF2-40B4-BE49-F238E27FC236}">
                <a16:creationId xmlns:a16="http://schemas.microsoft.com/office/drawing/2014/main" id="{DAD7A275-41E6-4C0F-AAAB-50B47426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51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7" name="text-94">
            <a:extLst xmlns:a="http://schemas.openxmlformats.org/drawingml/2006/main">
              <a:ext uri="{FF2B5EF4-FFF2-40B4-BE49-F238E27FC236}">
                <a16:creationId xmlns:a16="http://schemas.microsoft.com/office/drawing/2014/main" id="{D9DCB45C-C6CE-4205-85EB-8FCA8A4B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76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2. คอมไพล์และรัน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Client Hydration</a:t>
            </a:r>
          </a:p>
        </p:txBody>
      </p:sp>
      <p:sp>
        <p:nvSpPr>
          <p:cNvPr id="18" name="shape-95">
            <a:extLst xmlns:a="http://schemas.openxmlformats.org/drawingml/2006/main">
              <a:ext uri="{FF2B5EF4-FFF2-40B4-BE49-F238E27FC236}">
                <a16:creationId xmlns:a16="http://schemas.microsoft.com/office/drawing/2014/main" id="{8F093D7A-0989-411B-90F3-74903638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660" y="58674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19" name="flow-arrow-96">
            <a:extLst xmlns:a="http://schemas.openxmlformats.org/drawingml/2006/main">
              <a:ext uri="{FF2B5EF4-FFF2-40B4-BE49-F238E27FC236}">
                <a16:creationId xmlns:a16="http://schemas.microsoft.com/office/drawing/2014/main" id="{BF0CAE64-B7CA-41FF-B2C9-EE4A0110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22010" y="5829300"/>
            <a:ext cx="762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0" name="shape-97">
            <a:extLst xmlns:a="http://schemas.openxmlformats.org/drawingml/2006/main">
              <a:ext uri="{FF2B5EF4-FFF2-40B4-BE49-F238E27FC236}">
                <a16:creationId xmlns:a16="http://schemas.microsoft.com/office/drawing/2014/main" id="{0E124DEF-B762-4E92-B1FC-C685B300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260" y="5410200"/>
            <a:ext cx="21780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1" name="text-98">
            <a:extLst xmlns:a="http://schemas.openxmlformats.org/drawingml/2006/main">
              <a:ext uri="{FF2B5EF4-FFF2-40B4-BE49-F238E27FC236}">
                <a16:creationId xmlns:a16="http://schemas.microsoft.com/office/drawing/2014/main" id="{CB5F13B2-40C7-4B17-831C-43FA1150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510" y="5600700"/>
            <a:ext cx="1987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3. พร้อมรับอินพุต</a:t>
            </a:r>
          </a:p>
          <a:p xmlns:a="http://schemas.openxmlformats.org/drawingml/2006/main">
            <a:pPr algn="ctr">
              <a:def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(TTA ลดลง 33.3%)</a:t>
            </a:r>
          </a:p>
        </p:txBody>
      </p:sp>
      <p:sp>
        <p:nvSpPr>
          <p:cNvPr id="22" name="text-99">
            <a:extLst xmlns:a="http://schemas.openxmlformats.org/drawingml/2006/main">
              <a:ext uri="{FF2B5EF4-FFF2-40B4-BE49-F238E27FC236}">
                <a16:creationId xmlns:a16="http://schemas.microsoft.com/office/drawing/2014/main" id="{B49D484F-F2B2-4CCB-A2B5-26083AC8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6515100"/>
            <a:ext cx="7067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ผังสรุปลำดับเหตุการณ์จาก Section 4.3 (แสดงขั้นตอน ไม่ใช่แกนเวลา Benchmark)</a:t>
            </a:r>
          </a:p>
        </p:txBody>
      </p:sp>
      <p:sp>
        <p:nvSpPr>
          <p:cNvPr id="23" name="shape-100">
            <a:extLst xmlns:a="http://schemas.openxmlformats.org/drawingml/2006/main">
              <a:ext uri="{FF2B5EF4-FFF2-40B4-BE49-F238E27FC236}">
                <a16:creationId xmlns:a16="http://schemas.microsoft.com/office/drawing/2014/main" id="{EAE49344-EE6B-4AEB-9BF3-A0E07976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5390" y="1238250"/>
            <a:ext cx="4972050" cy="5953125"/>
          </a:xfrm>
          <a:prstGeom xmlns:a="http://schemas.openxmlformats.org/drawingml/2006/main" prst="roundRect">
            <a:avLst>
              <a:gd name="adj" fmla="val 19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01">
            <a:extLst xmlns:a="http://schemas.openxmlformats.org/drawingml/2006/main">
              <a:ext uri="{FF2B5EF4-FFF2-40B4-BE49-F238E27FC236}">
                <a16:creationId xmlns:a16="http://schemas.microsoft.com/office/drawing/2014/main" id="{04BD3509-F1E4-47F9-9294-AC01F400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0190" y="1466850"/>
            <a:ext cx="436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การจำแนกประเภทมุมมองและข้อจำกัด</a:t>
            </a:r>
          </a:p>
        </p:txBody>
      </p:sp>
      <p:sp>
        <p:nvSpPr>
          <p:cNvPr id="25" name="text-102">
            <a:extLst xmlns:a="http://schemas.openxmlformats.org/drawingml/2006/main">
              <a:ext uri="{FF2B5EF4-FFF2-40B4-BE49-F238E27FC236}">
                <a16:creationId xmlns:a16="http://schemas.microsoft.com/office/drawing/2014/main" id="{D5D8EF11-1D20-4BF1-8810-6071DCFF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6" name="text-103">
            <a:extLst xmlns:a="http://schemas.openxmlformats.org/drawingml/2006/main">
              <a:ext uri="{FF2B5EF4-FFF2-40B4-BE49-F238E27FC236}">
                <a16:creationId xmlns:a16="http://schemas.microsoft.com/office/drawing/2014/main" id="{56CACC23-000F-449B-8260-B786BE6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383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มุมมองแบบสถิต (Static Views)</a:t>
            </a:r>
          </a:p>
        </p:txBody>
      </p:sp>
      <p:sp>
        <p:nvSpPr>
          <p:cNvPr id="27" name="text-104">
            <a:extLst xmlns:a="http://schemas.openxmlformats.org/drawingml/2006/main">
              <a:ext uri="{FF2B5EF4-FFF2-40B4-BE49-F238E27FC236}">
                <a16:creationId xmlns:a16="http://schemas.microsoft.com/office/drawing/2014/main" id="{3B1BB1E8-965C-413D-9FA5-460BD2CC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812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ส่งเฉพาะผลลัพธ์ภาพที่เรนเดอร์สำเร็จ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ไร้สคริปต์ ไม่ต้องเสียต้นทุน Hydration</a:t>
            </a:r>
          </a:p>
        </p:txBody>
      </p:sp>
      <p:sp>
        <p:nvSpPr>
          <p:cNvPr id="28" name="shape-105">
            <a:extLst xmlns:a="http://schemas.openxmlformats.org/drawingml/2006/main">
              <a:ext uri="{FF2B5EF4-FFF2-40B4-BE49-F238E27FC236}">
                <a16:creationId xmlns:a16="http://schemas.microsoft.com/office/drawing/2014/main" id="{8F753747-CE73-46DE-86F4-BC6AB53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60997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06">
            <a:extLst xmlns:a="http://schemas.openxmlformats.org/drawingml/2006/main">
              <a:ext uri="{FF2B5EF4-FFF2-40B4-BE49-F238E27FC236}">
                <a16:creationId xmlns:a16="http://schemas.microsoft.com/office/drawing/2014/main" id="{6A1277AA-AA23-4E4F-8E64-79C752FB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30" name="text-107">
            <a:extLst xmlns:a="http://schemas.openxmlformats.org/drawingml/2006/main">
              <a:ext uri="{FF2B5EF4-FFF2-40B4-BE49-F238E27FC236}">
                <a16:creationId xmlns:a16="http://schemas.microsoft.com/office/drawing/2014/main" id="{29ECBCE9-8853-4D68-B9E1-6F797520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8100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มุมมองแบบโต้ตอบ (Interactive Views)</a:t>
            </a:r>
          </a:p>
        </p:txBody>
      </p:sp>
      <p:sp>
        <p:nvSpPr>
          <p:cNvPr id="31" name="text-108">
            <a:extLst xmlns:a="http://schemas.openxmlformats.org/drawingml/2006/main">
              <a:ext uri="{FF2B5EF4-FFF2-40B4-BE49-F238E27FC236}">
                <a16:creationId xmlns:a16="http://schemas.microsoft.com/office/drawing/2014/main" id="{1C5E4C00-B3FB-46EF-B4AA-7249B4DC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15290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ส่งภาพแรกพร้อมสคริปต์ JavaScript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ต้องเติมแคชและผูก Event ก่อนใช้งาน</a:t>
            </a:r>
          </a:p>
        </p:txBody>
      </p:sp>
      <p:sp>
        <p:nvSpPr>
          <p:cNvPr id="32" name="shape-109">
            <a:extLst xmlns:a="http://schemas.openxmlformats.org/drawingml/2006/main">
              <a:ext uri="{FF2B5EF4-FFF2-40B4-BE49-F238E27FC236}">
                <a16:creationId xmlns:a16="http://schemas.microsoft.com/office/drawing/2014/main" id="{4448ADEC-C58B-449F-8408-0E91EFB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381625"/>
            <a:ext cx="4400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33" name="text-110">
            <a:extLst xmlns:a="http://schemas.openxmlformats.org/drawingml/2006/main">
              <a:ext uri="{FF2B5EF4-FFF2-40B4-BE49-F238E27FC236}">
                <a16:creationId xmlns:a16="http://schemas.microsoft.com/office/drawing/2014/main" id="{5A736AAB-7B6C-483E-950D-4B59DDDC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4" name="text-111">
            <a:extLst xmlns:a="http://schemas.openxmlformats.org/drawingml/2006/main">
              <a:ext uri="{FF2B5EF4-FFF2-40B4-BE49-F238E27FC236}">
                <a16:creationId xmlns:a16="http://schemas.microsoft.com/office/drawing/2014/main" id="{EDBBD8BB-AFA2-4E22-8CE8-20242FC6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5816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63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คอขวด Hydration ฝั่งไคลเอนต์</a:t>
            </a:r>
          </a:p>
        </p:txBody>
      </p:sp>
      <p:sp>
        <p:nvSpPr>
          <p:cNvPr id="35" name="text-112">
            <a:extLst xmlns:a="http://schemas.openxmlformats.org/drawingml/2006/main">
              <a:ext uri="{FF2B5EF4-FFF2-40B4-BE49-F238E27FC236}">
                <a16:creationId xmlns:a16="http://schemas.microsoft.com/office/drawing/2014/main" id="{FBFC316F-5919-417D-B3D8-0FC22570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5924550"/>
            <a:ext cx="4057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ใช้เวลาเกือบเท่าการเรนเดอร์สดจากศูนย์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00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การทำ Progressive Hydration เป็นงานวิจัยสำคัญ</a:t>
            </a:r>
          </a:p>
        </p:txBody>
      </p:sp>
      <p:sp>
        <p:nvSpPr>
          <p:cNvPr id="36" name="text-113">
            <a:extLst xmlns:a="http://schemas.openxmlformats.org/drawingml/2006/main">
              <a:ext uri="{FF2B5EF4-FFF2-40B4-BE49-F238E27FC236}">
                <a16:creationId xmlns:a16="http://schemas.microsoft.com/office/drawing/2014/main" id="{669166E3-8851-4421-B4F9-500E0E3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4.3 และ 5 (หน้า PDF 3–4)</a:t>
            </a:r>
          </a:p>
        </p:txBody>
      </p:sp>
    </p:spTree>
    <p:extLst>
      <p:ext uri="{BB962C8B-B14F-4D97-AF65-F5344CB8AC3E}">
        <p14:creationId xmlns:p14="http://schemas.microsoft.com/office/powerpoint/2010/main" val="6755302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hape-114">
            <a:extLst xmlns:a="http://schemas.openxmlformats.org/drawingml/2006/main">
              <a:ext uri="{FF2B5EF4-FFF2-40B4-BE49-F238E27FC236}">
                <a16:creationId xmlns:a16="http://schemas.microsoft.com/office/drawing/2014/main" id="{8C5CAA5C-9BCF-4B96-AC11-9107AF85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15">
            <a:extLst xmlns:a="http://schemas.openxmlformats.org/drawingml/2006/main">
              <a:ext uri="{FF2B5EF4-FFF2-40B4-BE49-F238E27FC236}">
                <a16:creationId xmlns:a16="http://schemas.microsoft.com/office/drawing/2014/main" id="{B358D61C-E03B-416A-A640-10EC4904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ผลการทดสอบเชิงปริมาณและการแลกเปลี่ยนความหน่วงกับพื้นที่</a:t>
            </a:r>
          </a:p>
        </p:txBody>
      </p:sp>
      <p:sp>
        <p:nvSpPr>
          <p:cNvPr id="3" name="shape-116">
            <a:extLst xmlns:a="http://schemas.openxmlformats.org/drawingml/2006/main">
              <a:ext uri="{FF2B5EF4-FFF2-40B4-BE49-F238E27FC236}">
                <a16:creationId xmlns:a16="http://schemas.microsoft.com/office/drawing/2014/main" id="{184946C7-7CF8-4747-98C8-42130A39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17">
            <a:extLst xmlns:a="http://schemas.openxmlformats.org/drawingml/2006/main">
              <a:ext uri="{FF2B5EF4-FFF2-40B4-BE49-F238E27FC236}">
                <a16:creationId xmlns:a16="http://schemas.microsoft.com/office/drawing/2014/main" id="{0C4EB8B7-AFD5-4254-8C92-537F9D0E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18">
            <a:extLst xmlns:a="http://schemas.openxmlformats.org/drawingml/2006/main">
              <a:ext uri="{FF2B5EF4-FFF2-40B4-BE49-F238E27FC236}">
                <a16:creationId xmlns:a16="http://schemas.microsoft.com/office/drawing/2014/main" id="{158EA3C2-F0B9-477C-94A5-DE61DA61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5</a:t>
            </a:r>
          </a:p>
        </p:txBody>
      </p:sp>
      <p:sp>
        <p:nvSpPr>
          <p:cNvPr id="6" name="shape-119">
            <a:extLst xmlns:a="http://schemas.openxmlformats.org/drawingml/2006/main">
              <a:ext uri="{FF2B5EF4-FFF2-40B4-BE49-F238E27FC236}">
                <a16:creationId xmlns:a16="http://schemas.microsoft.com/office/drawing/2014/main" id="{3C9FA286-93BE-47EB-BA58-7C7DC246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80962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20">
            <a:extLst xmlns:a="http://schemas.openxmlformats.org/drawingml/2006/main">
              <a:ext uri="{FF2B5EF4-FFF2-40B4-BE49-F238E27FC236}">
                <a16:creationId xmlns:a16="http://schemas.microsoft.com/office/drawing/2014/main" id="{3F6E3594-2C43-43FD-AF09-F2D546F2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748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การเปรียบเทียบ TTR และ TTA ตามขนาดข้อมูล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7b7fde7164227"/>
          <a:stretch xmlns:a="http://schemas.openxmlformats.org/drawingml/2006/main"/>
        </p:blipFill>
        <p:spPr>
          <a:xfrm xmlns:a="http://schemas.openxmlformats.org/drawingml/2006/main">
            <a:off x="1258480" y="1847850"/>
            <a:ext cx="7225211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text-121">
            <a:extLst xmlns:a="http://schemas.openxmlformats.org/drawingml/2006/main">
              <a:ext uri="{FF2B5EF4-FFF2-40B4-BE49-F238E27FC236}">
                <a16:creationId xmlns:a16="http://schemas.microsoft.com/office/drawing/2014/main" id="{5070D683-0569-4AA3-B447-287A5214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" y="4191000"/>
            <a:ext cx="752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Figure 3: เส้นมัธยฐาน (Median) และแรเงา IQR จากข้อมูล 10k–10M แถว (หน้า PDF 4)</a:t>
            </a:r>
          </a:p>
        </p:txBody>
      </p:sp>
      <p:sp>
        <p:nvSpPr>
          <p:cNvPr id="10" name="shape-122">
            <a:extLst xmlns:a="http://schemas.openxmlformats.org/drawingml/2006/main">
              <a:ext uri="{FF2B5EF4-FFF2-40B4-BE49-F238E27FC236}">
                <a16:creationId xmlns:a16="http://schemas.microsoft.com/office/drawing/2014/main" id="{91D7D879-74AC-4112-B94B-7464BD90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490" y="1238250"/>
            <a:ext cx="4552950" cy="3476625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text-123">
            <a:extLst xmlns:a="http://schemas.openxmlformats.org/drawingml/2006/main">
              <a:ext uri="{FF2B5EF4-FFF2-40B4-BE49-F238E27FC236}">
                <a16:creationId xmlns:a16="http://schemas.microsoft.com/office/drawing/2014/main" id="{9BBED154-5BAE-4ED5-87E3-89B5AD65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4668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การเปลี่ยนแปลงสัมพัทธ์เทียบ Baseline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9483090" y="1866900"/>
          <a:ext xmlns:a="http://schemas.openxmlformats.org/drawingml/2006/main" cx="409575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1066800"/>
                <a:gridCol w="1066800"/>
                <a:gridCol w="1066800"/>
              </a:tblGrid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ระดับ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ΔSC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ΔTTR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ΔTTA %</a:t>
                      </a:r>
                    </a:p>
                  </a:txBody>
                  <a:tcPr marL="28575" marR="28575" marT="57150" marB="57150" anchor="ctr">
                    <a:solidFill>
                      <a:srgbClr val="0F2D4A"/>
                    </a:solidFill>
                  </a:tcPr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+prep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0.0 ± 0.0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−0.6 ± 4.0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−1.0 ± 2.5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+cache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21.1 ± 29.8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−16.6 ± 1.3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−32.3 ± 8.9</a:t>
                      </a:r>
                    </a:p>
                  </a:txBody>
                  <a:tcPr marL="28575" marR="28575" marT="57150" marB="57150" anchor="ctr"/>
                </a:tc>
              </a:tr>
              <a:tr h="392906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+most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21.2 ± 29.9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−83.7 ± 2.1</a:t>
                      </a:r>
                    </a:p>
                  </a:txBody>
                  <a:tcPr marL="28575" marR="28575" marT="57150" marB="57150" anchor="ctr"/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475569"/>
                          </a:solidFill>
                          <a:latin typeface="IBM Plex Sans Thai"/>
                          <a:ea typeface="IBM Plex Sans Thai"/>
                          <a:cs typeface="IBM Plex Sans Thai"/>
                        </a:rPr>
                        <a:t>−33.3 ± 9.6</a:t>
                      </a:r>
                    </a:p>
                  </a:txBody>
                  <a:tcPr marL="28575" marR="28575" marT="57150" marB="57150" anchor="ctr"/>
                </a:tc>
              </a:tr>
            </a:tbl>
          </a:graphicData>
        </a:graphic>
      </p:graphicFrame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4FAA907B-5FDB-4320-A989-8699B373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5814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5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Table 1: ค่าเฉลี่ยและส่วนเบี่ยงเบนมาตรฐาน (Mean ± σ) ข้ามทุกชุดทดสอบ</a:t>
            </a:r>
          </a:p>
        </p:txBody>
      </p:sp>
      <p:sp>
        <p:nvSpPr>
          <p:cNvPr id="14" name="text-125">
            <a:extLst xmlns:a="http://schemas.openxmlformats.org/drawingml/2006/main">
              <a:ext uri="{FF2B5EF4-FFF2-40B4-BE49-F238E27FC236}">
                <a16:creationId xmlns:a16="http://schemas.microsoft.com/office/drawing/2014/main" id="{188956B6-F486-4607-9C73-E5EF5940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090" y="3848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013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แถว +most คือชุดรวมทุกกลยุทธ์ (ในเนื้อหาเปเปอร์ใช้ชื่อ +prerender)</a:t>
            </a:r>
          </a:p>
        </p:txBody>
      </p:sp>
      <p:sp>
        <p:nvSpPr>
          <p:cNvPr id="15" name="shape-126">
            <a:extLst xmlns:a="http://schemas.openxmlformats.org/drawingml/2006/main">
              <a:ext uri="{FF2B5EF4-FFF2-40B4-BE49-F238E27FC236}">
                <a16:creationId xmlns:a16="http://schemas.microsoft.com/office/drawing/2014/main" id="{F3D7EEA9-744B-4728-8FCF-E283F77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A853657D-A3C8-4F50-85ED-1EDCF803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−83.7%</a:t>
            </a:r>
          </a:p>
        </p:txBody>
      </p:sp>
      <p:sp>
        <p:nvSpPr>
          <p:cNvPr id="17" name="text-128">
            <a:extLst xmlns:a="http://schemas.openxmlformats.org/drawingml/2006/main">
              <a:ext uri="{FF2B5EF4-FFF2-40B4-BE49-F238E27FC236}">
                <a16:creationId xmlns:a16="http://schemas.microsoft.com/office/drawing/2014/main" id="{CF6BB18B-37C0-4FC2-8C83-784EA544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เวลาจนภาพปรากฏ (TTR)</a:t>
            </a:r>
          </a:p>
        </p:txBody>
      </p:sp>
      <p:sp>
        <p:nvSpPr>
          <p:cNvPr id="18" name="text-129">
            <a:extLst xmlns:a="http://schemas.openxmlformats.org/drawingml/2006/main">
              <a:ext uri="{FF2B5EF4-FFF2-40B4-BE49-F238E27FC236}">
                <a16:creationId xmlns:a16="http://schemas.microsoft.com/office/drawing/2014/main" id="{FA2FC22B-2F88-4E0C-91D5-3D4E2603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2.1% · ลด Perceived Latency ชัดเจน</a:t>
            </a:r>
          </a:p>
        </p:txBody>
      </p:sp>
      <p:sp>
        <p:nvSpPr>
          <p:cNvPr id="19" name="shape-130">
            <a:extLst xmlns:a="http://schemas.openxmlformats.org/drawingml/2006/main">
              <a:ext uri="{FF2B5EF4-FFF2-40B4-BE49-F238E27FC236}">
                <a16:creationId xmlns:a16="http://schemas.microsoft.com/office/drawing/2014/main" id="{E2EC64BC-ADFE-4437-ACF4-76E9E486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31">
            <a:extLst xmlns:a="http://schemas.openxmlformats.org/drawingml/2006/main">
              <a:ext uri="{FF2B5EF4-FFF2-40B4-BE49-F238E27FC236}">
                <a16:creationId xmlns:a16="http://schemas.microsoft.com/office/drawing/2014/main" id="{ED3BE9E4-E926-4F35-9A0B-ACC24AF1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−33.3%</a:t>
            </a:r>
          </a:p>
        </p:txBody>
      </p:sp>
      <p:sp>
        <p:nvSpPr>
          <p:cNvPr id="21" name="text-132">
            <a:extLst xmlns:a="http://schemas.openxmlformats.org/drawingml/2006/main">
              <a:ext uri="{FF2B5EF4-FFF2-40B4-BE49-F238E27FC236}">
                <a16:creationId xmlns:a16="http://schemas.microsoft.com/office/drawing/2014/main" id="{881F1E29-A986-47BC-8910-DDBA8F1A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เวลาพร้อมโต้ตอบ (TTA)</a:t>
            </a:r>
          </a:p>
        </p:txBody>
      </p:sp>
      <p:sp>
        <p:nvSpPr>
          <p:cNvPr id="22" name="text-133">
            <a:extLst xmlns:a="http://schemas.openxmlformats.org/drawingml/2006/main">
              <a:ext uri="{FF2B5EF4-FFF2-40B4-BE49-F238E27FC236}">
                <a16:creationId xmlns:a16="http://schemas.microsoft.com/office/drawing/2014/main" id="{C46C5594-7547-41A3-8939-749D93A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9.6% · แคชช่วยตัดเวลาหลัก (−32.3%)</a:t>
            </a:r>
          </a:p>
        </p:txBody>
      </p:sp>
      <p:sp>
        <p:nvSpPr>
          <p:cNvPr id="23" name="shape-134">
            <a:extLst xmlns:a="http://schemas.openxmlformats.org/drawingml/2006/main">
              <a:ext uri="{FF2B5EF4-FFF2-40B4-BE49-F238E27FC236}">
                <a16:creationId xmlns:a16="http://schemas.microsoft.com/office/drawing/2014/main" id="{41D5074C-5368-42F4-861F-6514536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115" y="4876800"/>
            <a:ext cx="4124325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4" name="text-135">
            <a:extLst xmlns:a="http://schemas.openxmlformats.org/drawingml/2006/main">
              <a:ext uri="{FF2B5EF4-FFF2-40B4-BE49-F238E27FC236}">
                <a16:creationId xmlns:a16="http://schemas.microsoft.com/office/drawing/2014/main" id="{01505F06-552E-4D14-AD27-006AA1CF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0292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7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+21.2%</a:t>
            </a:r>
          </a:p>
        </p:txBody>
      </p:sp>
      <p:sp>
        <p:nvSpPr>
          <p:cNvPr id="25" name="text-136">
            <a:extLst xmlns:a="http://schemas.openxmlformats.org/drawingml/2006/main">
              <a:ext uri="{FF2B5EF4-FFF2-40B4-BE49-F238E27FC236}">
                <a16:creationId xmlns:a16="http://schemas.microsoft.com/office/drawing/2014/main" id="{4CD283B9-E33B-4AD0-B212-A173ABC2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467350"/>
            <a:ext cx="3590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4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พื้นที่จัดเก็บเพิ่มเติม (SC)</a:t>
            </a:r>
          </a:p>
        </p:txBody>
      </p:sp>
      <p:sp>
        <p:nvSpPr>
          <p:cNvPr id="26" name="text-137">
            <a:extLst xmlns:a="http://schemas.openxmlformats.org/drawingml/2006/main">
              <a:ext uri="{FF2B5EF4-FFF2-40B4-BE49-F238E27FC236}">
                <a16:creationId xmlns:a16="http://schemas.microsoft.com/office/drawing/2014/main" id="{97D1A871-F136-4A4A-A788-772E5A6B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815" y="5753100"/>
            <a:ext cx="3590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σ = 29.9% · แลกกับความเร็วในการโหลด</a:t>
            </a:r>
          </a:p>
        </p:txBody>
      </p:sp>
      <p:sp>
        <p:nvSpPr>
          <p:cNvPr id="27" name="shape-138">
            <a:extLst xmlns:a="http://schemas.openxmlformats.org/drawingml/2006/main">
              <a:ext uri="{FF2B5EF4-FFF2-40B4-BE49-F238E27FC236}">
                <a16:creationId xmlns:a16="http://schemas.microsoft.com/office/drawing/2014/main" id="{1CE278AE-17D7-4C12-ABD6-D5AC1092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553200"/>
            <a:ext cx="1298448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text-139">
            <a:extLst xmlns:a="http://schemas.openxmlformats.org/drawingml/2006/main">
              <a:ext uri="{FF2B5EF4-FFF2-40B4-BE49-F238E27FC236}">
                <a16:creationId xmlns:a16="http://schemas.microsoft.com/office/drawing/2014/main" id="{4F766FF4-08FA-4897-9CAD-F77CF8BB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294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สภาพแวดล้อม: MacBook Pro (M1 Pro, RAM 16 GB), Node 22.9, Local Server, DuckDB-WASM</a:t>
            </a:r>
          </a:p>
        </p:txBody>
      </p:sp>
      <p:sp>
        <p:nvSpPr>
          <p:cNvPr id="29" name="text-140">
            <a:extLst xmlns:a="http://schemas.openxmlformats.org/drawingml/2006/main">
              <a:ext uri="{FF2B5EF4-FFF2-40B4-BE49-F238E27FC236}">
                <a16:creationId xmlns:a16="http://schemas.microsoft.com/office/drawing/2014/main" id="{23784C0B-2D0A-466C-9920-0B926A9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58000"/>
            <a:ext cx="1253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ข้อค้นพบสำคัญ: การแคชช่วยลด TTA ไปแล้ว 32.3% ขณะที่ภาพล่วงหน้าช่วยลด TTA เพิ่มเติมอีก 1.0% จาก Baseline</a:t>
            </a:r>
          </a:p>
        </p:txBody>
      </p:sp>
      <p:sp>
        <p:nvSpPr>
          <p:cNvPr id="30" name="text-141">
            <a:extLst xmlns:a="http://schemas.openxmlformats.org/drawingml/2006/main">
              <a:ext uri="{FF2B5EF4-FFF2-40B4-BE49-F238E27FC236}">
                <a16:creationId xmlns:a16="http://schemas.microsoft.com/office/drawing/2014/main" id="{EEAFEB22-2FE6-43F2-AF91-824F7E57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Figure 3 และ Table 1 (หน้า PDF 4) · ค่าเฉลี่ยข้าม 5 รูปแบบภาพและขนาดข้อมูล 10k–10M แถว</a:t>
            </a:r>
          </a:p>
        </p:txBody>
      </p:sp>
    </p:spTree>
    <p:extLst>
      <p:ext uri="{BB962C8B-B14F-4D97-AF65-F5344CB8AC3E}">
        <p14:creationId xmlns:p14="http://schemas.microsoft.com/office/powerpoint/2010/main" val="122971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42">
            <a:extLst xmlns:a="http://schemas.openxmlformats.org/drawingml/2006/main">
              <a:ext uri="{FF2B5EF4-FFF2-40B4-BE49-F238E27FC236}">
                <a16:creationId xmlns:a16="http://schemas.microsoft.com/office/drawing/2014/main" id="{FE617147-69FC-4B8D-A1A6-3CB02266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43">
            <a:extLst xmlns:a="http://schemas.openxmlformats.org/drawingml/2006/main">
              <a:ext uri="{FF2B5EF4-FFF2-40B4-BE49-F238E27FC236}">
                <a16:creationId xmlns:a16="http://schemas.microsoft.com/office/drawing/2014/main" id="{FF119DBC-2AF2-47BE-A320-6984933F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คุณูปการของงานวิจัยและการนำไปประยุกต์ใช้</a:t>
            </a:r>
          </a:p>
        </p:txBody>
      </p:sp>
      <p:sp>
        <p:nvSpPr>
          <p:cNvPr id="3" name="shape-144">
            <a:extLst xmlns:a="http://schemas.openxmlformats.org/drawingml/2006/main">
              <a:ext uri="{FF2B5EF4-FFF2-40B4-BE49-F238E27FC236}">
                <a16:creationId xmlns:a16="http://schemas.microsoft.com/office/drawing/2014/main" id="{99E2015E-804E-4732-8AE1-1B2B389B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531018DC-6B40-47C9-8B46-E7BBC9C1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37516189-6EF2-4A1D-AA2B-6F41E6BF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6</a:t>
            </a:r>
          </a:p>
        </p:txBody>
      </p:sp>
      <p:sp>
        <p:nvSpPr>
          <p:cNvPr id="6" name="shape-147">
            <a:extLst xmlns:a="http://schemas.openxmlformats.org/drawingml/2006/main">
              <a:ext uri="{FF2B5EF4-FFF2-40B4-BE49-F238E27FC236}">
                <a16:creationId xmlns:a16="http://schemas.microsoft.com/office/drawing/2014/main" id="{9BE0BE95-7260-463C-BCF0-6E4C9A73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48">
            <a:extLst xmlns:a="http://schemas.openxmlformats.org/drawingml/2006/main">
              <a:ext uri="{FF2B5EF4-FFF2-40B4-BE49-F238E27FC236}">
                <a16:creationId xmlns:a16="http://schemas.microsoft.com/office/drawing/2014/main" id="{791CFD0A-038B-4A30-8D64-DDA5B647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คุณูปการสำคัญของงานวิจัย</a:t>
            </a:r>
          </a:p>
        </p:txBody>
      </p:sp>
      <p:sp>
        <p:nvSpPr>
          <p:cNvPr id="8" name="text-149">
            <a:extLst xmlns:a="http://schemas.openxmlformats.org/drawingml/2006/main">
              <a:ext uri="{FF2B5EF4-FFF2-40B4-BE49-F238E27FC236}">
                <a16:creationId xmlns:a16="http://schemas.microsoft.com/office/drawing/2014/main" id="{7B589529-F3E5-4FD3-B13F-5E800D13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50">
            <a:extLst xmlns:a="http://schemas.openxmlformats.org/drawingml/2006/main">
              <a:ext uri="{FF2B5EF4-FFF2-40B4-BE49-F238E27FC236}">
                <a16:creationId xmlns:a16="http://schemas.microsoft.com/office/drawing/2014/main" id="{5E1FFB3A-63A8-459A-A90E-926C25D1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ไปป์ไลน์ปรับปรุงประสิทธิภาพแบบแบ่งระดับ</a:t>
            </a:r>
          </a:p>
        </p:txBody>
      </p:sp>
      <p:sp>
        <p:nvSpPr>
          <p:cNvPr id="10" name="text-151">
            <a:extLst xmlns:a="http://schemas.openxmlformats.org/drawingml/2006/main">
              <a:ext uri="{FF2B5EF4-FFF2-40B4-BE49-F238E27FC236}">
                <a16:creationId xmlns:a16="http://schemas.microsoft.com/office/drawing/2014/main" id="{E8194125-BEF8-4B6B-BC86-A3047565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แยกขั้นตอนเตรียมข้อมูล แคชคิวรี และภาพล่วงหน้าอย่างเป็นระบบ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โดยคงไวยากรณ์เดิมของนักพัฒนาไว้ทั้งหมด ไม่ต้องเขียนโค้ดใหม่</a:t>
            </a:r>
          </a:p>
        </p:txBody>
      </p:sp>
      <p:sp>
        <p:nvSpPr>
          <p:cNvPr id="11" name="shape-152">
            <a:extLst xmlns:a="http://schemas.openxmlformats.org/drawingml/2006/main">
              <a:ext uri="{FF2B5EF4-FFF2-40B4-BE49-F238E27FC236}">
                <a16:creationId xmlns:a16="http://schemas.microsoft.com/office/drawing/2014/main" id="{9BF14B6C-224D-40EA-BA7A-F33D2161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53">
            <a:extLst xmlns:a="http://schemas.openxmlformats.org/drawingml/2006/main">
              <a:ext uri="{FF2B5EF4-FFF2-40B4-BE49-F238E27FC236}">
                <a16:creationId xmlns:a16="http://schemas.microsoft.com/office/drawing/2014/main" id="{62159F7F-6892-4188-BCFB-A9FD68EA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20C0C7CA-4671-4B4A-84CD-969EFA89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กรอบประเมินประสิทธิภาพคู่ขนาน TTR และ TTA</a:t>
            </a:r>
          </a:p>
        </p:txBody>
      </p:sp>
      <p:sp>
        <p:nvSpPr>
          <p:cNvPr id="14" name="text-155">
            <a:extLst xmlns:a="http://schemas.openxmlformats.org/drawingml/2006/main">
              <a:ext uri="{FF2B5EF4-FFF2-40B4-BE49-F238E27FC236}">
                <a16:creationId xmlns:a16="http://schemas.microsoft.com/office/drawing/2014/main" id="{78B990D3-D646-46B7-A8DD-DEA47FA5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แยกเวลาจนเห็นภาพ (TTR) ออกจากเวลาพร้อมโต้ตอบ (TTA) ชัดเจน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พร้อมบันทึกมิติต้นทุนพื้นที่จัดเก็บ (Storage Cost) ที่ต้องแลก</a:t>
            </a:r>
          </a:p>
        </p:txBody>
      </p:sp>
      <p:sp>
        <p:nvSpPr>
          <p:cNvPr id="15" name="shape-156">
            <a:extLst xmlns:a="http://schemas.openxmlformats.org/drawingml/2006/main">
              <a:ext uri="{FF2B5EF4-FFF2-40B4-BE49-F238E27FC236}">
                <a16:creationId xmlns:a16="http://schemas.microsoft.com/office/drawing/2014/main" id="{E0DDCE51-5A24-40B5-8B13-DB958A3C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57">
            <a:extLst xmlns:a="http://schemas.openxmlformats.org/drawingml/2006/main">
              <a:ext uri="{FF2B5EF4-FFF2-40B4-BE49-F238E27FC236}">
                <a16:creationId xmlns:a16="http://schemas.microsoft.com/office/drawing/2014/main" id="{BC5BF6F9-916F-4E4F-8E71-6A792DB0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58">
            <a:extLst xmlns:a="http://schemas.openxmlformats.org/drawingml/2006/main">
              <a:ext uri="{FF2B5EF4-FFF2-40B4-BE49-F238E27FC236}">
                <a16:creationId xmlns:a16="http://schemas.microsoft.com/office/drawing/2014/main" id="{EA47722F-9DC1-4B05-9CFC-ECF8BA0C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การทดสอบเชิงประจักษ์กับข้อมูลขนาดใหญ่</a:t>
            </a:r>
          </a:p>
        </p:txBody>
      </p:sp>
      <p:sp>
        <p:nvSpPr>
          <p:cNvPr id="18" name="text-159">
            <a:extLst xmlns:a="http://schemas.openxmlformats.org/drawingml/2006/main">
              <a:ext uri="{FF2B5EF4-FFF2-40B4-BE49-F238E27FC236}">
                <a16:creationId xmlns:a16="http://schemas.microsoft.com/office/drawing/2014/main" id="{22156969-D295-4FCB-8846-EBB4F4A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พิสูจน์ผลลัพธ์บนข้อมูลจริง 10k ถึง 10M แถว ยืนยันว่า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การแคชล่วงหน้าลด TTA เฉลี่ย 33.3% และลด TTR ได้ถึง 83.7%</a:t>
            </a:r>
          </a:p>
        </p:txBody>
      </p:sp>
      <p:sp>
        <p:nvSpPr>
          <p:cNvPr id="19" name="shape-160">
            <a:extLst xmlns:a="http://schemas.openxmlformats.org/drawingml/2006/main">
              <a:ext uri="{FF2B5EF4-FFF2-40B4-BE49-F238E27FC236}">
                <a16:creationId xmlns:a16="http://schemas.microsoft.com/office/drawing/2014/main" id="{550A7307-44EB-4839-8C3E-0703A65B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61">
            <a:extLst xmlns:a="http://schemas.openxmlformats.org/drawingml/2006/main">
              <a:ext uri="{FF2B5EF4-FFF2-40B4-BE49-F238E27FC236}">
                <a16:creationId xmlns:a16="http://schemas.microsoft.com/office/drawing/2014/main" id="{A254FF2B-1023-4CC9-878C-37F24B2CC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การนำแนวคิดไปประยุกต์ใช้งานจริง</a:t>
            </a:r>
          </a:p>
        </p:txBody>
      </p:sp>
      <p:sp>
        <p:nvSpPr>
          <p:cNvPr id="21" name="text-162">
            <a:extLst xmlns:a="http://schemas.openxmlformats.org/drawingml/2006/main">
              <a:ext uri="{FF2B5EF4-FFF2-40B4-BE49-F238E27FC236}">
                <a16:creationId xmlns:a16="http://schemas.microsoft.com/office/drawing/2014/main" id="{19044D11-7F67-46EF-890E-091B5891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63">
            <a:extLst xmlns:a="http://schemas.openxmlformats.org/drawingml/2006/main">
              <a:ext uri="{FF2B5EF4-FFF2-40B4-BE49-F238E27FC236}">
                <a16:creationId xmlns:a16="http://schemas.microsoft.com/office/drawing/2014/main" id="{D69C6147-6A41-4CE3-B4EC-0C81D88B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แดชบอร์ดแสดงผลข้อมูลขนาดใหญ่</a:t>
            </a:r>
          </a:p>
        </p:txBody>
      </p:sp>
      <p:sp>
        <p:nvSpPr>
          <p:cNvPr id="23" name="text-164">
            <a:extLst xmlns:a="http://schemas.openxmlformats.org/drawingml/2006/main">
              <a:ext uri="{FF2B5EF4-FFF2-40B4-BE49-F238E27FC236}">
                <a16:creationId xmlns:a16="http://schemas.microsoft.com/office/drawing/2014/main" id="{4941D3B0-A663-407D-BF50-F4D3B22B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แก้ปัญหาความหน่วงตอนเปิดหน้าครั้งแรก (Cold-Start) บนเว็บข้อมูล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ช่วยให้ผู้ใช้งานมองเห็นชาร์ตและภาพรวมเบื้องต้นได้ทันที</a:t>
            </a:r>
          </a:p>
        </p:txBody>
      </p:sp>
      <p:sp>
        <p:nvSpPr>
          <p:cNvPr id="24" name="shape-165">
            <a:extLst xmlns:a="http://schemas.openxmlformats.org/drawingml/2006/main">
              <a:ext uri="{FF2B5EF4-FFF2-40B4-BE49-F238E27FC236}">
                <a16:creationId xmlns:a16="http://schemas.microsoft.com/office/drawing/2014/main" id="{94E8C938-23F3-4ADE-A9F8-B085F593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66">
            <a:extLst xmlns:a="http://schemas.openxmlformats.org/drawingml/2006/main">
              <a:ext uri="{FF2B5EF4-FFF2-40B4-BE49-F238E27FC236}">
                <a16:creationId xmlns:a16="http://schemas.microsoft.com/office/drawing/2014/main" id="{BF71E836-9C31-4AC7-B577-E07BA357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67">
            <a:extLst xmlns:a="http://schemas.openxmlformats.org/drawingml/2006/main">
              <a:ext uri="{FF2B5EF4-FFF2-40B4-BE49-F238E27FC236}">
                <a16:creationId xmlns:a16="http://schemas.microsoft.com/office/drawing/2014/main" id="{FEFBD80C-51BE-467E-8250-70CDA241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การกระจายแคชบน Edge CDN</a:t>
            </a:r>
          </a:p>
        </p:txBody>
      </p:sp>
      <p:sp>
        <p:nvSpPr>
          <p:cNvPr id="27" name="text-168">
            <a:extLst xmlns:a="http://schemas.openxmlformats.org/drawingml/2006/main">
              <a:ext uri="{FF2B5EF4-FFF2-40B4-BE49-F238E27FC236}">
                <a16:creationId xmlns:a16="http://schemas.microsoft.com/office/drawing/2014/main" id="{D23512A2-54B9-4BE9-B993-D83ABAD7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นำไฟล์แคชผลรวมและภาพเริ่มต้นไปเก็บไว้บน Edge ใกล้ผู้ใช้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ช่วยลดภาระการคำนวณซ้ำซ้อนของทั้งเซิร์ฟเวอร์และเบราว์เซอร์</a:t>
            </a:r>
          </a:p>
        </p:txBody>
      </p:sp>
      <p:sp>
        <p:nvSpPr>
          <p:cNvPr id="28" name="shape-169">
            <a:extLst xmlns:a="http://schemas.openxmlformats.org/drawingml/2006/main">
              <a:ext uri="{FF2B5EF4-FFF2-40B4-BE49-F238E27FC236}">
                <a16:creationId xmlns:a16="http://schemas.microsoft.com/office/drawing/2014/main" id="{7E5C8A5A-73B6-4614-8A29-482D3B86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170">
            <a:extLst xmlns:a="http://schemas.openxmlformats.org/drawingml/2006/main">
              <a:ext uri="{FF2B5EF4-FFF2-40B4-BE49-F238E27FC236}">
                <a16:creationId xmlns:a16="http://schemas.microsoft.com/office/drawing/2014/main" id="{64EB2A47-C5AD-402C-B8ED-46CB9024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171">
            <a:extLst xmlns:a="http://schemas.openxmlformats.org/drawingml/2006/main">
              <a:ext uri="{FF2B5EF4-FFF2-40B4-BE49-F238E27FC236}">
                <a16:creationId xmlns:a16="http://schemas.microsoft.com/office/drawing/2014/main" id="{E8FE492A-CDBA-42B7-8F6D-21DF7585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ระบบวิเคราะห์ข้อมูลบนเบราว์เซอร์</a:t>
            </a:r>
          </a:p>
        </p:txBody>
      </p:sp>
      <p:sp>
        <p:nvSpPr>
          <p:cNvPr id="31" name="text-172">
            <a:extLst xmlns:a="http://schemas.openxmlformats.org/drawingml/2006/main">
              <a:ext uri="{FF2B5EF4-FFF2-40B4-BE49-F238E27FC236}">
                <a16:creationId xmlns:a16="http://schemas.microsoft.com/office/drawing/2014/main" id="{2817CB55-A65F-49B5-A5CD-45452857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เป็นสถาปัตยกรรมต้นแบบการผสาน DuckDB-WASM กับตัวกลาง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เพื่อรองรับการคิวรีและวิเคราะห์ข้อมูลปริมาณมากบนเครื่องผู้ใช้</a:t>
            </a:r>
          </a:p>
        </p:txBody>
      </p:sp>
      <p:sp>
        <p:nvSpPr>
          <p:cNvPr id="32" name="text-173">
            <a:extLst xmlns:a="http://schemas.openxmlformats.org/drawingml/2006/main">
              <a:ext uri="{FF2B5EF4-FFF2-40B4-BE49-F238E27FC236}">
                <a16:creationId xmlns:a16="http://schemas.microsoft.com/office/drawing/2014/main" id="{8B332456-E78D-4F52-AC6F-BD06BBF5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Sections 1, 3 และ 5 (หน้า PDF 1–4)</a:t>
            </a:r>
          </a:p>
        </p:txBody>
      </p:sp>
    </p:spTree>
    <p:extLst>
      <p:ext uri="{BB962C8B-B14F-4D97-AF65-F5344CB8AC3E}">
        <p14:creationId xmlns:p14="http://schemas.microsoft.com/office/powerpoint/2010/main" val="1262039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hape-174">
            <a:extLst xmlns:a="http://schemas.openxmlformats.org/drawingml/2006/main">
              <a:ext uri="{FF2B5EF4-FFF2-40B4-BE49-F238E27FC236}">
                <a16:creationId xmlns:a16="http://schemas.microsoft.com/office/drawing/2014/main" id="{27FE4CCC-57B3-40B5-AFAC-43E2EF2D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D4A"/>
          </a:solidFill>
          <a:ln xmlns:a="http://schemas.openxmlformats.org/drawingml/2006/main" w="0">
            <a:noFill/>
          </a:ln>
        </p:spPr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9AA3FDEA-D9D6-4B89-89E1-779DC3CE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"/>
            <a:ext cx="1298448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2100" b="1">
                <a:solidFill>
                  <a:srgbClr val="FFFFFF"/>
                </a:solidFill>
                <a:latin typeface="IBM Plex Sans Thai"/>
                <a:ea typeface="IBM Plex Sans Thai"/>
                <a:cs typeface="IBM Plex Sans Thai"/>
              </a:rPr>
              <a:t>ข้อจำกัดของระบบและบทสรุป</a:t>
            </a:r>
          </a:p>
        </p:txBody>
      </p:sp>
      <p:sp>
        <p:nvSpPr>
          <p:cNvPr id="3" name="shape-176">
            <a:extLst xmlns:a="http://schemas.openxmlformats.org/drawingml/2006/main">
              <a:ext uri="{FF2B5EF4-FFF2-40B4-BE49-F238E27FC236}">
                <a16:creationId xmlns:a16="http://schemas.microsoft.com/office/drawing/2014/main" id="{4278EA9F-7D08-40B7-828B-4B2D7DFB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8120"/>
            <a:ext cx="1463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4" name="text-177">
            <a:extLst xmlns:a="http://schemas.openxmlformats.org/drawingml/2006/main">
              <a:ext uri="{FF2B5EF4-FFF2-40B4-BE49-F238E27FC236}">
                <a16:creationId xmlns:a16="http://schemas.microsoft.com/office/drawing/2014/main" id="{321FF19F-B9D7-429E-B0E3-DB16276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972425"/>
            <a:ext cx="1200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00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เอกสารอ้างอิง: Pechuk &amp; Heer, IEEE VIS 2025 (IEEE Doc ID: 11298742)</a:t>
            </a:r>
          </a:p>
        </p:txBody>
      </p:sp>
      <p:sp>
        <p:nvSpPr>
          <p:cNvPr id="5" name="text-178">
            <a:extLst xmlns:a="http://schemas.openxmlformats.org/drawingml/2006/main">
              <a:ext uri="{FF2B5EF4-FFF2-40B4-BE49-F238E27FC236}">
                <a16:creationId xmlns:a16="http://schemas.microsoft.com/office/drawing/2014/main" id="{486A8468-78DC-47B6-903E-E57FC1E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953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3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7</a:t>
            </a:r>
          </a:p>
        </p:txBody>
      </p:sp>
      <p:sp>
        <p:nvSpPr>
          <p:cNvPr id="6" name="shape-179">
            <a:extLst xmlns:a="http://schemas.openxmlformats.org/drawingml/2006/main">
              <a:ext uri="{FF2B5EF4-FFF2-40B4-BE49-F238E27FC236}">
                <a16:creationId xmlns:a16="http://schemas.microsoft.com/office/drawing/2014/main" id="{063DF506-B378-4775-BE24-CB462549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06D22451-2545-40C1-82BD-813D5E17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ข้อจำกัดที่พบในงานวิจัย</a:t>
            </a:r>
          </a:p>
        </p:txBody>
      </p:sp>
      <p:sp>
        <p:nvSpPr>
          <p:cNvPr id="8" name="text-181">
            <a:extLst xmlns:a="http://schemas.openxmlformats.org/drawingml/2006/main">
              <a:ext uri="{FF2B5EF4-FFF2-40B4-BE49-F238E27FC236}">
                <a16:creationId xmlns:a16="http://schemas.microsoft.com/office/drawing/2014/main" id="{F9961BBB-F27B-44A4-B5E5-2AB0359E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9" name="text-182">
            <a:extLst xmlns:a="http://schemas.openxmlformats.org/drawingml/2006/main">
              <a:ext uri="{FF2B5EF4-FFF2-40B4-BE49-F238E27FC236}">
                <a16:creationId xmlns:a16="http://schemas.microsoft.com/office/drawing/2014/main" id="{BB15FEE5-A7A0-4CEF-A88C-436424AD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คอขวดขั้นตอน Client Hydration</a:t>
            </a:r>
          </a:p>
        </p:txBody>
      </p:sp>
      <p:sp>
        <p:nvSpPr>
          <p:cNvPr id="10" name="text-183">
            <a:extLst xmlns:a="http://schemas.openxmlformats.org/drawingml/2006/main">
              <a:ext uri="{FF2B5EF4-FFF2-40B4-BE49-F238E27FC236}">
                <a16:creationId xmlns:a16="http://schemas.microsoft.com/office/drawing/2014/main" id="{B7F19481-2A99-42B7-B117-5496A5B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ภาพเริ่มต้นมาเร็ว แต่เบราว์เซอร์ยังต้องรันสคริปต์เต็มชุด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ทำให้การเรนเดอร์ภาพล่วงหน้าช่วยลด TTA เพิ่มได้เพียง 1.0%</a:t>
            </a:r>
          </a:p>
        </p:txBody>
      </p:sp>
      <p:sp>
        <p:nvSpPr>
          <p:cNvPr id="11" name="shape-184">
            <a:extLst xmlns:a="http://schemas.openxmlformats.org/drawingml/2006/main">
              <a:ext uri="{FF2B5EF4-FFF2-40B4-BE49-F238E27FC236}">
                <a16:creationId xmlns:a16="http://schemas.microsoft.com/office/drawing/2014/main" id="{70A50E81-B09B-481B-AF59-D4591530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2" name="text-185">
            <a:extLst xmlns:a="http://schemas.openxmlformats.org/drawingml/2006/main">
              <a:ext uri="{FF2B5EF4-FFF2-40B4-BE49-F238E27FC236}">
                <a16:creationId xmlns:a16="http://schemas.microsoft.com/office/drawing/2014/main" id="{FC869AFC-7093-4E28-A563-049D5361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13" name="text-186">
            <a:extLst xmlns:a="http://schemas.openxmlformats.org/drawingml/2006/main">
              <a:ext uri="{FF2B5EF4-FFF2-40B4-BE49-F238E27FC236}">
                <a16:creationId xmlns:a16="http://schemas.microsoft.com/office/drawing/2014/main" id="{2CE95DAD-5741-4FB7-94A6-ADC8CB88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ต้นทุนพื้นที่จัดเก็บที่เพิ่มขึ้น</a:t>
            </a:r>
          </a:p>
        </p:txBody>
      </p:sp>
      <p:sp>
        <p:nvSpPr>
          <p:cNvPr id="14" name="text-187">
            <a:extLst xmlns:a="http://schemas.openxmlformats.org/drawingml/2006/main">
              <a:ext uri="{FF2B5EF4-FFF2-40B4-BE49-F238E27FC236}">
                <a16:creationId xmlns:a16="http://schemas.microsoft.com/office/drawing/2014/main" id="{3ACD1BE2-73C5-4E02-B8DE-699E05C0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พื้นที่จัดเก็บไฟล์เพิ่มขึ้นเฉลี่ย 21.2% และมีความแปรปรวนสูง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(σ = 29.9%) ตามรูปแบบชาร์ตและจำนวนสถานะการกรองข้อมูล</a:t>
            </a:r>
          </a:p>
        </p:txBody>
      </p:sp>
      <p:sp>
        <p:nvSpPr>
          <p:cNvPr id="15" name="shape-188">
            <a:extLst xmlns:a="http://schemas.openxmlformats.org/drawingml/2006/main">
              <a:ext uri="{FF2B5EF4-FFF2-40B4-BE49-F238E27FC236}">
                <a16:creationId xmlns:a16="http://schemas.microsoft.com/office/drawing/2014/main" id="{FD570D80-B893-47A2-8294-25C091A1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16" name="text-189">
            <a:extLst xmlns:a="http://schemas.openxmlformats.org/drawingml/2006/main">
              <a:ext uri="{FF2B5EF4-FFF2-40B4-BE49-F238E27FC236}">
                <a16:creationId xmlns:a16="http://schemas.microsoft.com/office/drawing/2014/main" id="{01315BC8-D7FF-43B1-9BE9-4B5D4709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991B1B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17" name="text-190">
            <a:extLst xmlns:a="http://schemas.openxmlformats.org/drawingml/2006/main">
              <a:ext uri="{FF2B5EF4-FFF2-40B4-BE49-F238E27FC236}">
                <a16:creationId xmlns:a16="http://schemas.microsoft.com/office/drawing/2014/main" id="{BE04F557-B55D-4298-B4A8-783E667B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ขอบเขตการทดสอบและการสร้างข้อมูลซ้ำ</a:t>
            </a:r>
          </a:p>
        </p:txBody>
      </p:sp>
      <p:sp>
        <p:nvSpPr>
          <p:cNvPr id="18" name="text-191">
            <a:extLst xmlns:a="http://schemas.openxmlformats.org/drawingml/2006/main">
              <a:ext uri="{FF2B5EF4-FFF2-40B4-BE49-F238E27FC236}">
                <a16:creationId xmlns:a16="http://schemas.microsoft.com/office/drawing/2014/main" id="{8117922E-87B3-423D-96BC-DF6EA03F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1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ประเมินผลบนแล็ปท็อปประสิทธิภาพสูงกับ Local Server เท่านั้น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และข้อมูลแคชยังต้องคำนวณใหม่ยกชุดเมื่อข้อมูลต้นทางเปลี่ยนแปลง</a:t>
            </a:r>
          </a:p>
        </p:txBody>
      </p:sp>
      <p:sp>
        <p:nvSpPr>
          <p:cNvPr id="19" name="shape-192">
            <a:extLst xmlns:a="http://schemas.openxmlformats.org/drawingml/2006/main">
              <a:ext uri="{FF2B5EF4-FFF2-40B4-BE49-F238E27FC236}">
                <a16:creationId xmlns:a16="http://schemas.microsoft.com/office/drawing/2014/main" id="{DEAC48A9-D75C-4179-8F68-5FC15265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238250"/>
            <a:ext cx="6324600" cy="59531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0" name="text-193">
            <a:extLst xmlns:a="http://schemas.openxmlformats.org/drawingml/2006/main">
              <a:ext uri="{FF2B5EF4-FFF2-40B4-BE49-F238E27FC236}">
                <a16:creationId xmlns:a16="http://schemas.microsoft.com/office/drawing/2014/main" id="{6FDCB99C-2900-4EA2-969C-F4F0AA72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14668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5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บทสรุปและแนวทางพัฒนาต่อ</a:t>
            </a:r>
          </a:p>
        </p:txBody>
      </p:sp>
      <p:sp>
        <p:nvSpPr>
          <p:cNvPr id="21" name="text-194">
            <a:extLst xmlns:a="http://schemas.openxmlformats.org/drawingml/2006/main">
              <a:ext uri="{FF2B5EF4-FFF2-40B4-BE49-F238E27FC236}">
                <a16:creationId xmlns:a16="http://schemas.microsoft.com/office/drawing/2014/main" id="{9C36BA50-C588-499B-9DFD-4E3E8B11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2038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1</a:t>
            </a:r>
          </a:p>
        </p:txBody>
      </p:sp>
      <p:sp>
        <p:nvSpPr>
          <p:cNvPr id="22" name="text-195">
            <a:extLst xmlns:a="http://schemas.openxmlformats.org/drawingml/2006/main">
              <a:ext uri="{FF2B5EF4-FFF2-40B4-BE49-F238E27FC236}">
                <a16:creationId xmlns:a16="http://schemas.microsoft.com/office/drawing/2014/main" id="{87429291-7362-4E2E-8D10-F1461651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383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บทสรุปสำคัญเชิงสถาปัตยกรรม</a:t>
            </a:r>
          </a:p>
        </p:txBody>
      </p:sp>
      <p:sp>
        <p:nvSpPr>
          <p:cNvPr id="23" name="text-196">
            <a:extLst xmlns:a="http://schemas.openxmlformats.org/drawingml/2006/main">
              <a:ext uri="{FF2B5EF4-FFF2-40B4-BE49-F238E27FC236}">
                <a16:creationId xmlns:a16="http://schemas.microsoft.com/office/drawing/2014/main" id="{4A1A0CAF-B543-4588-940D-FAFFC59D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3812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การแคชล่วงหน้าเป็นกุญแจหลักในการลด TTA (−32.3%)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ส่วนภาพล่วงหน้าแก้ Perceived Latency ได้เด็ดขาด (−83.7%)</a:t>
            </a:r>
          </a:p>
        </p:txBody>
      </p:sp>
      <p:sp>
        <p:nvSpPr>
          <p:cNvPr id="24" name="shape-197">
            <a:extLst xmlns:a="http://schemas.openxmlformats.org/drawingml/2006/main">
              <a:ext uri="{FF2B5EF4-FFF2-40B4-BE49-F238E27FC236}">
                <a16:creationId xmlns:a16="http://schemas.microsoft.com/office/drawing/2014/main" id="{BC58D753-9510-4050-8480-0E4F6EDD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60997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5" name="text-198">
            <a:extLst xmlns:a="http://schemas.openxmlformats.org/drawingml/2006/main">
              <a:ext uri="{FF2B5EF4-FFF2-40B4-BE49-F238E27FC236}">
                <a16:creationId xmlns:a16="http://schemas.microsoft.com/office/drawing/2014/main" id="{B8436F34-5582-4189-8BE3-6781C6E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3810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2</a:t>
            </a:r>
          </a:p>
        </p:txBody>
      </p:sp>
      <p:sp>
        <p:nvSpPr>
          <p:cNvPr id="26" name="text-199">
            <a:extLst xmlns:a="http://schemas.openxmlformats.org/drawingml/2006/main">
              <a:ext uri="{FF2B5EF4-FFF2-40B4-BE49-F238E27FC236}">
                <a16:creationId xmlns:a16="http://schemas.microsoft.com/office/drawing/2014/main" id="{6DA725DD-679A-440C-8F9F-70A4A1A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381000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การวิจัย Progressive Hydration</a:t>
            </a:r>
          </a:p>
        </p:txBody>
      </p:sp>
      <p:sp>
        <p:nvSpPr>
          <p:cNvPr id="27" name="text-200">
            <a:extLst xmlns:a="http://schemas.openxmlformats.org/drawingml/2006/main">
              <a:ext uri="{FF2B5EF4-FFF2-40B4-BE49-F238E27FC236}">
                <a16:creationId xmlns:a16="http://schemas.microsoft.com/office/drawing/2014/main" id="{BE4B76D6-50E0-42FE-BC21-9E8C1CAB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415290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ข้อเสนอแนะหลักจากผู้วิจัย ให้เริ่มระบบเฉพาะส่วนที่จำเป็น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เพื่อลดภาระประมวลผลของเบราว์เซอร์ และดึง TTA ให้เร็วขึ้น</a:t>
            </a:r>
          </a:p>
        </p:txBody>
      </p:sp>
      <p:sp>
        <p:nvSpPr>
          <p:cNvPr id="28" name="shape-201">
            <a:extLst xmlns:a="http://schemas.openxmlformats.org/drawingml/2006/main">
              <a:ext uri="{FF2B5EF4-FFF2-40B4-BE49-F238E27FC236}">
                <a16:creationId xmlns:a16="http://schemas.microsoft.com/office/drawing/2014/main" id="{572913A4-D936-4F6C-9D9D-5E75CBAB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381625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</a:ln>
        </p:spPr>
      </p:sp>
      <p:sp>
        <p:nvSpPr>
          <p:cNvPr id="29" name="text-202">
            <a:extLst xmlns:a="http://schemas.openxmlformats.org/drawingml/2006/main">
              <a:ext uri="{FF2B5EF4-FFF2-40B4-BE49-F238E27FC236}">
                <a16:creationId xmlns:a16="http://schemas.microsoft.com/office/drawing/2014/main" id="{5FA36BD0-4B1D-4034-82D9-C2770F6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7640" y="5581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600" b="1">
                <a:solidFill>
                  <a:srgbClr val="0F2D4A"/>
                </a:solidFill>
                <a:latin typeface="IBM Plex Sans Thai"/>
                <a:ea typeface="IBM Plex Sans Thai"/>
                <a:cs typeface="IBM Plex Sans Thai"/>
              </a:rPr>
              <a:t>3</a:t>
            </a:r>
          </a:p>
        </p:txBody>
      </p:sp>
      <p:sp>
        <p:nvSpPr>
          <p:cNvPr id="30" name="text-203">
            <a:extLst xmlns:a="http://schemas.openxmlformats.org/drawingml/2006/main">
              <a:ext uri="{FF2B5EF4-FFF2-40B4-BE49-F238E27FC236}">
                <a16:creationId xmlns:a16="http://schemas.microsoft.com/office/drawing/2014/main" id="{EE9F43CA-3194-42EA-AC8B-482A39AB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581650"/>
            <a:ext cx="535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500" b="1">
                <a:solidFill>
                  <a:srgbClr val="0F172A"/>
                </a:solidFill>
                <a:latin typeface="IBM Plex Sans Thai"/>
                <a:ea typeface="IBM Plex Sans Thai"/>
                <a:cs typeface="IBM Plex Sans Thai"/>
              </a:rPr>
              <a:t>ระบบ Hybrid และ Incremental Update</a:t>
            </a:r>
          </a:p>
        </p:txBody>
      </p:sp>
      <p:sp>
        <p:nvSpPr>
          <p:cNvPr id="31" name="text-204">
            <a:extLst xmlns:a="http://schemas.openxmlformats.org/drawingml/2006/main">
              <a:ext uri="{FF2B5EF4-FFF2-40B4-BE49-F238E27FC236}">
                <a16:creationId xmlns:a16="http://schemas.microsoft.com/office/drawing/2014/main" id="{6CFC9393-D34B-4FA1-80F7-5D83F0DF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5924550"/>
            <a:ext cx="53530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ผสานแคช Publish-time ร่วมกับ Dynamic Cache ตอนใช้งานจริง</a:t>
            </a:r>
          </a:p>
          <a:p xmlns:a="http://schemas.openxmlformats.org/drawingml/2006/main">
            <a:pPr algn="l">
              <a:def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238" b="0">
                <a:solidFill>
                  <a:srgbClr val="475569"/>
                </a:solidFill>
                <a:latin typeface="IBM Plex Sans Thai"/>
                <a:ea typeface="IBM Plex Sans Thai"/>
                <a:cs typeface="IBM Plex Sans Thai"/>
              </a:rPr>
              <a:t>พร้อมพัฒนาระบบคำนวณซ้ำเฉพาะส่วนข้อมูลที่มีการอัปเดต</a:t>
            </a:r>
          </a:p>
        </p:txBody>
      </p:sp>
      <p:sp>
        <p:nvSpPr>
          <p:cNvPr id="32" name="text-205">
            <a:extLst xmlns:a="http://schemas.openxmlformats.org/drawingml/2006/main">
              <a:ext uri="{FF2B5EF4-FFF2-40B4-BE49-F238E27FC236}">
                <a16:creationId xmlns:a16="http://schemas.microsoft.com/office/drawing/2014/main" id="{836E637D-DAF5-4C09-9408-E0660761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315200"/>
            <a:ext cx="1298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defRPr>
            </a:pPr>
            <a:r>
              <a:rPr sz="1125" b="0">
                <a:solidFill>
                  <a:srgbClr val="64748B"/>
                </a:solidFill>
                <a:latin typeface="IBM Plex Sans Thai"/>
                <a:ea typeface="IBM Plex Sans Thai"/>
                <a:cs typeface="IBM Plex Sans Thai"/>
              </a:rPr>
              <a:t>ที่มา: Table 1 (Key Takeaways) และ Sections 5–6 (หน้า PDF 4–5)</a:t>
            </a:r>
          </a:p>
        </p:txBody>
      </p:sp>
    </p:spTree>
    <p:extLst>
      <p:ext uri="{BB962C8B-B14F-4D97-AF65-F5344CB8AC3E}">
        <p14:creationId xmlns:p14="http://schemas.microsoft.com/office/powerpoint/2010/main" val="638560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2026-10-05T08:30:23.4700000Z</dcterms:created>
  <dcterms:modified xsi:type="dcterms:W3CDTF">2026-10-05T08:30:23.4700000Z</dcterms:modified>
</coreProperties>
</file>