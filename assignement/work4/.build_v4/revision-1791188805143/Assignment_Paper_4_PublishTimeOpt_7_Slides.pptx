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d769fcac2d4fa4" /><Relationship Type="http://schemas.openxmlformats.org/officeDocument/2006/relationships/extended-properties" Target="/docProps/app.xml" Id="R6e575b14423a4d06" /><Relationship Type="http://schemas.openxmlformats.org/officeDocument/2006/relationships/officeDocument" Target="/ppt/presentation.xml" Id="R7320d91fd33d4c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eb70689bca4613"/>
  </p:sldMasterIdLst>
  <p:notesMasterIdLst>
    <p:notesMasterId xmlns:r="http://schemas.openxmlformats.org/officeDocument/2006/relationships" r:id="Rf2916e1b521b4770"/>
  </p:notesMasterIdLst>
  <p:sldIdLst>
    <p:sldId xmlns:r="http://schemas.openxmlformats.org/officeDocument/2006/relationships" id="256" r:id="R7cfce71f820e43dd"/>
    <p:sldId xmlns:r="http://schemas.openxmlformats.org/officeDocument/2006/relationships" id="257" r:id="Rf5a64f7e30994b27"/>
    <p:sldId xmlns:r="http://schemas.openxmlformats.org/officeDocument/2006/relationships" id="258" r:id="R479808c33ac549b0"/>
    <p:sldId xmlns:r="http://schemas.openxmlformats.org/officeDocument/2006/relationships" id="259" r:id="R3221fec08d1a425d"/>
    <p:sldId xmlns:r="http://schemas.openxmlformats.org/officeDocument/2006/relationships" id="260" r:id="Rba3dc3d1ecd24b5c"/>
    <p:sldId xmlns:r="http://schemas.openxmlformats.org/officeDocument/2006/relationships" id="261" r:id="R70395c28464b4f8d"/>
    <p:sldId xmlns:r="http://schemas.openxmlformats.org/officeDocument/2006/relationships" id="262" r:id="R44aa1553b178449c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cb074f00bb4f00" /><Relationship Type="http://schemas.openxmlformats.org/officeDocument/2006/relationships/slideMaster" Target="/ppt/slideMasters/slideMaster1.xml" Id="R36eb70689bca4613" /><Relationship Type="http://schemas.openxmlformats.org/officeDocument/2006/relationships/notesMaster" Target="/ppt/notesMasters/notesMaster1.xml" Id="Rf2916e1b521b4770" /><Relationship Type="http://schemas.openxmlformats.org/officeDocument/2006/relationships/presProps" Target="/ppt/presProps.xml" Id="R7c4f2edbed704bde" /><Relationship Type="http://schemas.openxmlformats.org/officeDocument/2006/relationships/tableStyles" Target="/ppt/tableStyles.xml" Id="R426d8d9d12e046cd" /><Relationship Type="http://schemas.openxmlformats.org/officeDocument/2006/relationships/slide" Target="/ppt/slides/slide1.xml" Id="R7cfce71f820e43dd" /><Relationship Type="http://schemas.openxmlformats.org/officeDocument/2006/relationships/slide" Target="/ppt/slides/slide2.xml" Id="Rf5a64f7e30994b27" /><Relationship Type="http://schemas.openxmlformats.org/officeDocument/2006/relationships/slide" Target="/ppt/slides/slide3.xml" Id="R479808c33ac549b0" /><Relationship Type="http://schemas.openxmlformats.org/officeDocument/2006/relationships/slide" Target="/ppt/slides/slide4.xml" Id="R3221fec08d1a425d" /><Relationship Type="http://schemas.openxmlformats.org/officeDocument/2006/relationships/slide" Target="/ppt/slides/slide5.xml" Id="Rba3dc3d1ecd24b5c" /><Relationship Type="http://schemas.openxmlformats.org/officeDocument/2006/relationships/slide" Target="/ppt/slides/slide6.xml" Id="R70395c28464b4f8d" /><Relationship Type="http://schemas.openxmlformats.org/officeDocument/2006/relationships/slide" Target="/ppt/slides/slide7.xml" Id="R44aa1553b17844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6da68398e74c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ac9b721d034833" /><Relationship Type="http://schemas.openxmlformats.org/officeDocument/2006/relationships/notesMaster" Target="/ppt/notesMasters/notesMaster1.xml" Id="R3d0a61fb0ca04c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52949847d74e0f" /><Relationship Type="http://schemas.openxmlformats.org/officeDocument/2006/relationships/notesMaster" Target="/ppt/notesMasters/notesMaster1.xml" Id="R57502475082841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5ec10117944abb" /><Relationship Type="http://schemas.openxmlformats.org/officeDocument/2006/relationships/notesMaster" Target="/ppt/notesMasters/notesMaster1.xml" Id="R00827454320b4f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75af3753b14464" /><Relationship Type="http://schemas.openxmlformats.org/officeDocument/2006/relationships/notesMaster" Target="/ppt/notesMasters/notesMaster1.xml" Id="Rb5b624d4f2e543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c1e5bec5db499f" /><Relationship Type="http://schemas.openxmlformats.org/officeDocument/2006/relationships/notesMaster" Target="/ppt/notesMasters/notesMaster1.xml" Id="Ra0b49a7bbec049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1783e9af404cb4" /><Relationship Type="http://schemas.openxmlformats.org/officeDocument/2006/relationships/notesMaster" Target="/ppt/notesMasters/notesMaster1.xml" Id="R28e40076507946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533cc78d554ecc" /><Relationship Type="http://schemas.openxmlformats.org/officeDocument/2006/relationships/notesMaster" Target="/ppt/notesMasters/notesMaster1.xml" Id="Rb80dea1b302746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การนำเสนอนี้สรุปบทความวิจัยเรื่อง Publish-Time Optimizations for Web-Based Visualizations โดย Ron Pechuk และ Jeffrey Heer จาก University of Washington ตีพิมพ์ในการประชุมวิชาการ IEEE VIS 2025 โดยนำเสนอแนวทางย้ายภาระงานประมวลผลที่ต้องทำซ้ำไปไว้ในช่วงเผยแพร่ระบบ เพื่อลดความหน่วงเริ่มต้นของเว็บแสดงภาพข้อมูลเชิงโต้ตอบ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Title and Abstract, PDF page 1. IEEE metadata: DOI 10.1109/VIS60296.2025.00051.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เมื่อเปิดหน้าเว็บแสดงภาพข้อมูล เบราว์เซอร์มักต้องดาวน์โหลดข้อมูลดิบ รันคิวรีรวมกลุ่ม และวาดภาพใหม่ทั้งหมด ทำให้ผู้ใช้งานคนแรกต้องรอคอยความหน่วงแบบ Cold-Start ผู้วิจัยจึงจำแนกตัวชี้วัดประสิทธิภาพออกเป็นสองส่วน คือ TTR หรือเวลาจนภาพแสดงผลสมบูรณ์ ซึ่งสะท้อนความเร็วที่ผู้ใช้รับรู้จริง และ TTA หรือเวลาจนระบบพร้อมรับการคลิกหรือฟิลเตอร์โต้ตอบ พร้อมทั้งวัดขนาดพื้นที่จัดเก็บเพิ่มเติม หรือ Storage Cost เพื่อประเมินความคุ้มค่าเชิงวิศวกรรม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 and 3.1, PDF pages 1–2.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สถาปัตยกรรม Mosaic Publisher แบ่งกระบวนการช่วงเผยแพร่ออกเป็นสามขั้นตอนหลัก เริ่มจากการวิเคราะห์โครงสร้าง Abstract Syntax Tree และจำลอง Virtual DOM เพื่อระบุคิวรีที่จำเป็น จากนั้นใช้ DuckDB คำนวณผลลัพธ์ล่วงหน้าและจัดเก็บเป็นไฟล์ แล้วทำการปรับแก้โค้ดเพื่อสร้าง JavaScript Runtime Bundle ผลลัพธ์ที่ส่งมอบให้เบราว์เซอร์ประกอบด้วยข้อมูลที่ตัดทอนคอลัมน์แล้ว ผลคิวรีสำเร็จรูปสำหรับเติมแคช และภาพร่างเริ่มต้น โดยนักพัฒนายังคงใช้ไวยากรณ์เดิมของระบบได้ทั้งหมด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PDF page 1. Sections 3.2–3.4 and 4.1–4.3, PDF pages 2–3.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สำหรับมุมมองแบบสถิต ระบบสามารถส่งภาพ SVG หรือ Canvas ที่วาดเสร็จแล้วให้แสดงผลได้ทันทีโดยไม่ต้องพึ่งพาสคริปต์ แต่สำหรับมุมมองแบบโต้ตอบ แม้ภาพเริ่มต้นจะปรากฏรวดเร็ว ผู้ใช้งานยังต้องรอขั้นตอน Hydration เพื่อให้เบราว์เซอร์เริ่มทำงานคอมโพเนนต์และผูก Event ผลการทดลองในรูปที่ 4 พบว่าขั้นตอน Hydration ยังมีต้นทุนเวลาใกล้เคียงกับการเรนเดอร์ใหม่ทั้งหมด ทำให้ภาพปรากฏเร็วขึ้นมาก แต่เวลาพร้อมโต้ตอบยังลดลงได้จำกัด ซึ่งการพัฒนา Progressive Hydration เป็นโจทย์วิจัยสำคัญต่อไป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 4.3, PDF page 3. Figure 4 and Section 5, PDF page 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ผลการทดสอบกับ 5 ชุดแสดงผลจริง ตั้งแต่ข้อมูลหนึ่งหมื่นแถวจนถึงสิบล้านแถวในตารางที่ 1 ระบุว่าชุดปรับปรุงรวมสามารถลด TTR ได้เฉลี่ย 83.7% และลด TTA ลงเฉลี่ย 33.3% โดยมีกลไกแคชล่วงหน้าเป็นปัจจัยหลักที่ช่วยลด TTA ได้ 32.3% ขณะที่การเรนเดอร์ภาพล่วงหน้าช่วยลด TTA เพิ่มเติมเพียง 1.0% เมื่อเทียบกับ Baseline เดียวกัน ทั้งนี้ระบบต้องแลกกับพื้นที่จัดเก็บเพิ่มเติมเฉลี่ย 21.2% ซึ่งถือเป็นการแลกเปลี่ยนที่คุ้มค่าสำหรับเว็บแอปพลิเคชันยุคใหม่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 and Table 1, PDF page 4. Table values: mean ± sigma across specifications and dataset sizes.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คุณูปการทางวิชาการของงานวิจัยนี้ คือการสร้างไปป์ไลน์ปรับปรุงประสิทธิภาพแบบแบ่งชั้นที่รักษาไวยากรณ์เดิม การนำเสนอกรอบการประเมินแบบคู่ขนานระหว่าง TTR และ TTA ร่วมกับมิติพื้นที่จัดเก็บ และการยืนยันประสิทธิผลเชิงประจักษ์กับข้อมูลขนาดใหญ่ ในด้านการนำไปประยุกต์ใช้งานจริง สถาปัตยกรรมนี้นำไปใช้ลดความหน่วงเริ่มต้นของแดชบอร์ดวิเคราะห์ข้อมูล การกระจายไฟล์แคชผ่าน Edge CDN เพื่อลดภาระเซิร์ฟเวอร์ และเป็นแนวทางพัฒนาระบบ In-Browser OLAP ร่วมกับ DuckDB-WASM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1, 3 and 5, PDF pages 1–4.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ข้อจำกัดสำคัญของระบบคือขั้นตอน Client Hydration ที่ยังเป็นคอขวดหลัก ความผันแปรของพื้นที่จัดเก็บที่มีค่าเบี่ยงเบนมาตรฐานสูงถึง 29.9% และข้อจำกัดจากการทดสอบบนแล็ปท็อปประสิทธิภาพสูงกับข้อมูลสถิต บทสรุปเชิงสถาปัตยกรรมยืนยันว่าการแคชล่วงหน้าเป็นหัวใจของการลดเวลาตอบสนอง ส่วนภาพล่วงหน้าช่วยแก้ปัญหาความหน่วงที่รับรู้ได้ โดยผู้วิจัยเสนอแนวทางพัฒนาในอนาคต ได้แก่ การทำ Progressive Hydration การผสานกลยุทธ์แบบไฮบริดร่วมกับรันไทม์ และระบบคำนวณซ้ำเฉพาะส่วนที่ข้อมูลเปลี่ยนแปลง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 1 (Key Takeaways) and Sections 5–6, PDF pages 4–5.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92b23833a48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3af4e5c743473d" /><Relationship Type="http://schemas.openxmlformats.org/officeDocument/2006/relationships/slideLayout" Target="/ppt/slideLayouts/slideLayout1.xml" Id="R3c0eaff8636b4c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0eaff8636b4c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4ce643b7d456c" /><Relationship Type="http://schemas.openxmlformats.org/officeDocument/2006/relationships/notesSlide" Target="/ppt/notesSlides/notesSlide1.xml" Id="R8ce8c294d1c14e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51631cc6847ae" /><Relationship Type="http://schemas.openxmlformats.org/officeDocument/2006/relationships/notesSlide" Target="/ppt/notesSlides/notesSlide2.xml" Id="R00a947ee45da4b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470c8b0f84801" /><Relationship Type="http://schemas.openxmlformats.org/officeDocument/2006/relationships/image" Target="/ppt/media/image.png" Id="R15391aa16b4d461c" /><Relationship Type="http://schemas.openxmlformats.org/officeDocument/2006/relationships/notesSlide" Target="/ppt/notesSlides/notesSlide3.xml" Id="Rc01c7562d5ed42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a2c85599d44fc" /><Relationship Type="http://schemas.openxmlformats.org/officeDocument/2006/relationships/image" Target="/ppt/media/image2.png" Id="R4d68aa0d95174d73" /><Relationship Type="http://schemas.openxmlformats.org/officeDocument/2006/relationships/notesSlide" Target="/ppt/notesSlides/notesSlide4.xml" Id="R69ae459d5fdb44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0c1e2c956494e" /><Relationship Type="http://schemas.openxmlformats.org/officeDocument/2006/relationships/image" Target="/ppt/media/image3.png" Id="R468fca1a595643f8" /><Relationship Type="http://schemas.openxmlformats.org/officeDocument/2006/relationships/notesSlide" Target="/ppt/notesSlides/notesSlide5.xml" Id="R21f1fea5d1be48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d760b243a4075" /><Relationship Type="http://schemas.openxmlformats.org/officeDocument/2006/relationships/notesSlide" Target="/ppt/notesSlides/notesSlide6.xml" Id="R6df1a8d6461544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6718aa11a4326" /><Relationship Type="http://schemas.openxmlformats.org/officeDocument/2006/relationships/notesSlide" Target="/ppt/notesSlides/notesSlide7.xml" Id="Re6423c8f9aa94f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7170F7A5-3B23-499E-A8AA-C8086959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272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D57E45C-A95C-49E2-B910-09F9763B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272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E1B33F4-8A25-43AC-AEFB-478C7EBA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272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DD52AB9F-2038-4E7A-B087-BB7F936E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660A72A-06C7-4B59-B63A-CDE8C4EA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272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AAE7ACD-CD94-4694-91A8-39716A61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9546903-EA7C-4563-92FA-05B8B7D5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5E61B672-22F1-47F0-9CDB-989C7B00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43700"/>
            <a:ext cx="1272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1575447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9">
            <a:extLst xmlns:a="http://schemas.openxmlformats.org/drawingml/2006/main">
              <a:ext uri="{FF2B5EF4-FFF2-40B4-BE49-F238E27FC236}">
                <a16:creationId xmlns:a16="http://schemas.microsoft.com/office/drawing/2014/main" id="{7345A631-D03B-40E5-8ECE-FDB9E2B6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B2875339-FBD1-4F62-A2D9-B8B96582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และตัวชี้วัดประสิทธิภาพเว็บ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B4B045EC-A612-4822-8A9E-306A49A7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955E5EFF-792B-4AF1-909F-E23BAF57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C08BD928-9E25-4E27-9B5D-74ABF706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2B52D2FE-3874-4850-AE9B-EC3DFBD9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6FF9B54F-64BA-4550-A776-82A6822F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คอขวดประสิทธิภาพของเว็บแสดงภาพข้อมูล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E92B7798-209A-49AA-9AF0-987CCFC4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002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501E1547-9F89-4726-84D7-1A51E49D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002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ภาระประมวลผลซ้ำซ้อนฝั่ง Client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2156EA28-46D0-4CDF-9ED9-CD48E14A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2410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เบราว์เซอร์ต้องโหลดข้อมูลดิบ รันคิวรีรวมกลุ่ม และวาดภาพใหม่ทุกครั้ง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082EF2E2-2023-4C2D-BD49-6F03ADC9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10515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AD99C872-730D-42B3-9975-D92B3183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82289BF6-5135-424E-A385-97C9B877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23850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ปัญหา Cold-Start ของ Runtime Cache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AFF64132-6E0C-4557-A273-5DCA9F09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56235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แคชที่สร้างตอนใช้งาน ผู้ใช้คนแรก (First Visitor) ต้องรับ Latency สูงสุด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8B61825D-F4AA-4C31-AC25-56FCF8AD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34340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4F4DA728-3AEE-4F77-A89C-00C13B24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76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92FD391F-ED83-4A65-8CD6-CD932281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4767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ความไม่สอดคล้องของภาพและการโต้ตอบ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25E8CE1E-C105-415D-AD2E-79B5CC28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80060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ภาพเริ่มต้นปรากฏแล้ว แต่ระบบภายในยังไม่พร้อมรับอินพุตหรือการฟิลเตอร์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ED15FE1F-058D-4C60-9D6D-6F2419E0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739ECE60-83A6-4E8F-8072-9BDE59DB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715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8AE450C1-33B8-4641-A0C6-473A9ACC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71500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Trade-off ของการเตรียมข้อมูลล่วงหน้า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581471C1-B6FA-42A8-BC51-FDDB4DB9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603885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การสร้างแคชล่วงหน้าช่วยลดความหน่วง แต่แลกมาด้วยพื้นที่และความสดข้อมูล</a:t>
            </a:r>
          </a:p>
        </p:txBody>
      </p:sp>
      <p:sp>
        <p:nvSpPr>
          <p:cNvPr id="23" name="shape-31">
            <a:extLst xmlns:a="http://schemas.openxmlformats.org/drawingml/2006/main">
              <a:ext uri="{FF2B5EF4-FFF2-40B4-BE49-F238E27FC236}">
                <a16:creationId xmlns:a16="http://schemas.microsoft.com/office/drawing/2014/main" id="{33C172F8-C185-4D3D-BEA5-2CC60EBB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1876425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40168ED6-25E6-4405-9D41-FEFA4205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TTR (Time-to-Render) · เวลาจนภาพปรากฏ</a:t>
            </a:r>
          </a:p>
        </p:txBody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5609D19A-9F25-4A1C-AA37-E5BCF229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8478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เวลาตั้งแต่เริ่มส่งคำขอ จนเห็น Visualization แสดงผลสมบูรณ์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BEF90EC0-63BD-4EB1-A2EA-DBAEE969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4193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ชี้วัดความเร็วที่ผู้ใช้รับรู้ได้จริง (Perceived Latency) ไม่นับรวมเฉพาะ Header</a:t>
            </a:r>
          </a:p>
        </p:txBody>
      </p:sp>
      <p:sp>
        <p:nvSpPr>
          <p:cNvPr id="27" name="shape-35">
            <a:extLst xmlns:a="http://schemas.openxmlformats.org/drawingml/2006/main">
              <a:ext uri="{FF2B5EF4-FFF2-40B4-BE49-F238E27FC236}">
                <a16:creationId xmlns:a16="http://schemas.microsoft.com/office/drawing/2014/main" id="{ADE404B9-72E8-48E5-AB3D-6250CC60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3276600"/>
            <a:ext cx="6324600" cy="1876425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36">
            <a:extLst xmlns:a="http://schemas.openxmlformats.org/drawingml/2006/main">
              <a:ext uri="{FF2B5EF4-FFF2-40B4-BE49-F238E27FC236}">
                <a16:creationId xmlns:a16="http://schemas.microsoft.com/office/drawing/2014/main" id="{35C78838-4152-4741-BE77-BA1FB8EA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5052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TTA (Time-to-Activation) · เวลาจนพร้อมโต้ตอบ</a:t>
            </a:r>
          </a:p>
        </p:txBody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F89239BB-D67E-456B-A84B-6D13AA3E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862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เวลาจนกระทั่งระบบพร้อมรับการกรอง (Filter), ซูม หรือเลือกข้อมูล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F5567E80-33FD-4FA0-BA87-6A690271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44577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ชี้วัดความพร้อมใช้งานจริง โดยแยกขาดจากเวลาที่ภาพปรากฏบนจออย่างชัดเจน</a:t>
            </a:r>
          </a:p>
        </p:txBody>
      </p:sp>
      <p:sp>
        <p:nvSpPr>
          <p:cNvPr id="31" name="shape-39">
            <a:extLst xmlns:a="http://schemas.openxmlformats.org/drawingml/2006/main">
              <a:ext uri="{FF2B5EF4-FFF2-40B4-BE49-F238E27FC236}">
                <a16:creationId xmlns:a16="http://schemas.microsoft.com/office/drawing/2014/main" id="{57748F94-7DF1-43F9-88F1-349FFB08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5314950"/>
            <a:ext cx="6324600" cy="1876425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084C1D66-4C1E-4A18-8B3A-BE5F5901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435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SC (Storage Cost) · ขนาดพื้นที่จัดเก็บเพิ่มเติม</a:t>
            </a:r>
          </a:p>
        </p:txBody>
      </p:sp>
      <p:sp>
        <p:nvSpPr>
          <p:cNvPr id="33" name="text-41">
            <a:extLst xmlns:a="http://schemas.openxmlformats.org/drawingml/2006/main">
              <a:ext uri="{FF2B5EF4-FFF2-40B4-BE49-F238E27FC236}">
                <a16:creationId xmlns:a16="http://schemas.microsoft.com/office/drawing/2014/main" id="{AEE9C5B0-B9C2-4A77-8834-D4EAB145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9245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ขนาดพื้นที่จัดเก็บไฟล์แคชและข้อมูลรวมกลุ่มที่เพิ่มขึ้นบนเซิร์ฟเวอร์</a:t>
            </a:r>
          </a:p>
        </p:txBody>
      </p:sp>
      <p:sp>
        <p:nvSpPr>
          <p:cNvPr id="34" name="text-42">
            <a:extLst xmlns:a="http://schemas.openxmlformats.org/drawingml/2006/main">
              <a:ext uri="{FF2B5EF4-FFF2-40B4-BE49-F238E27FC236}">
                <a16:creationId xmlns:a16="http://schemas.microsoft.com/office/drawing/2014/main" id="{4B01529C-3914-4C16-A496-E25BDD3D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64960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ประเมินต้นทุนพื้นที่จัดเก็บข้อมูลบนเซิร์ฟเวอร์ที่ต้องแลกกับความเร็วในการโหลด</a:t>
            </a:r>
          </a:p>
        </p:txBody>
      </p:sp>
      <p:sp>
        <p:nvSpPr>
          <p:cNvPr id="35" name="text-43">
            <a:extLst xmlns:a="http://schemas.openxmlformats.org/drawingml/2006/main">
              <a:ext uri="{FF2B5EF4-FFF2-40B4-BE49-F238E27FC236}">
                <a16:creationId xmlns:a16="http://schemas.microsoft.com/office/drawing/2014/main" id="{599DDD1E-8357-499C-A258-7B2D38B5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 และ 3.1 (หน้า PDF 1–2)</a:t>
            </a:r>
          </a:p>
        </p:txBody>
      </p:sp>
    </p:spTree>
    <p:extLst>
      <p:ext uri="{BB962C8B-B14F-4D97-AF65-F5344CB8AC3E}">
        <p14:creationId xmlns:p14="http://schemas.microsoft.com/office/powerpoint/2010/main" val="812532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44">
            <a:extLst xmlns:a="http://schemas.openxmlformats.org/drawingml/2006/main">
              <a:ext uri="{FF2B5EF4-FFF2-40B4-BE49-F238E27FC236}">
                <a16:creationId xmlns:a16="http://schemas.microsoft.com/office/drawing/2014/main" id="{3EACE77C-42FA-453A-A97E-27DFF05E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F063ADB9-19C9-45CA-99C5-62D93189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 (Mosaic Publisher)</a:t>
            </a:r>
          </a:p>
        </p:txBody>
      </p:sp>
      <p:sp>
        <p:nvSpPr>
          <p:cNvPr id="3" name="shape-46">
            <a:extLst xmlns:a="http://schemas.openxmlformats.org/drawingml/2006/main">
              <a:ext uri="{FF2B5EF4-FFF2-40B4-BE49-F238E27FC236}">
                <a16:creationId xmlns:a16="http://schemas.microsoft.com/office/drawing/2014/main" id="{86614990-A9BB-428A-8A55-221B76FE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71AB606F-2844-4F35-98C2-2F2BC660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85FF00CB-27D7-40EA-9698-E2478491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49">
            <a:extLst xmlns:a="http://schemas.openxmlformats.org/drawingml/2006/main">
              <a:ext uri="{FF2B5EF4-FFF2-40B4-BE49-F238E27FC236}">
                <a16:creationId xmlns:a16="http://schemas.microsoft.com/office/drawing/2014/main" id="{31CB6886-7478-43F5-83A2-E9BC29B3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229600" cy="36671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4C87053F-D28E-4A69-BA1A-9EE05433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91aa16b4d461c"/>
          <a:stretch xmlns:a="http://schemas.openxmlformats.org/drawingml/2006/main"/>
        </p:blipFill>
        <p:spPr>
          <a:xfrm xmlns:a="http://schemas.openxmlformats.org/drawingml/2006/main">
            <a:off x="1270469" y="1866900"/>
            <a:ext cx="7334582" cy="2428875"/>
          </a:xfrm>
          <a:prstGeom xmlns:a="http://schemas.openxmlformats.org/drawingml/2006/main" prst="rect">
            <a:avLst/>
          </a:prstGeom>
        </p:spPr>
      </p:pic>
      <p:sp>
        <p:nvSpPr>
          <p:cNvPr id="9" name="text-51">
            <a:extLst xmlns:a="http://schemas.openxmlformats.org/drawingml/2006/main">
              <a:ext uri="{FF2B5EF4-FFF2-40B4-BE49-F238E27FC236}">
                <a16:creationId xmlns:a16="http://schemas.microsoft.com/office/drawing/2014/main" id="{91D32443-8CD1-4168-AD18-830C79C8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100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การแบ่งกลุ่มงาน 3 ส่วนที่ย้ายไปทำล่วงหน้าก่อนผู้ใช้ส่งคำขอ (หน้า PDF 1)</a:t>
            </a:r>
          </a:p>
        </p:txBody>
      </p:sp>
      <p:sp>
        <p:nvSpPr>
          <p:cNvPr id="10" name="shape-52">
            <a:extLst xmlns:a="http://schemas.openxmlformats.org/drawingml/2006/main">
              <a:ext uri="{FF2B5EF4-FFF2-40B4-BE49-F238E27FC236}">
                <a16:creationId xmlns:a16="http://schemas.microsoft.com/office/drawing/2014/main" id="{65E5F985-C1B6-4560-B8CA-D375F942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6825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3">
            <a:extLst xmlns:a="http://schemas.openxmlformats.org/drawingml/2006/main">
              <a:ext uri="{FF2B5EF4-FFF2-40B4-BE49-F238E27FC236}">
                <a16:creationId xmlns:a16="http://schemas.microsoft.com/office/drawing/2014/main" id="{58002740-363D-430A-A574-530D2298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054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ขั้นตอนการประมวลผลของ Publisher</a:t>
            </a:r>
          </a:p>
        </p:txBody>
      </p:sp>
      <p:sp>
        <p:nvSpPr>
          <p:cNvPr id="12" name="shape-54">
            <a:extLst xmlns:a="http://schemas.openxmlformats.org/drawingml/2006/main">
              <a:ext uri="{FF2B5EF4-FFF2-40B4-BE49-F238E27FC236}">
                <a16:creationId xmlns:a16="http://schemas.microsoft.com/office/drawing/2014/main" id="{6DAC6C36-0F46-4FB8-BD71-F8DDA6CE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5">
            <a:extLst xmlns:a="http://schemas.openxmlformats.org/drawingml/2006/main">
              <a:ext uri="{FF2B5EF4-FFF2-40B4-BE49-F238E27FC236}">
                <a16:creationId xmlns:a16="http://schemas.microsoft.com/office/drawing/2014/main" id="{F558B8E6-FC57-4716-92C7-1EDBC6E0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วิเคราะห์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จำลอง Virtual DOM</a:t>
            </a:r>
          </a:p>
        </p:txBody>
      </p:sp>
      <p:sp>
        <p:nvSpPr>
          <p:cNvPr id="14" name="shape-56">
            <a:extLst xmlns:a="http://schemas.openxmlformats.org/drawingml/2006/main">
              <a:ext uri="{FF2B5EF4-FFF2-40B4-BE49-F238E27FC236}">
                <a16:creationId xmlns:a16="http://schemas.microsoft.com/office/drawing/2014/main" id="{F9C52764-A5DA-4B49-AA0A-97F8029A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7">
            <a:extLst xmlns:a="http://schemas.openxmlformats.org/drawingml/2006/main">
              <a:ext uri="{FF2B5EF4-FFF2-40B4-BE49-F238E27FC236}">
                <a16:creationId xmlns:a16="http://schemas.microsoft.com/office/drawing/2014/main" id="{17FE2838-5350-4F81-95C8-43D9E3A2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14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8">
            <a:extLst xmlns:a="http://schemas.openxmlformats.org/drawingml/2006/main">
              <a:ext uri="{FF2B5EF4-FFF2-40B4-BE49-F238E27FC236}">
                <a16:creationId xmlns:a16="http://schemas.microsoft.com/office/drawing/2014/main" id="{BBBD4C34-73CA-4268-AE10-86669858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9">
            <a:extLst xmlns:a="http://schemas.openxmlformats.org/drawingml/2006/main">
              <a:ext uri="{FF2B5EF4-FFF2-40B4-BE49-F238E27FC236}">
                <a16:creationId xmlns:a16="http://schemas.microsoft.com/office/drawing/2014/main" id="{8ED99A22-9F70-42F8-AFB2-2D49234E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คำนวณคิวรีล่วงหน้า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ผ่าน DuckDB</a:t>
            </a:r>
          </a:p>
        </p:txBody>
      </p:sp>
      <p:sp>
        <p:nvSpPr>
          <p:cNvPr id="18" name="shape-60">
            <a:extLst xmlns:a="http://schemas.openxmlformats.org/drawingml/2006/main">
              <a:ext uri="{FF2B5EF4-FFF2-40B4-BE49-F238E27FC236}">
                <a16:creationId xmlns:a16="http://schemas.microsoft.com/office/drawing/2014/main" id="{ECBB88F9-F806-4A3C-971E-F27C04C9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61">
            <a:extLst xmlns:a="http://schemas.openxmlformats.org/drawingml/2006/main">
              <a:ext uri="{FF2B5EF4-FFF2-40B4-BE49-F238E27FC236}">
                <a16:creationId xmlns:a16="http://schemas.microsoft.com/office/drawing/2014/main" id="{B0D44015-D605-4217-A40B-556BBF05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03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62">
            <a:extLst xmlns:a="http://schemas.openxmlformats.org/drawingml/2006/main">
              <a:ext uri="{FF2B5EF4-FFF2-40B4-BE49-F238E27FC236}">
                <a16:creationId xmlns:a16="http://schemas.microsoft.com/office/drawing/2014/main" id="{CA23286D-C88E-4CA7-925E-75A23235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3">
            <a:extLst xmlns:a="http://schemas.openxmlformats.org/drawingml/2006/main">
              <a:ext uri="{FF2B5EF4-FFF2-40B4-BE49-F238E27FC236}">
                <a16:creationId xmlns:a16="http://schemas.microsoft.com/office/drawing/2014/main" id="{CFCC6114-162E-45ED-9A0D-37B8F81F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8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Rewrite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สร้าง JS Bundle</a:t>
            </a:r>
          </a:p>
        </p:txBody>
      </p:sp>
      <p:sp>
        <p:nvSpPr>
          <p:cNvPr id="22" name="text-64">
            <a:extLst xmlns:a="http://schemas.openxmlformats.org/drawingml/2006/main">
              <a:ext uri="{FF2B5EF4-FFF2-40B4-BE49-F238E27FC236}">
                <a16:creationId xmlns:a16="http://schemas.microsoft.com/office/drawing/2014/main" id="{C58F5E08-02E0-4A3F-B50F-4251C241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7151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สรุปกลไกการทำงานจาก Sections 4.1–4.3 (หน้า PDF 2–3)</a:t>
            </a:r>
          </a:p>
        </p:txBody>
      </p:sp>
      <p:sp>
        <p:nvSpPr>
          <p:cNvPr id="23" name="shape-65">
            <a:extLst xmlns:a="http://schemas.openxmlformats.org/drawingml/2006/main">
              <a:ext uri="{FF2B5EF4-FFF2-40B4-BE49-F238E27FC236}">
                <a16:creationId xmlns:a16="http://schemas.microsoft.com/office/drawing/2014/main" id="{4BBCDCBD-ED81-463F-9CEF-34384261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238250"/>
            <a:ext cx="4419600" cy="5953125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6">
            <a:extLst xmlns:a="http://schemas.openxmlformats.org/drawingml/2006/main">
              <a:ext uri="{FF2B5EF4-FFF2-40B4-BE49-F238E27FC236}">
                <a16:creationId xmlns:a16="http://schemas.microsoft.com/office/drawing/2014/main" id="{68313EB3-29B9-4455-90E4-51CAAE53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466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ชิ้นส่วนผลลัพธ์ส่งมอบให้ไคลเอนต์</a:t>
            </a:r>
          </a:p>
        </p:txBody>
      </p:sp>
      <p:sp>
        <p:nvSpPr>
          <p:cNvPr id="25" name="text-67">
            <a:extLst xmlns:a="http://schemas.openxmlformats.org/drawingml/2006/main">
              <a:ext uri="{FF2B5EF4-FFF2-40B4-BE49-F238E27FC236}">
                <a16:creationId xmlns:a16="http://schemas.microsoft.com/office/drawing/2014/main" id="{90B1C71E-4B4A-469A-AA94-15EE9A5B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8">
            <a:extLst xmlns:a="http://schemas.openxmlformats.org/drawingml/2006/main">
              <a:ext uri="{FF2B5EF4-FFF2-40B4-BE49-F238E27FC236}">
                <a16:creationId xmlns:a16="http://schemas.microsoft.com/office/drawing/2014/main" id="{9D319857-744A-464D-812E-31F03B96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038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ข้อมูลจัดระเบียบพร้อมใช้</a:t>
            </a:r>
          </a:p>
        </p:txBody>
      </p:sp>
      <p:sp>
        <p:nvSpPr>
          <p:cNvPr id="27" name="text-69">
            <a:extLst xmlns:a="http://schemas.openxmlformats.org/drawingml/2006/main">
              <a:ext uri="{FF2B5EF4-FFF2-40B4-BE49-F238E27FC236}">
                <a16:creationId xmlns:a16="http://schemas.microsoft.com/office/drawing/2014/main" id="{C8D9944E-C1C1-456E-9B66-88E7DD5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3812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กรองเฉพาะคอลัมน์ที่จำเป็นและแปลงข้อมูล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ลดภาระการถ่ายโอนข้ามเครือข่าย</a:t>
            </a:r>
          </a:p>
        </p:txBody>
      </p:sp>
      <p:sp>
        <p:nvSpPr>
          <p:cNvPr id="28" name="shape-70">
            <a:extLst xmlns:a="http://schemas.openxmlformats.org/drawingml/2006/main">
              <a:ext uri="{FF2B5EF4-FFF2-40B4-BE49-F238E27FC236}">
                <a16:creationId xmlns:a16="http://schemas.microsoft.com/office/drawing/2014/main" id="{B157CFED-FF0E-49CC-B10A-763119E5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6099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71">
            <a:extLst xmlns:a="http://schemas.openxmlformats.org/drawingml/2006/main">
              <a:ext uri="{FF2B5EF4-FFF2-40B4-BE49-F238E27FC236}">
                <a16:creationId xmlns:a16="http://schemas.microsoft.com/office/drawing/2014/main" id="{C802236A-FD0D-4B25-83BD-3AB69F96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72">
            <a:extLst xmlns:a="http://schemas.openxmlformats.org/drawingml/2006/main">
              <a:ext uri="{FF2B5EF4-FFF2-40B4-BE49-F238E27FC236}">
                <a16:creationId xmlns:a16="http://schemas.microsoft.com/office/drawing/2014/main" id="{9107971D-6A0E-47C8-A916-B67051E3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38100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ผลคิวรีสำเร็จรูป</a:t>
            </a:r>
          </a:p>
        </p:txBody>
      </p:sp>
      <p:sp>
        <p:nvSpPr>
          <p:cNvPr id="31" name="text-73">
            <a:extLst xmlns:a="http://schemas.openxmlformats.org/drawingml/2006/main">
              <a:ext uri="{FF2B5EF4-FFF2-40B4-BE49-F238E27FC236}">
                <a16:creationId xmlns:a16="http://schemas.microsoft.com/office/drawing/2014/main" id="{0E3A45CA-DBB5-4588-BEC4-205F7687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415290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ล่วงหน้าผ่าน Mosaic Coordinator</a:t>
            </a:r>
          </a:p>
        </p:txBody>
      </p:sp>
      <p:sp>
        <p:nvSpPr>
          <p:cNvPr id="32" name="shape-74">
            <a:extLst xmlns:a="http://schemas.openxmlformats.org/drawingml/2006/main">
              <a:ext uri="{FF2B5EF4-FFF2-40B4-BE49-F238E27FC236}">
                <a16:creationId xmlns:a16="http://schemas.microsoft.com/office/drawing/2014/main" id="{F29C02D8-ECCC-445F-84DE-AAE2D809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3816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5">
            <a:extLst xmlns:a="http://schemas.openxmlformats.org/drawingml/2006/main">
              <a:ext uri="{FF2B5EF4-FFF2-40B4-BE49-F238E27FC236}">
                <a16:creationId xmlns:a16="http://schemas.microsoft.com/office/drawing/2014/main" id="{F8A46B0A-4669-4B4F-BE18-93D58DCE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6">
            <a:extLst xmlns:a="http://schemas.openxmlformats.org/drawingml/2006/main">
              <a:ext uri="{FF2B5EF4-FFF2-40B4-BE49-F238E27FC236}">
                <a16:creationId xmlns:a16="http://schemas.microsoft.com/office/drawing/2014/main" id="{A82014D1-66A7-4B80-BBFF-73D27BD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5816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ภาพเริ่มต้นและชุดสคริปต์</a:t>
            </a:r>
          </a:p>
        </p:txBody>
      </p:sp>
      <p:sp>
        <p:nvSpPr>
          <p:cNvPr id="35" name="text-77">
            <a:extLst xmlns:a="http://schemas.openxmlformats.org/drawingml/2006/main">
              <a:ext uri="{FF2B5EF4-FFF2-40B4-BE49-F238E27FC236}">
                <a16:creationId xmlns:a16="http://schemas.microsoft.com/office/drawing/2014/main" id="{1E766EBA-77D4-4402-A5A2-A290B063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9245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ส่งภาพเรนเดอร์สำเร็จให้แสดงผลทันที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พร้อมสคริปต์เปิดการโต้ตอบตามหลัง</a:t>
            </a:r>
          </a:p>
        </p:txBody>
      </p:sp>
      <p:sp>
        <p:nvSpPr>
          <p:cNvPr id="36" name="text-78">
            <a:extLst xmlns:a="http://schemas.openxmlformats.org/drawingml/2006/main">
              <a:ext uri="{FF2B5EF4-FFF2-40B4-BE49-F238E27FC236}">
                <a16:creationId xmlns:a16="http://schemas.microsoft.com/office/drawing/2014/main" id="{DE896302-5CAB-427F-81CE-2D4F6F53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3.2–3.4 และ 4.1–4.3 (หน้า PDF 2–3)</a:t>
            </a:r>
          </a:p>
        </p:txBody>
      </p:sp>
    </p:spTree>
    <p:extLst>
      <p:ext uri="{BB962C8B-B14F-4D97-AF65-F5344CB8AC3E}">
        <p14:creationId xmlns:p14="http://schemas.microsoft.com/office/powerpoint/2010/main" val="1060257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9">
            <a:extLst xmlns:a="http://schemas.openxmlformats.org/drawingml/2006/main">
              <a:ext uri="{FF2B5EF4-FFF2-40B4-BE49-F238E27FC236}">
                <a16:creationId xmlns:a16="http://schemas.microsoft.com/office/drawing/2014/main" id="{D22E35CA-F4C1-4953-8540-DB72DE03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80">
            <a:extLst xmlns:a="http://schemas.openxmlformats.org/drawingml/2006/main">
              <a:ext uri="{FF2B5EF4-FFF2-40B4-BE49-F238E27FC236}">
                <a16:creationId xmlns:a16="http://schemas.microsoft.com/office/drawing/2014/main" id="{7D1A6E4C-69B6-4390-8ADD-AFDA088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กลไก Pre-rendering และต้นทุนของ Client Hydration</a:t>
            </a:r>
          </a:p>
        </p:txBody>
      </p:sp>
      <p:sp>
        <p:nvSpPr>
          <p:cNvPr id="3" name="shape-81">
            <a:extLst xmlns:a="http://schemas.openxmlformats.org/drawingml/2006/main">
              <a:ext uri="{FF2B5EF4-FFF2-40B4-BE49-F238E27FC236}">
                <a16:creationId xmlns:a16="http://schemas.microsoft.com/office/drawing/2014/main" id="{903EE6C2-4752-4469-AE39-685C3FB7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82">
            <a:extLst xmlns:a="http://schemas.openxmlformats.org/drawingml/2006/main">
              <a:ext uri="{FF2B5EF4-FFF2-40B4-BE49-F238E27FC236}">
                <a16:creationId xmlns:a16="http://schemas.microsoft.com/office/drawing/2014/main" id="{D62D3BA7-23F9-4E2B-A1C7-6B3873D3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0EA7E27A-A883-4A6E-B3A9-03E1ADB6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84">
            <a:extLst xmlns:a="http://schemas.openxmlformats.org/drawingml/2006/main">
              <a:ext uri="{FF2B5EF4-FFF2-40B4-BE49-F238E27FC236}">
                <a16:creationId xmlns:a16="http://schemas.microsoft.com/office/drawing/2014/main" id="{F34FEAF0-E41F-463B-9138-F2004C7C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767715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D124D0D9-C841-4B1E-9332-8CAFFE19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การแยกสัดส่วนความหน่วงและคอขวด Hydration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8aa0d95174d73"/>
          <a:stretch xmlns:a="http://schemas.openxmlformats.org/drawingml/2006/main"/>
        </p:blipFill>
        <p:spPr>
          <a:xfrm xmlns:a="http://schemas.openxmlformats.org/drawingml/2006/main">
            <a:off x="1536057" y="1866900"/>
            <a:ext cx="6250956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text-86">
            <a:extLst xmlns:a="http://schemas.openxmlformats.org/drawingml/2006/main">
              <a:ext uri="{FF2B5EF4-FFF2-40B4-BE49-F238E27FC236}">
                <a16:creationId xmlns:a16="http://schemas.microsoft.com/office/drawing/2014/main" id="{A461EA2E-2A2C-4850-A5F8-F5B332B0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0767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สัดส่วนเวลาเฉลี่ยจาก 5 กรณีทดสอบ ที่ขนาดข้อมูล 10 ล้านแถว (หน้า PDF 4)</a:t>
            </a:r>
          </a:p>
        </p:txBody>
      </p:sp>
      <p:sp>
        <p:nvSpPr>
          <p:cNvPr id="10" name="shape-87">
            <a:extLst xmlns:a="http://schemas.openxmlformats.org/drawingml/2006/main">
              <a:ext uri="{FF2B5EF4-FFF2-40B4-BE49-F238E27FC236}">
                <a16:creationId xmlns:a16="http://schemas.microsoft.com/office/drawing/2014/main" id="{3ABFF01D-275A-4211-B958-A4F5668E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447925"/>
          </a:xfrm>
          <a:prstGeom xmlns:a="http://schemas.openxmlformats.org/drawingml/2006/main" prst="roundRect">
            <a:avLst>
              <a:gd name="adj" fmla="val 3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8">
            <a:extLst xmlns:a="http://schemas.openxmlformats.org/drawingml/2006/main">
              <a:ext uri="{FF2B5EF4-FFF2-40B4-BE49-F238E27FC236}">
                <a16:creationId xmlns:a16="http://schemas.microsoft.com/office/drawing/2014/main" id="{07C91636-B0F8-4A03-912E-51E8E376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9720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ลำดับเหตุการณ์การแสดงผลและการเปิดระบบโต้ตอบ</a:t>
            </a:r>
          </a:p>
        </p:txBody>
      </p:sp>
      <p:sp>
        <p:nvSpPr>
          <p:cNvPr id="12" name="shape-89">
            <a:extLst xmlns:a="http://schemas.openxmlformats.org/drawingml/2006/main">
              <a:ext uri="{FF2B5EF4-FFF2-40B4-BE49-F238E27FC236}">
                <a16:creationId xmlns:a16="http://schemas.microsoft.com/office/drawing/2014/main" id="{D8BFD1EE-D1A2-4F2E-B9D7-835E58D2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90">
            <a:extLst xmlns:a="http://schemas.openxmlformats.org/drawingml/2006/main">
              <a:ext uri="{FF2B5EF4-FFF2-40B4-BE49-F238E27FC236}">
                <a16:creationId xmlns:a16="http://schemas.microsoft.com/office/drawing/2014/main" id="{338D0034-F6E5-4A75-BA40-2D0FFE1A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ภาพเริ่มต้นปรากฏ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(TTR เร็วขึ้น 83.7%)</a:t>
            </a:r>
          </a:p>
        </p:txBody>
      </p:sp>
      <p:sp>
        <p:nvSpPr>
          <p:cNvPr id="14" name="shape-91">
            <a:extLst xmlns:a="http://schemas.openxmlformats.org/drawingml/2006/main">
              <a:ext uri="{FF2B5EF4-FFF2-40B4-BE49-F238E27FC236}">
                <a16:creationId xmlns:a16="http://schemas.microsoft.com/office/drawing/2014/main" id="{314620DC-A51E-49A1-B2E9-6DA6E298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91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92">
            <a:extLst xmlns:a="http://schemas.openxmlformats.org/drawingml/2006/main">
              <a:ext uri="{FF2B5EF4-FFF2-40B4-BE49-F238E27FC236}">
                <a16:creationId xmlns:a16="http://schemas.microsoft.com/office/drawing/2014/main" id="{6A922E0C-8AE0-4A81-81A5-EE3AD026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726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3">
            <a:extLst xmlns:a="http://schemas.openxmlformats.org/drawingml/2006/main">
              <a:ext uri="{FF2B5EF4-FFF2-40B4-BE49-F238E27FC236}">
                <a16:creationId xmlns:a16="http://schemas.microsoft.com/office/drawing/2014/main" id="{372AF42B-2C0E-4D4D-9CB3-0920BA35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51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4">
            <a:extLst xmlns:a="http://schemas.openxmlformats.org/drawingml/2006/main">
              <a:ext uri="{FF2B5EF4-FFF2-40B4-BE49-F238E27FC236}">
                <a16:creationId xmlns:a16="http://schemas.microsoft.com/office/drawing/2014/main" id="{45B74410-D903-42D2-ADC4-505BC43B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6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คอมไพล์และรัน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Client Hydration</a:t>
            </a:r>
          </a:p>
        </p:txBody>
      </p:sp>
      <p:sp>
        <p:nvSpPr>
          <p:cNvPr id="18" name="shape-95">
            <a:extLst xmlns:a="http://schemas.openxmlformats.org/drawingml/2006/main">
              <a:ext uri="{FF2B5EF4-FFF2-40B4-BE49-F238E27FC236}">
                <a16:creationId xmlns:a16="http://schemas.microsoft.com/office/drawing/2014/main" id="{20B4872E-8170-4591-82E6-248D9BB9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6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6">
            <a:extLst xmlns:a="http://schemas.openxmlformats.org/drawingml/2006/main">
              <a:ext uri="{FF2B5EF4-FFF2-40B4-BE49-F238E27FC236}">
                <a16:creationId xmlns:a16="http://schemas.microsoft.com/office/drawing/2014/main" id="{A6B2DD65-BF64-48F0-9DBC-CFB7290F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201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7">
            <a:extLst xmlns:a="http://schemas.openxmlformats.org/drawingml/2006/main">
              <a:ext uri="{FF2B5EF4-FFF2-40B4-BE49-F238E27FC236}">
                <a16:creationId xmlns:a16="http://schemas.microsoft.com/office/drawing/2014/main" id="{66F93E47-1D5C-42D7-B2C9-107B0007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2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8">
            <a:extLst xmlns:a="http://schemas.openxmlformats.org/drawingml/2006/main">
              <a:ext uri="{FF2B5EF4-FFF2-40B4-BE49-F238E27FC236}">
                <a16:creationId xmlns:a16="http://schemas.microsoft.com/office/drawing/2014/main" id="{D1831E63-2AED-4FA4-A205-ABE36668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5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พร้อมรับอินพุต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(TTA ลดลง 33.3%)</a:t>
            </a:r>
          </a:p>
        </p:txBody>
      </p:sp>
      <p:sp>
        <p:nvSpPr>
          <p:cNvPr id="22" name="text-99">
            <a:extLst xmlns:a="http://schemas.openxmlformats.org/drawingml/2006/main">
              <a:ext uri="{FF2B5EF4-FFF2-40B4-BE49-F238E27FC236}">
                <a16:creationId xmlns:a16="http://schemas.microsoft.com/office/drawing/2014/main" id="{732A84BB-7E23-4B9F-8AFC-BADFCB4B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5151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ผังสรุปลำดับเหตุการณ์จาก Section 4.3 (แสดงขั้นตอน ไม่ใช่แกนเวลา Benchmark)</a:t>
            </a:r>
          </a:p>
        </p:txBody>
      </p:sp>
      <p:sp>
        <p:nvSpPr>
          <p:cNvPr id="23" name="shape-100">
            <a:extLst xmlns:a="http://schemas.openxmlformats.org/drawingml/2006/main">
              <a:ext uri="{FF2B5EF4-FFF2-40B4-BE49-F238E27FC236}">
                <a16:creationId xmlns:a16="http://schemas.microsoft.com/office/drawing/2014/main" id="{CAF083DE-F117-451C-A516-20C1E837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390" y="1238250"/>
            <a:ext cx="4972050" cy="5953125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01">
            <a:extLst xmlns:a="http://schemas.openxmlformats.org/drawingml/2006/main">
              <a:ext uri="{FF2B5EF4-FFF2-40B4-BE49-F238E27FC236}">
                <a16:creationId xmlns:a16="http://schemas.microsoft.com/office/drawing/2014/main" id="{D293F242-BBF2-4F7D-8995-5AF7CDC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4668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การจำแนกประเภทมุมมองและข้อจำกัด</a:t>
            </a:r>
          </a:p>
        </p:txBody>
      </p:sp>
      <p:sp>
        <p:nvSpPr>
          <p:cNvPr id="25" name="text-102">
            <a:extLst xmlns:a="http://schemas.openxmlformats.org/drawingml/2006/main">
              <a:ext uri="{FF2B5EF4-FFF2-40B4-BE49-F238E27FC236}">
                <a16:creationId xmlns:a16="http://schemas.microsoft.com/office/drawing/2014/main" id="{C5AC060F-8875-4587-B176-5BD092DF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3">
            <a:extLst xmlns:a="http://schemas.openxmlformats.org/drawingml/2006/main">
              <a:ext uri="{FF2B5EF4-FFF2-40B4-BE49-F238E27FC236}">
                <a16:creationId xmlns:a16="http://schemas.microsoft.com/office/drawing/2014/main" id="{C68BE770-7175-435C-9430-74EFC04C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383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มุมมองแบบสถิต (Static Views)</a:t>
            </a:r>
          </a:p>
        </p:txBody>
      </p:sp>
      <p:sp>
        <p:nvSpPr>
          <p:cNvPr id="27" name="text-104">
            <a:extLst xmlns:a="http://schemas.openxmlformats.org/drawingml/2006/main">
              <a:ext uri="{FF2B5EF4-FFF2-40B4-BE49-F238E27FC236}">
                <a16:creationId xmlns:a16="http://schemas.microsoft.com/office/drawing/2014/main" id="{AF272642-10F0-4219-9FEA-BEC42F77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812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ส่งเฉพาะผลลัพธ์ภาพที่เรนเดอร์สำเร็จ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ไร้สคริปต์ ไม่ต้องเสียต้นทุน Hydration</a:t>
            </a:r>
          </a:p>
        </p:txBody>
      </p:sp>
      <p:sp>
        <p:nvSpPr>
          <p:cNvPr id="28" name="shape-105">
            <a:extLst xmlns:a="http://schemas.openxmlformats.org/drawingml/2006/main">
              <a:ext uri="{FF2B5EF4-FFF2-40B4-BE49-F238E27FC236}">
                <a16:creationId xmlns:a16="http://schemas.microsoft.com/office/drawing/2014/main" id="{B0AB5FFB-F425-4ED0-8529-A59AC691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6099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6">
            <a:extLst xmlns:a="http://schemas.openxmlformats.org/drawingml/2006/main">
              <a:ext uri="{FF2B5EF4-FFF2-40B4-BE49-F238E27FC236}">
                <a16:creationId xmlns:a16="http://schemas.microsoft.com/office/drawing/2014/main" id="{935CF9BB-C656-4027-82B8-CEE7B8EF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7">
            <a:extLst xmlns:a="http://schemas.openxmlformats.org/drawingml/2006/main">
              <a:ext uri="{FF2B5EF4-FFF2-40B4-BE49-F238E27FC236}">
                <a16:creationId xmlns:a16="http://schemas.microsoft.com/office/drawing/2014/main" id="{47DBF7FF-D259-44F9-9F52-F5FEE9BD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8100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มุมมองแบบโต้ตอบ (Interactive Views)</a:t>
            </a:r>
          </a:p>
        </p:txBody>
      </p:sp>
      <p:sp>
        <p:nvSpPr>
          <p:cNvPr id="31" name="text-108">
            <a:extLst xmlns:a="http://schemas.openxmlformats.org/drawingml/2006/main">
              <a:ext uri="{FF2B5EF4-FFF2-40B4-BE49-F238E27FC236}">
                <a16:creationId xmlns:a16="http://schemas.microsoft.com/office/drawing/2014/main" id="{552ED767-FCE6-4110-BD29-876FE837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15290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ส่งภาพแรกพร้อมสคริปต์ JavaScript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ต้องเติมแคชและผูก Event ก่อนใช้งาน</a:t>
            </a:r>
          </a:p>
        </p:txBody>
      </p:sp>
      <p:sp>
        <p:nvSpPr>
          <p:cNvPr id="32" name="shape-109">
            <a:extLst xmlns:a="http://schemas.openxmlformats.org/drawingml/2006/main">
              <a:ext uri="{FF2B5EF4-FFF2-40B4-BE49-F238E27FC236}">
                <a16:creationId xmlns:a16="http://schemas.microsoft.com/office/drawing/2014/main" id="{894D208A-4EA4-4495-8DAE-EE7103E9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3816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10">
            <a:extLst xmlns:a="http://schemas.openxmlformats.org/drawingml/2006/main">
              <a:ext uri="{FF2B5EF4-FFF2-40B4-BE49-F238E27FC236}">
                <a16:creationId xmlns:a16="http://schemas.microsoft.com/office/drawing/2014/main" id="{6DBDA87A-4D7F-4291-B62E-365C7FCD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11">
            <a:extLst xmlns:a="http://schemas.openxmlformats.org/drawingml/2006/main">
              <a:ext uri="{FF2B5EF4-FFF2-40B4-BE49-F238E27FC236}">
                <a16:creationId xmlns:a16="http://schemas.microsoft.com/office/drawing/2014/main" id="{9078A76F-C00F-465F-89E0-873A5422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5816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คอขวด Hydration ฝั่งไคลเอนต์</a:t>
            </a:r>
          </a:p>
        </p:txBody>
      </p:sp>
      <p:sp>
        <p:nvSpPr>
          <p:cNvPr id="35" name="text-112">
            <a:extLst xmlns:a="http://schemas.openxmlformats.org/drawingml/2006/main">
              <a:ext uri="{FF2B5EF4-FFF2-40B4-BE49-F238E27FC236}">
                <a16:creationId xmlns:a16="http://schemas.microsoft.com/office/drawing/2014/main" id="{D534F1ED-DA2A-488B-B924-A374E5AE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9245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ใช้เวลาเกือบเท่าการเรนเดอร์สดจากศูนย์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การทำ Progressive Hydration เป็นงานวิจัยสำคัญ</a:t>
            </a:r>
          </a:p>
        </p:txBody>
      </p:sp>
      <p:sp>
        <p:nvSpPr>
          <p:cNvPr id="36" name="text-113">
            <a:extLst xmlns:a="http://schemas.openxmlformats.org/drawingml/2006/main">
              <a:ext uri="{FF2B5EF4-FFF2-40B4-BE49-F238E27FC236}">
                <a16:creationId xmlns:a16="http://schemas.microsoft.com/office/drawing/2014/main" id="{7AFE6A7B-303D-4162-B574-22DAD859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 (หน้า PDF 3–4)</a:t>
            </a:r>
          </a:p>
        </p:txBody>
      </p:sp>
    </p:spTree>
    <p:extLst>
      <p:ext uri="{BB962C8B-B14F-4D97-AF65-F5344CB8AC3E}">
        <p14:creationId xmlns:p14="http://schemas.microsoft.com/office/powerpoint/2010/main" val="1182377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14">
            <a:extLst xmlns:a="http://schemas.openxmlformats.org/drawingml/2006/main">
              <a:ext uri="{FF2B5EF4-FFF2-40B4-BE49-F238E27FC236}">
                <a16:creationId xmlns:a16="http://schemas.microsoft.com/office/drawing/2014/main" id="{B597023B-14F2-490A-88D4-BED8DBAD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5">
            <a:extLst xmlns:a="http://schemas.openxmlformats.org/drawingml/2006/main">
              <a:ext uri="{FF2B5EF4-FFF2-40B4-BE49-F238E27FC236}">
                <a16:creationId xmlns:a16="http://schemas.microsoft.com/office/drawing/2014/main" id="{B408B178-0EC4-473B-A658-C5EDB27F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ผลการทดสอบเชิงปริมาณและการแลกเปลี่ยนความหน่วงกับพื้นที่</a:t>
            </a:r>
          </a:p>
        </p:txBody>
      </p:sp>
      <p:sp>
        <p:nvSpPr>
          <p:cNvPr id="3" name="shape-116">
            <a:extLst xmlns:a="http://schemas.openxmlformats.org/drawingml/2006/main">
              <a:ext uri="{FF2B5EF4-FFF2-40B4-BE49-F238E27FC236}">
                <a16:creationId xmlns:a16="http://schemas.microsoft.com/office/drawing/2014/main" id="{F66A7E96-64E4-415C-827F-A1DFAD99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7">
            <a:extLst xmlns:a="http://schemas.openxmlformats.org/drawingml/2006/main">
              <a:ext uri="{FF2B5EF4-FFF2-40B4-BE49-F238E27FC236}">
                <a16:creationId xmlns:a16="http://schemas.microsoft.com/office/drawing/2014/main" id="{1EAA7AE3-92F5-48C9-8CA8-6F11D3CF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8">
            <a:extLst xmlns:a="http://schemas.openxmlformats.org/drawingml/2006/main">
              <a:ext uri="{FF2B5EF4-FFF2-40B4-BE49-F238E27FC236}">
                <a16:creationId xmlns:a16="http://schemas.microsoft.com/office/drawing/2014/main" id="{57EC911D-7299-45A3-9FB1-09C862B3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19">
            <a:extLst xmlns:a="http://schemas.openxmlformats.org/drawingml/2006/main">
              <a:ext uri="{FF2B5EF4-FFF2-40B4-BE49-F238E27FC236}">
                <a16:creationId xmlns:a16="http://schemas.microsoft.com/office/drawing/2014/main" id="{5F1C1D1F-792A-4FF1-9884-36B69A99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0962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20">
            <a:extLst xmlns:a="http://schemas.openxmlformats.org/drawingml/2006/main">
              <a:ext uri="{FF2B5EF4-FFF2-40B4-BE49-F238E27FC236}">
                <a16:creationId xmlns:a16="http://schemas.microsoft.com/office/drawing/2014/main" id="{5815AC82-5044-4D50-ADF1-CD06E36D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48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การเปรียบเทียบ TTR และ TTA ตามขนาดข้อมูล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fca1a595643f8"/>
          <a:stretch xmlns:a="http://schemas.openxmlformats.org/drawingml/2006/main"/>
        </p:blipFill>
        <p:spPr>
          <a:xfrm xmlns:a="http://schemas.openxmlformats.org/drawingml/2006/main">
            <a:off x="1258480" y="1847850"/>
            <a:ext cx="7225211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text-121">
            <a:extLst xmlns:a="http://schemas.openxmlformats.org/drawingml/2006/main">
              <a:ext uri="{FF2B5EF4-FFF2-40B4-BE49-F238E27FC236}">
                <a16:creationId xmlns:a16="http://schemas.microsoft.com/office/drawing/2014/main" id="{63F91C89-0B5D-4897-9909-C8255A8E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1910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22">
            <a:extLst xmlns:a="http://schemas.openxmlformats.org/drawingml/2006/main">
              <a:ext uri="{FF2B5EF4-FFF2-40B4-BE49-F238E27FC236}">
                <a16:creationId xmlns:a16="http://schemas.microsoft.com/office/drawing/2014/main" id="{3AA57540-5B3A-4838-B531-F5C45AB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1238250"/>
            <a:ext cx="45529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3">
            <a:extLst xmlns:a="http://schemas.openxmlformats.org/drawingml/2006/main">
              <a:ext uri="{FF2B5EF4-FFF2-40B4-BE49-F238E27FC236}">
                <a16:creationId xmlns:a16="http://schemas.microsoft.com/office/drawing/2014/main" id="{0FA671AA-9D6A-4E7F-A1BD-F9E0DE2D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14668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การเปลี่ยนแปลงสัมพัทธ์เทียบ Baseline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9483090" y="1866900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1066800"/>
                <a:gridCol w="1066800"/>
                <a:gridCol w="1066800"/>
              </a:tblGrid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57150" marB="57150" anchor="ctr"/>
                </a:tc>
              </a:tr>
            </a:tbl>
          </a:graphicData>
        </a:graphic>
      </p:graphicFrame>
      <p:sp>
        <p:nvSpPr>
          <p:cNvPr id="13" name="text-124">
            <a:extLst xmlns:a="http://schemas.openxmlformats.org/drawingml/2006/main">
              <a:ext uri="{FF2B5EF4-FFF2-40B4-BE49-F238E27FC236}">
                <a16:creationId xmlns:a16="http://schemas.microsoft.com/office/drawing/2014/main" id="{92E70CDF-3631-474A-9316-422052F9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581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ค่าเฉลี่ยและส่วนเบี่ยงเบนมาตรฐาน (Mean ± σ) ข้ามทุกชุดทดสอบ</a:t>
            </a:r>
          </a:p>
        </p:txBody>
      </p:sp>
      <p:sp>
        <p:nvSpPr>
          <p:cNvPr id="14" name="text-125">
            <a:extLst xmlns:a="http://schemas.openxmlformats.org/drawingml/2006/main">
              <a:ext uri="{FF2B5EF4-FFF2-40B4-BE49-F238E27FC236}">
                <a16:creationId xmlns:a16="http://schemas.microsoft.com/office/drawing/2014/main" id="{2AFCEFCA-576F-4CD7-A4C5-23608BE8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848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แถว +most คือชุดรวมทุกกลยุทธ์ (ในเนื้อหาเปเปอร์ใช้ชื่อ +prerender)</a:t>
            </a:r>
          </a:p>
        </p:txBody>
      </p:sp>
      <p:sp>
        <p:nvSpPr>
          <p:cNvPr id="15" name="shape-126">
            <a:extLst xmlns:a="http://schemas.openxmlformats.org/drawingml/2006/main">
              <a:ext uri="{FF2B5EF4-FFF2-40B4-BE49-F238E27FC236}">
                <a16:creationId xmlns:a16="http://schemas.microsoft.com/office/drawing/2014/main" id="{ABE614EC-A8F0-4AD1-AB71-422F740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6E8891E9-E21C-423F-AAE7-C12DA85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8">
            <a:extLst xmlns:a="http://schemas.openxmlformats.org/drawingml/2006/main">
              <a:ext uri="{FF2B5EF4-FFF2-40B4-BE49-F238E27FC236}">
                <a16:creationId xmlns:a16="http://schemas.microsoft.com/office/drawing/2014/main" id="{33914015-1F8F-4461-9BE0-33F1132E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เวลาจนภาพปรากฏ (TTR)</a:t>
            </a:r>
          </a:p>
        </p:txBody>
      </p:sp>
      <p:sp>
        <p:nvSpPr>
          <p:cNvPr id="18" name="text-129">
            <a:extLst xmlns:a="http://schemas.openxmlformats.org/drawingml/2006/main">
              <a:ext uri="{FF2B5EF4-FFF2-40B4-BE49-F238E27FC236}">
                <a16:creationId xmlns:a16="http://schemas.microsoft.com/office/drawing/2014/main" id="{57A0C536-AAD9-4DEB-B641-FDB522A3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2.1% · ลด Perceived Latency ชัดเจน</a:t>
            </a:r>
          </a:p>
        </p:txBody>
      </p:sp>
      <p:sp>
        <p:nvSpPr>
          <p:cNvPr id="19" name="shape-130">
            <a:extLst xmlns:a="http://schemas.openxmlformats.org/drawingml/2006/main">
              <a:ext uri="{FF2B5EF4-FFF2-40B4-BE49-F238E27FC236}">
                <a16:creationId xmlns:a16="http://schemas.microsoft.com/office/drawing/2014/main" id="{872A97B2-43A5-45E7-9BB2-26EB605B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31">
            <a:extLst xmlns:a="http://schemas.openxmlformats.org/drawingml/2006/main">
              <a:ext uri="{FF2B5EF4-FFF2-40B4-BE49-F238E27FC236}">
                <a16:creationId xmlns:a16="http://schemas.microsoft.com/office/drawing/2014/main" id="{A9411061-794D-4A63-89AC-D64D0688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32">
            <a:extLst xmlns:a="http://schemas.openxmlformats.org/drawingml/2006/main">
              <a:ext uri="{FF2B5EF4-FFF2-40B4-BE49-F238E27FC236}">
                <a16:creationId xmlns:a16="http://schemas.microsoft.com/office/drawing/2014/main" id="{825A2DCD-AF09-4FAD-9B4D-D28E4063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เวลาพร้อมโต้ตอบ (TTA)</a:t>
            </a:r>
          </a:p>
        </p:txBody>
      </p:sp>
      <p:sp>
        <p:nvSpPr>
          <p:cNvPr id="22" name="text-133">
            <a:extLst xmlns:a="http://schemas.openxmlformats.org/drawingml/2006/main">
              <a:ext uri="{FF2B5EF4-FFF2-40B4-BE49-F238E27FC236}">
                <a16:creationId xmlns:a16="http://schemas.microsoft.com/office/drawing/2014/main" id="{1FCC15EE-9BA7-4A7F-9B33-1F6C91B0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9.6% · แคชช่วยตัดเวลาหลัก (−32.3%)</a:t>
            </a:r>
          </a:p>
        </p:txBody>
      </p:sp>
      <p:sp>
        <p:nvSpPr>
          <p:cNvPr id="23" name="shape-134">
            <a:extLst xmlns:a="http://schemas.openxmlformats.org/drawingml/2006/main">
              <a:ext uri="{FF2B5EF4-FFF2-40B4-BE49-F238E27FC236}">
                <a16:creationId xmlns:a16="http://schemas.microsoft.com/office/drawing/2014/main" id="{71D58042-8D90-473B-BF68-E4C00141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115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5">
            <a:extLst xmlns:a="http://schemas.openxmlformats.org/drawingml/2006/main">
              <a:ext uri="{FF2B5EF4-FFF2-40B4-BE49-F238E27FC236}">
                <a16:creationId xmlns:a16="http://schemas.microsoft.com/office/drawing/2014/main" id="{3D654864-912D-4E9A-9FA6-07998BBE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6">
            <a:extLst xmlns:a="http://schemas.openxmlformats.org/drawingml/2006/main">
              <a:ext uri="{FF2B5EF4-FFF2-40B4-BE49-F238E27FC236}">
                <a16:creationId xmlns:a16="http://schemas.microsoft.com/office/drawing/2014/main" id="{0D80A587-6EA4-4785-9BBC-3B49D87D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พื้นที่จัดเก็บเพิ่มเติม (SC)</a:t>
            </a:r>
          </a:p>
        </p:txBody>
      </p:sp>
      <p:sp>
        <p:nvSpPr>
          <p:cNvPr id="26" name="text-137">
            <a:extLst xmlns:a="http://schemas.openxmlformats.org/drawingml/2006/main">
              <a:ext uri="{FF2B5EF4-FFF2-40B4-BE49-F238E27FC236}">
                <a16:creationId xmlns:a16="http://schemas.microsoft.com/office/drawing/2014/main" id="{703E54BA-21BB-4B6E-AD6C-CDE70F0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29.9% · แลกกับความเร็วในการโหลด</a:t>
            </a:r>
          </a:p>
        </p:txBody>
      </p:sp>
      <p:sp>
        <p:nvSpPr>
          <p:cNvPr id="27" name="shape-138">
            <a:extLst xmlns:a="http://schemas.openxmlformats.org/drawingml/2006/main">
              <a:ext uri="{FF2B5EF4-FFF2-40B4-BE49-F238E27FC236}">
                <a16:creationId xmlns:a16="http://schemas.microsoft.com/office/drawing/2014/main" id="{161366D0-43DA-4BD6-94C1-68F594E1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53200"/>
            <a:ext cx="1298448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139">
            <a:extLst xmlns:a="http://schemas.openxmlformats.org/drawingml/2006/main">
              <a:ext uri="{FF2B5EF4-FFF2-40B4-BE49-F238E27FC236}">
                <a16:creationId xmlns:a16="http://schemas.microsoft.com/office/drawing/2014/main" id="{935F63A3-F216-43B9-B7F9-14B9C16C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สภาพแวดล้อม: MacBook Pro (M1 Pro, RAM 16 GB), Node 22.9, Local Server, DuckDB-WASM</a:t>
            </a:r>
          </a:p>
        </p:txBody>
      </p:sp>
      <p:sp>
        <p:nvSpPr>
          <p:cNvPr id="29" name="text-140">
            <a:extLst xmlns:a="http://schemas.openxmlformats.org/drawingml/2006/main">
              <a:ext uri="{FF2B5EF4-FFF2-40B4-BE49-F238E27FC236}">
                <a16:creationId xmlns:a16="http://schemas.microsoft.com/office/drawing/2014/main" id="{1DE42C1D-4A28-4491-AFAB-D8EFA7AD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ข้อค้นพบสำคัญ: การแคชช่วยลด TTA ไปแล้ว 32.3% ขณะที่ภาพล่วงหน้าช่วยลด TTA เพิ่มเติมอีก 1.0% จาก Baseline</a:t>
            </a:r>
          </a:p>
        </p:txBody>
      </p:sp>
      <p:sp>
        <p:nvSpPr>
          <p:cNvPr id="30" name="text-141">
            <a:extLst xmlns:a="http://schemas.openxmlformats.org/drawingml/2006/main">
              <a:ext uri="{FF2B5EF4-FFF2-40B4-BE49-F238E27FC236}">
                <a16:creationId xmlns:a16="http://schemas.microsoft.com/office/drawing/2014/main" id="{6B966E71-9A91-464F-A65A-F408D769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Figure 3 และ Table 1 (หน้า PDF 4) · ค่าเฉลี่ยข้าม 5 รูปแบบภาพและขนาดข้อมูล 10k–10M แถว</a:t>
            </a:r>
          </a:p>
        </p:txBody>
      </p:sp>
    </p:spTree>
    <p:extLst>
      <p:ext uri="{BB962C8B-B14F-4D97-AF65-F5344CB8AC3E}">
        <p14:creationId xmlns:p14="http://schemas.microsoft.com/office/powerpoint/2010/main" val="1583386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42">
            <a:extLst xmlns:a="http://schemas.openxmlformats.org/drawingml/2006/main">
              <a:ext uri="{FF2B5EF4-FFF2-40B4-BE49-F238E27FC236}">
                <a16:creationId xmlns:a16="http://schemas.microsoft.com/office/drawing/2014/main" id="{446B96EF-D6AB-42D1-A474-B3B0C5BB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43">
            <a:extLst xmlns:a="http://schemas.openxmlformats.org/drawingml/2006/main">
              <a:ext uri="{FF2B5EF4-FFF2-40B4-BE49-F238E27FC236}">
                <a16:creationId xmlns:a16="http://schemas.microsoft.com/office/drawing/2014/main" id="{593598BF-7709-4024-ABA2-4A3EB6B9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คุณูปการของงานวิจัยและการนำไปประยุกต์ใช้</a:t>
            </a:r>
          </a:p>
        </p:txBody>
      </p:sp>
      <p:sp>
        <p:nvSpPr>
          <p:cNvPr id="3" name="shape-144">
            <a:extLst xmlns:a="http://schemas.openxmlformats.org/drawingml/2006/main">
              <a:ext uri="{FF2B5EF4-FFF2-40B4-BE49-F238E27FC236}">
                <a16:creationId xmlns:a16="http://schemas.microsoft.com/office/drawing/2014/main" id="{1BCA0782-073A-4940-844F-FC32A63B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A7E0B4F9-A4C2-4E04-8046-270C86C5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6">
            <a:extLst xmlns:a="http://schemas.openxmlformats.org/drawingml/2006/main">
              <a:ext uri="{FF2B5EF4-FFF2-40B4-BE49-F238E27FC236}">
                <a16:creationId xmlns:a16="http://schemas.microsoft.com/office/drawing/2014/main" id="{A3509F6E-DD86-4F98-890B-E87277B9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47">
            <a:extLst xmlns:a="http://schemas.openxmlformats.org/drawingml/2006/main">
              <a:ext uri="{FF2B5EF4-FFF2-40B4-BE49-F238E27FC236}">
                <a16:creationId xmlns:a16="http://schemas.microsoft.com/office/drawing/2014/main" id="{0C7CC4DE-A5AC-494A-8F54-A164B34E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8">
            <a:extLst xmlns:a="http://schemas.openxmlformats.org/drawingml/2006/main">
              <a:ext uri="{FF2B5EF4-FFF2-40B4-BE49-F238E27FC236}">
                <a16:creationId xmlns:a16="http://schemas.microsoft.com/office/drawing/2014/main" id="{9E36C8AA-A063-40AE-B240-59101359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คุณูปการสำคัญของงานวิจัย</a:t>
            </a:r>
          </a:p>
        </p:txBody>
      </p:sp>
      <p:sp>
        <p:nvSpPr>
          <p:cNvPr id="8" name="text-149">
            <a:extLst xmlns:a="http://schemas.openxmlformats.org/drawingml/2006/main">
              <a:ext uri="{FF2B5EF4-FFF2-40B4-BE49-F238E27FC236}">
                <a16:creationId xmlns:a16="http://schemas.microsoft.com/office/drawing/2014/main" id="{01A13F98-4B83-4634-B25B-F39A6AEB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50">
            <a:extLst xmlns:a="http://schemas.openxmlformats.org/drawingml/2006/main">
              <a:ext uri="{FF2B5EF4-FFF2-40B4-BE49-F238E27FC236}">
                <a16:creationId xmlns:a16="http://schemas.microsoft.com/office/drawing/2014/main" id="{F3AB281F-F65D-4128-9640-C3155C6F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ไปป์ไลน์ปรับปรุงประสิทธิภาพแบบแบ่งระดับ</a:t>
            </a:r>
          </a:p>
        </p:txBody>
      </p:sp>
      <p:sp>
        <p:nvSpPr>
          <p:cNvPr id="10" name="text-151">
            <a:extLst xmlns:a="http://schemas.openxmlformats.org/drawingml/2006/main">
              <a:ext uri="{FF2B5EF4-FFF2-40B4-BE49-F238E27FC236}">
                <a16:creationId xmlns:a16="http://schemas.microsoft.com/office/drawing/2014/main" id="{43CF5F20-C1F1-456D-8CE9-DD2A4A0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แยกขั้นตอนเตรียมข้อมูล แคชคิวรี และภาพล่วงหน้าอย่างเป็นระบบ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โดยคงไวยากรณ์เดิมของนักพัฒนาไว้ทั้งหมด ไม่ต้องเขียนโค้ดใหม่</a:t>
            </a:r>
          </a:p>
        </p:txBody>
      </p:sp>
      <p:sp>
        <p:nvSpPr>
          <p:cNvPr id="11" name="shape-152">
            <a:extLst xmlns:a="http://schemas.openxmlformats.org/drawingml/2006/main">
              <a:ext uri="{FF2B5EF4-FFF2-40B4-BE49-F238E27FC236}">
                <a16:creationId xmlns:a16="http://schemas.microsoft.com/office/drawing/2014/main" id="{520972AA-762C-4A8A-B765-11A3DD03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53">
            <a:extLst xmlns:a="http://schemas.openxmlformats.org/drawingml/2006/main">
              <a:ext uri="{FF2B5EF4-FFF2-40B4-BE49-F238E27FC236}">
                <a16:creationId xmlns:a16="http://schemas.microsoft.com/office/drawing/2014/main" id="{7B921921-8B81-438E-B293-1B320325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54">
            <a:extLst xmlns:a="http://schemas.openxmlformats.org/drawingml/2006/main">
              <a:ext uri="{FF2B5EF4-FFF2-40B4-BE49-F238E27FC236}">
                <a16:creationId xmlns:a16="http://schemas.microsoft.com/office/drawing/2014/main" id="{23A63497-4A97-4EA1-A55B-D6AB0D65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กรอบประเมินประสิทธิภาพคู่ขนาน TTR และ TTA</a:t>
            </a:r>
          </a:p>
        </p:txBody>
      </p:sp>
      <p:sp>
        <p:nvSpPr>
          <p:cNvPr id="14" name="text-155">
            <a:extLst xmlns:a="http://schemas.openxmlformats.org/drawingml/2006/main">
              <a:ext uri="{FF2B5EF4-FFF2-40B4-BE49-F238E27FC236}">
                <a16:creationId xmlns:a16="http://schemas.microsoft.com/office/drawing/2014/main" id="{7F7D772D-5DCD-481F-B3F6-08045269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แยกเวลาจนเห็นภาพ (TTR) ออกจากเวลาพร้อมโต้ตอบ (TTA) ชัดเจน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พร้อมบันทึกมิติต้นทุนพื้นที่จัดเก็บ (Storage Cost) ที่ต้องแลก</a:t>
            </a:r>
          </a:p>
        </p:txBody>
      </p:sp>
      <p:sp>
        <p:nvSpPr>
          <p:cNvPr id="15" name="shape-156">
            <a:extLst xmlns:a="http://schemas.openxmlformats.org/drawingml/2006/main">
              <a:ext uri="{FF2B5EF4-FFF2-40B4-BE49-F238E27FC236}">
                <a16:creationId xmlns:a16="http://schemas.microsoft.com/office/drawing/2014/main" id="{A826B43D-1A42-4783-82BB-A599FC94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57">
            <a:extLst xmlns:a="http://schemas.openxmlformats.org/drawingml/2006/main">
              <a:ext uri="{FF2B5EF4-FFF2-40B4-BE49-F238E27FC236}">
                <a16:creationId xmlns:a16="http://schemas.microsoft.com/office/drawing/2014/main" id="{EBC606E7-B823-4080-9673-D4695529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58">
            <a:extLst xmlns:a="http://schemas.openxmlformats.org/drawingml/2006/main">
              <a:ext uri="{FF2B5EF4-FFF2-40B4-BE49-F238E27FC236}">
                <a16:creationId xmlns:a16="http://schemas.microsoft.com/office/drawing/2014/main" id="{A0A5D98E-8612-4007-A6D7-0E281695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การทดสอบเชิงประจักษ์กับข้อมูลขนาดใหญ่</a:t>
            </a:r>
          </a:p>
        </p:txBody>
      </p:sp>
      <p:sp>
        <p:nvSpPr>
          <p:cNvPr id="18" name="text-159">
            <a:extLst xmlns:a="http://schemas.openxmlformats.org/drawingml/2006/main">
              <a:ext uri="{FF2B5EF4-FFF2-40B4-BE49-F238E27FC236}">
                <a16:creationId xmlns:a16="http://schemas.microsoft.com/office/drawing/2014/main" id="{32E37962-4FA6-4E97-9BA3-69EC1914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พิสูจน์ผลลัพธ์บนข้อมูลจริง 10k ถึง 10M แถว ยืนยันว่า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การแคชล่วงหน้าลด TTA เฉลี่ย 33.3% และลด TTR ได้ถึง 83.7%</a:t>
            </a:r>
          </a:p>
        </p:txBody>
      </p:sp>
      <p:sp>
        <p:nvSpPr>
          <p:cNvPr id="19" name="shape-160">
            <a:extLst xmlns:a="http://schemas.openxmlformats.org/drawingml/2006/main">
              <a:ext uri="{FF2B5EF4-FFF2-40B4-BE49-F238E27FC236}">
                <a16:creationId xmlns:a16="http://schemas.microsoft.com/office/drawing/2014/main" id="{33B0A779-AA04-4D83-A1A8-D4B957AA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61">
            <a:extLst xmlns:a="http://schemas.openxmlformats.org/drawingml/2006/main">
              <a:ext uri="{FF2B5EF4-FFF2-40B4-BE49-F238E27FC236}">
                <a16:creationId xmlns:a16="http://schemas.microsoft.com/office/drawing/2014/main" id="{AEC04711-F282-423E-968A-B54AE036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การนำแนวคิดไปประยุกต์ใช้งานจริง</a:t>
            </a:r>
          </a:p>
        </p:txBody>
      </p:sp>
      <p:sp>
        <p:nvSpPr>
          <p:cNvPr id="21" name="text-162">
            <a:extLst xmlns:a="http://schemas.openxmlformats.org/drawingml/2006/main">
              <a:ext uri="{FF2B5EF4-FFF2-40B4-BE49-F238E27FC236}">
                <a16:creationId xmlns:a16="http://schemas.microsoft.com/office/drawing/2014/main" id="{236778FE-4BDC-4590-B343-4F6B2812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63">
            <a:extLst xmlns:a="http://schemas.openxmlformats.org/drawingml/2006/main">
              <a:ext uri="{FF2B5EF4-FFF2-40B4-BE49-F238E27FC236}">
                <a16:creationId xmlns:a16="http://schemas.microsoft.com/office/drawing/2014/main" id="{1E83BEBD-2345-4C1E-BDDA-CBF5AB1E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แดชบอร์ดแสดงผลข้อมูลขนาดใหญ่</a:t>
            </a:r>
          </a:p>
        </p:txBody>
      </p:sp>
      <p:sp>
        <p:nvSpPr>
          <p:cNvPr id="23" name="text-164">
            <a:extLst xmlns:a="http://schemas.openxmlformats.org/drawingml/2006/main">
              <a:ext uri="{FF2B5EF4-FFF2-40B4-BE49-F238E27FC236}">
                <a16:creationId xmlns:a16="http://schemas.microsoft.com/office/drawing/2014/main" id="{CAF10C8E-9842-4A25-8256-B6515F3F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แก้ปัญหาความหน่วงตอนเปิดหน้าครั้งแรก (Cold-Start) บนเว็บข้อมูล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ช่วยให้ผู้ใช้งานมองเห็นชาร์ตและภาพรวมเบื้องต้นได้ทันที</a:t>
            </a:r>
          </a:p>
        </p:txBody>
      </p:sp>
      <p:sp>
        <p:nvSpPr>
          <p:cNvPr id="24" name="shape-165">
            <a:extLst xmlns:a="http://schemas.openxmlformats.org/drawingml/2006/main">
              <a:ext uri="{FF2B5EF4-FFF2-40B4-BE49-F238E27FC236}">
                <a16:creationId xmlns:a16="http://schemas.microsoft.com/office/drawing/2014/main" id="{F106FE8D-D241-41C2-8F65-3D15D409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66">
            <a:extLst xmlns:a="http://schemas.openxmlformats.org/drawingml/2006/main">
              <a:ext uri="{FF2B5EF4-FFF2-40B4-BE49-F238E27FC236}">
                <a16:creationId xmlns:a16="http://schemas.microsoft.com/office/drawing/2014/main" id="{C936949E-1EC6-43FE-A4E7-E1E4A902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67">
            <a:extLst xmlns:a="http://schemas.openxmlformats.org/drawingml/2006/main">
              <a:ext uri="{FF2B5EF4-FFF2-40B4-BE49-F238E27FC236}">
                <a16:creationId xmlns:a16="http://schemas.microsoft.com/office/drawing/2014/main" id="{2DB87457-75FA-4F02-B15D-E7D5F31E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การกระจายแคชบน Edge CDN</a:t>
            </a:r>
          </a:p>
        </p:txBody>
      </p:sp>
      <p:sp>
        <p:nvSpPr>
          <p:cNvPr id="27" name="text-168">
            <a:extLst xmlns:a="http://schemas.openxmlformats.org/drawingml/2006/main">
              <a:ext uri="{FF2B5EF4-FFF2-40B4-BE49-F238E27FC236}">
                <a16:creationId xmlns:a16="http://schemas.microsoft.com/office/drawing/2014/main" id="{0AA6BC02-2DAB-4F47-AED6-AD5EADB5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นำไฟล์แคชผลรวมและภาพเริ่มต้นไปเก็บไว้บน Edge ใกล้ผู้ใช้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ช่วยลดภาระการคำนวณซ้ำซ้อนของทั้งเซิร์ฟเวอร์และเบราว์เซอร์</a:t>
            </a:r>
          </a:p>
        </p:txBody>
      </p:sp>
      <p:sp>
        <p:nvSpPr>
          <p:cNvPr id="28" name="shape-169">
            <a:extLst xmlns:a="http://schemas.openxmlformats.org/drawingml/2006/main">
              <a:ext uri="{FF2B5EF4-FFF2-40B4-BE49-F238E27FC236}">
                <a16:creationId xmlns:a16="http://schemas.microsoft.com/office/drawing/2014/main" id="{0AC3B6EA-6908-4632-B5BE-6D586E79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70">
            <a:extLst xmlns:a="http://schemas.openxmlformats.org/drawingml/2006/main">
              <a:ext uri="{FF2B5EF4-FFF2-40B4-BE49-F238E27FC236}">
                <a16:creationId xmlns:a16="http://schemas.microsoft.com/office/drawing/2014/main" id="{2353A8B0-1064-465C-B8F9-D4EA5F1A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71">
            <a:extLst xmlns:a="http://schemas.openxmlformats.org/drawingml/2006/main">
              <a:ext uri="{FF2B5EF4-FFF2-40B4-BE49-F238E27FC236}">
                <a16:creationId xmlns:a16="http://schemas.microsoft.com/office/drawing/2014/main" id="{7D230E8D-470F-40F6-9489-3F38A99E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ระบบวิเคราะห์ข้อมูลบนเบราว์เซอร์</a:t>
            </a:r>
          </a:p>
        </p:txBody>
      </p:sp>
      <p:sp>
        <p:nvSpPr>
          <p:cNvPr id="31" name="text-172">
            <a:extLst xmlns:a="http://schemas.openxmlformats.org/drawingml/2006/main">
              <a:ext uri="{FF2B5EF4-FFF2-40B4-BE49-F238E27FC236}">
                <a16:creationId xmlns:a16="http://schemas.microsoft.com/office/drawing/2014/main" id="{A7A61D41-750C-4C8D-9EA9-1F8C10D1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เป็นสถาปัตยกรรมต้นแบบการผสาน DuckDB-WASM กับตัวกลาง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เพื่อรองรับการคิวรีและวิเคราะห์ข้อมูลปริมาณมากบนเครื่องผู้ใช้</a:t>
            </a:r>
          </a:p>
        </p:txBody>
      </p:sp>
      <p:sp>
        <p:nvSpPr>
          <p:cNvPr id="32" name="text-173">
            <a:extLst xmlns:a="http://schemas.openxmlformats.org/drawingml/2006/main">
              <a:ext uri="{FF2B5EF4-FFF2-40B4-BE49-F238E27FC236}">
                <a16:creationId xmlns:a16="http://schemas.microsoft.com/office/drawing/2014/main" id="{F46E6311-D88B-4068-823D-18A0B4DF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1, 3 และ 5 (หน้า PDF 1–4)</a:t>
            </a:r>
          </a:p>
        </p:txBody>
      </p:sp>
    </p:spTree>
    <p:extLst>
      <p:ext uri="{BB962C8B-B14F-4D97-AF65-F5344CB8AC3E}">
        <p14:creationId xmlns:p14="http://schemas.microsoft.com/office/powerpoint/2010/main" val="843486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4">
            <a:extLst xmlns:a="http://schemas.openxmlformats.org/drawingml/2006/main">
              <a:ext uri="{FF2B5EF4-FFF2-40B4-BE49-F238E27FC236}">
                <a16:creationId xmlns:a16="http://schemas.microsoft.com/office/drawing/2014/main" id="{18C3BDB4-6CF4-4CA1-A822-2A40B52F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5">
            <a:extLst xmlns:a="http://schemas.openxmlformats.org/drawingml/2006/main">
              <a:ext uri="{FF2B5EF4-FFF2-40B4-BE49-F238E27FC236}">
                <a16:creationId xmlns:a16="http://schemas.microsoft.com/office/drawing/2014/main" id="{2373869F-AA42-40EE-A1D9-4504829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ข้อจำกัดของระบบและบทสรุป</a:t>
            </a:r>
          </a:p>
        </p:txBody>
      </p:sp>
      <p:sp>
        <p:nvSpPr>
          <p:cNvPr id="3" name="shape-176">
            <a:extLst xmlns:a="http://schemas.openxmlformats.org/drawingml/2006/main">
              <a:ext uri="{FF2B5EF4-FFF2-40B4-BE49-F238E27FC236}">
                <a16:creationId xmlns:a16="http://schemas.microsoft.com/office/drawing/2014/main" id="{8890E993-480D-45C7-8516-75BA1361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7">
            <a:extLst xmlns:a="http://schemas.openxmlformats.org/drawingml/2006/main">
              <a:ext uri="{FF2B5EF4-FFF2-40B4-BE49-F238E27FC236}">
                <a16:creationId xmlns:a16="http://schemas.microsoft.com/office/drawing/2014/main" id="{BC943AFC-2A52-4A72-8520-B9DEA632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8">
            <a:extLst xmlns:a="http://schemas.openxmlformats.org/drawingml/2006/main">
              <a:ext uri="{FF2B5EF4-FFF2-40B4-BE49-F238E27FC236}">
                <a16:creationId xmlns:a16="http://schemas.microsoft.com/office/drawing/2014/main" id="{C58B2280-D3CC-4DF1-BDF8-51663A9D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6" name="shape-179">
            <a:extLst xmlns:a="http://schemas.openxmlformats.org/drawingml/2006/main">
              <a:ext uri="{FF2B5EF4-FFF2-40B4-BE49-F238E27FC236}">
                <a16:creationId xmlns:a16="http://schemas.microsoft.com/office/drawing/2014/main" id="{ABAC58D4-18B9-489D-88A1-6B4C4D00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80">
            <a:extLst xmlns:a="http://schemas.openxmlformats.org/drawingml/2006/main">
              <a:ext uri="{FF2B5EF4-FFF2-40B4-BE49-F238E27FC236}">
                <a16:creationId xmlns:a16="http://schemas.microsoft.com/office/drawing/2014/main" id="{F0847353-FC81-4E2A-A099-49E29083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ข้อจำกัดที่พบในงานวิจัย</a:t>
            </a:r>
          </a:p>
        </p:txBody>
      </p:sp>
      <p:sp>
        <p:nvSpPr>
          <p:cNvPr id="8" name="text-181">
            <a:extLst xmlns:a="http://schemas.openxmlformats.org/drawingml/2006/main">
              <a:ext uri="{FF2B5EF4-FFF2-40B4-BE49-F238E27FC236}">
                <a16:creationId xmlns:a16="http://schemas.microsoft.com/office/drawing/2014/main" id="{D6BD9154-3FB0-45E0-8BD7-0AF47222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82">
            <a:extLst xmlns:a="http://schemas.openxmlformats.org/drawingml/2006/main">
              <a:ext uri="{FF2B5EF4-FFF2-40B4-BE49-F238E27FC236}">
                <a16:creationId xmlns:a16="http://schemas.microsoft.com/office/drawing/2014/main" id="{FE358DB7-0B37-4200-A116-CB519ECC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คอขวดขั้นตอน Client Hydration</a:t>
            </a:r>
          </a:p>
        </p:txBody>
      </p:sp>
      <p:sp>
        <p:nvSpPr>
          <p:cNvPr id="10" name="text-183">
            <a:extLst xmlns:a="http://schemas.openxmlformats.org/drawingml/2006/main">
              <a:ext uri="{FF2B5EF4-FFF2-40B4-BE49-F238E27FC236}">
                <a16:creationId xmlns:a16="http://schemas.microsoft.com/office/drawing/2014/main" id="{04BE8F9E-65CB-4511-AB5C-93E1143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ภาพเริ่มต้นมาเร็ว แต่เบราว์เซอร์ยังต้องรันสคริปต์เต็มชุด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ทำให้การเรนเดอร์ภาพล่วงหน้าช่วยลด TTA เพิ่มได้เพียง 1.0%</a:t>
            </a:r>
          </a:p>
        </p:txBody>
      </p:sp>
      <p:sp>
        <p:nvSpPr>
          <p:cNvPr id="11" name="shape-184">
            <a:extLst xmlns:a="http://schemas.openxmlformats.org/drawingml/2006/main">
              <a:ext uri="{FF2B5EF4-FFF2-40B4-BE49-F238E27FC236}">
                <a16:creationId xmlns:a16="http://schemas.microsoft.com/office/drawing/2014/main" id="{3DA17A6F-406A-4530-9F5E-6401C4CD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85">
            <a:extLst xmlns:a="http://schemas.openxmlformats.org/drawingml/2006/main">
              <a:ext uri="{FF2B5EF4-FFF2-40B4-BE49-F238E27FC236}">
                <a16:creationId xmlns:a16="http://schemas.microsoft.com/office/drawing/2014/main" id="{CC693873-D2D5-4669-BF86-3DFB87C7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86">
            <a:extLst xmlns:a="http://schemas.openxmlformats.org/drawingml/2006/main">
              <a:ext uri="{FF2B5EF4-FFF2-40B4-BE49-F238E27FC236}">
                <a16:creationId xmlns:a16="http://schemas.microsoft.com/office/drawing/2014/main" id="{1524478A-2D80-4B89-9ED7-9CB7CDC3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ต้นทุนพื้นที่จัดเก็บที่เพิ่มขึ้น</a:t>
            </a:r>
          </a:p>
        </p:txBody>
      </p:sp>
      <p:sp>
        <p:nvSpPr>
          <p:cNvPr id="14" name="text-187">
            <a:extLst xmlns:a="http://schemas.openxmlformats.org/drawingml/2006/main">
              <a:ext uri="{FF2B5EF4-FFF2-40B4-BE49-F238E27FC236}">
                <a16:creationId xmlns:a16="http://schemas.microsoft.com/office/drawing/2014/main" id="{BDA72E40-3B23-45FF-9941-5053AD3C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พื้นที่จัดเก็บไฟล์เพิ่มขึ้นเฉลี่ย 21.2% และมีความแปรปรวนสูง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(σ = 29.9%) ตามรูปแบบชาร์ตและจำนวนสถานะการกรองข้อมูล</a:t>
            </a:r>
          </a:p>
        </p:txBody>
      </p:sp>
      <p:sp>
        <p:nvSpPr>
          <p:cNvPr id="15" name="shape-188">
            <a:extLst xmlns:a="http://schemas.openxmlformats.org/drawingml/2006/main">
              <a:ext uri="{FF2B5EF4-FFF2-40B4-BE49-F238E27FC236}">
                <a16:creationId xmlns:a16="http://schemas.microsoft.com/office/drawing/2014/main" id="{66C8BA24-ACE8-4FC1-A849-277E3F44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89">
            <a:extLst xmlns:a="http://schemas.openxmlformats.org/drawingml/2006/main">
              <a:ext uri="{FF2B5EF4-FFF2-40B4-BE49-F238E27FC236}">
                <a16:creationId xmlns:a16="http://schemas.microsoft.com/office/drawing/2014/main" id="{91139BAF-0534-429C-B7D8-FE94BDB6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90">
            <a:extLst xmlns:a="http://schemas.openxmlformats.org/drawingml/2006/main">
              <a:ext uri="{FF2B5EF4-FFF2-40B4-BE49-F238E27FC236}">
                <a16:creationId xmlns:a16="http://schemas.microsoft.com/office/drawing/2014/main" id="{FE77746E-C74C-4AFC-9F15-FE6690CE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ขอบเขตการทดสอบและการสร้างข้อมูลซ้ำ</a:t>
            </a:r>
          </a:p>
        </p:txBody>
      </p:sp>
      <p:sp>
        <p:nvSpPr>
          <p:cNvPr id="18" name="text-191">
            <a:extLst xmlns:a="http://schemas.openxmlformats.org/drawingml/2006/main">
              <a:ext uri="{FF2B5EF4-FFF2-40B4-BE49-F238E27FC236}">
                <a16:creationId xmlns:a16="http://schemas.microsoft.com/office/drawing/2014/main" id="{EF181B80-C7F0-47FF-89BC-34EF2283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ประเมินผลบนแล็ปท็อปประสิทธิภาพสูงกับ Local Server เท่านั้น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และข้อมูลแคชยังต้องคำนวณใหม่ยกชุดเมื่อข้อมูลต้นทางเปลี่ยนแปลง</a:t>
            </a:r>
          </a:p>
        </p:txBody>
      </p:sp>
      <p:sp>
        <p:nvSpPr>
          <p:cNvPr id="19" name="shape-192">
            <a:extLst xmlns:a="http://schemas.openxmlformats.org/drawingml/2006/main">
              <a:ext uri="{FF2B5EF4-FFF2-40B4-BE49-F238E27FC236}">
                <a16:creationId xmlns:a16="http://schemas.microsoft.com/office/drawing/2014/main" id="{77ACCC9A-979B-484A-960B-0B87B5D2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93">
            <a:extLst xmlns:a="http://schemas.openxmlformats.org/drawingml/2006/main">
              <a:ext uri="{FF2B5EF4-FFF2-40B4-BE49-F238E27FC236}">
                <a16:creationId xmlns:a16="http://schemas.microsoft.com/office/drawing/2014/main" id="{65E93EC1-59A1-4FD8-AE41-7302639B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บทสรุปและแนวทางพัฒนาต่อ</a:t>
            </a:r>
          </a:p>
        </p:txBody>
      </p:sp>
      <p:sp>
        <p:nvSpPr>
          <p:cNvPr id="21" name="text-194">
            <a:extLst xmlns:a="http://schemas.openxmlformats.org/drawingml/2006/main">
              <a:ext uri="{FF2B5EF4-FFF2-40B4-BE49-F238E27FC236}">
                <a16:creationId xmlns:a16="http://schemas.microsoft.com/office/drawing/2014/main" id="{58165479-A2BF-4163-AEA4-FE68392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95">
            <a:extLst xmlns:a="http://schemas.openxmlformats.org/drawingml/2006/main">
              <a:ext uri="{FF2B5EF4-FFF2-40B4-BE49-F238E27FC236}">
                <a16:creationId xmlns:a16="http://schemas.microsoft.com/office/drawing/2014/main" id="{8DBCD334-B9D0-439D-B5FA-1D712AA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บทสรุปสำคัญเชิงสถาปัตยกรรม</a:t>
            </a:r>
          </a:p>
        </p:txBody>
      </p:sp>
      <p:sp>
        <p:nvSpPr>
          <p:cNvPr id="23" name="text-196">
            <a:extLst xmlns:a="http://schemas.openxmlformats.org/drawingml/2006/main">
              <a:ext uri="{FF2B5EF4-FFF2-40B4-BE49-F238E27FC236}">
                <a16:creationId xmlns:a16="http://schemas.microsoft.com/office/drawing/2014/main" id="{8F1FBFAE-B7FE-4894-BB76-2E1BC8F3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การแคชล่วงหน้าเป็นกุญแจหลักในการลด TTA (−32.3%)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ส่วนภาพล่วงหน้าแก้ Perceived Latency ได้เด็ดขาด (−83.7%)</a:t>
            </a:r>
          </a:p>
        </p:txBody>
      </p:sp>
      <p:sp>
        <p:nvSpPr>
          <p:cNvPr id="24" name="shape-197">
            <a:extLst xmlns:a="http://schemas.openxmlformats.org/drawingml/2006/main">
              <a:ext uri="{FF2B5EF4-FFF2-40B4-BE49-F238E27FC236}">
                <a16:creationId xmlns:a16="http://schemas.microsoft.com/office/drawing/2014/main" id="{9C758034-3080-46D9-885A-93B0D01B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98">
            <a:extLst xmlns:a="http://schemas.openxmlformats.org/drawingml/2006/main">
              <a:ext uri="{FF2B5EF4-FFF2-40B4-BE49-F238E27FC236}">
                <a16:creationId xmlns:a16="http://schemas.microsoft.com/office/drawing/2014/main" id="{A2242DA7-B4D4-4EBD-957F-667DEA92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99">
            <a:extLst xmlns:a="http://schemas.openxmlformats.org/drawingml/2006/main">
              <a:ext uri="{FF2B5EF4-FFF2-40B4-BE49-F238E27FC236}">
                <a16:creationId xmlns:a16="http://schemas.microsoft.com/office/drawing/2014/main" id="{6BE8DF7C-AAAF-4828-8095-4D1453A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การวิจัย Progressive Hydration</a:t>
            </a:r>
          </a:p>
        </p:txBody>
      </p:sp>
      <p:sp>
        <p:nvSpPr>
          <p:cNvPr id="27" name="text-200">
            <a:extLst xmlns:a="http://schemas.openxmlformats.org/drawingml/2006/main">
              <a:ext uri="{FF2B5EF4-FFF2-40B4-BE49-F238E27FC236}">
                <a16:creationId xmlns:a16="http://schemas.microsoft.com/office/drawing/2014/main" id="{FFC018FE-FAAE-466D-8676-DAFD4A43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ข้อเสนอแนะหลักจากผู้วิจัย ให้เริ่มระบบเฉพาะส่วนที่จำเป็น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เพื่อลดภาระประมวลผลของเบราว์เซอร์ และดึง TTA ให้เร็วขึ้น</a:t>
            </a:r>
          </a:p>
        </p:txBody>
      </p:sp>
      <p:sp>
        <p:nvSpPr>
          <p:cNvPr id="28" name="shape-201">
            <a:extLst xmlns:a="http://schemas.openxmlformats.org/drawingml/2006/main">
              <a:ext uri="{FF2B5EF4-FFF2-40B4-BE49-F238E27FC236}">
                <a16:creationId xmlns:a16="http://schemas.microsoft.com/office/drawing/2014/main" id="{B1E5DDCE-E52F-4FC3-AF23-CAE8D5D0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202">
            <a:extLst xmlns:a="http://schemas.openxmlformats.org/drawingml/2006/main">
              <a:ext uri="{FF2B5EF4-FFF2-40B4-BE49-F238E27FC236}">
                <a16:creationId xmlns:a16="http://schemas.microsoft.com/office/drawing/2014/main" id="{192F970F-EF3E-4B74-A69D-17A33C47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203">
            <a:extLst xmlns:a="http://schemas.openxmlformats.org/drawingml/2006/main">
              <a:ext uri="{FF2B5EF4-FFF2-40B4-BE49-F238E27FC236}">
                <a16:creationId xmlns:a16="http://schemas.microsoft.com/office/drawing/2014/main" id="{1AACEBA8-62A6-4DFC-B34D-465F41FA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ระบบ Hybrid และ Incremental Update</a:t>
            </a:r>
          </a:p>
        </p:txBody>
      </p:sp>
      <p:sp>
        <p:nvSpPr>
          <p:cNvPr id="31" name="text-204">
            <a:extLst xmlns:a="http://schemas.openxmlformats.org/drawingml/2006/main">
              <a:ext uri="{FF2B5EF4-FFF2-40B4-BE49-F238E27FC236}">
                <a16:creationId xmlns:a16="http://schemas.microsoft.com/office/drawing/2014/main" id="{F7493CC2-14F4-49FE-8DCF-E560EE2E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ผสานแคช Publish-time ร่วมกับ Dynamic Cache ตอนใช้งานจริง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พร้อมพัฒนาระบบคำนวณซ้ำเฉพาะส่วนข้อมูลที่มีการอัปเดต</a:t>
            </a:r>
          </a:p>
        </p:txBody>
      </p:sp>
      <p:sp>
        <p:nvSpPr>
          <p:cNvPr id="32" name="text-205">
            <a:extLst xmlns:a="http://schemas.openxmlformats.org/drawingml/2006/main">
              <a:ext uri="{FF2B5EF4-FFF2-40B4-BE49-F238E27FC236}">
                <a16:creationId xmlns:a16="http://schemas.microsoft.com/office/drawing/2014/main" id="{10352053-CE65-4E07-A3CF-64E38B6D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Table 1 (Key Takeaways) และ Sections 5–6 (หน้า PDF 4–5)</a:t>
            </a:r>
          </a:p>
        </p:txBody>
      </p:sp>
    </p:spTree>
    <p:extLst>
      <p:ext uri="{BB962C8B-B14F-4D97-AF65-F5344CB8AC3E}">
        <p14:creationId xmlns:p14="http://schemas.microsoft.com/office/powerpoint/2010/main" val="1775958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2026-10-05T08:26:43.6390000Z</dcterms:created>
  <dcterms:modified xsi:type="dcterms:W3CDTF">2026-10-05T08:26:43.6390000Z</dcterms:modified>
</coreProperties>
</file>