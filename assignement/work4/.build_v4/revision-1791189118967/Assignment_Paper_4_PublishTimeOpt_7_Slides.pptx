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bbf6d9ec5f4726" /><Relationship Type="http://schemas.openxmlformats.org/officeDocument/2006/relationships/extended-properties" Target="/docProps/app.xml" Id="R18c84ac40e9e4bd4" /><Relationship Type="http://schemas.openxmlformats.org/officeDocument/2006/relationships/officeDocument" Target="/ppt/presentation.xml" Id="R3639d33f8dde4a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2eda4f9df64623"/>
  </p:sldMasterIdLst>
  <p:notesMasterIdLst>
    <p:notesMasterId xmlns:r="http://schemas.openxmlformats.org/officeDocument/2006/relationships" r:id="R136b391089ff48eb"/>
  </p:notesMasterIdLst>
  <p:sldIdLst>
    <p:sldId xmlns:r="http://schemas.openxmlformats.org/officeDocument/2006/relationships" id="256" r:id="R5367628d80684e65"/>
    <p:sldId xmlns:r="http://schemas.openxmlformats.org/officeDocument/2006/relationships" id="257" r:id="Rc1308374046c4259"/>
    <p:sldId xmlns:r="http://schemas.openxmlformats.org/officeDocument/2006/relationships" id="258" r:id="R8a91536e629e42cb"/>
    <p:sldId xmlns:r="http://schemas.openxmlformats.org/officeDocument/2006/relationships" id="259" r:id="Rfa6523043b0949fc"/>
    <p:sldId xmlns:r="http://schemas.openxmlformats.org/officeDocument/2006/relationships" id="260" r:id="Rad883c4b652349ff"/>
    <p:sldId xmlns:r="http://schemas.openxmlformats.org/officeDocument/2006/relationships" id="261" r:id="Rd8982787b28147c4"/>
    <p:sldId xmlns:r="http://schemas.openxmlformats.org/officeDocument/2006/relationships" id="262" r:id="Re826282d965f48d6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51156572f14e35" /><Relationship Type="http://schemas.openxmlformats.org/officeDocument/2006/relationships/slideMaster" Target="/ppt/slideMasters/slideMaster1.xml" Id="Rfb2eda4f9df64623" /><Relationship Type="http://schemas.openxmlformats.org/officeDocument/2006/relationships/notesMaster" Target="/ppt/notesMasters/notesMaster1.xml" Id="R136b391089ff48eb" /><Relationship Type="http://schemas.openxmlformats.org/officeDocument/2006/relationships/presProps" Target="/ppt/presProps.xml" Id="R11a0c877151c4b9d" /><Relationship Type="http://schemas.openxmlformats.org/officeDocument/2006/relationships/tableStyles" Target="/ppt/tableStyles.xml" Id="Ra9c482bc737348b9" /><Relationship Type="http://schemas.openxmlformats.org/officeDocument/2006/relationships/slide" Target="/ppt/slides/slide1.xml" Id="R5367628d80684e65" /><Relationship Type="http://schemas.openxmlformats.org/officeDocument/2006/relationships/slide" Target="/ppt/slides/slide2.xml" Id="Rc1308374046c4259" /><Relationship Type="http://schemas.openxmlformats.org/officeDocument/2006/relationships/slide" Target="/ppt/slides/slide3.xml" Id="R8a91536e629e42cb" /><Relationship Type="http://schemas.openxmlformats.org/officeDocument/2006/relationships/slide" Target="/ppt/slides/slide4.xml" Id="Rfa6523043b0949fc" /><Relationship Type="http://schemas.openxmlformats.org/officeDocument/2006/relationships/slide" Target="/ppt/slides/slide5.xml" Id="Rad883c4b652349ff" /><Relationship Type="http://schemas.openxmlformats.org/officeDocument/2006/relationships/slide" Target="/ppt/slides/slide6.xml" Id="Rd8982787b28147c4" /><Relationship Type="http://schemas.openxmlformats.org/officeDocument/2006/relationships/slide" Target="/ppt/slides/slide7.xml" Id="Re826282d965f48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b71995898e42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4f4a57ab6a43ea" /><Relationship Type="http://schemas.openxmlformats.org/officeDocument/2006/relationships/notesMaster" Target="/ppt/notesMasters/notesMaster1.xml" Id="R2fbd0deb00f342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1f1d25fc9e4063" /><Relationship Type="http://schemas.openxmlformats.org/officeDocument/2006/relationships/notesMaster" Target="/ppt/notesMasters/notesMaster1.xml" Id="R698294410e9d40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54269e4a7142ae" /><Relationship Type="http://schemas.openxmlformats.org/officeDocument/2006/relationships/notesMaster" Target="/ppt/notesMasters/notesMaster1.xml" Id="R0832185bc7c344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e616d866484773" /><Relationship Type="http://schemas.openxmlformats.org/officeDocument/2006/relationships/notesMaster" Target="/ppt/notesMasters/notesMaster1.xml" Id="R1d2af88eedd745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321a8844994730" /><Relationship Type="http://schemas.openxmlformats.org/officeDocument/2006/relationships/notesMaster" Target="/ppt/notesMasters/notesMaster1.xml" Id="R382637f5ef8d4e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b141b8fbbf484a" /><Relationship Type="http://schemas.openxmlformats.org/officeDocument/2006/relationships/notesMaster" Target="/ppt/notesMasters/notesMaster1.xml" Id="Rf4f2f9bdccb743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289f86eea542f1" /><Relationship Type="http://schemas.openxmlformats.org/officeDocument/2006/relationships/notesMaster" Target="/ppt/notesMasters/notesMaster1.xml" Id="Rb295bb033a994f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0–25 วินาที (25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การนำเสนอนี้สรุปบทความวิจัยเรื่อง Publish-Time Optimizations for Web-Based Visualizations โดย Ron Pechuk และ Jeffrey Heer จาก University of Washington ตีพิมพ์ในการประชุมวิชาการ IEEE VIS 2025 โดยนำเสนอแนวทางย้ายภาระงานประมวลผลที่ต้องทำซ้ำไปไว้ในช่วงเผยแพร่ระบบ เพื่อลดความหน่วงเริ่มต้นของเว็บแสดงภาพข้อมูลเชิงโต้ตอบ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Title and Abstract, PDF page 1. IEEE metadata: DOI 10.1109/VIS60296.2025.00051.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25–65 วินาที (40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เมื่อเปิดหน้าเว็บแสดงภาพข้อมูล เบราว์เซอร์มักต้องดาวน์โหลดข้อมูลดิบ รันคิวรีรวมกลุ่ม และวาดภาพใหม่ทั้งหมด ทำให้ผู้ใช้งานคนแรกต้องรอคอยความหน่วงแบบ Cold-Start ผู้วิจัยจึงจำแนกตัวชี้วัดประสิทธิภาพออกเป็นสองส่วน คือ TTR หรือเวลาจนภาพแสดงผลสมบูรณ์ ซึ่งสะท้อนความเร็วที่ผู้ใช้รับรู้จริง และ TTA หรือเวลาจนระบบพร้อมรับการคลิกหรือฟิลเตอร์โต้ตอบ พร้อมทั้งวัดขนาดพื้นที่จัดเก็บเพิ่มเติม หรือ Storage Cost เพื่อประเมินความคุ้มค่าเชิงวิศวกรรม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1 and 3.1, PDF pages 1–2.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65–110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สถาปัตยกรรม Mosaic Publisher แบ่งกระบวนการช่วงเผยแพร่ออกเป็นสามขั้นตอนหลัก เริ่มจากการวิเคราะห์โครงสร้าง Abstract Syntax Tree และจำลอง Virtual DOM เพื่อระบุคิวรีที่จำเป็น จากนั้นใช้ DuckDB คำนวณผลลัพธ์ล่วงหน้าและจัดเก็บเป็นไฟล์ แล้วทำการปรับแก้โค้ดเพื่อสร้าง JavaScript Runtime Bundle ผลลัพธ์ที่ส่งมอบให้เบราว์เซอร์ประกอบด้วยข้อมูลที่ตัดทอนคอลัมน์แล้ว ผลคิวรีสำเร็จรูปสำหรับเติมแคช และภาพร่างเริ่มต้น โดยนักพัฒนายังคงใช้ไวยากรณ์เดิมของระบบได้ทั้งหมด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1, PDF page 1. Sections 3.2–3.4 and 4.1–4.3, PDF pages 2–3.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110–155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สำหรับมุมมองแบบสถิต ระบบสามารถส่งภาพ SVG หรือ Canvas ที่วาดเสร็จแล้วให้แสดงผลได้ทันทีโดยไม่ต้องพึ่งพาสคริปต์ แต่สำหรับมุมมองแบบโต้ตอบ แม้ภาพเริ่มต้นจะปรากฏรวดเร็ว ผู้ใช้งานยังต้องรอขั้นตอน Hydration เพื่อให้เบราว์เซอร์เริ่มทำงานคอมโพเนนต์และผูก Event ผลการทดลองในรูปที่ 4 พบว่าขั้นตอน Hydration ยังมีต้นทุนเวลาใกล้เคียงกับการเรนเดอร์ใหม่ทั้งหมด ทำให้ภาพปรากฏเร็วขึ้นมาก แต่เวลาพร้อมโต้ตอบยังลดลงได้จำกัด ซึ่งการพัฒนา Progressive Hydration เป็นโจทย์วิจัยสำคัญต่อไป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 4.3, PDF page 3. Figure 4 and Section 5, PDF page 4.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155–215 วินาที (60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ผลการทดสอบกับ 5 ชุดแสดงผลจริง ตั้งแต่ข้อมูลหนึ่งหมื่นแถวจนถึงสิบล้านแถวในตารางที่ 1 ระบุว่าชุดปรับปรุงรวมสามารถลด TTR ได้เฉลี่ย 83.7% และลด TTA ลงเฉลี่ย 33.3% โดยมีกลไกแคชล่วงหน้าเป็นปัจจัยหลักที่ช่วยลด TTA ได้ 32.3% ขณะที่การเรนเดอร์ภาพล่วงหน้าช่วยลด TTA เพิ่มเติมเพียง 1.0% เมื่อเทียบกับ Baseline เดียวกัน ทั้งนี้ระบบต้องแลกกับพื้นที่จัดเก็บเพิ่มเติมเฉลี่ย 21.2% ซึ่งถือเป็นการแลกเปลี่ยนที่คุ้มค่าสำหรับเว็บแอปพลิเคชันยุคใหม่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3 and Table 1, PDF page 4. Table values: mean ± sigma across specifications and dataset sizes.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215–250 วินาที (35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คุณูปการทางวิชาการของงานวิจัยนี้ คือการสร้างไปป์ไลน์ปรับปรุงประสิทธิภาพแบบแบ่งชั้นที่รักษาไวยากรณ์เดิม การนำเสนอกรอบการประเมินแบบคู่ขนานระหว่าง TTR และ TTA ร่วมกับมิติพื้นที่จัดเก็บ และการยืนยันประสิทธิผลเชิงประจักษ์กับข้อมูลขนาดใหญ่ ในด้านการนำไปประยุกต์ใช้งานจริง สถาปัตยกรรมนี้นำไปใช้ลดความหน่วงเริ่มต้นของแดชบอร์ดวิเคราะห์ข้อมูล การกระจายไฟล์แคชผ่าน Edge CDN เพื่อลดภาระเซิร์ฟเวอร์ และเป็นแนวทางพัฒนาระบบ In-Browser OLAP ร่วมกับ DuckDB-WASM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1, 3 and 5, PDF pages 1–4.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250–295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ข้อจำกัดสำคัญของระบบคือขั้นตอน Client Hydration ที่ยังเป็นคอขวดหลัก ความผันแปรของพื้นที่จัดเก็บที่มีค่าเบี่ยงเบนมาตรฐานสูงถึง 29.9% และข้อจำกัดจากการทดสอบบนแล็ปท็อปประสิทธิภาพสูงกับข้อมูลสถิต บทสรุปเชิงสถาปัตยกรรมยืนยันว่าการแคชล่วงหน้าเป็นหัวใจของการลดเวลาตอบสนอง ส่วนภาพล่วงหน้าช่วยแก้ปัญหาความหน่วงที่รับรู้ได้ โดยผู้วิจัยเสนอแนวทางพัฒนาในอนาคต ได้แก่ การทำ Progressive Hydration การผสานกลยุทธ์แบบไฮบริดร่วมกับรันไทม์ และระบบคำนวณซ้ำเฉพาะส่วนที่ข้อมูลเปลี่ยนแปลง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Table 1 (Key Takeaways) and Sections 5–6, PDF pages 4–5.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75f2504aa40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b0c3f612fd43d2" /><Relationship Type="http://schemas.openxmlformats.org/officeDocument/2006/relationships/slideLayout" Target="/ppt/slideLayouts/slideLayout1.xml" Id="Ra1930fdcec5c4a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930fdcec5c4a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2780cd44e4737" /><Relationship Type="http://schemas.openxmlformats.org/officeDocument/2006/relationships/notesSlide" Target="/ppt/notesSlides/notesSlide1.xml" Id="R4b94f4869aa741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1a8e97e374570" /><Relationship Type="http://schemas.openxmlformats.org/officeDocument/2006/relationships/notesSlide" Target="/ppt/notesSlides/notesSlide2.xml" Id="R6d48ec95d3b549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01e363cb04521" /><Relationship Type="http://schemas.openxmlformats.org/officeDocument/2006/relationships/image" Target="/ppt/media/image.png" Id="Rc7c5852c9fff482f" /><Relationship Type="http://schemas.openxmlformats.org/officeDocument/2006/relationships/notesSlide" Target="/ppt/notesSlides/notesSlide3.xml" Id="R28aa03061ee749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1ba7675704ba6" /><Relationship Type="http://schemas.openxmlformats.org/officeDocument/2006/relationships/image" Target="/ppt/media/image2.png" Id="Rcbc56c980ff54c38" /><Relationship Type="http://schemas.openxmlformats.org/officeDocument/2006/relationships/notesSlide" Target="/ppt/notesSlides/notesSlide4.xml" Id="Ree399c1034ad49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765432b5448da" /><Relationship Type="http://schemas.openxmlformats.org/officeDocument/2006/relationships/image" Target="/ppt/media/image3.png" Id="R723ef90846ec443e" /><Relationship Type="http://schemas.openxmlformats.org/officeDocument/2006/relationships/notesSlide" Target="/ppt/notesSlides/notesSlide5.xml" Id="Re7c27e4d222e41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d52b422e2458b" /><Relationship Type="http://schemas.openxmlformats.org/officeDocument/2006/relationships/notesSlide" Target="/ppt/notesSlides/notesSlide6.xml" Id="Rbdcd4c25c26348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7e06da4e7482a" /><Relationship Type="http://schemas.openxmlformats.org/officeDocument/2006/relationships/notesSlide" Target="/ppt/notesSlides/notesSlide7.xml" Id="Rfccff41c5c8a47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D874C3C5-844A-4CFD-A768-89FA9802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272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305432 เครือข่ายเซนเซอร์ (Sensor Networks)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C1DA218-7308-4979-B198-C9C79DA4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272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Optimizations</a:t>
            </a:r>
          </a:p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for Web-Based Visualizations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85F5807-8CAB-430D-873D-11B57D83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272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การเพิ่มประสิทธิภาพเว็บแสดงภาพข้อมูลเชิงโต้ตอบด้วยการประมวลผลล่วงหน้าช่วงเผยแพร่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7F58674E-FE1E-44BD-AAB7-2CA131ED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20193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66F8668-1032-46C6-8A49-7E4411E3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272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Ron Pechuk, Jeffrey Heer</a:t>
            </a:r>
          </a:p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University of Washington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DF5403C9-FF0F-4ED4-82C9-5D5887D6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2025 IEEE Visualization and Visual Analytics (VIS), pp. 226–230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4557A45-6F9B-4150-8B18-B908AB51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IEEE Doc ID: 11298742     DOI: 10.1109/VIS60296.2025.00051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4E6322D2-477A-4741-8953-25BB1812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43700"/>
            <a:ext cx="1272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นำเสนอโดย นายธีรภัทร ภู่ระย้า     รหัสนิสิต 66362416</a:t>
            </a:r>
          </a:p>
        </p:txBody>
      </p:sp>
    </p:spTree>
    <p:extLst>
      <p:ext uri="{BB962C8B-B14F-4D97-AF65-F5344CB8AC3E}">
        <p14:creationId xmlns:p14="http://schemas.microsoft.com/office/powerpoint/2010/main" val="2077449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hape-9">
            <a:extLst xmlns:a="http://schemas.openxmlformats.org/drawingml/2006/main">
              <a:ext uri="{FF2B5EF4-FFF2-40B4-BE49-F238E27FC236}">
                <a16:creationId xmlns:a16="http://schemas.microsoft.com/office/drawing/2014/main" id="{916CD9B1-BF82-4689-B84D-1ED838EB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2CD81091-E6A1-4C2E-B576-59A01F2E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ที่มา ปัญหาความหน่วง และตัวชี้วัดประสิทธิภาพเว็บ</a:t>
            </a:r>
          </a:p>
        </p:txBody>
      </p:sp>
      <p:sp>
        <p:nvSpPr>
          <p:cNvPr id="3" name="shape-11">
            <a:extLst xmlns:a="http://schemas.openxmlformats.org/drawingml/2006/main">
              <a:ext uri="{FF2B5EF4-FFF2-40B4-BE49-F238E27FC236}">
                <a16:creationId xmlns:a16="http://schemas.microsoft.com/office/drawing/2014/main" id="{3BE605F0-C21E-49A4-86BB-07C8F5BD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2220C34E-590F-4A49-ABC1-8A9408E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80878A69-154A-44E5-BE22-C1372432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6" name="shape-14">
            <a:extLst xmlns:a="http://schemas.openxmlformats.org/drawingml/2006/main">
              <a:ext uri="{FF2B5EF4-FFF2-40B4-BE49-F238E27FC236}">
                <a16:creationId xmlns:a16="http://schemas.microsoft.com/office/drawing/2014/main" id="{AA146861-C98F-441E-B5F6-AF9BD148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423D4222-0B71-4163-A383-696CE4DC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คอขวดประสิทธิภาพของเว็บแสดงภาพข้อมูล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495D7E2C-BFC1-4A6B-8FF2-5CD45E63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002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4323371F-2AE2-45AD-89F0-C43C2386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0025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ภาระประมวลผลซ้ำซ้อนฝั่ง Client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12237ABF-9330-4A24-B6FA-F3637C5A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2410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เบราว์เซอร์ต้องโหลดข้อมูลดิบ รันคิวรีรวมกลุ่ม และวาดภาพใหม่ทุกครั้ง</a:t>
            </a:r>
          </a:p>
        </p:txBody>
      </p:sp>
      <p:sp>
        <p:nvSpPr>
          <p:cNvPr id="11" name="shape-19">
            <a:extLst xmlns:a="http://schemas.openxmlformats.org/drawingml/2006/main">
              <a:ext uri="{FF2B5EF4-FFF2-40B4-BE49-F238E27FC236}">
                <a16:creationId xmlns:a16="http://schemas.microsoft.com/office/drawing/2014/main" id="{5A98EBF1-9A88-4F32-9A28-2E5B47A3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10515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FD7B831F-EAEC-448F-8D9C-13B0B85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FE3703E0-B741-436F-AF46-DFDC6B38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23850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ปัญหา Cold-Start ของ Runtime Cache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D80BC3DE-C8A3-4D47-90F0-B1D74365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56235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แคชที่สร้างตอนใช้งาน ผู้ใช้คนแรก (First Visitor) ต้องรับ Latency สูงสุด</a:t>
            </a:r>
          </a:p>
        </p:txBody>
      </p:sp>
      <p:sp>
        <p:nvSpPr>
          <p:cNvPr id="15" name="shape-23">
            <a:extLst xmlns:a="http://schemas.openxmlformats.org/drawingml/2006/main">
              <a:ext uri="{FF2B5EF4-FFF2-40B4-BE49-F238E27FC236}">
                <a16:creationId xmlns:a16="http://schemas.microsoft.com/office/drawing/2014/main" id="{DCD859CE-10BB-45AC-AC36-DA914EDE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34340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273886BD-E497-45F4-811B-477BD661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476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B700983F-A35D-4D62-B3F4-F7F16482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47675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ความไม่สอดคล้องของภาพและการโต้ตอบ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ED8DED0F-6654-4D90-9CFB-44476611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80060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ภาพเริ่มต้นปรากฏแล้ว แต่ระบบภายในยังไม่พร้อมรับอินพุตหรือการฟิลเตอร์</a:t>
            </a:r>
          </a:p>
        </p:txBody>
      </p:sp>
      <p:sp>
        <p:nvSpPr>
          <p:cNvPr id="19" name="shape-27">
            <a:extLst xmlns:a="http://schemas.openxmlformats.org/drawingml/2006/main">
              <a:ext uri="{FF2B5EF4-FFF2-40B4-BE49-F238E27FC236}">
                <a16:creationId xmlns:a16="http://schemas.microsoft.com/office/drawing/2014/main" id="{7867774A-799C-4C93-A849-9DACFA09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1A489CEA-E8FF-4103-9416-158EE7BF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715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F8901CF9-BBF4-4EC5-865E-47629BEF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71500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Trade-off ของการเตรียมข้อมูลล่วงหน้า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04E6178D-47D3-4AE5-B608-D30FBD57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603885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การสร้างแคชล่วงหน้าช่วยลดความหน่วง แต่แลกมาด้วยพื้นที่และความสดข้อมูล</a:t>
            </a:r>
          </a:p>
        </p:txBody>
      </p:sp>
      <p:sp>
        <p:nvSpPr>
          <p:cNvPr id="23" name="shape-31">
            <a:extLst xmlns:a="http://schemas.openxmlformats.org/drawingml/2006/main">
              <a:ext uri="{FF2B5EF4-FFF2-40B4-BE49-F238E27FC236}">
                <a16:creationId xmlns:a16="http://schemas.microsoft.com/office/drawing/2014/main" id="{6E01C9BE-0E92-444F-A493-26B512A9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1876425"/>
          </a:xfrm>
          <a:prstGeom xmlns:a="http://schemas.openxmlformats.org/drawingml/2006/main" prst="roundRect">
            <a:avLst>
              <a:gd name="adj" fmla="val 50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32">
            <a:extLst xmlns:a="http://schemas.openxmlformats.org/drawingml/2006/main">
              <a:ext uri="{FF2B5EF4-FFF2-40B4-BE49-F238E27FC236}">
                <a16:creationId xmlns:a16="http://schemas.microsoft.com/office/drawing/2014/main" id="{25026554-35E6-4B4E-86FD-31E9496B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TTR (Time-to-Render) · เวลาจนภาพปรากฏ</a:t>
            </a:r>
          </a:p>
        </p:txBody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8D42E0F6-62F6-4F61-8A1D-77548707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8478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เวลาตั้งแต่เริ่มส่งคำขอ จนเห็น Visualization แสดงผลสมบูรณ์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2855819A-B094-413E-A273-39BE5CCF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4193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ชี้วัดความเร็วที่ผู้ใช้รับรู้ได้จริง (Perceived Latency) ไม่นับรวมเฉพาะ Header</a:t>
            </a:r>
          </a:p>
        </p:txBody>
      </p:sp>
      <p:sp>
        <p:nvSpPr>
          <p:cNvPr id="27" name="shape-35">
            <a:extLst xmlns:a="http://schemas.openxmlformats.org/drawingml/2006/main">
              <a:ext uri="{FF2B5EF4-FFF2-40B4-BE49-F238E27FC236}">
                <a16:creationId xmlns:a16="http://schemas.microsoft.com/office/drawing/2014/main" id="{EE1EEDF6-6227-4D56-A009-F647EF74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3276600"/>
            <a:ext cx="6324600" cy="1876425"/>
          </a:xfrm>
          <a:prstGeom xmlns:a="http://schemas.openxmlformats.org/drawingml/2006/main" prst="roundRect">
            <a:avLst>
              <a:gd name="adj" fmla="val 50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36">
            <a:extLst xmlns:a="http://schemas.openxmlformats.org/drawingml/2006/main">
              <a:ext uri="{FF2B5EF4-FFF2-40B4-BE49-F238E27FC236}">
                <a16:creationId xmlns:a16="http://schemas.microsoft.com/office/drawing/2014/main" id="{C8EB6BEB-C288-4E8B-8A51-C45E1216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5052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TTA (Time-to-Activation) · เวลาจนพร้อมโต้ตอบ</a:t>
            </a:r>
          </a:p>
        </p:txBody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BEBFFFD6-AD23-4990-B604-20088A72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862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เวลาจนกระทั่งระบบพร้อมรับการกรอง (Filter), ซูม หรือเลือกข้อมูล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35B50706-27D2-46AA-A979-541E598A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44577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ชี้วัดความพร้อมใช้งานจริง โดยแยกขาดจากเวลาที่ภาพปรากฏบนจออย่างชัดเจน</a:t>
            </a:r>
          </a:p>
        </p:txBody>
      </p:sp>
      <p:sp>
        <p:nvSpPr>
          <p:cNvPr id="31" name="shape-39">
            <a:extLst xmlns:a="http://schemas.openxmlformats.org/drawingml/2006/main">
              <a:ext uri="{FF2B5EF4-FFF2-40B4-BE49-F238E27FC236}">
                <a16:creationId xmlns:a16="http://schemas.microsoft.com/office/drawing/2014/main" id="{BBB41604-923D-4E31-BE11-9A79480B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5314950"/>
            <a:ext cx="6324600" cy="1876425"/>
          </a:xfrm>
          <a:prstGeom xmlns:a="http://schemas.openxmlformats.org/drawingml/2006/main" prst="roundRect">
            <a:avLst>
              <a:gd name="adj" fmla="val 50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32" name="text-40">
            <a:extLst xmlns:a="http://schemas.openxmlformats.org/drawingml/2006/main">
              <a:ext uri="{FF2B5EF4-FFF2-40B4-BE49-F238E27FC236}">
                <a16:creationId xmlns:a16="http://schemas.microsoft.com/office/drawing/2014/main" id="{24491407-B0AC-469F-AFBF-9769ED0D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435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SC (Storage Cost) · ขนาดพื้นที่จัดเก็บเพิ่มเติม</a:t>
            </a:r>
          </a:p>
        </p:txBody>
      </p:sp>
      <p:sp>
        <p:nvSpPr>
          <p:cNvPr id="33" name="text-41">
            <a:extLst xmlns:a="http://schemas.openxmlformats.org/drawingml/2006/main">
              <a:ext uri="{FF2B5EF4-FFF2-40B4-BE49-F238E27FC236}">
                <a16:creationId xmlns:a16="http://schemas.microsoft.com/office/drawing/2014/main" id="{37AD3C4C-4750-4213-8389-F803B862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9245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ขนาดพื้นที่จัดเก็บไฟล์แคชและข้อมูลรวมกลุ่มที่เพิ่มขึ้นบนเซิร์ฟเวอร์</a:t>
            </a:r>
          </a:p>
        </p:txBody>
      </p:sp>
      <p:sp>
        <p:nvSpPr>
          <p:cNvPr id="34" name="text-42">
            <a:extLst xmlns:a="http://schemas.openxmlformats.org/drawingml/2006/main">
              <a:ext uri="{FF2B5EF4-FFF2-40B4-BE49-F238E27FC236}">
                <a16:creationId xmlns:a16="http://schemas.microsoft.com/office/drawing/2014/main" id="{60DF5C22-B441-44C4-B432-832804FD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64960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ประเมินต้นทุนพื้นที่จัดเก็บข้อมูลบนเซิร์ฟเวอร์ที่ต้องแลกกับความเร็วในการโหลด</a:t>
            </a:r>
          </a:p>
        </p:txBody>
      </p:sp>
      <p:sp>
        <p:nvSpPr>
          <p:cNvPr id="35" name="text-43">
            <a:extLst xmlns:a="http://schemas.openxmlformats.org/drawingml/2006/main">
              <a:ext uri="{FF2B5EF4-FFF2-40B4-BE49-F238E27FC236}">
                <a16:creationId xmlns:a16="http://schemas.microsoft.com/office/drawing/2014/main" id="{37B53D62-592E-4DF1-A8EC-0B291057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 และ 3.1 (หน้า PDF 1–2)</a:t>
            </a:r>
          </a:p>
        </p:txBody>
      </p:sp>
    </p:spTree>
    <p:extLst>
      <p:ext uri="{BB962C8B-B14F-4D97-AF65-F5344CB8AC3E}">
        <p14:creationId xmlns:p14="http://schemas.microsoft.com/office/powerpoint/2010/main" val="1961934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44">
            <a:extLst xmlns:a="http://schemas.openxmlformats.org/drawingml/2006/main">
              <a:ext uri="{FF2B5EF4-FFF2-40B4-BE49-F238E27FC236}">
                <a16:creationId xmlns:a16="http://schemas.microsoft.com/office/drawing/2014/main" id="{8E5AA168-6512-40F3-96BD-3E7AF30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45">
            <a:extLst xmlns:a="http://schemas.openxmlformats.org/drawingml/2006/main">
              <a:ext uri="{FF2B5EF4-FFF2-40B4-BE49-F238E27FC236}">
                <a16:creationId xmlns:a16="http://schemas.microsoft.com/office/drawing/2014/main" id="{774D6643-926E-4197-AC65-B7C661AD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 (Mosaic Publisher)</a:t>
            </a:r>
          </a:p>
        </p:txBody>
      </p:sp>
      <p:sp>
        <p:nvSpPr>
          <p:cNvPr id="3" name="shape-46">
            <a:extLst xmlns:a="http://schemas.openxmlformats.org/drawingml/2006/main">
              <a:ext uri="{FF2B5EF4-FFF2-40B4-BE49-F238E27FC236}">
                <a16:creationId xmlns:a16="http://schemas.microsoft.com/office/drawing/2014/main" id="{C1A52482-8FDB-4AB4-A596-6C8F74B8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E6AC243C-BB2A-404F-9D13-7FEDC845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48">
            <a:extLst xmlns:a="http://schemas.openxmlformats.org/drawingml/2006/main">
              <a:ext uri="{FF2B5EF4-FFF2-40B4-BE49-F238E27FC236}">
                <a16:creationId xmlns:a16="http://schemas.microsoft.com/office/drawing/2014/main" id="{066B0A08-C26E-4FF4-A811-28FE0FCE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6" name="shape-49">
            <a:extLst xmlns:a="http://schemas.openxmlformats.org/drawingml/2006/main">
              <a:ext uri="{FF2B5EF4-FFF2-40B4-BE49-F238E27FC236}">
                <a16:creationId xmlns:a16="http://schemas.microsoft.com/office/drawing/2014/main" id="{AC728E8B-43BD-45CA-86CF-CD00E59F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229600" cy="3667125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421E388B-816E-42EA-A8A3-0FA5BC08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5852c9fff482f"/>
          <a:stretch xmlns:a="http://schemas.openxmlformats.org/drawingml/2006/main"/>
        </p:blipFill>
        <p:spPr>
          <a:xfrm xmlns:a="http://schemas.openxmlformats.org/drawingml/2006/main">
            <a:off x="1270469" y="1866900"/>
            <a:ext cx="7334582" cy="2428875"/>
          </a:xfrm>
          <a:prstGeom xmlns:a="http://schemas.openxmlformats.org/drawingml/2006/main" prst="rect">
            <a:avLst/>
          </a:prstGeom>
        </p:spPr>
      </p:pic>
      <p:sp>
        <p:nvSpPr>
          <p:cNvPr id="9" name="text-51">
            <a:extLst xmlns:a="http://schemas.openxmlformats.org/drawingml/2006/main">
              <a:ext uri="{FF2B5EF4-FFF2-40B4-BE49-F238E27FC236}">
                <a16:creationId xmlns:a16="http://schemas.microsoft.com/office/drawing/2014/main" id="{AC96C016-8841-4B68-9F40-46FABE13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4100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1: การแบ่งกลุ่มงาน 3 ส่วนที่ย้ายไปทำล่วงหน้าก่อนผู้ใช้ส่งคำขอ (หน้า PDF 1)</a:t>
            </a:r>
          </a:p>
        </p:txBody>
      </p:sp>
      <p:sp>
        <p:nvSpPr>
          <p:cNvPr id="10" name="shape-52">
            <a:extLst xmlns:a="http://schemas.openxmlformats.org/drawingml/2006/main">
              <a:ext uri="{FF2B5EF4-FFF2-40B4-BE49-F238E27FC236}">
                <a16:creationId xmlns:a16="http://schemas.microsoft.com/office/drawing/2014/main" id="{D568DA1A-E57B-44D9-AA0D-FA950DBF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6825"/>
            <a:ext cx="8229600" cy="211455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53">
            <a:extLst xmlns:a="http://schemas.openxmlformats.org/drawingml/2006/main">
              <a:ext uri="{FF2B5EF4-FFF2-40B4-BE49-F238E27FC236}">
                <a16:creationId xmlns:a16="http://schemas.microsoft.com/office/drawing/2014/main" id="{5C3537A1-86F0-4544-9FE2-EA4CDBE2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054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ขั้นตอนการประมวลผลของ Publisher</a:t>
            </a:r>
          </a:p>
        </p:txBody>
      </p:sp>
      <p:sp>
        <p:nvSpPr>
          <p:cNvPr id="12" name="shape-54">
            <a:extLst xmlns:a="http://schemas.openxmlformats.org/drawingml/2006/main">
              <a:ext uri="{FF2B5EF4-FFF2-40B4-BE49-F238E27FC236}">
                <a16:creationId xmlns:a16="http://schemas.microsoft.com/office/drawing/2014/main" id="{C0E0EF98-083A-4591-BC03-13FFBCD8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55">
            <a:extLst xmlns:a="http://schemas.openxmlformats.org/drawingml/2006/main">
              <a:ext uri="{FF2B5EF4-FFF2-40B4-BE49-F238E27FC236}">
                <a16:creationId xmlns:a16="http://schemas.microsoft.com/office/drawing/2014/main" id="{C0DE17FD-0D24-4AD9-AF57-11DB473D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วิเคราะห์ AST &amp;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จำลอง Virtual DOM</a:t>
            </a:r>
          </a:p>
        </p:txBody>
      </p:sp>
      <p:sp>
        <p:nvSpPr>
          <p:cNvPr id="14" name="shape-56">
            <a:extLst xmlns:a="http://schemas.openxmlformats.org/drawingml/2006/main">
              <a:ext uri="{FF2B5EF4-FFF2-40B4-BE49-F238E27FC236}">
                <a16:creationId xmlns:a16="http://schemas.microsoft.com/office/drawing/2014/main" id="{9F9A9342-23AF-437C-8C1B-ACF8B97A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57">
            <a:extLst xmlns:a="http://schemas.openxmlformats.org/drawingml/2006/main">
              <a:ext uri="{FF2B5EF4-FFF2-40B4-BE49-F238E27FC236}">
                <a16:creationId xmlns:a16="http://schemas.microsoft.com/office/drawing/2014/main" id="{506F96B2-699D-46AE-9276-6B31D95B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14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58">
            <a:extLst xmlns:a="http://schemas.openxmlformats.org/drawingml/2006/main">
              <a:ext uri="{FF2B5EF4-FFF2-40B4-BE49-F238E27FC236}">
                <a16:creationId xmlns:a16="http://schemas.microsoft.com/office/drawing/2014/main" id="{61E88388-CA77-4A59-9390-51B004DD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59">
            <a:extLst xmlns:a="http://schemas.openxmlformats.org/drawingml/2006/main">
              <a:ext uri="{FF2B5EF4-FFF2-40B4-BE49-F238E27FC236}">
                <a16:creationId xmlns:a16="http://schemas.microsoft.com/office/drawing/2014/main" id="{5B05632B-21C6-4A7B-BC96-258AF992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คำนวณคิวรีล่วงหน้า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ผ่าน DuckDB</a:t>
            </a:r>
          </a:p>
        </p:txBody>
      </p:sp>
      <p:sp>
        <p:nvSpPr>
          <p:cNvPr id="18" name="shape-60">
            <a:extLst xmlns:a="http://schemas.openxmlformats.org/drawingml/2006/main">
              <a:ext uri="{FF2B5EF4-FFF2-40B4-BE49-F238E27FC236}">
                <a16:creationId xmlns:a16="http://schemas.microsoft.com/office/drawing/2014/main" id="{2CACBC2D-DA6D-4432-9F19-2DD4B552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61">
            <a:extLst xmlns:a="http://schemas.openxmlformats.org/drawingml/2006/main">
              <a:ext uri="{FF2B5EF4-FFF2-40B4-BE49-F238E27FC236}">
                <a16:creationId xmlns:a16="http://schemas.microsoft.com/office/drawing/2014/main" id="{77EB7AAC-ADCA-4428-8B4F-26AA8040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03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62">
            <a:extLst xmlns:a="http://schemas.openxmlformats.org/drawingml/2006/main">
              <a:ext uri="{FF2B5EF4-FFF2-40B4-BE49-F238E27FC236}">
                <a16:creationId xmlns:a16="http://schemas.microsoft.com/office/drawing/2014/main" id="{D8D4E102-78C6-4FE8-A84A-9ADFB99B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63">
            <a:extLst xmlns:a="http://schemas.openxmlformats.org/drawingml/2006/main">
              <a:ext uri="{FF2B5EF4-FFF2-40B4-BE49-F238E27FC236}">
                <a16:creationId xmlns:a16="http://schemas.microsoft.com/office/drawing/2014/main" id="{95EFAD0F-45B1-4AF4-93E6-07618CA6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8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Rewrite AST &amp;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สร้าง JS Bundle</a:t>
            </a:r>
          </a:p>
        </p:txBody>
      </p:sp>
      <p:sp>
        <p:nvSpPr>
          <p:cNvPr id="22" name="text-64">
            <a:extLst xmlns:a="http://schemas.openxmlformats.org/drawingml/2006/main">
              <a:ext uri="{FF2B5EF4-FFF2-40B4-BE49-F238E27FC236}">
                <a16:creationId xmlns:a16="http://schemas.microsoft.com/office/drawing/2014/main" id="{D5E6C8A9-C8BD-4D96-B494-82E32C44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7151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สรุปกลไกการทำงานจาก Sections 4.1–4.3 (หน้า PDF 2–3)</a:t>
            </a:r>
          </a:p>
        </p:txBody>
      </p:sp>
      <p:sp>
        <p:nvSpPr>
          <p:cNvPr id="23" name="shape-65">
            <a:extLst xmlns:a="http://schemas.openxmlformats.org/drawingml/2006/main">
              <a:ext uri="{FF2B5EF4-FFF2-40B4-BE49-F238E27FC236}">
                <a16:creationId xmlns:a16="http://schemas.microsoft.com/office/drawing/2014/main" id="{5C9E4604-AC82-4096-B49A-5F8A9778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1238250"/>
            <a:ext cx="4419600" cy="5953125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66">
            <a:extLst xmlns:a="http://schemas.openxmlformats.org/drawingml/2006/main">
              <a:ext uri="{FF2B5EF4-FFF2-40B4-BE49-F238E27FC236}">
                <a16:creationId xmlns:a16="http://schemas.microsoft.com/office/drawing/2014/main" id="{FEEE3B22-AF6E-43BF-992B-839CBD73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4668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ชิ้นส่วนผลลัพธ์ส่งมอบให้ไคลเอนต์</a:t>
            </a:r>
          </a:p>
        </p:txBody>
      </p:sp>
      <p:sp>
        <p:nvSpPr>
          <p:cNvPr id="25" name="text-67">
            <a:extLst xmlns:a="http://schemas.openxmlformats.org/drawingml/2006/main">
              <a:ext uri="{FF2B5EF4-FFF2-40B4-BE49-F238E27FC236}">
                <a16:creationId xmlns:a16="http://schemas.microsoft.com/office/drawing/2014/main" id="{B6A45C0E-4349-42F7-8E3E-0FE3CD20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68">
            <a:extLst xmlns:a="http://schemas.openxmlformats.org/drawingml/2006/main">
              <a:ext uri="{FF2B5EF4-FFF2-40B4-BE49-F238E27FC236}">
                <a16:creationId xmlns:a16="http://schemas.microsoft.com/office/drawing/2014/main" id="{C460CB08-1A37-43FD-90B6-D29B6BEC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0383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ข้อมูลจัดระเบียบพร้อมใช้</a:t>
            </a:r>
          </a:p>
        </p:txBody>
      </p:sp>
      <p:sp>
        <p:nvSpPr>
          <p:cNvPr id="27" name="text-69">
            <a:extLst xmlns:a="http://schemas.openxmlformats.org/drawingml/2006/main">
              <a:ext uri="{FF2B5EF4-FFF2-40B4-BE49-F238E27FC236}">
                <a16:creationId xmlns:a16="http://schemas.microsoft.com/office/drawing/2014/main" id="{74EC190E-6922-4506-B6A5-570583B2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3812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กรองเฉพาะคอลัมน์ที่จำเป็นและแปลงข้อมูล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ลดภาระการส่งข้อมูลข้ามเครือข่าย</a:t>
            </a:r>
          </a:p>
        </p:txBody>
      </p:sp>
      <p:sp>
        <p:nvSpPr>
          <p:cNvPr id="28" name="shape-70">
            <a:extLst xmlns:a="http://schemas.openxmlformats.org/drawingml/2006/main">
              <a:ext uri="{FF2B5EF4-FFF2-40B4-BE49-F238E27FC236}">
                <a16:creationId xmlns:a16="http://schemas.microsoft.com/office/drawing/2014/main" id="{334D4C82-CA6A-4C0D-89C8-6A4C4958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60997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71">
            <a:extLst xmlns:a="http://schemas.openxmlformats.org/drawingml/2006/main">
              <a:ext uri="{FF2B5EF4-FFF2-40B4-BE49-F238E27FC236}">
                <a16:creationId xmlns:a16="http://schemas.microsoft.com/office/drawing/2014/main" id="{E1B40120-10F9-4F3D-8D4F-CF762181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72">
            <a:extLst xmlns:a="http://schemas.openxmlformats.org/drawingml/2006/main">
              <a:ext uri="{FF2B5EF4-FFF2-40B4-BE49-F238E27FC236}">
                <a16:creationId xmlns:a16="http://schemas.microsoft.com/office/drawing/2014/main" id="{9A81B7CC-4D5A-4ACB-A2E7-A7631733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38100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ผลคิวรีสำเร็จรูป</a:t>
            </a:r>
          </a:p>
        </p:txBody>
      </p:sp>
      <p:sp>
        <p:nvSpPr>
          <p:cNvPr id="31" name="text-73">
            <a:extLst xmlns:a="http://schemas.openxmlformats.org/drawingml/2006/main">
              <a:ext uri="{FF2B5EF4-FFF2-40B4-BE49-F238E27FC236}">
                <a16:creationId xmlns:a16="http://schemas.microsoft.com/office/drawing/2014/main" id="{40E869BB-C780-40AE-A076-60888E4C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415290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เติมแคชและฐานข้อมูล DuckDB-WASM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ล่วงหน้าผ่าน Mosaic Coordinator</a:t>
            </a:r>
          </a:p>
        </p:txBody>
      </p:sp>
      <p:sp>
        <p:nvSpPr>
          <p:cNvPr id="32" name="shape-74">
            <a:extLst xmlns:a="http://schemas.openxmlformats.org/drawingml/2006/main">
              <a:ext uri="{FF2B5EF4-FFF2-40B4-BE49-F238E27FC236}">
                <a16:creationId xmlns:a16="http://schemas.microsoft.com/office/drawing/2014/main" id="{592BD3D4-E41F-498E-AE62-02F14DD3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3816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75">
            <a:extLst xmlns:a="http://schemas.openxmlformats.org/drawingml/2006/main">
              <a:ext uri="{FF2B5EF4-FFF2-40B4-BE49-F238E27FC236}">
                <a16:creationId xmlns:a16="http://schemas.microsoft.com/office/drawing/2014/main" id="{609143C5-E002-426B-A6D8-098B7336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76">
            <a:extLst xmlns:a="http://schemas.openxmlformats.org/drawingml/2006/main">
              <a:ext uri="{FF2B5EF4-FFF2-40B4-BE49-F238E27FC236}">
                <a16:creationId xmlns:a16="http://schemas.microsoft.com/office/drawing/2014/main" id="{5133E8EC-6804-461A-BCAA-EFF73B66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5816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ภาพเริ่มต้นและชุดสคริปต์</a:t>
            </a:r>
          </a:p>
        </p:txBody>
      </p:sp>
      <p:sp>
        <p:nvSpPr>
          <p:cNvPr id="35" name="text-77">
            <a:extLst xmlns:a="http://schemas.openxmlformats.org/drawingml/2006/main">
              <a:ext uri="{FF2B5EF4-FFF2-40B4-BE49-F238E27FC236}">
                <a16:creationId xmlns:a16="http://schemas.microsoft.com/office/drawing/2014/main" id="{9C3B9F22-D410-4818-A4CA-E68F715A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9245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ส่งภาพเรนเดอร์สำเร็จให้แสดงผลทันที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พร้อมสคริปต์เปิดการโต้ตอบตามหลัง</a:t>
            </a:r>
          </a:p>
        </p:txBody>
      </p:sp>
      <p:sp>
        <p:nvSpPr>
          <p:cNvPr id="36" name="text-78">
            <a:extLst xmlns:a="http://schemas.openxmlformats.org/drawingml/2006/main">
              <a:ext uri="{FF2B5EF4-FFF2-40B4-BE49-F238E27FC236}">
                <a16:creationId xmlns:a16="http://schemas.microsoft.com/office/drawing/2014/main" id="{F7DFC820-6CFC-4C7E-86B8-BBFB7853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3.2–3.4 และ 4.1–4.3 (หน้า PDF 2–3)</a:t>
            </a:r>
          </a:p>
        </p:txBody>
      </p:sp>
    </p:spTree>
    <p:extLst>
      <p:ext uri="{BB962C8B-B14F-4D97-AF65-F5344CB8AC3E}">
        <p14:creationId xmlns:p14="http://schemas.microsoft.com/office/powerpoint/2010/main" val="757651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79">
            <a:extLst xmlns:a="http://schemas.openxmlformats.org/drawingml/2006/main">
              <a:ext uri="{FF2B5EF4-FFF2-40B4-BE49-F238E27FC236}">
                <a16:creationId xmlns:a16="http://schemas.microsoft.com/office/drawing/2014/main" id="{4597B62E-F68B-497E-95BB-086F28D3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80">
            <a:extLst xmlns:a="http://schemas.openxmlformats.org/drawingml/2006/main">
              <a:ext uri="{FF2B5EF4-FFF2-40B4-BE49-F238E27FC236}">
                <a16:creationId xmlns:a16="http://schemas.microsoft.com/office/drawing/2014/main" id="{42D2C817-C76E-4402-AB31-A99DE7F4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กลไก Pre-rendering และต้นทุนของ Client Hydration</a:t>
            </a:r>
          </a:p>
        </p:txBody>
      </p:sp>
      <p:sp>
        <p:nvSpPr>
          <p:cNvPr id="3" name="shape-81">
            <a:extLst xmlns:a="http://schemas.openxmlformats.org/drawingml/2006/main">
              <a:ext uri="{FF2B5EF4-FFF2-40B4-BE49-F238E27FC236}">
                <a16:creationId xmlns:a16="http://schemas.microsoft.com/office/drawing/2014/main" id="{9B3017DF-1FA8-4536-9FCA-7BEE7A1A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82">
            <a:extLst xmlns:a="http://schemas.openxmlformats.org/drawingml/2006/main">
              <a:ext uri="{FF2B5EF4-FFF2-40B4-BE49-F238E27FC236}">
                <a16:creationId xmlns:a16="http://schemas.microsoft.com/office/drawing/2014/main" id="{C7F376E0-EBEA-4D62-B0FF-A8F2A63C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83">
            <a:extLst xmlns:a="http://schemas.openxmlformats.org/drawingml/2006/main">
              <a:ext uri="{FF2B5EF4-FFF2-40B4-BE49-F238E27FC236}">
                <a16:creationId xmlns:a16="http://schemas.microsoft.com/office/drawing/2014/main" id="{F0DEB0E8-BC42-4861-A9AD-0120423F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6" name="shape-84">
            <a:extLst xmlns:a="http://schemas.openxmlformats.org/drawingml/2006/main">
              <a:ext uri="{FF2B5EF4-FFF2-40B4-BE49-F238E27FC236}">
                <a16:creationId xmlns:a16="http://schemas.microsoft.com/office/drawing/2014/main" id="{B4DE072E-6BEC-4AC5-8328-D17E2166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767715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85">
            <a:extLst xmlns:a="http://schemas.openxmlformats.org/drawingml/2006/main">
              <a:ext uri="{FF2B5EF4-FFF2-40B4-BE49-F238E27FC236}">
                <a16:creationId xmlns:a16="http://schemas.microsoft.com/office/drawing/2014/main" id="{25259FE1-B269-45A5-8887-EB40E7C2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การแยกสัดส่วนความหน่วงและคอขวด Hydration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56c980ff54c38"/>
          <a:stretch xmlns:a="http://schemas.openxmlformats.org/drawingml/2006/main"/>
        </p:blipFill>
        <p:spPr>
          <a:xfrm xmlns:a="http://schemas.openxmlformats.org/drawingml/2006/main">
            <a:off x="1536057" y="1866900"/>
            <a:ext cx="6250956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text-86">
            <a:extLst xmlns:a="http://schemas.openxmlformats.org/drawingml/2006/main">
              <a:ext uri="{FF2B5EF4-FFF2-40B4-BE49-F238E27FC236}">
                <a16:creationId xmlns:a16="http://schemas.microsoft.com/office/drawing/2014/main" id="{417D11C4-BB5F-4661-A5F0-021E0ADF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0767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4: สัดส่วนเวลาเฉลี่ยจาก 5 กรณีทดสอบ ที่ขนาดข้อมูล 10 ล้านแถว (หน้า PDF 4)</a:t>
            </a:r>
          </a:p>
        </p:txBody>
      </p:sp>
      <p:sp>
        <p:nvSpPr>
          <p:cNvPr id="10" name="shape-87">
            <a:extLst xmlns:a="http://schemas.openxmlformats.org/drawingml/2006/main">
              <a:ext uri="{FF2B5EF4-FFF2-40B4-BE49-F238E27FC236}">
                <a16:creationId xmlns:a16="http://schemas.microsoft.com/office/drawing/2014/main" id="{7D75E26C-C18A-439F-9E85-AD3C48BF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3450"/>
            <a:ext cx="7677150" cy="2447925"/>
          </a:xfrm>
          <a:prstGeom xmlns:a="http://schemas.openxmlformats.org/drawingml/2006/main" prst="roundRect">
            <a:avLst>
              <a:gd name="adj" fmla="val 3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88">
            <a:extLst xmlns:a="http://schemas.openxmlformats.org/drawingml/2006/main">
              <a:ext uri="{FF2B5EF4-FFF2-40B4-BE49-F238E27FC236}">
                <a16:creationId xmlns:a16="http://schemas.microsoft.com/office/drawing/2014/main" id="{9FBD1CB9-1236-498E-AF57-CD22D8EA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9720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ลำดับเหตุการณ์การแสดงผลและการเปิดระบบโต้ตอบ</a:t>
            </a:r>
          </a:p>
        </p:txBody>
      </p:sp>
      <p:sp>
        <p:nvSpPr>
          <p:cNvPr id="12" name="shape-89">
            <a:extLst xmlns:a="http://schemas.openxmlformats.org/drawingml/2006/main">
              <a:ext uri="{FF2B5EF4-FFF2-40B4-BE49-F238E27FC236}">
                <a16:creationId xmlns:a16="http://schemas.microsoft.com/office/drawing/2014/main" id="{C6AB24FA-0A78-4814-9466-B2B22C99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90">
            <a:extLst xmlns:a="http://schemas.openxmlformats.org/drawingml/2006/main">
              <a:ext uri="{FF2B5EF4-FFF2-40B4-BE49-F238E27FC236}">
                <a16:creationId xmlns:a16="http://schemas.microsoft.com/office/drawing/2014/main" id="{07B2012D-4DF0-48F8-9D17-B3C392B6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ภาพเริ่มต้นปรากฏ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(TTR เร็วขึ้น 83.7%)</a:t>
            </a:r>
          </a:p>
        </p:txBody>
      </p:sp>
      <p:sp>
        <p:nvSpPr>
          <p:cNvPr id="14" name="shape-91">
            <a:extLst xmlns:a="http://schemas.openxmlformats.org/drawingml/2006/main">
              <a:ext uri="{FF2B5EF4-FFF2-40B4-BE49-F238E27FC236}">
                <a16:creationId xmlns:a16="http://schemas.microsoft.com/office/drawing/2014/main" id="{0CD10C80-09E8-417D-9B6F-6E47A707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91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92">
            <a:extLst xmlns:a="http://schemas.openxmlformats.org/drawingml/2006/main">
              <a:ext uri="{FF2B5EF4-FFF2-40B4-BE49-F238E27FC236}">
                <a16:creationId xmlns:a16="http://schemas.microsoft.com/office/drawing/2014/main" id="{1C44F1A2-FB76-4547-9B9D-D8D6E166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7726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93">
            <a:extLst xmlns:a="http://schemas.openxmlformats.org/drawingml/2006/main">
              <a:ext uri="{FF2B5EF4-FFF2-40B4-BE49-F238E27FC236}">
                <a16:creationId xmlns:a16="http://schemas.microsoft.com/office/drawing/2014/main" id="{957BC734-9DF8-4211-80E7-088A8C9D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51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94">
            <a:extLst xmlns:a="http://schemas.openxmlformats.org/drawingml/2006/main">
              <a:ext uri="{FF2B5EF4-FFF2-40B4-BE49-F238E27FC236}">
                <a16:creationId xmlns:a16="http://schemas.microsoft.com/office/drawing/2014/main" id="{E8C1DD49-2F51-4F7A-840F-0C4B9CBE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6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คอมไพล์และรัน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Client Hydration</a:t>
            </a:r>
          </a:p>
        </p:txBody>
      </p:sp>
      <p:sp>
        <p:nvSpPr>
          <p:cNvPr id="18" name="shape-95">
            <a:extLst xmlns:a="http://schemas.openxmlformats.org/drawingml/2006/main">
              <a:ext uri="{FF2B5EF4-FFF2-40B4-BE49-F238E27FC236}">
                <a16:creationId xmlns:a16="http://schemas.microsoft.com/office/drawing/2014/main" id="{5651F0FE-3B6B-41ED-B000-A9F26803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6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96">
            <a:extLst xmlns:a="http://schemas.openxmlformats.org/drawingml/2006/main">
              <a:ext uri="{FF2B5EF4-FFF2-40B4-BE49-F238E27FC236}">
                <a16:creationId xmlns:a16="http://schemas.microsoft.com/office/drawing/2014/main" id="{D56B11E8-B024-4314-9A4D-95AE0587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2201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97">
            <a:extLst xmlns:a="http://schemas.openxmlformats.org/drawingml/2006/main">
              <a:ext uri="{FF2B5EF4-FFF2-40B4-BE49-F238E27FC236}">
                <a16:creationId xmlns:a16="http://schemas.microsoft.com/office/drawing/2014/main" id="{E83306E2-CB79-4D30-9708-47372C3D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2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98">
            <a:extLst xmlns:a="http://schemas.openxmlformats.org/drawingml/2006/main">
              <a:ext uri="{FF2B5EF4-FFF2-40B4-BE49-F238E27FC236}">
                <a16:creationId xmlns:a16="http://schemas.microsoft.com/office/drawing/2014/main" id="{6DE05C67-A1B8-4D16-92CF-705741BD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5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พร้อมรับอินพุต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(TTA ลดลง 33.3%)</a:t>
            </a:r>
          </a:p>
        </p:txBody>
      </p:sp>
      <p:sp>
        <p:nvSpPr>
          <p:cNvPr id="22" name="text-99">
            <a:extLst xmlns:a="http://schemas.openxmlformats.org/drawingml/2006/main">
              <a:ext uri="{FF2B5EF4-FFF2-40B4-BE49-F238E27FC236}">
                <a16:creationId xmlns:a16="http://schemas.microsoft.com/office/drawing/2014/main" id="{BEB27A8C-FA0F-4604-8344-09245ABF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5151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ผังสรุปลำดับเหตุการณ์จาก Section 4.3 (แสดงขั้นตอน ไม่ใช่แกนเวลา Benchmark)</a:t>
            </a:r>
          </a:p>
        </p:txBody>
      </p:sp>
      <p:sp>
        <p:nvSpPr>
          <p:cNvPr id="23" name="shape-100">
            <a:extLst xmlns:a="http://schemas.openxmlformats.org/drawingml/2006/main">
              <a:ext uri="{FF2B5EF4-FFF2-40B4-BE49-F238E27FC236}">
                <a16:creationId xmlns:a16="http://schemas.microsoft.com/office/drawing/2014/main" id="{A1EFAAB7-5A29-4F0A-99BF-C3E19598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390" y="1238250"/>
            <a:ext cx="4972050" cy="5953125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01">
            <a:extLst xmlns:a="http://schemas.openxmlformats.org/drawingml/2006/main">
              <a:ext uri="{FF2B5EF4-FFF2-40B4-BE49-F238E27FC236}">
                <a16:creationId xmlns:a16="http://schemas.microsoft.com/office/drawing/2014/main" id="{C7729594-AA2F-4FC7-B491-768E63D1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14668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การจำแนกประเภทมุมมองและข้อจำกัด</a:t>
            </a:r>
          </a:p>
        </p:txBody>
      </p:sp>
      <p:sp>
        <p:nvSpPr>
          <p:cNvPr id="25" name="text-102">
            <a:extLst xmlns:a="http://schemas.openxmlformats.org/drawingml/2006/main">
              <a:ext uri="{FF2B5EF4-FFF2-40B4-BE49-F238E27FC236}">
                <a16:creationId xmlns:a16="http://schemas.microsoft.com/office/drawing/2014/main" id="{3E30519E-D1F0-492D-BD7C-E9B0F839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103">
            <a:extLst xmlns:a="http://schemas.openxmlformats.org/drawingml/2006/main">
              <a:ext uri="{FF2B5EF4-FFF2-40B4-BE49-F238E27FC236}">
                <a16:creationId xmlns:a16="http://schemas.microsoft.com/office/drawing/2014/main" id="{E61197BC-F4F5-410D-98D2-7D0B5687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383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มุมมองแบบสถิต (Static Views)</a:t>
            </a:r>
          </a:p>
        </p:txBody>
      </p:sp>
      <p:sp>
        <p:nvSpPr>
          <p:cNvPr id="27" name="text-104">
            <a:extLst xmlns:a="http://schemas.openxmlformats.org/drawingml/2006/main">
              <a:ext uri="{FF2B5EF4-FFF2-40B4-BE49-F238E27FC236}">
                <a16:creationId xmlns:a16="http://schemas.microsoft.com/office/drawing/2014/main" id="{F6002A0D-D98E-4D6E-84A9-9DDC6035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812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ส่งเฉพาะผลลัพธ์ภาพที่เรนเดอร์สำเร็จ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ไร้สคริปต์ ไม่ต้องเสียต้นทุน Hydration</a:t>
            </a:r>
          </a:p>
        </p:txBody>
      </p:sp>
      <p:sp>
        <p:nvSpPr>
          <p:cNvPr id="28" name="shape-105">
            <a:extLst xmlns:a="http://schemas.openxmlformats.org/drawingml/2006/main">
              <a:ext uri="{FF2B5EF4-FFF2-40B4-BE49-F238E27FC236}">
                <a16:creationId xmlns:a16="http://schemas.microsoft.com/office/drawing/2014/main" id="{E48D044A-5DBD-4130-8DF3-29E3E29C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60997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06">
            <a:extLst xmlns:a="http://schemas.openxmlformats.org/drawingml/2006/main">
              <a:ext uri="{FF2B5EF4-FFF2-40B4-BE49-F238E27FC236}">
                <a16:creationId xmlns:a16="http://schemas.microsoft.com/office/drawing/2014/main" id="{F494C080-9367-4CE0-9D30-5B80560B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107">
            <a:extLst xmlns:a="http://schemas.openxmlformats.org/drawingml/2006/main">
              <a:ext uri="{FF2B5EF4-FFF2-40B4-BE49-F238E27FC236}">
                <a16:creationId xmlns:a16="http://schemas.microsoft.com/office/drawing/2014/main" id="{EC1B7AF8-F3AA-44F5-BE74-9D72E9FE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8100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มุมมองแบบโต้ตอบ (Interactive Views)</a:t>
            </a:r>
          </a:p>
        </p:txBody>
      </p:sp>
      <p:sp>
        <p:nvSpPr>
          <p:cNvPr id="31" name="text-108">
            <a:extLst xmlns:a="http://schemas.openxmlformats.org/drawingml/2006/main">
              <a:ext uri="{FF2B5EF4-FFF2-40B4-BE49-F238E27FC236}">
                <a16:creationId xmlns:a16="http://schemas.microsoft.com/office/drawing/2014/main" id="{E27FDB08-A611-4A61-BD5C-CFFCB6EF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15290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ส่งภาพแรกพร้อมสคริปต์ JavaScript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ต้องเติมแคชและผูก Event ก่อนใช้งาน</a:t>
            </a:r>
          </a:p>
        </p:txBody>
      </p:sp>
      <p:sp>
        <p:nvSpPr>
          <p:cNvPr id="32" name="shape-109">
            <a:extLst xmlns:a="http://schemas.openxmlformats.org/drawingml/2006/main">
              <a:ext uri="{FF2B5EF4-FFF2-40B4-BE49-F238E27FC236}">
                <a16:creationId xmlns:a16="http://schemas.microsoft.com/office/drawing/2014/main" id="{2A040425-BB0F-4642-ACDD-9431A8D1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38162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110">
            <a:extLst xmlns:a="http://schemas.openxmlformats.org/drawingml/2006/main">
              <a:ext uri="{FF2B5EF4-FFF2-40B4-BE49-F238E27FC236}">
                <a16:creationId xmlns:a16="http://schemas.microsoft.com/office/drawing/2014/main" id="{BC11994F-8646-4D96-A78E-C1BDAC1D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111">
            <a:extLst xmlns:a="http://schemas.openxmlformats.org/drawingml/2006/main">
              <a:ext uri="{FF2B5EF4-FFF2-40B4-BE49-F238E27FC236}">
                <a16:creationId xmlns:a16="http://schemas.microsoft.com/office/drawing/2014/main" id="{5548F23E-C30B-4779-A911-014FF9E5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5816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คอขวด Hydration ฝั่งไคลเอนต์</a:t>
            </a:r>
          </a:p>
        </p:txBody>
      </p:sp>
      <p:sp>
        <p:nvSpPr>
          <p:cNvPr id="35" name="text-112">
            <a:extLst xmlns:a="http://schemas.openxmlformats.org/drawingml/2006/main">
              <a:ext uri="{FF2B5EF4-FFF2-40B4-BE49-F238E27FC236}">
                <a16:creationId xmlns:a16="http://schemas.microsoft.com/office/drawing/2014/main" id="{E260CFC8-06EF-40B7-9C66-F775FE50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9245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ใช้เวลาเกือบเท่าการเรนเดอร์สดจากศูนย์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การทำ Progressive Hydration เป็นงานวิจัยสำคัญ</a:t>
            </a:r>
          </a:p>
        </p:txBody>
      </p:sp>
      <p:sp>
        <p:nvSpPr>
          <p:cNvPr id="36" name="text-113">
            <a:extLst xmlns:a="http://schemas.openxmlformats.org/drawingml/2006/main">
              <a:ext uri="{FF2B5EF4-FFF2-40B4-BE49-F238E27FC236}">
                <a16:creationId xmlns:a16="http://schemas.microsoft.com/office/drawing/2014/main" id="{089CA92A-1DAF-4F25-BE11-8FF55397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4.3 และ 5 (หน้า PDF 3–4)</a:t>
            </a:r>
          </a:p>
        </p:txBody>
      </p:sp>
    </p:spTree>
    <p:extLst>
      <p:ext uri="{BB962C8B-B14F-4D97-AF65-F5344CB8AC3E}">
        <p14:creationId xmlns:p14="http://schemas.microsoft.com/office/powerpoint/2010/main" val="4324573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-114">
            <a:extLst xmlns:a="http://schemas.openxmlformats.org/drawingml/2006/main">
              <a:ext uri="{FF2B5EF4-FFF2-40B4-BE49-F238E27FC236}">
                <a16:creationId xmlns:a16="http://schemas.microsoft.com/office/drawing/2014/main" id="{B0F87A2F-BED6-44CC-9905-15A6D816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15">
            <a:extLst xmlns:a="http://schemas.openxmlformats.org/drawingml/2006/main">
              <a:ext uri="{FF2B5EF4-FFF2-40B4-BE49-F238E27FC236}">
                <a16:creationId xmlns:a16="http://schemas.microsoft.com/office/drawing/2014/main" id="{C4622583-4D5A-4E61-B208-B17CBA54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ผลการทดสอบเชิงปริมาณและการแลกเปลี่ยนความหน่วงกับพื้นที่</a:t>
            </a:r>
          </a:p>
        </p:txBody>
      </p:sp>
      <p:sp>
        <p:nvSpPr>
          <p:cNvPr id="3" name="shape-116">
            <a:extLst xmlns:a="http://schemas.openxmlformats.org/drawingml/2006/main">
              <a:ext uri="{FF2B5EF4-FFF2-40B4-BE49-F238E27FC236}">
                <a16:creationId xmlns:a16="http://schemas.microsoft.com/office/drawing/2014/main" id="{6E480A3A-02AA-47D7-ADC5-04BFE187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17">
            <a:extLst xmlns:a="http://schemas.openxmlformats.org/drawingml/2006/main">
              <a:ext uri="{FF2B5EF4-FFF2-40B4-BE49-F238E27FC236}">
                <a16:creationId xmlns:a16="http://schemas.microsoft.com/office/drawing/2014/main" id="{F09C4636-5840-4C2A-ABCF-497E1AB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18">
            <a:extLst xmlns:a="http://schemas.openxmlformats.org/drawingml/2006/main">
              <a:ext uri="{FF2B5EF4-FFF2-40B4-BE49-F238E27FC236}">
                <a16:creationId xmlns:a16="http://schemas.microsoft.com/office/drawing/2014/main" id="{328CE98A-106C-40B5-8F89-EE68F2A3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6" name="shape-119">
            <a:extLst xmlns:a="http://schemas.openxmlformats.org/drawingml/2006/main">
              <a:ext uri="{FF2B5EF4-FFF2-40B4-BE49-F238E27FC236}">
                <a16:creationId xmlns:a16="http://schemas.microsoft.com/office/drawing/2014/main" id="{721F3476-CC55-4A91-A8F9-E418D9F3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0962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20">
            <a:extLst xmlns:a="http://schemas.openxmlformats.org/drawingml/2006/main">
              <a:ext uri="{FF2B5EF4-FFF2-40B4-BE49-F238E27FC236}">
                <a16:creationId xmlns:a16="http://schemas.microsoft.com/office/drawing/2014/main" id="{52FB577F-19CE-4FA3-B821-D9E893E4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48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การเปรียบเทียบ TTR และ TTA ตามขนาดข้อมูล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ef90846ec443e"/>
          <a:stretch xmlns:a="http://schemas.openxmlformats.org/drawingml/2006/main"/>
        </p:blipFill>
        <p:spPr>
          <a:xfrm xmlns:a="http://schemas.openxmlformats.org/drawingml/2006/main">
            <a:off x="1258480" y="1847850"/>
            <a:ext cx="7225211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text-121">
            <a:extLst xmlns:a="http://schemas.openxmlformats.org/drawingml/2006/main">
              <a:ext uri="{FF2B5EF4-FFF2-40B4-BE49-F238E27FC236}">
                <a16:creationId xmlns:a16="http://schemas.microsoft.com/office/drawing/2014/main" id="{F65CD639-73F3-4825-AC01-CB9D9323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1910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3: เส้นมัธยฐาน (Median) และแรเงา IQR จากข้อมูล 10k–10M แถว (หน้า PDF 4)</a:t>
            </a:r>
          </a:p>
        </p:txBody>
      </p:sp>
      <p:sp>
        <p:nvSpPr>
          <p:cNvPr id="10" name="shape-122">
            <a:extLst xmlns:a="http://schemas.openxmlformats.org/drawingml/2006/main">
              <a:ext uri="{FF2B5EF4-FFF2-40B4-BE49-F238E27FC236}">
                <a16:creationId xmlns:a16="http://schemas.microsoft.com/office/drawing/2014/main" id="{45E90326-4AAA-4978-9920-DFF0AA64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490" y="1238250"/>
            <a:ext cx="45529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123">
            <a:extLst xmlns:a="http://schemas.openxmlformats.org/drawingml/2006/main">
              <a:ext uri="{FF2B5EF4-FFF2-40B4-BE49-F238E27FC236}">
                <a16:creationId xmlns:a16="http://schemas.microsoft.com/office/drawing/2014/main" id="{AEA27C73-B157-4F6C-92BD-5B98E447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14668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การเปลี่ยนแปลงสัมพัทธ์เทียบ Baseline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9483090" y="1866900"/>
          <a:ext xmlns:a="http://schemas.openxmlformats.org/drawingml/2006/main" cx="409575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1066800"/>
                <a:gridCol w="1066800"/>
                <a:gridCol w="1066800"/>
              </a:tblGrid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ระดับ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ΔSC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ΔTTR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ΔTTA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+prep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0.0 ± 0.0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−0.6 ± 4.0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−1.0 ± 2.5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+cache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21.1 ± 29.8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−16.6 ± 1.3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−32.3 ± 8.9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+most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21.2 ± 29.9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−83.7 ± 2.1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−33.3 ± 9.6</a:t>
                      </a:r>
                    </a:p>
                  </a:txBody>
                  <a:tcPr marL="28575" marR="28575" marT="57150" marB="57150" anchor="ctr"/>
                </a:tc>
              </a:tr>
            </a:tbl>
          </a:graphicData>
        </a:graphic>
      </p:graphicFrame>
      <p:sp>
        <p:nvSpPr>
          <p:cNvPr id="13" name="text-124">
            <a:extLst xmlns:a="http://schemas.openxmlformats.org/drawingml/2006/main">
              <a:ext uri="{FF2B5EF4-FFF2-40B4-BE49-F238E27FC236}">
                <a16:creationId xmlns:a16="http://schemas.microsoft.com/office/drawing/2014/main" id="{2A0CDF4F-DA26-44B9-A465-C97AC9F9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581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Table 1: ค่าเฉลี่ยและส่วนเบี่ยงเบนมาตรฐาน (Mean ± σ) ข้ามทุกชุดทดสอบ</a:t>
            </a:r>
          </a:p>
        </p:txBody>
      </p:sp>
      <p:sp>
        <p:nvSpPr>
          <p:cNvPr id="14" name="text-125">
            <a:extLst xmlns:a="http://schemas.openxmlformats.org/drawingml/2006/main">
              <a:ext uri="{FF2B5EF4-FFF2-40B4-BE49-F238E27FC236}">
                <a16:creationId xmlns:a16="http://schemas.microsoft.com/office/drawing/2014/main" id="{C85BD7DF-D7B7-4A6E-ABA0-2ED379A2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848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แถว +most คือชุดรวมทุกกลยุทธ์ (ในเนื้อหาเปเปอร์ใช้ชื่อ +prerender)</a:t>
            </a:r>
          </a:p>
        </p:txBody>
      </p:sp>
      <p:sp>
        <p:nvSpPr>
          <p:cNvPr id="15" name="shape-126">
            <a:extLst xmlns:a="http://schemas.openxmlformats.org/drawingml/2006/main">
              <a:ext uri="{FF2B5EF4-FFF2-40B4-BE49-F238E27FC236}">
                <a16:creationId xmlns:a16="http://schemas.microsoft.com/office/drawing/2014/main" id="{AEA8639B-5F93-4ED3-858C-B7DA6C50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text-127">
            <a:extLst xmlns:a="http://schemas.openxmlformats.org/drawingml/2006/main">
              <a:ext uri="{FF2B5EF4-FFF2-40B4-BE49-F238E27FC236}">
                <a16:creationId xmlns:a16="http://schemas.microsoft.com/office/drawing/2014/main" id="{312CB3A0-F631-4A3A-8072-F6ECC6DD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−83.7%</a:t>
            </a:r>
          </a:p>
        </p:txBody>
      </p:sp>
      <p:sp>
        <p:nvSpPr>
          <p:cNvPr id="17" name="text-128">
            <a:extLst xmlns:a="http://schemas.openxmlformats.org/drawingml/2006/main">
              <a:ext uri="{FF2B5EF4-FFF2-40B4-BE49-F238E27FC236}">
                <a16:creationId xmlns:a16="http://schemas.microsoft.com/office/drawing/2014/main" id="{4F0177D7-F4CF-4509-8141-8710CB76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เวลาจนภาพปรากฏ (TTR)</a:t>
            </a:r>
          </a:p>
        </p:txBody>
      </p:sp>
      <p:sp>
        <p:nvSpPr>
          <p:cNvPr id="18" name="text-129">
            <a:extLst xmlns:a="http://schemas.openxmlformats.org/drawingml/2006/main">
              <a:ext uri="{FF2B5EF4-FFF2-40B4-BE49-F238E27FC236}">
                <a16:creationId xmlns:a16="http://schemas.microsoft.com/office/drawing/2014/main" id="{39C2B2A3-F8B4-409B-BF18-1445DD5B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2.1% · ลด Perceived Latency ชัดเจน</a:t>
            </a:r>
          </a:p>
        </p:txBody>
      </p:sp>
      <p:sp>
        <p:nvSpPr>
          <p:cNvPr id="19" name="shape-130">
            <a:extLst xmlns:a="http://schemas.openxmlformats.org/drawingml/2006/main">
              <a:ext uri="{FF2B5EF4-FFF2-40B4-BE49-F238E27FC236}">
                <a16:creationId xmlns:a16="http://schemas.microsoft.com/office/drawing/2014/main" id="{8CAE0832-8549-4B77-AD98-5A3B114A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31">
            <a:extLst xmlns:a="http://schemas.openxmlformats.org/drawingml/2006/main">
              <a:ext uri="{FF2B5EF4-FFF2-40B4-BE49-F238E27FC236}">
                <a16:creationId xmlns:a16="http://schemas.microsoft.com/office/drawing/2014/main" id="{C55D5272-368A-4EA3-B124-DF1CAD68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−33.3%</a:t>
            </a:r>
          </a:p>
        </p:txBody>
      </p:sp>
      <p:sp>
        <p:nvSpPr>
          <p:cNvPr id="21" name="text-132">
            <a:extLst xmlns:a="http://schemas.openxmlformats.org/drawingml/2006/main">
              <a:ext uri="{FF2B5EF4-FFF2-40B4-BE49-F238E27FC236}">
                <a16:creationId xmlns:a16="http://schemas.microsoft.com/office/drawing/2014/main" id="{E1BD172D-8342-47CA-8A99-2ACAFB9E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เวลาพร้อมโต้ตอบ (TTA)</a:t>
            </a:r>
          </a:p>
        </p:txBody>
      </p:sp>
      <p:sp>
        <p:nvSpPr>
          <p:cNvPr id="22" name="text-133">
            <a:extLst xmlns:a="http://schemas.openxmlformats.org/drawingml/2006/main">
              <a:ext uri="{FF2B5EF4-FFF2-40B4-BE49-F238E27FC236}">
                <a16:creationId xmlns:a16="http://schemas.microsoft.com/office/drawing/2014/main" id="{43833ABA-BF1E-4E33-B1E0-672FF895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9.6% · แคชช่วยตัดเวลาหลัก (−32.3%)</a:t>
            </a:r>
          </a:p>
        </p:txBody>
      </p:sp>
      <p:sp>
        <p:nvSpPr>
          <p:cNvPr id="23" name="shape-134">
            <a:extLst xmlns:a="http://schemas.openxmlformats.org/drawingml/2006/main">
              <a:ext uri="{FF2B5EF4-FFF2-40B4-BE49-F238E27FC236}">
                <a16:creationId xmlns:a16="http://schemas.microsoft.com/office/drawing/2014/main" id="{07C154A1-D85F-4335-A7DC-3866867E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115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35">
            <a:extLst xmlns:a="http://schemas.openxmlformats.org/drawingml/2006/main">
              <a:ext uri="{FF2B5EF4-FFF2-40B4-BE49-F238E27FC236}">
                <a16:creationId xmlns:a16="http://schemas.microsoft.com/office/drawing/2014/main" id="{57EE0387-B777-4B8D-AA46-45B9418A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+21.2%</a:t>
            </a:r>
          </a:p>
        </p:txBody>
      </p:sp>
      <p:sp>
        <p:nvSpPr>
          <p:cNvPr id="25" name="text-136">
            <a:extLst xmlns:a="http://schemas.openxmlformats.org/drawingml/2006/main">
              <a:ext uri="{FF2B5EF4-FFF2-40B4-BE49-F238E27FC236}">
                <a16:creationId xmlns:a16="http://schemas.microsoft.com/office/drawing/2014/main" id="{06E32BBF-37FF-4C63-BCA3-FA354813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พื้นที่จัดเก็บเพิ่มเติม (SC)</a:t>
            </a:r>
          </a:p>
        </p:txBody>
      </p:sp>
      <p:sp>
        <p:nvSpPr>
          <p:cNvPr id="26" name="text-137">
            <a:extLst xmlns:a="http://schemas.openxmlformats.org/drawingml/2006/main">
              <a:ext uri="{FF2B5EF4-FFF2-40B4-BE49-F238E27FC236}">
                <a16:creationId xmlns:a16="http://schemas.microsoft.com/office/drawing/2014/main" id="{215F751E-9BE3-474B-B798-DB64C3CB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29.9% · แลกกับความเร็วในการโหลด</a:t>
            </a:r>
          </a:p>
        </p:txBody>
      </p:sp>
      <p:sp>
        <p:nvSpPr>
          <p:cNvPr id="27" name="shape-138">
            <a:extLst xmlns:a="http://schemas.openxmlformats.org/drawingml/2006/main">
              <a:ext uri="{FF2B5EF4-FFF2-40B4-BE49-F238E27FC236}">
                <a16:creationId xmlns:a16="http://schemas.microsoft.com/office/drawing/2014/main" id="{FC4E8AEB-0BBA-4B66-98A3-F05C6E0C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53200"/>
            <a:ext cx="1298448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139">
            <a:extLst xmlns:a="http://schemas.openxmlformats.org/drawingml/2006/main">
              <a:ext uri="{FF2B5EF4-FFF2-40B4-BE49-F238E27FC236}">
                <a16:creationId xmlns:a16="http://schemas.microsoft.com/office/drawing/2014/main" id="{1AA3111F-34CC-4F1F-B328-BA6072B0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294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สภาพแวดล้อม: MacBook Pro (M1 Pro, RAM 16 GB), Node 22.9, Local Server, DuckDB-WASM</a:t>
            </a:r>
          </a:p>
        </p:txBody>
      </p:sp>
      <p:sp>
        <p:nvSpPr>
          <p:cNvPr id="29" name="text-140">
            <a:extLst xmlns:a="http://schemas.openxmlformats.org/drawingml/2006/main">
              <a:ext uri="{FF2B5EF4-FFF2-40B4-BE49-F238E27FC236}">
                <a16:creationId xmlns:a16="http://schemas.microsoft.com/office/drawing/2014/main" id="{892D9529-5273-46D2-AFDC-4AD74451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ข้อค้นพบสำคัญ: การแคชช่วยลด TTA ไปแล้ว 32.3% ขณะที่ภาพล่วงหน้าช่วยลด TTA เพิ่มเติมอีก 1.0% จาก Baseline</a:t>
            </a:r>
          </a:p>
        </p:txBody>
      </p:sp>
      <p:sp>
        <p:nvSpPr>
          <p:cNvPr id="30" name="text-141">
            <a:extLst xmlns:a="http://schemas.openxmlformats.org/drawingml/2006/main">
              <a:ext uri="{FF2B5EF4-FFF2-40B4-BE49-F238E27FC236}">
                <a16:creationId xmlns:a16="http://schemas.microsoft.com/office/drawing/2014/main" id="{AA46057E-96D0-4D4E-83BD-60139500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Figure 3 และ Table 1 (หน้า PDF 4) · ค่าเฉลี่ยข้าม 5 รูปแบบภาพและขนาดข้อมูล 10k–10M แถว</a:t>
            </a:r>
          </a:p>
        </p:txBody>
      </p:sp>
    </p:spTree>
    <p:extLst>
      <p:ext uri="{BB962C8B-B14F-4D97-AF65-F5344CB8AC3E}">
        <p14:creationId xmlns:p14="http://schemas.microsoft.com/office/powerpoint/2010/main" val="1014096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42">
            <a:extLst xmlns:a="http://schemas.openxmlformats.org/drawingml/2006/main">
              <a:ext uri="{FF2B5EF4-FFF2-40B4-BE49-F238E27FC236}">
                <a16:creationId xmlns:a16="http://schemas.microsoft.com/office/drawing/2014/main" id="{979A90C6-33FA-4F8A-B068-D091A997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43">
            <a:extLst xmlns:a="http://schemas.openxmlformats.org/drawingml/2006/main">
              <a:ext uri="{FF2B5EF4-FFF2-40B4-BE49-F238E27FC236}">
                <a16:creationId xmlns:a16="http://schemas.microsoft.com/office/drawing/2014/main" id="{3CC586CC-224E-404F-B4B1-B1F86B5A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คุณูปการของงานวิจัยและการนำไปประยุกต์ใช้</a:t>
            </a:r>
          </a:p>
        </p:txBody>
      </p:sp>
      <p:sp>
        <p:nvSpPr>
          <p:cNvPr id="3" name="shape-144">
            <a:extLst xmlns:a="http://schemas.openxmlformats.org/drawingml/2006/main">
              <a:ext uri="{FF2B5EF4-FFF2-40B4-BE49-F238E27FC236}">
                <a16:creationId xmlns:a16="http://schemas.microsoft.com/office/drawing/2014/main" id="{241F7A5F-E83C-4797-AD23-EA36B6B6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45">
            <a:extLst xmlns:a="http://schemas.openxmlformats.org/drawingml/2006/main">
              <a:ext uri="{FF2B5EF4-FFF2-40B4-BE49-F238E27FC236}">
                <a16:creationId xmlns:a16="http://schemas.microsoft.com/office/drawing/2014/main" id="{41953FE0-E94A-4037-B32C-195329E3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46">
            <a:extLst xmlns:a="http://schemas.openxmlformats.org/drawingml/2006/main">
              <a:ext uri="{FF2B5EF4-FFF2-40B4-BE49-F238E27FC236}">
                <a16:creationId xmlns:a16="http://schemas.microsoft.com/office/drawing/2014/main" id="{1D354798-5E62-4037-A86A-250C01FB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6" name="shape-147">
            <a:extLst xmlns:a="http://schemas.openxmlformats.org/drawingml/2006/main">
              <a:ext uri="{FF2B5EF4-FFF2-40B4-BE49-F238E27FC236}">
                <a16:creationId xmlns:a16="http://schemas.microsoft.com/office/drawing/2014/main" id="{34873779-CD3F-4BB0-A70D-FFDCB5A5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48">
            <a:extLst xmlns:a="http://schemas.openxmlformats.org/drawingml/2006/main">
              <a:ext uri="{FF2B5EF4-FFF2-40B4-BE49-F238E27FC236}">
                <a16:creationId xmlns:a16="http://schemas.microsoft.com/office/drawing/2014/main" id="{A41399E0-E539-494B-90EE-C9B70ABB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คุณูปการสำคัญของงานวิจัย</a:t>
            </a:r>
          </a:p>
        </p:txBody>
      </p:sp>
      <p:sp>
        <p:nvSpPr>
          <p:cNvPr id="8" name="text-149">
            <a:extLst xmlns:a="http://schemas.openxmlformats.org/drawingml/2006/main">
              <a:ext uri="{FF2B5EF4-FFF2-40B4-BE49-F238E27FC236}">
                <a16:creationId xmlns:a16="http://schemas.microsoft.com/office/drawing/2014/main" id="{B8C003C8-24F0-4596-ACF4-2D6F3501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50">
            <a:extLst xmlns:a="http://schemas.openxmlformats.org/drawingml/2006/main">
              <a:ext uri="{FF2B5EF4-FFF2-40B4-BE49-F238E27FC236}">
                <a16:creationId xmlns:a16="http://schemas.microsoft.com/office/drawing/2014/main" id="{BB8D32AA-812E-4A08-B1CB-A8284A08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ไปป์ไลน์ปรับปรุงประสิทธิภาพแบบแบ่งระดับ</a:t>
            </a:r>
          </a:p>
        </p:txBody>
      </p:sp>
      <p:sp>
        <p:nvSpPr>
          <p:cNvPr id="10" name="text-151">
            <a:extLst xmlns:a="http://schemas.openxmlformats.org/drawingml/2006/main">
              <a:ext uri="{FF2B5EF4-FFF2-40B4-BE49-F238E27FC236}">
                <a16:creationId xmlns:a16="http://schemas.microsoft.com/office/drawing/2014/main" id="{3124025D-3D80-47BB-8C0C-D21F63D5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แยกขั้นตอนเตรียมข้อมูล แคชคิวรี และภาพล่วงหน้าอย่างเป็นระบบ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โดยคงไวยากรณ์เดิมของนักพัฒนาไว้ทั้งหมด ไม่ต้องเขียนโค้ดใหม่</a:t>
            </a:r>
          </a:p>
        </p:txBody>
      </p:sp>
      <p:sp>
        <p:nvSpPr>
          <p:cNvPr id="11" name="shape-152">
            <a:extLst xmlns:a="http://schemas.openxmlformats.org/drawingml/2006/main">
              <a:ext uri="{FF2B5EF4-FFF2-40B4-BE49-F238E27FC236}">
                <a16:creationId xmlns:a16="http://schemas.microsoft.com/office/drawing/2014/main" id="{574D68D7-706D-4A13-ADCA-006972F7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53">
            <a:extLst xmlns:a="http://schemas.openxmlformats.org/drawingml/2006/main">
              <a:ext uri="{FF2B5EF4-FFF2-40B4-BE49-F238E27FC236}">
                <a16:creationId xmlns:a16="http://schemas.microsoft.com/office/drawing/2014/main" id="{041BA505-AB71-46A6-BD10-B15B38B1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54">
            <a:extLst xmlns:a="http://schemas.openxmlformats.org/drawingml/2006/main">
              <a:ext uri="{FF2B5EF4-FFF2-40B4-BE49-F238E27FC236}">
                <a16:creationId xmlns:a16="http://schemas.microsoft.com/office/drawing/2014/main" id="{A73F5C9D-58FD-4160-9D89-E08A3E4A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กรอบประเมินประสิทธิภาพคู่ขนาน TTR และ TTA</a:t>
            </a:r>
          </a:p>
        </p:txBody>
      </p:sp>
      <p:sp>
        <p:nvSpPr>
          <p:cNvPr id="14" name="text-155">
            <a:extLst xmlns:a="http://schemas.openxmlformats.org/drawingml/2006/main">
              <a:ext uri="{FF2B5EF4-FFF2-40B4-BE49-F238E27FC236}">
                <a16:creationId xmlns:a16="http://schemas.microsoft.com/office/drawing/2014/main" id="{911895F6-D694-46E1-BD41-60642646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แยกเวลาจนเห็นภาพ (TTR) ออกจากเวลาพร้อมโต้ตอบ (TTA) ชัดเจน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พร้อมบันทึกมิติต้นทุนพื้นที่จัดเก็บ (Storage Cost) ที่ต้องแลก</a:t>
            </a:r>
          </a:p>
        </p:txBody>
      </p:sp>
      <p:sp>
        <p:nvSpPr>
          <p:cNvPr id="15" name="shape-156">
            <a:extLst xmlns:a="http://schemas.openxmlformats.org/drawingml/2006/main">
              <a:ext uri="{FF2B5EF4-FFF2-40B4-BE49-F238E27FC236}">
                <a16:creationId xmlns:a16="http://schemas.microsoft.com/office/drawing/2014/main" id="{D2A75440-FFC2-47C5-BD6E-54C87FC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57">
            <a:extLst xmlns:a="http://schemas.openxmlformats.org/drawingml/2006/main">
              <a:ext uri="{FF2B5EF4-FFF2-40B4-BE49-F238E27FC236}">
                <a16:creationId xmlns:a16="http://schemas.microsoft.com/office/drawing/2014/main" id="{6EAFB697-4BDC-48D9-B8C8-B44421BE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58">
            <a:extLst xmlns:a="http://schemas.openxmlformats.org/drawingml/2006/main">
              <a:ext uri="{FF2B5EF4-FFF2-40B4-BE49-F238E27FC236}">
                <a16:creationId xmlns:a16="http://schemas.microsoft.com/office/drawing/2014/main" id="{C7DCF670-1628-4C20-B178-F95DA5D1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การทดสอบเชิงประจักษ์กับข้อมูลขนาดใหญ่</a:t>
            </a:r>
          </a:p>
        </p:txBody>
      </p:sp>
      <p:sp>
        <p:nvSpPr>
          <p:cNvPr id="18" name="text-159">
            <a:extLst xmlns:a="http://schemas.openxmlformats.org/drawingml/2006/main">
              <a:ext uri="{FF2B5EF4-FFF2-40B4-BE49-F238E27FC236}">
                <a16:creationId xmlns:a16="http://schemas.microsoft.com/office/drawing/2014/main" id="{D64CFF51-9877-443F-AF80-296B10A8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พิสูจน์ผลลัพธ์บนข้อมูลจริง 10k ถึง 10M แถว ยืนยันว่า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การแคชล่วงหน้าลด TTA เฉลี่ย 33.3% และลด TTR ได้ถึง 83.7%</a:t>
            </a:r>
          </a:p>
        </p:txBody>
      </p:sp>
      <p:sp>
        <p:nvSpPr>
          <p:cNvPr id="19" name="shape-160">
            <a:extLst xmlns:a="http://schemas.openxmlformats.org/drawingml/2006/main">
              <a:ext uri="{FF2B5EF4-FFF2-40B4-BE49-F238E27FC236}">
                <a16:creationId xmlns:a16="http://schemas.microsoft.com/office/drawing/2014/main" id="{0F84194F-BD86-4E16-A2F9-D63F6893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61">
            <a:extLst xmlns:a="http://schemas.openxmlformats.org/drawingml/2006/main">
              <a:ext uri="{FF2B5EF4-FFF2-40B4-BE49-F238E27FC236}">
                <a16:creationId xmlns:a16="http://schemas.microsoft.com/office/drawing/2014/main" id="{50515A68-BA70-41F9-B3F0-3A82F44D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การนำแนวคิดไปประยุกต์ใช้งานจริง</a:t>
            </a:r>
          </a:p>
        </p:txBody>
      </p:sp>
      <p:sp>
        <p:nvSpPr>
          <p:cNvPr id="21" name="text-162">
            <a:extLst xmlns:a="http://schemas.openxmlformats.org/drawingml/2006/main">
              <a:ext uri="{FF2B5EF4-FFF2-40B4-BE49-F238E27FC236}">
                <a16:creationId xmlns:a16="http://schemas.microsoft.com/office/drawing/2014/main" id="{2E92EAC9-03EB-4AEE-BF87-D12D0914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63">
            <a:extLst xmlns:a="http://schemas.openxmlformats.org/drawingml/2006/main">
              <a:ext uri="{FF2B5EF4-FFF2-40B4-BE49-F238E27FC236}">
                <a16:creationId xmlns:a16="http://schemas.microsoft.com/office/drawing/2014/main" id="{1A6FF488-DDE6-4533-B07F-C27E501E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แดชบอร์ดแสดงผลข้อมูลขนาดใหญ่</a:t>
            </a:r>
          </a:p>
        </p:txBody>
      </p:sp>
      <p:sp>
        <p:nvSpPr>
          <p:cNvPr id="23" name="text-164">
            <a:extLst xmlns:a="http://schemas.openxmlformats.org/drawingml/2006/main">
              <a:ext uri="{FF2B5EF4-FFF2-40B4-BE49-F238E27FC236}">
                <a16:creationId xmlns:a16="http://schemas.microsoft.com/office/drawing/2014/main" id="{54E45AE9-2F3B-430D-B2AD-673E6304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แก้ปัญหาความหน่วงตอนเปิดหน้าครั้งแรก (Cold-Start) บนเว็บข้อมูล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ช่วยให้ผู้ใช้งานมองเห็นชาร์ตและภาพรวมเบื้องต้นได้ทันที</a:t>
            </a:r>
          </a:p>
        </p:txBody>
      </p:sp>
      <p:sp>
        <p:nvSpPr>
          <p:cNvPr id="24" name="shape-165">
            <a:extLst xmlns:a="http://schemas.openxmlformats.org/drawingml/2006/main">
              <a:ext uri="{FF2B5EF4-FFF2-40B4-BE49-F238E27FC236}">
                <a16:creationId xmlns:a16="http://schemas.microsoft.com/office/drawing/2014/main" id="{1305808A-0551-4D7B-B7E2-2B9E43D4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66">
            <a:extLst xmlns:a="http://schemas.openxmlformats.org/drawingml/2006/main">
              <a:ext uri="{FF2B5EF4-FFF2-40B4-BE49-F238E27FC236}">
                <a16:creationId xmlns:a16="http://schemas.microsoft.com/office/drawing/2014/main" id="{C748FBE1-CD2A-4905-AE51-105BC2BB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67">
            <a:extLst xmlns:a="http://schemas.openxmlformats.org/drawingml/2006/main">
              <a:ext uri="{FF2B5EF4-FFF2-40B4-BE49-F238E27FC236}">
                <a16:creationId xmlns:a16="http://schemas.microsoft.com/office/drawing/2014/main" id="{3CC9D5C1-98EA-4E33-AD7E-70A35423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การกระจายแคชบน Edge CDN</a:t>
            </a:r>
          </a:p>
        </p:txBody>
      </p:sp>
      <p:sp>
        <p:nvSpPr>
          <p:cNvPr id="27" name="text-168">
            <a:extLst xmlns:a="http://schemas.openxmlformats.org/drawingml/2006/main">
              <a:ext uri="{FF2B5EF4-FFF2-40B4-BE49-F238E27FC236}">
                <a16:creationId xmlns:a16="http://schemas.microsoft.com/office/drawing/2014/main" id="{27CC4032-4E2E-46CE-B315-4EF84F31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นำไฟล์แคชผลรวมและภาพเริ่มต้นไปเก็บไว้บน Edge ใกล้ผู้ใช้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ช่วยลดภาระการคำนวณซ้ำซ้อนของทั้งเซิร์ฟเวอร์และเบราว์เซอร์</a:t>
            </a:r>
          </a:p>
        </p:txBody>
      </p:sp>
      <p:sp>
        <p:nvSpPr>
          <p:cNvPr id="28" name="shape-169">
            <a:extLst xmlns:a="http://schemas.openxmlformats.org/drawingml/2006/main">
              <a:ext uri="{FF2B5EF4-FFF2-40B4-BE49-F238E27FC236}">
                <a16:creationId xmlns:a16="http://schemas.microsoft.com/office/drawing/2014/main" id="{B515C58B-75D0-4B33-928F-B88DD4F3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70">
            <a:extLst xmlns:a="http://schemas.openxmlformats.org/drawingml/2006/main">
              <a:ext uri="{FF2B5EF4-FFF2-40B4-BE49-F238E27FC236}">
                <a16:creationId xmlns:a16="http://schemas.microsoft.com/office/drawing/2014/main" id="{42AB2B64-4A35-4B4D-A935-ADCA1F82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71">
            <a:extLst xmlns:a="http://schemas.openxmlformats.org/drawingml/2006/main">
              <a:ext uri="{FF2B5EF4-FFF2-40B4-BE49-F238E27FC236}">
                <a16:creationId xmlns:a16="http://schemas.microsoft.com/office/drawing/2014/main" id="{AFB0C3F3-891A-49D4-88A2-7468D5B0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ระบบวิเคราะห์ข้อมูลบนเบราว์เซอร์</a:t>
            </a:r>
          </a:p>
        </p:txBody>
      </p:sp>
      <p:sp>
        <p:nvSpPr>
          <p:cNvPr id="31" name="text-172">
            <a:extLst xmlns:a="http://schemas.openxmlformats.org/drawingml/2006/main">
              <a:ext uri="{FF2B5EF4-FFF2-40B4-BE49-F238E27FC236}">
                <a16:creationId xmlns:a16="http://schemas.microsoft.com/office/drawing/2014/main" id="{100D26DC-1237-4923-94DA-F63F5EBF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เป็นสถาปัตยกรรมต้นแบบการผสาน DuckDB-WASM กับตัวกลาง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เพื่อรองรับการคิวรีและวิเคราะห์ข้อมูลปริมาณมากบนเครื่องผู้ใช้</a:t>
            </a:r>
          </a:p>
        </p:txBody>
      </p:sp>
      <p:sp>
        <p:nvSpPr>
          <p:cNvPr id="32" name="text-173">
            <a:extLst xmlns:a="http://schemas.openxmlformats.org/drawingml/2006/main">
              <a:ext uri="{FF2B5EF4-FFF2-40B4-BE49-F238E27FC236}">
                <a16:creationId xmlns:a16="http://schemas.microsoft.com/office/drawing/2014/main" id="{18886F16-951D-4BC8-AD44-FD28791E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1, 3 และ 5 (หน้า PDF 1–4)</a:t>
            </a:r>
          </a:p>
        </p:txBody>
      </p:sp>
    </p:spTree>
    <p:extLst>
      <p:ext uri="{BB962C8B-B14F-4D97-AF65-F5344CB8AC3E}">
        <p14:creationId xmlns:p14="http://schemas.microsoft.com/office/powerpoint/2010/main" val="5242924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74">
            <a:extLst xmlns:a="http://schemas.openxmlformats.org/drawingml/2006/main">
              <a:ext uri="{FF2B5EF4-FFF2-40B4-BE49-F238E27FC236}">
                <a16:creationId xmlns:a16="http://schemas.microsoft.com/office/drawing/2014/main" id="{41518B3E-C6F2-4667-B892-423BC408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75">
            <a:extLst xmlns:a="http://schemas.openxmlformats.org/drawingml/2006/main">
              <a:ext uri="{FF2B5EF4-FFF2-40B4-BE49-F238E27FC236}">
                <a16:creationId xmlns:a16="http://schemas.microsoft.com/office/drawing/2014/main" id="{611623D6-D7AD-449F-A49D-7552FE1F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ข้อจำกัดของระบบและบทสรุป</a:t>
            </a:r>
          </a:p>
        </p:txBody>
      </p:sp>
      <p:sp>
        <p:nvSpPr>
          <p:cNvPr id="3" name="shape-176">
            <a:extLst xmlns:a="http://schemas.openxmlformats.org/drawingml/2006/main">
              <a:ext uri="{FF2B5EF4-FFF2-40B4-BE49-F238E27FC236}">
                <a16:creationId xmlns:a16="http://schemas.microsoft.com/office/drawing/2014/main" id="{BECF107B-2F92-4986-BBAC-3486EC55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77">
            <a:extLst xmlns:a="http://schemas.openxmlformats.org/drawingml/2006/main">
              <a:ext uri="{FF2B5EF4-FFF2-40B4-BE49-F238E27FC236}">
                <a16:creationId xmlns:a16="http://schemas.microsoft.com/office/drawing/2014/main" id="{1544C086-5D50-4214-A091-E1129830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78">
            <a:extLst xmlns:a="http://schemas.openxmlformats.org/drawingml/2006/main">
              <a:ext uri="{FF2B5EF4-FFF2-40B4-BE49-F238E27FC236}">
                <a16:creationId xmlns:a16="http://schemas.microsoft.com/office/drawing/2014/main" id="{C81A1301-ED91-4E79-B6DA-65C871D1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7</a:t>
            </a:r>
          </a:p>
        </p:txBody>
      </p:sp>
      <p:sp>
        <p:nvSpPr>
          <p:cNvPr id="6" name="shape-179">
            <a:extLst xmlns:a="http://schemas.openxmlformats.org/drawingml/2006/main">
              <a:ext uri="{FF2B5EF4-FFF2-40B4-BE49-F238E27FC236}">
                <a16:creationId xmlns:a16="http://schemas.microsoft.com/office/drawing/2014/main" id="{E9FEBF80-5852-4A66-BDF3-C9275EAD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80">
            <a:extLst xmlns:a="http://schemas.openxmlformats.org/drawingml/2006/main">
              <a:ext uri="{FF2B5EF4-FFF2-40B4-BE49-F238E27FC236}">
                <a16:creationId xmlns:a16="http://schemas.microsoft.com/office/drawing/2014/main" id="{F432D59F-75C9-4943-A212-500A8EB7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ข้อจำกัดที่พบในงานวิจัย</a:t>
            </a:r>
          </a:p>
        </p:txBody>
      </p:sp>
      <p:sp>
        <p:nvSpPr>
          <p:cNvPr id="8" name="text-181">
            <a:extLst xmlns:a="http://schemas.openxmlformats.org/drawingml/2006/main">
              <a:ext uri="{FF2B5EF4-FFF2-40B4-BE49-F238E27FC236}">
                <a16:creationId xmlns:a16="http://schemas.microsoft.com/office/drawing/2014/main" id="{FF22815D-71DB-4F8F-97D3-9596702D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82">
            <a:extLst xmlns:a="http://schemas.openxmlformats.org/drawingml/2006/main">
              <a:ext uri="{FF2B5EF4-FFF2-40B4-BE49-F238E27FC236}">
                <a16:creationId xmlns:a16="http://schemas.microsoft.com/office/drawing/2014/main" id="{4AB892FD-E8B4-459E-AB5D-78DB0315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คอขวดขั้นตอน Client Hydration</a:t>
            </a:r>
          </a:p>
        </p:txBody>
      </p:sp>
      <p:sp>
        <p:nvSpPr>
          <p:cNvPr id="10" name="text-183">
            <a:extLst xmlns:a="http://schemas.openxmlformats.org/drawingml/2006/main">
              <a:ext uri="{FF2B5EF4-FFF2-40B4-BE49-F238E27FC236}">
                <a16:creationId xmlns:a16="http://schemas.microsoft.com/office/drawing/2014/main" id="{70B53CDB-4076-41E9-BB91-6C126163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ภาพเริ่มต้นมาเร็ว แต่เบราว์เซอร์ยังต้องรันสคริปต์เต็มชุด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ทำให้การเรนเดอร์ภาพล่วงหน้าช่วยลด TTA เพิ่มได้เพียง 1.0%</a:t>
            </a:r>
          </a:p>
        </p:txBody>
      </p:sp>
      <p:sp>
        <p:nvSpPr>
          <p:cNvPr id="11" name="shape-184">
            <a:extLst xmlns:a="http://schemas.openxmlformats.org/drawingml/2006/main">
              <a:ext uri="{FF2B5EF4-FFF2-40B4-BE49-F238E27FC236}">
                <a16:creationId xmlns:a16="http://schemas.microsoft.com/office/drawing/2014/main" id="{DC39F091-D01C-4739-BD7D-1A7C41D1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85">
            <a:extLst xmlns:a="http://schemas.openxmlformats.org/drawingml/2006/main">
              <a:ext uri="{FF2B5EF4-FFF2-40B4-BE49-F238E27FC236}">
                <a16:creationId xmlns:a16="http://schemas.microsoft.com/office/drawing/2014/main" id="{3EE668A4-3848-452F-92F0-90D98EAC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86">
            <a:extLst xmlns:a="http://schemas.openxmlformats.org/drawingml/2006/main">
              <a:ext uri="{FF2B5EF4-FFF2-40B4-BE49-F238E27FC236}">
                <a16:creationId xmlns:a16="http://schemas.microsoft.com/office/drawing/2014/main" id="{5A414C3F-1ADC-4E17-BF1C-0ABC6C3F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ต้นทุนพื้นที่จัดเก็บที่เพิ่มขึ้น</a:t>
            </a:r>
          </a:p>
        </p:txBody>
      </p:sp>
      <p:sp>
        <p:nvSpPr>
          <p:cNvPr id="14" name="text-187">
            <a:extLst xmlns:a="http://schemas.openxmlformats.org/drawingml/2006/main">
              <a:ext uri="{FF2B5EF4-FFF2-40B4-BE49-F238E27FC236}">
                <a16:creationId xmlns:a16="http://schemas.microsoft.com/office/drawing/2014/main" id="{81765E6D-000E-4CC5-BE35-966FF7B3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พื้นที่จัดเก็บไฟล์เพิ่มขึ้นเฉลี่ย 21.2% และมีความแปรปรวนสูง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(σ = 29.9%) ตามรูปแบบชาร์ตและจำนวนสถานะการกรองข้อมูล</a:t>
            </a:r>
          </a:p>
        </p:txBody>
      </p:sp>
      <p:sp>
        <p:nvSpPr>
          <p:cNvPr id="15" name="shape-188">
            <a:extLst xmlns:a="http://schemas.openxmlformats.org/drawingml/2006/main">
              <a:ext uri="{FF2B5EF4-FFF2-40B4-BE49-F238E27FC236}">
                <a16:creationId xmlns:a16="http://schemas.microsoft.com/office/drawing/2014/main" id="{F4137825-FE20-48A9-8287-31115F79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89">
            <a:extLst xmlns:a="http://schemas.openxmlformats.org/drawingml/2006/main">
              <a:ext uri="{FF2B5EF4-FFF2-40B4-BE49-F238E27FC236}">
                <a16:creationId xmlns:a16="http://schemas.microsoft.com/office/drawing/2014/main" id="{7D92267D-07B8-43F1-968B-797CBC49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90">
            <a:extLst xmlns:a="http://schemas.openxmlformats.org/drawingml/2006/main">
              <a:ext uri="{FF2B5EF4-FFF2-40B4-BE49-F238E27FC236}">
                <a16:creationId xmlns:a16="http://schemas.microsoft.com/office/drawing/2014/main" id="{78E1829F-15B9-4F55-9468-4FB35FD5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ขอบเขตการทดสอบและการสร้างข้อมูลซ้ำ</a:t>
            </a:r>
          </a:p>
        </p:txBody>
      </p:sp>
      <p:sp>
        <p:nvSpPr>
          <p:cNvPr id="18" name="text-191">
            <a:extLst xmlns:a="http://schemas.openxmlformats.org/drawingml/2006/main">
              <a:ext uri="{FF2B5EF4-FFF2-40B4-BE49-F238E27FC236}">
                <a16:creationId xmlns:a16="http://schemas.microsoft.com/office/drawing/2014/main" id="{37D349EC-4763-4EC8-83D1-EC7188CC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ประเมินผลบนแล็ปท็อปประสิทธิภาพสูงกับ Local Server เท่านั้น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และข้อมูลแคชยังต้องคำนวณใหม่ยกชุดเมื่อข้อมูลต้นทางเปลี่ยนแปลง</a:t>
            </a:r>
          </a:p>
        </p:txBody>
      </p:sp>
      <p:sp>
        <p:nvSpPr>
          <p:cNvPr id="19" name="shape-192">
            <a:extLst xmlns:a="http://schemas.openxmlformats.org/drawingml/2006/main">
              <a:ext uri="{FF2B5EF4-FFF2-40B4-BE49-F238E27FC236}">
                <a16:creationId xmlns:a16="http://schemas.microsoft.com/office/drawing/2014/main" id="{28B6206D-F4BB-42E8-8860-94D648AE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93">
            <a:extLst xmlns:a="http://schemas.openxmlformats.org/drawingml/2006/main">
              <a:ext uri="{FF2B5EF4-FFF2-40B4-BE49-F238E27FC236}">
                <a16:creationId xmlns:a16="http://schemas.microsoft.com/office/drawing/2014/main" id="{A04A5319-F952-4F32-9BD8-6A27CD9C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บทสรุปและแนวทางพัฒนาต่อ</a:t>
            </a:r>
          </a:p>
        </p:txBody>
      </p:sp>
      <p:sp>
        <p:nvSpPr>
          <p:cNvPr id="21" name="text-194">
            <a:extLst xmlns:a="http://schemas.openxmlformats.org/drawingml/2006/main">
              <a:ext uri="{FF2B5EF4-FFF2-40B4-BE49-F238E27FC236}">
                <a16:creationId xmlns:a16="http://schemas.microsoft.com/office/drawing/2014/main" id="{E769F01F-BED5-4B75-AAAE-A6F02184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95">
            <a:extLst xmlns:a="http://schemas.openxmlformats.org/drawingml/2006/main">
              <a:ext uri="{FF2B5EF4-FFF2-40B4-BE49-F238E27FC236}">
                <a16:creationId xmlns:a16="http://schemas.microsoft.com/office/drawing/2014/main" id="{24353E99-420F-4BC0-B2F4-98DC8943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บทสรุปสำคัญเชิงสถาปัตยกรรม</a:t>
            </a:r>
          </a:p>
        </p:txBody>
      </p:sp>
      <p:sp>
        <p:nvSpPr>
          <p:cNvPr id="23" name="text-196">
            <a:extLst xmlns:a="http://schemas.openxmlformats.org/drawingml/2006/main">
              <a:ext uri="{FF2B5EF4-FFF2-40B4-BE49-F238E27FC236}">
                <a16:creationId xmlns:a16="http://schemas.microsoft.com/office/drawing/2014/main" id="{154990CD-F3FD-411B-A053-6AFF70F0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การแคชล่วงหน้าเป็นกุญแจหลักในการลด TTA (−32.3%)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ส่วนภาพล่วงหน้าแก้ Perceived Latency ได้เด็ดขาด (−83.7%)</a:t>
            </a:r>
          </a:p>
        </p:txBody>
      </p:sp>
      <p:sp>
        <p:nvSpPr>
          <p:cNvPr id="24" name="shape-197">
            <a:extLst xmlns:a="http://schemas.openxmlformats.org/drawingml/2006/main">
              <a:ext uri="{FF2B5EF4-FFF2-40B4-BE49-F238E27FC236}">
                <a16:creationId xmlns:a16="http://schemas.microsoft.com/office/drawing/2014/main" id="{8EA2557A-0052-4B8D-B8B3-9E443A8D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98">
            <a:extLst xmlns:a="http://schemas.openxmlformats.org/drawingml/2006/main">
              <a:ext uri="{FF2B5EF4-FFF2-40B4-BE49-F238E27FC236}">
                <a16:creationId xmlns:a16="http://schemas.microsoft.com/office/drawing/2014/main" id="{54361DFA-E1A2-40CF-A4BD-9599B807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99">
            <a:extLst xmlns:a="http://schemas.openxmlformats.org/drawingml/2006/main">
              <a:ext uri="{FF2B5EF4-FFF2-40B4-BE49-F238E27FC236}">
                <a16:creationId xmlns:a16="http://schemas.microsoft.com/office/drawing/2014/main" id="{BE191C62-3477-4ED9-8C2E-CD911D6A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การวิจัย Progressive Hydration</a:t>
            </a:r>
          </a:p>
        </p:txBody>
      </p:sp>
      <p:sp>
        <p:nvSpPr>
          <p:cNvPr id="27" name="text-200">
            <a:extLst xmlns:a="http://schemas.openxmlformats.org/drawingml/2006/main">
              <a:ext uri="{FF2B5EF4-FFF2-40B4-BE49-F238E27FC236}">
                <a16:creationId xmlns:a16="http://schemas.microsoft.com/office/drawing/2014/main" id="{87E559D5-9301-4E25-984E-6D9D17DD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ข้อเสนอแนะหลักจากผู้วิจัย ให้เริ่มระบบเฉพาะส่วนที่จำเป็น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เพื่อลดภาระประมวลผลของเบราว์เซอร์ และดึง TTA ให้เร็วขึ้น</a:t>
            </a:r>
          </a:p>
        </p:txBody>
      </p:sp>
      <p:sp>
        <p:nvSpPr>
          <p:cNvPr id="28" name="shape-201">
            <a:extLst xmlns:a="http://schemas.openxmlformats.org/drawingml/2006/main">
              <a:ext uri="{FF2B5EF4-FFF2-40B4-BE49-F238E27FC236}">
                <a16:creationId xmlns:a16="http://schemas.microsoft.com/office/drawing/2014/main" id="{37873E8D-1493-4C95-A0A1-B0EC307B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202">
            <a:extLst xmlns:a="http://schemas.openxmlformats.org/drawingml/2006/main">
              <a:ext uri="{FF2B5EF4-FFF2-40B4-BE49-F238E27FC236}">
                <a16:creationId xmlns:a16="http://schemas.microsoft.com/office/drawing/2014/main" id="{A57288F6-8E76-4F74-A23C-B0A2588D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203">
            <a:extLst xmlns:a="http://schemas.openxmlformats.org/drawingml/2006/main">
              <a:ext uri="{FF2B5EF4-FFF2-40B4-BE49-F238E27FC236}">
                <a16:creationId xmlns:a16="http://schemas.microsoft.com/office/drawing/2014/main" id="{38A21EB9-403D-4E0D-B152-B2E68FAC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ระบบ Hybrid และ Incremental Update</a:t>
            </a:r>
          </a:p>
        </p:txBody>
      </p:sp>
      <p:sp>
        <p:nvSpPr>
          <p:cNvPr id="31" name="text-204">
            <a:extLst xmlns:a="http://schemas.openxmlformats.org/drawingml/2006/main">
              <a:ext uri="{FF2B5EF4-FFF2-40B4-BE49-F238E27FC236}">
                <a16:creationId xmlns:a16="http://schemas.microsoft.com/office/drawing/2014/main" id="{E1F06558-B790-4898-AA81-58807E2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ผสานแคช Publish-time ร่วมกับ Dynamic Cache ตอนใช้งานจริง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พร้อมพัฒนาระบบคำนวณซ้ำเฉพาะส่วนข้อมูลที่มีการอัปเดต</a:t>
            </a:r>
          </a:p>
        </p:txBody>
      </p:sp>
      <p:sp>
        <p:nvSpPr>
          <p:cNvPr id="32" name="text-205">
            <a:extLst xmlns:a="http://schemas.openxmlformats.org/drawingml/2006/main">
              <a:ext uri="{FF2B5EF4-FFF2-40B4-BE49-F238E27FC236}">
                <a16:creationId xmlns:a16="http://schemas.microsoft.com/office/drawing/2014/main" id="{FE57D269-533C-4F01-A1C6-D16C90A2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Table 1 (Key Takeaways) และ Sections 5–6 (หน้า PDF 4–5)</a:t>
            </a:r>
          </a:p>
        </p:txBody>
      </p:sp>
    </p:spTree>
    <p:extLst>
      <p:ext uri="{BB962C8B-B14F-4D97-AF65-F5344CB8AC3E}">
        <p14:creationId xmlns:p14="http://schemas.microsoft.com/office/powerpoint/2010/main" val="2107539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2026-10-05T08:31:57.6100000Z</dcterms:created>
  <dcterms:modified xsi:type="dcterms:W3CDTF">2026-10-05T08:31:57.6100000Z</dcterms:modified>
</coreProperties>
</file>