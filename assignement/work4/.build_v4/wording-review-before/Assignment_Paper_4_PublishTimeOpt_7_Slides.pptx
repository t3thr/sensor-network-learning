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bb6d21b1d4f17" /><Relationship Type="http://schemas.openxmlformats.org/officeDocument/2006/relationships/extended-properties" Target="/docProps/app.xml" Id="R8e64c97f0ccc4159" /><Relationship Type="http://schemas.openxmlformats.org/officeDocument/2006/relationships/officeDocument" Target="/ppt/presentation.xml" Id="R417776277251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73d9f1a4149d8"/>
  </p:sldMasterIdLst>
  <p:notesMasterIdLst>
    <p:notesMasterId xmlns:r="http://schemas.openxmlformats.org/officeDocument/2006/relationships" r:id="Rb6016dc7f2484b55"/>
  </p:notesMasterIdLst>
  <p:sldIdLst>
    <p:sldId xmlns:r="http://schemas.openxmlformats.org/officeDocument/2006/relationships" id="256" r:id="R4992ce8e202042b7"/>
    <p:sldId xmlns:r="http://schemas.openxmlformats.org/officeDocument/2006/relationships" id="257" r:id="R504c222fdab94749"/>
    <p:sldId xmlns:r="http://schemas.openxmlformats.org/officeDocument/2006/relationships" id="258" r:id="R147a329e7e6d41e1"/>
    <p:sldId xmlns:r="http://schemas.openxmlformats.org/officeDocument/2006/relationships" id="259" r:id="R230d1ec5872c4d9f"/>
    <p:sldId xmlns:r="http://schemas.openxmlformats.org/officeDocument/2006/relationships" id="260" r:id="R400d0cc23e3e4825"/>
    <p:sldId xmlns:r="http://schemas.openxmlformats.org/officeDocument/2006/relationships" id="261" r:id="R570df3d332154da7"/>
    <p:sldId xmlns:r="http://schemas.openxmlformats.org/officeDocument/2006/relationships" id="262" r:id="R1f86a985980f4e53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7f59f6670b4dce" /><Relationship Type="http://schemas.openxmlformats.org/officeDocument/2006/relationships/slideMaster" Target="/ppt/slideMasters/slideMaster1.xml" Id="R22773d9f1a4149d8" /><Relationship Type="http://schemas.openxmlformats.org/officeDocument/2006/relationships/notesMaster" Target="/ppt/notesMasters/notesMaster1.xml" Id="Rb6016dc7f2484b55" /><Relationship Type="http://schemas.openxmlformats.org/officeDocument/2006/relationships/presProps" Target="/ppt/presProps.xml" Id="R4b4f8f8e54a9465c" /><Relationship Type="http://schemas.openxmlformats.org/officeDocument/2006/relationships/tableStyles" Target="/ppt/tableStyles.xml" Id="Ra8337e52d33945fd" /><Relationship Type="http://schemas.openxmlformats.org/officeDocument/2006/relationships/slide" Target="/ppt/slides/slide1.xml" Id="R4992ce8e202042b7" /><Relationship Type="http://schemas.openxmlformats.org/officeDocument/2006/relationships/slide" Target="/ppt/slides/slide2.xml" Id="R504c222fdab94749" /><Relationship Type="http://schemas.openxmlformats.org/officeDocument/2006/relationships/slide" Target="/ppt/slides/slide3.xml" Id="R147a329e7e6d41e1" /><Relationship Type="http://schemas.openxmlformats.org/officeDocument/2006/relationships/slide" Target="/ppt/slides/slide4.xml" Id="R230d1ec5872c4d9f" /><Relationship Type="http://schemas.openxmlformats.org/officeDocument/2006/relationships/slide" Target="/ppt/slides/slide5.xml" Id="R400d0cc23e3e4825" /><Relationship Type="http://schemas.openxmlformats.org/officeDocument/2006/relationships/slide" Target="/ppt/slides/slide6.xml" Id="R570df3d332154da7" /><Relationship Type="http://schemas.openxmlformats.org/officeDocument/2006/relationships/slide" Target="/ppt/slides/slide7.xml" Id="R1f86a985980f4e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254c51759c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4f2b899104b48" /><Relationship Type="http://schemas.openxmlformats.org/officeDocument/2006/relationships/notesMaster" Target="/ppt/notesMasters/notesMaster1.xml" Id="R80ddf2075784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70a4d247494084" /><Relationship Type="http://schemas.openxmlformats.org/officeDocument/2006/relationships/notesMaster" Target="/ppt/notesMasters/notesMaster1.xml" Id="R6e7e63e5bfb5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62a00616742bd" /><Relationship Type="http://schemas.openxmlformats.org/officeDocument/2006/relationships/notesMaster" Target="/ppt/notesMasters/notesMaster1.xml" Id="R39ba1bfe2f964e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c1ba478ac74e17" /><Relationship Type="http://schemas.openxmlformats.org/officeDocument/2006/relationships/notesMaster" Target="/ppt/notesMasters/notesMaster1.xml" Id="R70ff17502a93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03a102bb8477d" /><Relationship Type="http://schemas.openxmlformats.org/officeDocument/2006/relationships/notesMaster" Target="/ppt/notesMasters/notesMaster1.xml" Id="Raf6c0edff3af46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fa134085f40e9" /><Relationship Type="http://schemas.openxmlformats.org/officeDocument/2006/relationships/notesMaster" Target="/ppt/notesMasters/notesMaster1.xml" Id="Rab13366c051143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87600e724f43df" /><Relationship Type="http://schemas.openxmlformats.org/officeDocument/2006/relationships/notesMaster" Target="/ppt/notesMasters/notesMaster1.xml" Id="Rf02c9848b01140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 Publish-Time Optimizations for Web-Based Visualizations ของ Ron Pechuk และ Jeffrey Heer จาก University of Washington ตีพิมพ์ใน IEEE VIS ปี 2025 ศึกษาว่าเว็บแสดงภาพข้อมูลจะเปิดเร็วขึ้นได้อย่างไร แนวคิดคือย้ายงานเตรียมข้อมูล แคช และภาพเริ่มต้นไปทำก่อนเผยแพร่ แล้วใช้ผลนั้นซ้ำเมื่อเปิดเว็บ โดยใช้ Mosaic เป็นระบบทดลอง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ชื่อเรื่องและ Abstract · PDF หน้า 1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ฝั่งซ้ายมีปัญหาสามข้อ เบราว์เซอร์ต้องโหลดข้อมูล รันคิวรี และวาดภาพซ้ำ แคชที่สร้างตอนใช้งานยังว่างเมื่อเริ่มเซสชัน เรียกว่า cold start และแม้ภาพปรากฏแล้ว ระบบรับการโต้ตอบอาจยังไม่พร้อม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ฝั่งขวาจึงแยกตัวชี้วัด TTR คือเวลาตั้งแต่ขอหน้าเว็บจนชาร์ตปรากฏครบ ต่างจาก FCP ที่นับเนื้อหาแรก ส่วน TTA คือเวลาจนพร้อมรับการกรองหรือซูม เทียบแนวคิดกับ TTI ได้ แต่ไม่ใช่นิยามเดียวกัน ตัวสุดท้าย SC คือขนาดทรัพยากรทั้งหมดที่เผยแพร่ เพราะการลดเวลารอต้องดูต้นทุนพื้นที่ด้วย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§1, §3.1 · PDF หน้า 1–2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1 ฝั่งซ้ายแสดงงานที่ย้ายก่อนคำขอสามกลุ่ม สีเหลืองเตรียมข้อมูล สีแดงคำนวณผลคิวรีและผลรวม สีเขียววาดภาพเริ่มต้น เมื่อขยับงานเหล่านี้ไปก่อนเปิดเว็บ ช่วงรันไทม์จึงสั้นลง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ผังล่างอธิบาย Publisher ขั้นแรกอ่านข้อกำหนดเป็น AST และจำลองอินพุตใน Virtual DOM เพื่อกระตุ้นคิวรี ขั้นสองใช้ DuckDB คำนวณแล้วบันทึกผล ขั้นสามแก้ AST ให้ชี้ผลที่เตรียมไว้และสร้าง JavaScript ผลส่งมอบฝั่งขวาจึงมีข้อมูลพร้อมใช้ แคชกับผลรวมที่เติมผ่าน Coordinator และภาพเริ่มต้นพร้อมสคริปต์โต้ตอบ การเติมแคชทำได้โดยตัวกลาง ส่วนการเปลี่ยนแหล่งข้อมูลต้องแก้ข้อกำหนดอย่างเจาะจง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§4.1–4.3 · PDF หน้า 1, 3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4 แยกเวลาเฉลี่ยบนข้อมูลสิบล้านแถวเป็นเครือข่าย การวาดภาพ hydration และ activation เมื่อส่งภาพล่วงหน้า งานวาดตอนเปิดหน้าลดลง แต่ยังเหลือส่วน hydration ขนาดมาก ผังล่างจึงแยกจุดเห็นภาพออกจากจุดพร้อมโต้ตอบ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ฝั่งขวาเปรียบเทียบสองมุมมอง ภาพสถิตส่งเนื้อหาที่วาดแล้วได้โดยไม่เพิ่มตรรกะโต้ตอบ ส่วนภาพโต้ตอบต้องเริ่มคอมโพเนนต์ฝั่งเบราว์เซอร์ วิธีทดลองใช้กระบวนการสร้างคอมโพเนนต์มาตรฐาน จึงมีต้นทุนใกล้การเรนเดอร์เต็มชุด นี่อธิบายว่าภาพมาเร็วมาก แต่ TTA ลดเพิ่มจากแคชเพียงเล็กน้อย วิธี hydration ที่ละเอียดขึ้นยังเป็นงานอนาคต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§4.3, Figure 4, §5 · PDF หน้า 3–4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กราฟซ้ายทดสอบภาพห้ารูปแบบ ตั้งแต่หนึ่งหมื่นถึงสิบล้านแถว แถวบนคือ TTR แถวล่างคือ TTA เส้นเป็นมัธยฐานและเงาเป็น IQR เส้นภาพล่วงหน้าแยกต่ำชัดในกราฟบน แต่กราฟล่างยังมีต้นทุนเปิดระบบโต้ตอบ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ตารางขวาเป็นค่าเฉลี่ยการเปลี่ยนแปลงร้อยละเทียบ none พร้อมส่วนเบี่ยงเบนมาตรฐาน จึงเป็นคนละสถิติกับกราฟ +prep ช่วยน้อยในชุดที่ไม่มีคอลัมน์เกินหรืองานเตรียมหนัก +cache ลด TTA เฉลี่ย 32.3 เปอร์เซ็นต์ ส่วนชุดรวม +most ซึ่งในกราฟเรียก +prerender ลด TTR 83.7 และ TTA 33.3 เปอร์เซ็นต์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ตัวเลขเด่นด้านล่างจึงแลกกับพื้นที่เพิ่ม 21.2 เปอร์เซ็นต์ และกระจายถึง 29.9 เปอร์เซ็นต์ ผลลด TTA เพิ่มจากแคชคือหนึ่งจุดเปอร์เซ็นต์เมื่อใช้ฐานเดียวกัน ผลนี้วัดบน M1 Pro และ local server ไม่ใช่การรับรองผลบนทุกอุปกรณ์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3–4, Table 1, §5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ฝั่งซ้ายสรุปผลงานสามข้อ มีกลไก Publisher ที่ใช้ได้จริง แยกกรอบ TTR TTA และ SC และทดสอบแบบเพิ่มระดับบนภาพห้ารูปแบบกับข้อมูลหลายขนาด จึงเห็นว่าประโยชน์มาจากงานส่วนใด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ฝั่งขวาคือข้อจำกัด เครื่องกับ local server ชุดเดียวไม่ครอบคลุมมือถือหรือ WAN ยังเหลือต้นทุน hydration และพื้นที่มีความแปรปรวน อีกทั้งข้อมูลเปลี่ยนต้องสร้างทรัพยากรใหม่ จำนวนรอบทดลองซ้ำไม่ได้ระบุใน PDF ข้อจำกัดเหล่านี้จำกัดการขยายผล แต่ไม่ได้หักล้างผลที่วัดในชุดทดลอง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§3–5 · PDF หน้า 2–4; ข้อวิจารณ์จากการอ่าน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ฝั่งซ้ายเป็นข้อสรุปจากการอ่าน แคชลดงานก่อนพร้อมโต้ตอบ ภาพล่วงหน้าลดเวลารอเห็นภาพ ชุดรวมจึงลด TTR ได้มากกว่า TTA ขณะยังมีต้นทุน hydration และพื้นที่เพิ่มที่ต่างกันตามกรณี จึงต้องอ่านทั้งความเร็วและต้นทุนร่วมกัน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ฝั่งขวาคือแนวทางที่ทีมวิจัยเสนอ หนึ่ง ศึกษา hydration ที่ละเอียดขึ้นเพื่อลดงานเริ่มคอมโพเนนต์ สอง ผสานช่วงเผยแพร่กับรันไทม์และสร้างทรัพยากรใหม่เฉพาะส่วนที่เปลี่ยน สาม เลือกระดับการปรับปรุงจากข้อมูลและข้อกำหนดภาพโดยอัตโนมัติ ทั้งสามยังเป็นทิศทางอนาคต ข้อค้นพบของบทความนี้คือการย้ายงานไปก่อนเซสชันช่วยลดเวลารอได้จริงในชุดทดสอบ โดยต้องประเมินต้นทุนที่ย้ายไปด้วย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1, Figure 4, §5–6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801e29694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85022692044b9a" /><Relationship Type="http://schemas.openxmlformats.org/officeDocument/2006/relationships/slideLayout" Target="/ppt/slideLayouts/slideLayout1.xml" Id="Rce450a455a5c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450a455a5c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eaf881c034af8" /><Relationship Type="http://schemas.openxmlformats.org/officeDocument/2006/relationships/notesSlide" Target="/ppt/notesSlides/notesSlide1.xml" Id="R5bcd02d5c43848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c41c323b448e8" /><Relationship Type="http://schemas.openxmlformats.org/officeDocument/2006/relationships/notesSlide" Target="/ppt/notesSlides/notesSlide2.xml" Id="Rfd534ed2940d46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c3e4f90a04645" /><Relationship Type="http://schemas.openxmlformats.org/officeDocument/2006/relationships/image" Target="/ppt/media/image.png" Id="R80b42b42085c4efd" /><Relationship Type="http://schemas.openxmlformats.org/officeDocument/2006/relationships/notesSlide" Target="/ppt/notesSlides/notesSlide3.xml" Id="R2c02aed3890a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f4e475cda4f23" /><Relationship Type="http://schemas.openxmlformats.org/officeDocument/2006/relationships/image" Target="/ppt/media/image2.png" Id="R99a175318e874e8b" /><Relationship Type="http://schemas.openxmlformats.org/officeDocument/2006/relationships/notesSlide" Target="/ppt/notesSlides/notesSlide4.xml" Id="R1db38f26677a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50492feb34453" /><Relationship Type="http://schemas.openxmlformats.org/officeDocument/2006/relationships/image" Target="/ppt/media/image3.png" Id="Rfe16bb6d8f874619" /><Relationship Type="http://schemas.openxmlformats.org/officeDocument/2006/relationships/notesSlide" Target="/ppt/notesSlides/notesSlide5.xml" Id="R8120cdbd15304a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4cf76c1f454d" /><Relationship Type="http://schemas.openxmlformats.org/officeDocument/2006/relationships/notesSlide" Target="/ppt/notesSlides/notesSlide6.xml" Id="R355d2f2de9bd49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f24f46b404803" /><Relationship Type="http://schemas.openxmlformats.org/officeDocument/2006/relationships/notesSlide" Target="/ppt/notesSlides/notesSlide7.xml" Id="R933b7970ab98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CDC6894D-AB63-42CA-A5BB-1AAAD593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4529461-2D75-4B83-9D09-D3AF8029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722ED7C-CB9D-4192-AAED-FA559B84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4E833917-09D1-4041-ABD2-366A2DD8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8AE4E08-F8BD-44EF-80B9-887AF5A0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7782446-8090-4905-B113-FC5E6D1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E154744-C16F-4CBC-9748-D595B83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8949F3E-0441-44E2-81AA-D39155F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64266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E57C176F-AE1F-4FEC-9753-52E1AFA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0AB59FC3-03B0-4825-B1D3-55C426E0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9EE7BE9A-01B1-4683-ADB2-A0BE68E8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5D215D40-FF43-4BC2-8179-117F5190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724182FF-0A54-4386-B780-2A04F95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C1C957B3-B350-44E5-B9AF-7624AEA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30E0134B-98C1-44C9-8268-19A034B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ข้อจำกัดของการประมวลผลตอนรันไทม์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AC2374AB-7CD9-4517-AC16-49CB59E4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C11E3465-5339-44B9-9957-E1856022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การคำนวณซ้ำซ้อนบนเบราว์เซอร์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A1593FC9-E420-483B-A0C1-23A65AD8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เบราว์เซอร์ต้องดาวน์โหลดข้อมูลดิบ รันคิวรีรวมกลุ่ม และวาดชาร์ตใหม่ทุกครั้ง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ส่งผลให้เกิดความหน่วงสูง โดยเฉพาะกับชุดข้อมูลขนาดใหญ่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E4C74CC3-A885-4563-AFF2-D94F826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649DC5A2-8DC1-4038-8B2A-9C1AA8D3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B296A76-8E0E-4D08-A3A5-F2A4028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ปัญหาความหน่วงตอนเปิดหน้าครั้งแรก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632CB60F-59F4-43FD-9729-0B2DCB61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ระบบแคชแบบเดิมทำงานตอนรันไทม์ ทำให้ผู้เข้าชมคนแรก (Cold-Start)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ยังคงต้องรอโหลดข้อมูลและคำนวณใหม่ตั้งแต่ต้นโดยไม่ได้รับประโยชน์จากแคช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E271676B-B4CA-47F6-9186-C1F6764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428376B7-EACC-4ACF-9617-3449C33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8B8AE8D3-0D20-4E50-AB1D-91F91C14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ภาพปรากฏแต่ยังไม่พร้อมโต้ตอบ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F22C75B0-42E2-4AA9-9B1D-EED7A8B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ภาพปรากฏแล้ว แต่ยังต้องเริ่มคอมโพเนนต์และตัวกลางคิวรี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ระบบจึงยังรับการคลิก ซูม หรือการเลือกช่วงข้อมูลไม่ได้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84EF0DAF-C99C-44A2-B273-8F3252C1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F30D096F-5D98-4510-88BF-D836960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ตัวชี้วัดประสิทธิภาพและต้นทุนระบบ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23A27E4A-DA5B-4CE2-B35B-EC3D640D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2AFA5FE4-C25D-4CD2-AE14-53A4AD3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ED9F35EC-614D-4F17-83F3-4EEE186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จนกระทั่งชาร์ตแสดงผลครบถ้วนบนหน้าจอ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สะท้อนความเร็วที่ผู้ใช้รับรู้ได้จริง (Perceived Latency) เทียบเคียงกับ FCP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629EBBAF-9321-495F-90A2-12CA1A9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41130379-D9B4-4C30-ABEB-8907D7CD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7517A6D4-5EBE-488B-865D-FA18AFF1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80BA6B81-A774-4C51-9ADA-D0B8E04E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เวลาจนกระทั่งระบบพร้อมรับการคลิก ซูม หรือเลือกฟิลเตอร์ข้อมูล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ชี้วัดความพร้อมใช้งานจริงของอินเทอร์เฟซ เทียบเคียงกับ TTI บนเว็บ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B60367AE-B5C8-4ADE-B6D1-3BEB9606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EA788BC1-2066-4C6A-89EA-7EB0A09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1B97444C-1F90-497A-9D5F-F32D2BB8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 (Storage Cost) · ขนาดทรัพยากรที่เผยแพร่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86CA336B-4CF7-41FF-AA4D-6D76CB6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ขนาดทรัพยากรทั้งหมดที่เผยแพร่ รวมข้อมูลและผลคำนวณล่วงหน้า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เปรียบเทียบพื้นที่กับ Baseline เพื่อประเมินต้นทุนของการลดเวลา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D621629D-BF9B-42C4-B35F-C21908B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350539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A9F9FCAA-7F96-46AE-BC07-E28A1D9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8C1465A3-1966-46F2-9FA5-B3DEA4AF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E8D82E47-D8DC-418D-B814-C3FDC1F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441E9E2F-1DE6-4C49-9A61-D8BA5AE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CBC74F8D-E9D6-4797-9D76-D249AC84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88B6C4CF-D7DF-4F75-963A-1B60221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019458B5-AC6A-47DC-9791-9510ABCC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42b42085c4efd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55CA1BAB-2717-452E-87FD-0E41A5B2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D7DB52E9-0D3A-4F1D-8D8D-B48CCE2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A7B783C0-D34D-44E1-8AA3-8856492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ADC04D44-0A44-4209-9D1F-528D41D3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8CAF12AF-FB44-4BFB-8778-BA16A40C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5F495283-3FB9-4226-8030-5DA76D00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249DFAA1-EC07-4C38-9DC9-39971812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6378D1F9-2B56-4C23-98AD-3A20AE8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5E55781A-43C4-4EDA-BD59-7495A531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A5142FBE-0256-41CD-82ED-BC15553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D1B1AA97-F9C6-4DCB-80DD-2CD92429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1B2D1589-14C4-4784-B68C-61B790C0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4D9D4C7D-E836-434D-84BE-F874F3C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63F4FE8D-8C78-4923-958F-809E45A5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31C53812-0EA1-45F4-BA78-D6BAC3B5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3A6D5982-AAB7-4DE5-958E-5A4B6896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4632A9BB-40D1-41F9-B46E-041B87B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698C1B39-77E0-431E-B800-A20D103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868FCF2D-25C7-4AB1-9A81-D2F905F5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ลดภาระการส่งข้อมูลข้ามเครือข่าย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0B48D97A-FE9A-4A54-B210-94C2B80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98FB1B33-13A8-4634-8C20-88114DEB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5EAFDC4F-D6D4-4534-AF8A-5905CBAC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B80B5448-E30E-4CD6-847A-3F642DA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683DE6B9-EE41-4403-9520-D6353D68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BE8A746B-CB01-4EF6-84CD-2ADE871E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8E6E644E-F699-49C3-BBB5-21982CCB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CB680783-6B9C-4CFE-927F-677DFC99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AF78C602-1F33-45A3-83D0-B48AF974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1348578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9BE1F510-003C-4CD1-B538-9243980E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AA10820E-6EED-4436-83CC-224A5C5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ภาพล่วงหน้าและต้นทุน Client Hydration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6256EA9F-693D-4101-8B5F-696D89A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22B97BC3-8C09-444E-9352-AC2ABE3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C3CCF077-03CE-4F3E-8F66-6036781D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A4D7BDA2-1153-4F24-953B-CD927C0D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CF8851C4-1128-4E45-A883-936A8FB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175318e874e8b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EC9572B7-44BB-4FB1-949A-BC3A545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650B6391-2AEF-4000-9767-920AE53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023386F6-0CF2-4F91-B032-1B1F974C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086C9415-1F94-4FB4-BCE4-7946883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7687DD0C-AC02-4F29-BAEE-06FC6CF9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ลดลง 83.7%)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32BA4312-DD02-4B67-8FE9-69656A2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23560BFF-EDB7-41F5-ADE2-70D3984E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39D19114-0B1A-4767-9126-B56A2006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FD3B7955-F892-442F-AF50-E3147B2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เริ่มคอมโพเนนต์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32EB7B56-7357-4464-81EC-7C85AE8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9914B365-1248-4919-9FEE-33699EF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B03BB8BC-746B-4DAC-9525-DD7C3512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9F14E1BC-4479-459D-9D30-6149FFA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33CD291D-2F33-48F1-8467-EE31373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DDB1956A-DBB5-46CE-9C9E-C6554CCD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830BFCE7-4A57-4414-AFE8-A52ADF77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F5659794-AD84-4319-A4E2-53CEE254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408AA64B-65B4-49CA-9D28-BFBA4755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56A06A9A-06A4-420F-B84A-82EDFDC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67E828EF-F2AA-4859-8EC9-0167D19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D8A86CC0-2D19-4480-BC3A-302FB94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86736E79-A20A-4298-B38B-AB72BAA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8416D6BA-A77F-4F09-93B2-0B3A2B4A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93F2B008-BEDF-49F1-97E4-2FB8A3B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5560502A-21A1-4E1B-8453-545B08BB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5C70CB8D-34D7-458B-B2AD-917FF18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515E04EF-55EE-46F8-BCB9-AAD53E3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Hydration ที่ละเอียดขึ้นเป็นแนวทางวิจัยต่อ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AD31F63A-D53B-44CF-8312-F2EC13A7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688646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9F7AD3F1-096F-45D4-B134-2B3D48ED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40C1FAB4-C661-4F61-A4F9-E1A9F049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ผลทดลองและการชั่งน้ำหนักทรัพยากร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9C9FAC60-204B-4284-96EE-ECF16F9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5D80512F-4A9D-4C91-9B03-803C6BE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64BEDE45-D8EE-446F-982D-38590C91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58216BF8-764E-41C8-BBEA-F198F2B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3CC00697-302D-469B-85AA-AC66481A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6bb6d8f874619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F0663741-E7D7-4D69-B391-92BBBE3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C203E133-7DB8-461E-ABCE-2FF26E0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49A55E25-8E4D-4A41-A2BE-4E262A1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6662FED7-8069-49FE-9F25-641D3F0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EB4E201D-C4AE-41C2-94BD-CA1C3CBC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33C1382F-64B2-474A-9E7F-CEE5059A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9A320641-5D86-49CB-86DB-DA9F173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540DBD2F-7CAF-4ECB-ABCC-CEA0F470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11AA0F12-BB83-4F39-A673-926A9AF2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A04A2DDA-8D9F-4645-97C0-2AA7BA9D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DD30C9B8-7F11-477B-B896-6D01F726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01BBBA92-6FB6-4C2F-A9FC-FCE30DBB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4BAA7B0B-C4E2-482A-B423-8D4F13C4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74D7844B-ECBC-4D17-87B0-5811919C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8B08E64B-6775-4A69-A14A-6D12AEA1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0FFD1903-0EC1-496F-BA05-84D22CEF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6C0CC89D-BFF7-42B5-8498-BFA277D8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55D72A6C-F513-4488-BA78-728BBE4E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686BA9AB-FB09-4E05-9058-58347369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8D4B4E10-A197-4E6F-A07A-DAD68DCD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ผลต่างการลด TTA: 33.3 − 32.3 = 1.0 จุดเปอร์เซ็นต์ เมื่อใช้ Baseline เดียวกัน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2C03A73E-90BC-436B-8B26-D2C3F3F5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041891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95B82F39-BF53-4FEE-93CB-828EFA30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6EFEE3F9-BDA0-482E-8368-FE8BA16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ผลงานหลักและข้อจำกัดของบทความ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6919F9FE-ED6F-41AB-A2E5-7F1EAEBC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84493F64-10A0-4B9F-BA4A-B0276399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90B38135-3194-484C-ACBB-F93EAF16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7055D382-F74F-48ED-9F2E-F0414EC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0F1B849A-FA95-4B7D-90A9-32975B50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ผลงานหลักของบทความ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B3FD2945-CFAF-4F20-9AC5-FC14CF0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8E20AD50-4956-4082-B825-C7240871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กลไกช่วงเผยแพร่ที่ใช้กับระบบจริง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EC30506B-745A-49DB-89AC-0C84726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เตรียมข้อมูล ผลคิวรี และภาพเริ่มต้นผ่าน Mosaic Publisher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ใช้ตัวกลางคิวรีร่วมกับการแก้ข้อกำหนดเฉพาะจุด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BF8635B6-1098-4CE3-B81F-53D2FA28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13C3286A-B195-4BFE-8169-12BBA43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6E7231E7-89EF-459B-BEF7-126C554B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 TTR / TTA / SC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0A3A3270-C643-402E-938F-C4E69F75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แยกเวลาจนภาพครบจากเวลาพร้อมรับอินพุต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พร้อมรายงานต้นทุนพื้นที่ที่เพิ่มขึ้น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B7077280-BB31-42C9-B15D-EF6802B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62231E01-7BB5-4AF7-8266-E84398D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DCF9D791-D936-452E-8358-0EBA7114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ทดสอบแบบเพิ่มระดับการปรับปรุง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AC23AA63-4CFF-4C87-A465-84509274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ภาพข้อมูล 5 รูปแบบ ที่ข้อมูล 10k–10M แถว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ทำให้เห็นว่าแคชกับภาพล่วงหน้าช่วยคนละช่วง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3DDD8B03-6BFB-4E11-98E4-5A9A880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CD8B9F4F-7711-4F6A-929B-735A1FB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ข้อจำกัดจากการอ่าน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E303FE74-4DD6-4DD5-A149-61DFDEE0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E4CB6237-6C36-45D5-9518-1CC281B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สภาพแวดล้อมการทดสอบจำกัด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4593F0B7-255D-449F-848A-05296B3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MacBook Pro M1 Pro และ Local Server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ยังไม่ได้ประเมินมือถือหรือเครือข่ายระยะไกล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E7B430D1-21AE-44D0-AE40-1AB601E1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2D5818A9-7150-45B0-81BB-8DAD4C9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B0374460-FE2E-444A-BB55-1223DE4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 Hydration และพื้นที่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CF40A742-5601-4426-B73D-EAEF00C1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ยังเริ่มคอมโพเนนต์ฝั่งไคลเอนต์ตามปกติ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แต่ σ สูงถึง 29.9%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E2D6C236-927E-4EB2-9ED3-A584B4F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6F5EEC5A-4B6F-441E-A807-664D9E91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DFDB5673-AFCA-4779-B5A2-67588264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ความสดและการรายงานการทดลอง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B5FF41B3-2C27-44A4-8D57-65AB638A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ข้อมูลเปลี่ยนต้องสร้างทรัพยากรใหม่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PDF ไม่ระบุจำนวนรอบทดลองซ้ำ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5B41288E-DE1C-4722-AEE3-28F6E5AB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3–5 (หน้า PDF 2–4) · ข้อจำกัดสังเคราะห์จากขอบเขตหลักฐาน</a:t>
            </a:r>
          </a:p>
        </p:txBody>
      </p:sp>
    </p:spTree>
    <p:extLst>
      <p:ext uri="{BB962C8B-B14F-4D97-AF65-F5344CB8AC3E}">
        <p14:creationId xmlns:p14="http://schemas.microsoft.com/office/powerpoint/2010/main" val="1918900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DC72F3C0-8120-462B-98E8-1491CBE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82239B07-637A-42F8-96DF-43B80C0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ข้อสรุปและแนวทางวิจัยต่อ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89DCC983-682E-49AC-9F46-05F10DF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2CF8BB83-BA21-4BAA-A23B-79E422D6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8313A378-FD19-4068-B37C-37E999D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F03BF977-64AD-4864-91D2-E0BC75C9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3FC08274-B7C1-40C6-ADA5-17F5881C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ข้อสรุปจากการอ่าน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868A094F-622B-42F4-A436-D9C7FA7D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A92E68DE-A0EF-456E-97AF-73AED43A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แคชลดงานก่อนพร้อมโต้ตอบ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6800E4FA-8C2B-4154-B855-F818508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+cache ลด TTA เฉลี่ย 32.3% เทียบ none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เป็นส่วนหลักของการลด TTA ในชุดทดสอบ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3E40A604-4286-41A4-A608-8EEDF0B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4DFCA6BD-0EE9-4EF9-BE3A-BCF1DFC7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D2017BFF-D122-48B7-A6DF-4D4ACB4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ภาพล่วงหน้าลดเวลารอเห็นภาพ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5267D260-94C0-4759-A254-43E5CFD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83.7% และ TTA 33.3%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ภาพมาเร็ว แต่ยังเหลือต้นทุน Hydration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D202B36A-4E3C-4394-90E8-C47EDBA7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9AB5D61F-4FF6-4AE9-9155-A006B58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72A98A13-7833-4BB4-B2D8-21F19895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ผลด้านความเร็วมีต้นทุนพื้นที่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9E1FF78F-AC29-4E84-8BD6-37330224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ชุดรวมเพิ่ม SC เฉลี่ย 21.2% ± 29.9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ประโยชน์ต้องพิจารณาตามเงื่อนไขของระบบ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77EF76D9-BDAC-4270-9791-EB98983A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69BFC50E-08B2-4B6E-A388-CD93AD06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แนวทางที่ทีมวิจัยเสนอ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67B28497-50A5-44D3-8CA6-F8293CAD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153E08AD-7640-449D-986B-4101C2F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ที่ละเอียดขึ้น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4B0631AA-C6A2-4C68-9DCC-4DA09FFF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ลดงานเริ่มคอมโพเนนต์ฝั่งไคลเอนต์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เพื่อลดต้นทุนที่ยังใกล้การเรนเดอร์เต็มชุด (§5)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482F5AC1-4E92-4124-895B-63E0940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65638AED-A23F-410B-BD7B-7DD5D1FC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BA2C1BB3-4DE2-4551-96BF-122613A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Hybrid และ Incremental Regeneration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54908926-752A-4FAF-9552-F92D803B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ผสานการปรับปรุงช่วงเผยแพร่กับรันไทม์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และสร้างทรัพยากรใหม่เฉพาะส่วน (§6)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7928EEE5-B13E-4556-8784-FEE5D71A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40752F63-BD01-42FD-9191-4F236E67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AFE5581A-88C7-4214-BFEC-6CD132A1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เลือกการตั้งค่าโดยอัตโนมัติ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C937AD3A-235D-4617-878B-7B51B461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พัฒนาวิธีเลือกระดับการปรับปรุงจากข้อมูล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และข้อกำหนดภาพ แนวทางนี้ยังไม่ได้ทดลอง (§6)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9C349340-9CB1-4055-8C57-EF3A5BA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ซ้าย Table 1 / Figure 4 · ขวา Sections 5–6 (หน้า PDF 4) · แนวทางวิจัยต่อยังไม่ได้ประเมิน</a:t>
            </a:r>
          </a:p>
        </p:txBody>
      </p:sp>
    </p:spTree>
    <p:extLst>
      <p:ext uri="{BB962C8B-B14F-4D97-AF65-F5344CB8AC3E}">
        <p14:creationId xmlns:p14="http://schemas.microsoft.com/office/powerpoint/2010/main" val="1230682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2026-10-07T04:29:41.2100000Z</dcterms:created>
  <dcterms:modified xsi:type="dcterms:W3CDTF">2026-10-07T04:29:41.2100000Z</dcterms:modified>
</coreProperties>
</file>