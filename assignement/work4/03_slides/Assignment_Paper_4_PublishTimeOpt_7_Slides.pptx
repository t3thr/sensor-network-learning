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e7a227ed38a4e4f" Type="http://schemas.openxmlformats.org/officeDocument/2006/relationships/officeDocument" Target="ppt/presentation.xml"/><Relationship Id="Rd4d2f3c787d541ae" Type="http://schemas.openxmlformats.org/officeDocument/2006/relationships/extended-properties" Target="docProps/app.xml"/><Relationship Id="Rd61218830258499b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03916e4c4d4919"/>
  </p:sldMasterIdLst>
  <p:notesMasterIdLst>
    <p:notesMasterId xmlns:r="http://schemas.openxmlformats.org/officeDocument/2006/relationships" r:id="R31f57817de8d4f2f"/>
  </p:notesMasterIdLst>
  <p:sldIdLst>
    <p:sldId xmlns:r="http://schemas.openxmlformats.org/officeDocument/2006/relationships" id="256" r:id="R2cbf051e716f4477"/>
    <p:sldId xmlns:r="http://schemas.openxmlformats.org/officeDocument/2006/relationships" id="257" r:id="R43fed9cabfe74c0a"/>
    <p:sldId xmlns:r="http://schemas.openxmlformats.org/officeDocument/2006/relationships" id="258" r:id="Rb513e3f7244d4711"/>
    <p:sldId xmlns:r="http://schemas.openxmlformats.org/officeDocument/2006/relationships" id="259" r:id="Rbf57ee3efa3542e0"/>
    <p:sldId xmlns:r="http://schemas.openxmlformats.org/officeDocument/2006/relationships" id="260" r:id="Rbf4284cd8cee4e47"/>
    <p:sldId xmlns:r="http://schemas.openxmlformats.org/officeDocument/2006/relationships" id="261" r:id="R16128a73e99649e3"/>
    <p:sldId xmlns:r="http://schemas.openxmlformats.org/officeDocument/2006/relationships" id="262" r:id="Ra971af00a11846ac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6128a73e99649e3" Type="http://schemas.openxmlformats.org/officeDocument/2006/relationships/slide" Target="slides/slide6.xml"/><Relationship Id="R2cbf051e716f4477" Type="http://schemas.openxmlformats.org/officeDocument/2006/relationships/slide" Target="slides/slide1.xml"/><Relationship Id="R31f57817de8d4f2f" Type="http://schemas.openxmlformats.org/officeDocument/2006/relationships/notesMaster" Target="notesMasters/notesMaster1.xml"/><Relationship Id="R43fed9cabfe74c0a" Type="http://schemas.openxmlformats.org/officeDocument/2006/relationships/slide" Target="slides/slide2.xml"/><Relationship Id="Ra4b0c4e2c330422b" Type="http://schemas.openxmlformats.org/officeDocument/2006/relationships/theme" Target="theme/theme1.xml"/><Relationship Id="Ra971af00a11846ac" Type="http://schemas.openxmlformats.org/officeDocument/2006/relationships/slide" Target="slides/slide7.xml"/><Relationship Id="Rb513e3f7244d4711" Type="http://schemas.openxmlformats.org/officeDocument/2006/relationships/slide" Target="slides/slide3.xml"/><Relationship Id="Rb903916e4c4d4919" Type="http://schemas.openxmlformats.org/officeDocument/2006/relationships/slideMaster" Target="slideMasters/slideMaster1.xml"/><Relationship Id="Rbf4284cd8cee4e47" Type="http://schemas.openxmlformats.org/officeDocument/2006/relationships/slide" Target="slides/slide5.xml"/><Relationship Id="Rbf57ee3efa3542e0" Type="http://schemas.openxmlformats.org/officeDocument/2006/relationships/slide" Target="slides/slide4.xml"/><Relationship Id="Rdc9f03f0582c44d2" Type="http://schemas.openxmlformats.org/officeDocument/2006/relationships/tableStyles" Target="tableStyles.xml"/><Relationship Id="Re43ab224b24f4ced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11c51f509fc24cd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02a5c3fbcc74583" Type="http://schemas.openxmlformats.org/officeDocument/2006/relationships/notesMaster" Target="../notesMasters/notesMaster1.xml"/><Relationship Id="R8e87b8c65de4476b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d972363511540cd" Type="http://schemas.openxmlformats.org/officeDocument/2006/relationships/notesMaster" Target="../notesMasters/notesMaster1.xml"/><Relationship Id="R112e1eb9f7dd490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cdfbb819cf6425f" Type="http://schemas.openxmlformats.org/officeDocument/2006/relationships/notesMaster" Target="../notesMasters/notesMaster1.xml"/><Relationship Id="R95f6a9b14e3c4f5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dec07d02a80b46d3" Type="http://schemas.openxmlformats.org/officeDocument/2006/relationships/slide" Target="../slides/slide4.xml"/><Relationship Id="Re3b15c0a1de64c7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22658b80754430d" Type="http://schemas.openxmlformats.org/officeDocument/2006/relationships/notesMaster" Target="../notesMasters/notesMaster1.xml"/><Relationship Id="R6322acdfaaaa466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e15799948ff4885" Type="http://schemas.openxmlformats.org/officeDocument/2006/relationships/slide" Target="../slides/slide6.xml"/><Relationship Id="R8d3599e5f3314fe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4fb81345128411f" Type="http://schemas.openxmlformats.org/officeDocument/2006/relationships/slide" Target="../slides/slide7.xml"/><Relationship Id="R4a521169ce4248e8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/>
          <a:p xmlns:a="http://schemas.openxmlformats.org/drawingml/2006/main">
            <a:r>
              <a:t>ความล่าช้าเพียงเสี้ยววินาทีในการเปิดหน้าเว็บ สามารถทำลายสมาธิการวิเคราะห์ข้อมูลได้ทันที บทความ Publish-Time Optimizations for Web-Based Visualizations จาก IEEE VIS 2025 โดย University of Washington จึงเปลี่ยนวิธีคิด จากการคำนวณสดเมื่อเปิดเว็บ มาเป็นการเตรียมข้อมูลและภาพล่วงหน้าตั้งแต่ตอนเผยแพร่ ผ่าน Mosaic Publisher เพื่อให้การเปิดดูข้อมูลขนาดใหญ่ทำได้ทันที</a:t>
            </a:r>
          </a:p>
          <a:p xmlns:a="http://schemas.openxmlformats.org/drawingml/2006/main"/>
          <a:p xmlns:a="http://schemas.openxmlformats.org/drawingml/2006/main">
            <a:r>
              <a:t>Source: ชื่อเรื่องและ Abstract · PDF หน้า 1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/>
          <a:p xmlns:a="http://schemas.openxmlformats.org/drawingml/2006/main">
            <a:r>
              <a:t>ปัญหาดั้งเดิมของเว็บวิเคราะห์ข้อมูล คือเบราว์เซอร์ต้องดึงข้อมูลดิบ รันคิวรี และวาดชาร์ตใหม่ทุกครั้ง จึงเกิดความหน่วงเมื่อเริ่มใช้งาน หรือ Cold Start และที่ชวนหงุดหงิดที่สุด คือภาพชาร์ตขึ้นมาแล้ว แต่ปุ่มยังคลิกไม่ติด จนเกิดการกดย้ำ ๆ ด้วยความโมโห</a:t>
            </a:r>
          </a:p>
          <a:p xmlns:a="http://schemas.openxmlformats.org/drawingml/2006/main"/>
          <a:p xmlns:a="http://schemas.openxmlformats.org/drawingml/2006/main">
            <a:r>
              <a:t>งานวิจัยนี้จึงแยกตัวชี้วัดเป็นสองแกนสำคัญ คือ TTR หรือเวลาจนสายตามองเห็นชาร์ตครบถ้วน และ TTA คือเวลาที่พร้อมคลิกหรือซูมข้อมูลได้จริง ควบคู่กับ SC เพื่อดูว่าความเร็วที่เพิ่มขึ้นนี้ ต้องแลกกับพื้นที่จัดเก็บบนเซิร์ฟเวอร์เท่าใด</a:t>
            </a:r>
          </a:p>
          <a:p xmlns:a="http://schemas.openxmlformats.org/drawingml/2006/main"/>
          <a:p xmlns:a="http://schemas.openxmlformats.org/drawingml/2006/main">
            <a:r>
              <a:t>Source: §1, §3.1 · PDF หน้า 1–2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/>
          <a:p xmlns:a="http://schemas.openxmlformats.org/drawingml/2006/main">
            <a:r>
              <a:t>หัวใจของ Mosaic Publisher คือการย้ายงานคำนวณทั้งหมดไปทำล่วงหน้าก่อนปล่อยขึ้นเว็บ เปรียบเสมือนเชฟที่เตรียมวัตถุดิบและเคี่ยวน้ำซุปรอไว้ โดยแบ่งเป็นสามเสาหลัก คือตัดแต่งเฉพาะคอลัมน์ที่จำเป็น คำนวณผลสรุปทางสถิติเตรียมไว้ในฐานข้อมูล และวาดภาพชาร์ตเริ่มต้นรอไว้ล่วงหน้า</a:t>
            </a:r>
          </a:p>
          <a:p xmlns:a="http://schemas.openxmlformats.org/drawingml/2006/main"/>
          <a:p xmlns:a="http://schemas.openxmlformats.org/drawingml/2006/main">
            <a:r>
              <a:t>กระบวนการนี้ทำงานอัตโนมัติ โดยวิเคราะห์โค้ดและจำลองการคลิกเสมือนจริงเพื่อค้นหาคิวรี แล้วใช้ DuckDB สร้างผลลัพธ์สำเร็จรูป สิ่งที่ส่งสู่เบราว์เซอร์จึงเป็นไฟล์ผลรวมและ DuckDB-WASM ที่เติมแคชพร้อมใช้ ช่วยปลดล็อกให้อุปกรณ์ของผู้ใช้ไม่ต้องแบกรับภาระการประมวลผลหนัก ๆ ซ้ำอีก</a:t>
            </a:r>
          </a:p>
          <a:p xmlns:a="http://schemas.openxmlformats.org/drawingml/2006/main"/>
          <a:p xmlns:a="http://schemas.openxmlformats.org/drawingml/2006/main">
            <a:r>
              <a:t>Source: Figure 1, §4.1–4.3 · PDF หน้า 1, 3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/>
          <a:p xmlns:a="http://schemas.openxmlformats.org/drawingml/2006/main">
            <a:r>
              <a:t>แม้การวาดภาพล่วงหน้าจะช่วยให้สายตามองเห็นข้อมูลได้เร็ว จนค่า TTR ลดลงอย่างมาก แต่งานวิจัยได้ค้นพบความจริงสำคัญ นั่นคือเวลาส่วนใหญ่ที่ยังเหลืออยู่ มาจากขั้นตอน Client Hydration หรือการรันจาวาสคริปต์เพื่อปลุกให้ภาพนิ่งเหล่านั้นพร้อมตอบสนองต่อการสัมผัส</a:t>
            </a:r>
          </a:p>
          <a:p xmlns:a="http://schemas.openxmlformats.org/drawingml/2006/main"/>
          <a:p xmlns:a="http://schemas.openxmlformats.org/drawingml/2006/main">
            <a:r>
              <a:t>หากเป็นภาพสถิตทั่วไป การส่งภาพที่วาดเสร็จจะจบงานได้ทันที แต่สำหรับภาพเชิงโต้ตอบ เบราว์เซอร์ยังต้องใช้เวลาสร้างคอมโพเนนต์ใหม่เกือบเท่าการวาดชาร์ตเต็มชุด ต้นทุน Hydration จึงเป็นคอขวดที่อธิบายว่า เหตุใดการมองเห็นภาพ จึงไม่เท่ากับการพร้อมรับการคลิกใช้งานจริง</a:t>
            </a:r>
          </a:p>
          <a:p xmlns:a="http://schemas.openxmlformats.org/drawingml/2006/main"/>
          <a:p xmlns:a="http://schemas.openxmlformats.org/drawingml/2006/main">
            <a:r>
              <a:t>Source: §4.3, Figure 4, §5 · PDF หน้า 3–4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/>
          <a:p xmlns:a="http://schemas.openxmlformats.org/drawingml/2006/main">
            <a:r>
              <a:t>ผลทดสอบกับชุดข้อมูลจริงห้ารูปแบบ สูงถึงสิบล้านแถว ยืนยันว่าการสร้างภาพล่วงหน้าลดเวลาการเห็นข้อมูล หรือ TTR ลงได้ถึง 83.7% ช่วยตัดปัญหาหน้าจอว่างเปล่าได้อย่างหมดจด ไม่ว่าข้อมูลเบื้องหลังจะมีปริมาณมหาศาลเพียงใด</a:t>
            </a:r>
          </a:p>
          <a:p xmlns:a="http://schemas.openxmlformats.org/drawingml/2006/main"/>
          <a:p xmlns:a="http://schemas.openxmlformats.org/drawingml/2006/main">
            <a:r>
              <a:t>ขณะที่เวลาจนพร้อมโต้ตอบ หรือ TTA ลดลงได้ 33.3% โดยพระเอกตัวจริงคือระบบแคชผลรวมล่วงหน้าที่ลดเวลาไปได้ถึง 32.3% ส่วนภาพล่วงหน้าช่วยเพิ่มความเร็วตอบสนองอีกเพียง 1.0 จุดเปอร์เซ็นต์ ตอกย้ำว่าภาพที่ปรากฏไม่ได้แปลว่าพร้อมโต้ตอบทันที</a:t>
            </a:r>
          </a:p>
          <a:p xmlns:a="http://schemas.openxmlformats.org/drawingml/2006/main"/>
          <a:p xmlns:a="http://schemas.openxmlformats.org/drawingml/2006/main">
            <a:r>
              <a:t>แต่ความเร็วนี้ต้องแลกกับพื้นที่จัดเก็บบนเซิร์ฟเวอร์ หรือ SC ที่เพิ่มขึ้นเฉลี่ย 21.2% บนเครื่องทดสอบ M1 Pro ชี้ชัดว่านี่คือข้อแลกเปลี่ยนที่คุ้มค่าอย่างยิ่ง ในการยอมเสียพื้นที่ดิสก์เพื่อแลกกับการคืนเวลาและสมาธิให้แก่ผู้ใช้งาน</a:t>
            </a:r>
          </a:p>
          <a:p xmlns:a="http://schemas.openxmlformats.org/drawingml/2006/main"/>
          <a:p xmlns:a="http://schemas.openxmlformats.org/drawingml/2006/main">
            <a:r>
              <a:t>Source: Figure 3–4, Table 1, §5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/>
          <a:p xmlns:a="http://schemas.openxmlformats.org/drawingml/2006/main">
            <a:r>
              <a:t>จุดเด่นสำคัญของงานนี้ คือการสร้างระบบที่ใช้ได้จริงกับสเปกเว็บเดิม พร้อมวางกรอบประเมินใหม่ที่แยกเวลามองเห็น เวลาโต้ตอบ และต้นทุนพื้นที่ออกจากกัน ทำให้ระบุได้อย่างแม่นยำว่าความเร็วเกิดขึ้นในขั้นตอนใด</a:t>
            </a:r>
          </a:p>
          <a:p xmlns:a="http://schemas.openxmlformats.org/drawingml/2006/main"/>
          <a:p xmlns:a="http://schemas.openxmlformats.org/drawingml/2006/main">
            <a:r>
              <a:t>อย่างไรก็ตาม ในเชิงวิชาการยังมีข้อจำกัดสำคัญ เพราะวัดผลบนเครื่องเดี่ยวและเครือข่ายภายในเท่านั้น ยังไม่ได้ทดสอบบนสมาร์ตโฟนหรืออินเทอร์เน็ตระยะไกล อีกทั้งยังมีภาระ Hydration และหากข้อมูลต้นทางเปลี่ยน ก็ต้องประมวลผลไฟล์ล่วงหน้าใหม่ทั้งหมด</a:t>
            </a:r>
          </a:p>
          <a:p xmlns:a="http://schemas.openxmlformats.org/drawingml/2006/main"/>
          <a:p xmlns:a="http://schemas.openxmlformats.org/drawingml/2006/main">
            <a:r>
              <a:t>Source: §3–5 · PDF หน้า 2–4; ข้อจำกัดตามสภาพแวดล้อมและข้อมูลที่รายงาน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/>
          <a:p xmlns:a="http://schemas.openxmlformats.org/drawingml/2006/main">
            <a:r>
              <a:t>โดยสรุปแล้ว ข้อค้นพบหลักยืนยันว่า การเตรียมแคชล่วงหน้าคือหัวใจสำคัญในการตัดภาระคำนวณ เพื่อให้ระบบพร้อมโต้ตอบได้เร็วขึ้น ขณะที่การสร้างภาพล่วงหน้าช่วยให้เห็นชาร์ตทันทีโดยไม่ต้องรอนาน โดยยอมแลกกับพื้นที่จัดเก็บบนเซิร์ฟเวอร์ที่เพิ่มขึ้นในระดับที่บริหารจัดการได้</a:t>
            </a:r>
          </a:p>
          <a:p xmlns:a="http://schemas.openxmlformats.org/drawingml/2006/main"/>
          <a:p xmlns:a="http://schemas.openxmlformats.org/drawingml/2006/main">
            <a:r>
              <a:t>ก้าวต่อไปคือการพัฒนา Progressive Hydration เพื่อเริ่มระบบเฉพาะส่วนที่จำเป็น ควบคู่กับการปรับปรุงข้อมูลเฉพาะจุดที่เปลี่ยนแปลง การย้ายงานสู่ Publish-Time จึงเป็นรากฐานสำคัญที่ทำให้เว็บข้อมูลขนาดใหญ่เปิดใช้งานได้อย่างลื่นไหล ขอจบการนำเสนอสำหรับการรับฟัง และพร้อมรับข้อซักถามในลำดับถัดไป</a:t>
            </a:r>
          </a:p>
          <a:p xmlns:a="http://schemas.openxmlformats.org/drawingml/2006/main"/>
          <a:p xmlns:a="http://schemas.openxmlformats.org/drawingml/2006/main">
            <a:r>
              <a:t>Source: Table 1, Figure 4, §5–6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f8d115cb8eb488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940d9b336bf4467" Type="http://schemas.openxmlformats.org/officeDocument/2006/relationships/theme" Target="theme/theme2.xml"/><Relationship Id="Rc92977036dfb4819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2977036dfb48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f0b58c9fd644475" Type="http://schemas.openxmlformats.org/officeDocument/2006/relationships/slideLayout" Target="../slideLayouts/slideLayout1.xml"/><Relationship Id="R837cf8a409d7420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a7440d466294337" Type="http://schemas.openxmlformats.org/officeDocument/2006/relationships/notesSlide" Target="../notesSlides/notesSlide2.xml"/><Relationship Id="Rd2774d4414ea458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d66fdbb648342fa" Type="http://schemas.openxmlformats.org/officeDocument/2006/relationships/notesSlide" Target="../notesSlides/notesSlide3.xml"/><Relationship Id="R513ed8e787ea4c44" Type="http://schemas.openxmlformats.org/officeDocument/2006/relationships/slideLayout" Target="../slideLayouts/slideLayout1.xml"/><Relationship Id="Racd008cd2c9b48a5" Type="http://schemas.openxmlformats.org/officeDocument/2006/relationships/image" Target="../media/image.png"/></Relationships>
</file>

<file path=ppt/slides/_rels/slide4.xml.rels><?xml version='1.0' encoding='UTF-8' standalone='yes'?>
<Relationships xmlns="http://schemas.openxmlformats.org/package/2006/relationships"><Relationship Id="Rdbdb3df13bde4793" Type="http://schemas.openxmlformats.org/officeDocument/2006/relationships/image" Target="../media/image2.png"/><Relationship Id="Re6b90800df3f44b8" Type="http://schemas.openxmlformats.org/officeDocument/2006/relationships/slideLayout" Target="../slideLayouts/slideLayout1.xml"/><Relationship Id="Ree47c0bf29694e7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a91f257bd884c6c" Type="http://schemas.openxmlformats.org/officeDocument/2006/relationships/slideLayout" Target="../slideLayouts/slideLayout1.xml"/><Relationship Id="R55334cdf7e804b46" Type="http://schemas.openxmlformats.org/officeDocument/2006/relationships/notesSlide" Target="../notesSlides/notesSlide5.xml"/><Relationship Id="R836341958edf495a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7a22df8c04614e8b" Type="http://schemas.openxmlformats.org/officeDocument/2006/relationships/slideLayout" Target="../slideLayouts/slideLayout1.xml"/><Relationship Id="Rc548492183c8497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6f88c5253024b80" Type="http://schemas.openxmlformats.org/officeDocument/2006/relationships/notesSlide" Target="../notesSlides/notesSlide7.xml"/><Relationship Id="Rb2be2c7813644c86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F06FDCB6-572D-4FFB-8376-725935D5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272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BA1D046-01F9-4CBE-9C20-7666181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272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51D7FE1-A05A-431B-A08B-338FD9F4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272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7E1F7F88-D5BA-4FDC-B1CD-BCDA303A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CDB4DE8-9B8F-40FF-9BD8-CED3F54E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272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58CD477-8E31-4433-865F-1C854B21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49A82B1-6DE2-4227-92DA-05BCC44E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549B0636-3C27-4BE3-8183-BD0F1BC3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43700"/>
            <a:ext cx="1272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1981569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9">
            <a:extLst xmlns:a="http://schemas.openxmlformats.org/drawingml/2006/main">
              <a:ext uri="{FF2B5EF4-FFF2-40B4-BE49-F238E27FC236}">
                <a16:creationId xmlns:a16="http://schemas.microsoft.com/office/drawing/2014/main" id="{1A055DB4-D27E-4194-AFCF-89ABC5C5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81B29BD2-FA6A-4115-9917-EAA995A5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5CFB6CB1-947F-4CB2-80DD-39647FFE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2C58E1F3-1BAD-4810-A7FE-EDF6A5B0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28672BCB-5DCF-43CB-AAB2-DC91A0AD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F83DBE37-356F-45DE-86B1-9EEF1511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C19548DF-4709-4ED5-8230-8DF65BDA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ปัญหาเมื่อเปิดเว็บแสดงภาพข้อมูล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BC920B47-8E4F-410C-B2B1-1FDA938D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ECE45015-3E5C-488A-A3DB-756491FC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แต่ละเซสชันต้องคำนวณข้อมูลใหม่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4E9B9F6E-DDA7-4E25-AD4A-94E6238C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เมื่อเปิดเว็บ เบราว์เซอร์ต้องโหลดข้อมูล รันคิวรี และวาดภาพ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การทำงานซ้ำนี้เพิ่มเวลารอ โดยเฉพาะกับข้อมูลขนาดใหญ่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494D86B6-6829-40DD-8445-ED9DF765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5AC14880-FAC1-44EB-96CE-615DD676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2956BD99-665B-46D5-91ED-50ECE317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แคชยังไม่พร้อมในช่วงเริ่มเซสชัน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E68D0501-7FE0-42C7-8061-E72D19A5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แคชที่สร้างระหว่างใช้งานยังไม่มีผลให้ใช้ตอนเริ่มต้น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จึงต้องรอคำนวณก่อน แม้คำขอถัดไปจะใช้แคชได้ (Cold Start)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4E81C6B2-41FA-40CD-A00D-F0C35BBA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2499A2AC-BA2A-4D18-8571-9D6E86E3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CA410F3D-E3B6-49A6-BC15-7C39747F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ภาพแสดงแล้ว แต่ระบบยังรับอินพุตไม่ได้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B3BF0D0A-FE75-4F17-96C2-79DD489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การกรองหรือซูมต้องรอคอมโพเนนต์และตัวกลางคิวรีเริ่มทำงาน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การเห็นภาพจึงไม่เท่ากับระบบพร้อมรับการโต้ตอบ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ED16590B-ED2F-41B2-89B6-B89540B3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09AD6957-B050-48AD-80A5-4480F0F3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ตัวชี้วัดเวลาและพื้นที่จัดเก็บ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7616DB2E-4187-4BED-84BF-95D4A044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593F76CE-2931-4E71-8A4A-1AE41ED9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TTR: เวลาจนภาพข้อมูลปรากฏครบ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ECD86647-128E-4E65-9F82-384CEB85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Time-to-Render วัดตั้งแต่ส่งคำขอจนภาพข้อมูลครบถ้วน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ต่างจาก FCP ซึ่งนับเนื้อหาแรกที่ปรากฏบนหน้าเว็บ</a:t>
            </a:r>
          </a:p>
        </p:txBody>
      </p:sp>
      <p:sp>
        <p:nvSpPr>
          <p:cNvPr id="24" name="shape-32">
            <a:extLst xmlns:a="http://schemas.openxmlformats.org/drawingml/2006/main">
              <a:ext uri="{FF2B5EF4-FFF2-40B4-BE49-F238E27FC236}">
                <a16:creationId xmlns:a16="http://schemas.microsoft.com/office/drawing/2014/main" id="{78060AF7-2978-401E-A74C-7B0E6B2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BCFF7EDB-0F0C-4F9E-863E-0337D3BD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64EE2DA7-4025-43EB-992C-CA1D4AB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TTA: เวลาจนระบบพร้อมโต้ตอบ</a:t>
            </a:r>
          </a:p>
        </p:txBody>
      </p:sp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351BF9FE-8597-4182-A2E4-0689057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Time-to-Activation วัดจนพร้อมรับการเลือก กรอง หรือซูม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เทียบแนวคิดกับ TTI แต่ไม่ใช่เวลาประมวลผลทุกการคลิก</a:t>
            </a:r>
          </a:p>
        </p:txBody>
      </p:sp>
      <p:sp>
        <p:nvSpPr>
          <p:cNvPr id="28" name="shape-36">
            <a:extLst xmlns:a="http://schemas.openxmlformats.org/drawingml/2006/main">
              <a:ext uri="{FF2B5EF4-FFF2-40B4-BE49-F238E27FC236}">
                <a16:creationId xmlns:a16="http://schemas.microsoft.com/office/drawing/2014/main" id="{E99E44E1-3C20-493C-BE58-A5A619B5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41DF9CB2-8CD6-4634-B58D-16808B47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51075845-BC99-47FB-94A0-26B124E1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SC: ขนาดทรัพยากรทั้งหมดที่เผยแพร่</a:t>
            </a:r>
          </a:p>
        </p:txBody>
      </p:sp>
      <p:sp>
        <p:nvSpPr>
          <p:cNvPr id="31" name="text-39">
            <a:extLst xmlns:a="http://schemas.openxmlformats.org/drawingml/2006/main">
              <a:ext uri="{FF2B5EF4-FFF2-40B4-BE49-F238E27FC236}">
                <a16:creationId xmlns:a16="http://schemas.microsoft.com/office/drawing/2014/main" id="{8351259A-CB56-42A4-9234-D021235C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Storage Cost รวมข้อมูล สคริปต์ ภาพ และผลคำนวณล่วงหน้า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ใช้เทียบกับกรณีไม่ปรับปรุง (none) เพื่อประเมินต้นทุนพื้นที่</a:t>
            </a:r>
          </a:p>
        </p:txBody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45FB7EF8-5678-48A9-B3AE-3B2308E9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 และ 3.1 (หน้า PDF 1–2)</a:t>
            </a:r>
          </a:p>
        </p:txBody>
      </p:sp>
    </p:spTree>
    <p:extLst>
      <p:ext uri="{BB962C8B-B14F-4D97-AF65-F5344CB8AC3E}">
        <p14:creationId xmlns:p14="http://schemas.microsoft.com/office/powerpoint/2010/main" val="1759933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41">
            <a:extLst xmlns:a="http://schemas.openxmlformats.org/drawingml/2006/main">
              <a:ext uri="{FF2B5EF4-FFF2-40B4-BE49-F238E27FC236}">
                <a16:creationId xmlns:a16="http://schemas.microsoft.com/office/drawing/2014/main" id="{7E17CFF2-A053-4B1E-9E6B-2BFE6561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21F2B9AA-1E1F-457A-ABEF-E10325F2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 Mosaic Publisher</a:t>
            </a:r>
          </a:p>
        </p:txBody>
      </p:sp>
      <p:sp>
        <p:nvSpPr>
          <p:cNvPr id="3" name="shape-43">
            <a:extLst xmlns:a="http://schemas.openxmlformats.org/drawingml/2006/main">
              <a:ext uri="{FF2B5EF4-FFF2-40B4-BE49-F238E27FC236}">
                <a16:creationId xmlns:a16="http://schemas.microsoft.com/office/drawing/2014/main" id="{EC6EA50E-140B-40DB-9538-C84D40D1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A40E1491-39C5-4172-B4EE-D90B3C1A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30D1B65C-4468-4EE3-A6DD-F5DA5E47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46">
            <a:extLst xmlns:a="http://schemas.openxmlformats.org/drawingml/2006/main">
              <a:ext uri="{FF2B5EF4-FFF2-40B4-BE49-F238E27FC236}">
                <a16:creationId xmlns:a16="http://schemas.microsoft.com/office/drawing/2014/main" id="{8B01E42C-15CD-4E96-8937-747EA528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229600" cy="36671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3D3274DF-A0E1-42AC-9DC8-E32F0DB1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งานสามกลุ่มที่ย้ายไปทำก่อนเปิดเว็บ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008cd2c9b48a5"/>
          <a:stretch xmlns:a="http://schemas.openxmlformats.org/drawingml/2006/main"/>
        </p:blipFill>
        <p:spPr>
          <a:xfrm xmlns:a="http://schemas.openxmlformats.org/drawingml/2006/main">
            <a:off x="1270469" y="1866900"/>
            <a:ext cx="7334582" cy="2428875"/>
          </a:xfrm>
          <a:prstGeom xmlns:a="http://schemas.openxmlformats.org/drawingml/2006/main" prst="rect">
            <a:avLst/>
          </a:prstGeom>
        </p:spPr>
      </p:pic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B24AA24B-D889-4B4D-A39C-222DE34E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100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เตรียมข้อมูล ผลคิวรี และภาพก่อนคำขอ แล้วใช้ผลในช่วงรันไทม์ (PDF หน้า 1)</a:t>
            </a:r>
          </a:p>
        </p:txBody>
      </p:sp>
      <p:sp>
        <p:nvSpPr>
          <p:cNvPr id="10" name="shape-49">
            <a:extLst xmlns:a="http://schemas.openxmlformats.org/drawingml/2006/main">
              <a:ext uri="{FF2B5EF4-FFF2-40B4-BE49-F238E27FC236}">
                <a16:creationId xmlns:a16="http://schemas.microsoft.com/office/drawing/2014/main" id="{21E53483-36E5-4083-8BA9-1C35DB59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6825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0">
            <a:extLst xmlns:a="http://schemas.openxmlformats.org/drawingml/2006/main">
              <a:ext uri="{FF2B5EF4-FFF2-40B4-BE49-F238E27FC236}">
                <a16:creationId xmlns:a16="http://schemas.microsoft.com/office/drawing/2014/main" id="{D038075A-F58D-47B7-BA56-27257307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054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ขั้นตอนเตรียมทรัพยากรของ Publisher</a:t>
            </a:r>
          </a:p>
        </p:txBody>
      </p:sp>
      <p:sp>
        <p:nvSpPr>
          <p:cNvPr id="12" name="shape-51">
            <a:extLst xmlns:a="http://schemas.openxmlformats.org/drawingml/2006/main">
              <a:ext uri="{FF2B5EF4-FFF2-40B4-BE49-F238E27FC236}">
                <a16:creationId xmlns:a16="http://schemas.microsoft.com/office/drawing/2014/main" id="{015BC3DB-B4D7-4B0E-9FAE-32A1C847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2">
            <a:extLst xmlns:a="http://schemas.openxmlformats.org/drawingml/2006/main">
              <a:ext uri="{FF2B5EF4-FFF2-40B4-BE49-F238E27FC236}">
                <a16:creationId xmlns:a16="http://schemas.microsoft.com/office/drawing/2014/main" id="{D4EB3B60-AACE-4A1F-9F4C-957E57B0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อ่านข้อกำหนด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และจำลองอินพุต</a:t>
            </a:r>
          </a:p>
        </p:txBody>
      </p:sp>
      <p:sp>
        <p:nvSpPr>
          <p:cNvPr id="14" name="shape-53">
            <a:extLst xmlns:a="http://schemas.openxmlformats.org/drawingml/2006/main">
              <a:ext uri="{FF2B5EF4-FFF2-40B4-BE49-F238E27FC236}">
                <a16:creationId xmlns:a16="http://schemas.microsoft.com/office/drawing/2014/main" id="{08733C55-26E2-4ED2-840E-AEF604F6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4">
            <a:extLst xmlns:a="http://schemas.openxmlformats.org/drawingml/2006/main">
              <a:ext uri="{FF2B5EF4-FFF2-40B4-BE49-F238E27FC236}">
                <a16:creationId xmlns:a16="http://schemas.microsoft.com/office/drawing/2014/main" id="{E665A083-003C-4C4E-8431-C3715BFC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14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5">
            <a:extLst xmlns:a="http://schemas.openxmlformats.org/drawingml/2006/main">
              <a:ext uri="{FF2B5EF4-FFF2-40B4-BE49-F238E27FC236}">
                <a16:creationId xmlns:a16="http://schemas.microsoft.com/office/drawing/2014/main" id="{8B7B1DA2-562D-4FE6-B6D3-418B5445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6">
            <a:extLst xmlns:a="http://schemas.openxmlformats.org/drawingml/2006/main">
              <a:ext uri="{FF2B5EF4-FFF2-40B4-BE49-F238E27FC236}">
                <a16:creationId xmlns:a16="http://schemas.microsoft.com/office/drawing/2014/main" id="{69063B70-17E9-4BD7-9966-81AF5B93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ใช้ DuckDB คำนวณ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และบันทึกผลล่วงหน้า</a:t>
            </a:r>
          </a:p>
        </p:txBody>
      </p:sp>
      <p:sp>
        <p:nvSpPr>
          <p:cNvPr id="18" name="shape-57">
            <a:extLst xmlns:a="http://schemas.openxmlformats.org/drawingml/2006/main">
              <a:ext uri="{FF2B5EF4-FFF2-40B4-BE49-F238E27FC236}">
                <a16:creationId xmlns:a16="http://schemas.microsoft.com/office/drawing/2014/main" id="{406F840A-2C59-4C40-9B75-77E28A97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58">
            <a:extLst xmlns:a="http://schemas.openxmlformats.org/drawingml/2006/main">
              <a:ext uri="{FF2B5EF4-FFF2-40B4-BE49-F238E27FC236}">
                <a16:creationId xmlns:a16="http://schemas.microsoft.com/office/drawing/2014/main" id="{46EE0DED-D78B-4C88-A301-ED4E58E3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03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59">
            <a:extLst xmlns:a="http://schemas.openxmlformats.org/drawingml/2006/main">
              <a:ext uri="{FF2B5EF4-FFF2-40B4-BE49-F238E27FC236}">
                <a16:creationId xmlns:a16="http://schemas.microsoft.com/office/drawing/2014/main" id="{73C32C22-8C4B-4293-AAF9-236AD272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0">
            <a:extLst xmlns:a="http://schemas.openxmlformats.org/drawingml/2006/main">
              <a:ext uri="{FF2B5EF4-FFF2-40B4-BE49-F238E27FC236}">
                <a16:creationId xmlns:a16="http://schemas.microsoft.com/office/drawing/2014/main" id="{D33B8B7B-817F-460D-A878-5FB04F09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8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แก้ข้อกำหนด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และสร้าง JavaScript</a:t>
            </a:r>
          </a:p>
        </p:txBody>
      </p:sp>
      <p:sp>
        <p:nvSpPr>
          <p:cNvPr id="22" name="text-61">
            <a:extLst xmlns:a="http://schemas.openxmlformats.org/drawingml/2006/main">
              <a:ext uri="{FF2B5EF4-FFF2-40B4-BE49-F238E27FC236}">
                <a16:creationId xmlns:a16="http://schemas.microsoft.com/office/drawing/2014/main" id="{B1528FA8-0282-4443-96A3-2781A02E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7151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วิเคราะห์โครงสร้างข้อกำหนด (AST) และจำลองอินพุตใน Virtual DOM (PDF หน้า 3)</a:t>
            </a:r>
          </a:p>
        </p:txBody>
      </p:sp>
      <p:sp>
        <p:nvSpPr>
          <p:cNvPr id="23" name="shape-62">
            <a:extLst xmlns:a="http://schemas.openxmlformats.org/drawingml/2006/main">
              <a:ext uri="{FF2B5EF4-FFF2-40B4-BE49-F238E27FC236}">
                <a16:creationId xmlns:a16="http://schemas.microsoft.com/office/drawing/2014/main" id="{684D7B59-2FBA-4A75-93AE-E7C697C4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238250"/>
            <a:ext cx="4419600" cy="5953125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3">
            <a:extLst xmlns:a="http://schemas.openxmlformats.org/drawingml/2006/main">
              <a:ext uri="{FF2B5EF4-FFF2-40B4-BE49-F238E27FC236}">
                <a16:creationId xmlns:a16="http://schemas.microsoft.com/office/drawing/2014/main" id="{0B647CEB-FCD7-4F76-BBAE-5D585AFE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466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ทรัพยากรที่ส่งไปยังเบราว์เซอร์</a:t>
            </a:r>
          </a:p>
        </p:txBody>
      </p:sp>
      <p:sp>
        <p:nvSpPr>
          <p:cNvPr id="25" name="text-64">
            <a:extLst xmlns:a="http://schemas.openxmlformats.org/drawingml/2006/main">
              <a:ext uri="{FF2B5EF4-FFF2-40B4-BE49-F238E27FC236}">
                <a16:creationId xmlns:a16="http://schemas.microsoft.com/office/drawing/2014/main" id="{9A800341-DBB9-4403-BCAE-A81C0B06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5">
            <a:extLst xmlns:a="http://schemas.openxmlformats.org/drawingml/2006/main">
              <a:ext uri="{FF2B5EF4-FFF2-40B4-BE49-F238E27FC236}">
                <a16:creationId xmlns:a16="http://schemas.microsoft.com/office/drawing/2014/main" id="{B7882D6B-611F-495A-AB9D-DC16ED2E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038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ข้อมูลที่เตรียมพร้อมใช้</a:t>
            </a:r>
          </a:p>
        </p:txBody>
      </p:sp>
      <p:sp>
        <p:nvSpPr>
          <p:cNvPr id="27" name="text-66">
            <a:extLst xmlns:a="http://schemas.openxmlformats.org/drawingml/2006/main">
              <a:ext uri="{FF2B5EF4-FFF2-40B4-BE49-F238E27FC236}">
                <a16:creationId xmlns:a16="http://schemas.microsoft.com/office/drawing/2014/main" id="{F80EFD7D-ECCC-47B8-8454-F4F84DD3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3812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เลือกคอลัมน์และแปลงข้อมูลก่อนเผยแพร่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เบราว์เซอร์จึงโหลดข้อมูลที่พร้อมวิเคราะห์</a:t>
            </a:r>
          </a:p>
        </p:txBody>
      </p:sp>
      <p:sp>
        <p:nvSpPr>
          <p:cNvPr id="28" name="shape-67">
            <a:extLst xmlns:a="http://schemas.openxmlformats.org/drawingml/2006/main">
              <a:ext uri="{FF2B5EF4-FFF2-40B4-BE49-F238E27FC236}">
                <a16:creationId xmlns:a16="http://schemas.microsoft.com/office/drawing/2014/main" id="{5085318B-5F5F-415C-97E8-964E9E4D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6099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68">
            <a:extLst xmlns:a="http://schemas.openxmlformats.org/drawingml/2006/main">
              <a:ext uri="{FF2B5EF4-FFF2-40B4-BE49-F238E27FC236}">
                <a16:creationId xmlns:a16="http://schemas.microsoft.com/office/drawing/2014/main" id="{C3733385-4285-4D2A-9BC9-257CF836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69">
            <a:extLst xmlns:a="http://schemas.openxmlformats.org/drawingml/2006/main">
              <a:ext uri="{FF2B5EF4-FFF2-40B4-BE49-F238E27FC236}">
                <a16:creationId xmlns:a16="http://schemas.microsoft.com/office/drawing/2014/main" id="{B92A6095-5A32-4E8D-978F-C11A21F5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38100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ผลคิวรีและผลรวมล่วงหน้า</a:t>
            </a:r>
          </a:p>
        </p:txBody>
      </p:sp>
      <p:sp>
        <p:nvSpPr>
          <p:cNvPr id="31" name="text-70">
            <a:extLst xmlns:a="http://schemas.openxmlformats.org/drawingml/2006/main">
              <a:ext uri="{FF2B5EF4-FFF2-40B4-BE49-F238E27FC236}">
                <a16:creationId xmlns:a16="http://schemas.microsoft.com/office/drawing/2014/main" id="{C469F1FE-C6C1-4566-9A97-F00E4F9D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415290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Coordinator ใช้ผลที่เตรียมแทนคำนวณซ้ำ</a:t>
            </a:r>
          </a:p>
        </p:txBody>
      </p:sp>
      <p:sp>
        <p:nvSpPr>
          <p:cNvPr id="32" name="shape-71">
            <a:extLst xmlns:a="http://schemas.openxmlformats.org/drawingml/2006/main">
              <a:ext uri="{FF2B5EF4-FFF2-40B4-BE49-F238E27FC236}">
                <a16:creationId xmlns:a16="http://schemas.microsoft.com/office/drawing/2014/main" id="{5C79B8BF-B3F7-4081-9EE6-8317012C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3816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2">
            <a:extLst xmlns:a="http://schemas.openxmlformats.org/drawingml/2006/main">
              <a:ext uri="{FF2B5EF4-FFF2-40B4-BE49-F238E27FC236}">
                <a16:creationId xmlns:a16="http://schemas.microsoft.com/office/drawing/2014/main" id="{C521BFF2-DB14-4D90-9AF0-A991A88B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3">
            <a:extLst xmlns:a="http://schemas.openxmlformats.org/drawingml/2006/main">
              <a:ext uri="{FF2B5EF4-FFF2-40B4-BE49-F238E27FC236}">
                <a16:creationId xmlns:a16="http://schemas.microsoft.com/office/drawing/2014/main" id="{EB7FC646-7A73-4D92-AB32-5989974E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5816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ภาพเริ่มต้นและสคริปต์โต้ตอบ</a:t>
            </a:r>
          </a:p>
        </p:txBody>
      </p:sp>
      <p:sp>
        <p:nvSpPr>
          <p:cNvPr id="35" name="text-74">
            <a:extLst xmlns:a="http://schemas.openxmlformats.org/drawingml/2006/main">
              <a:ext uri="{FF2B5EF4-FFF2-40B4-BE49-F238E27FC236}">
                <a16:creationId xmlns:a16="http://schemas.microsoft.com/office/drawing/2014/main" id="{A92A876A-F238-401B-9AE8-F0293962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9245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ส่งภาพที่วาดแล้วให้แสดงก่อน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 JavaScript เปิดการโต้ตอบภายหลัง</a:t>
            </a:r>
          </a:p>
        </p:txBody>
      </p:sp>
      <p:sp>
        <p:nvSpPr>
          <p:cNvPr id="36" name="text-75">
            <a:extLst xmlns:a="http://schemas.openxmlformats.org/drawingml/2006/main">
              <a:ext uri="{FF2B5EF4-FFF2-40B4-BE49-F238E27FC236}">
                <a16:creationId xmlns:a16="http://schemas.microsoft.com/office/drawing/2014/main" id="{D28EFA14-5633-42C3-8423-A8885FC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3.2–3.4 และ 4.1–4.3 (หน้า PDF 2–3)</a:t>
            </a:r>
          </a:p>
        </p:txBody>
      </p:sp>
    </p:spTree>
    <p:extLst>
      <p:ext uri="{BB962C8B-B14F-4D97-AF65-F5344CB8AC3E}">
        <p14:creationId xmlns:p14="http://schemas.microsoft.com/office/powerpoint/2010/main" val="20255326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6">
            <a:extLst xmlns:a="http://schemas.openxmlformats.org/drawingml/2006/main">
              <a:ext uri="{FF2B5EF4-FFF2-40B4-BE49-F238E27FC236}">
                <a16:creationId xmlns:a16="http://schemas.microsoft.com/office/drawing/2014/main" id="{10D268C7-AC44-45C9-A524-DC870E73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ABC16570-CE01-4471-9C1A-6E863F7A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ภาพล่วงหน้าและการเริ่มระบบโต้ตอบ</a:t>
            </a:r>
          </a:p>
        </p:txBody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9BEF27F2-164D-4F7D-B2AB-31023927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F85C538D-83EF-4B45-8AFE-BD63D96D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A9021668-968A-4F53-A98E-24E857A9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13D1E443-7353-4866-B6C7-E144029A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767715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EBEEB713-5A7C-4A69-B7C2-17E3E164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เวลาที่ใช้โหลดภาพและเริ่มระบบโต้ตอบ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b3df13bde4793"/>
          <a:stretch xmlns:a="http://schemas.openxmlformats.org/drawingml/2006/main"/>
        </p:blipFill>
        <p:spPr>
          <a:xfrm xmlns:a="http://schemas.openxmlformats.org/drawingml/2006/main">
            <a:off x="1536057" y="1866900"/>
            <a:ext cx="6250956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text-83">
            <a:extLst xmlns:a="http://schemas.openxmlformats.org/drawingml/2006/main">
              <a:ext uri="{FF2B5EF4-FFF2-40B4-BE49-F238E27FC236}">
                <a16:creationId xmlns:a16="http://schemas.microsoft.com/office/drawing/2014/main" id="{3286D208-A8EB-4301-8525-3B010F8E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0767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เวลาเฉลี่ยแยกตามขั้นตอน จาก 5 รูปแบบภาพที่ข้อมูล 10 ล้านแถว (PDF หน้า 4)</a:t>
            </a:r>
          </a:p>
        </p:txBody>
      </p:sp>
      <p:sp>
        <p:nvSpPr>
          <p:cNvPr id="10" name="shape-84">
            <a:extLst xmlns:a="http://schemas.openxmlformats.org/drawingml/2006/main">
              <a:ext uri="{FF2B5EF4-FFF2-40B4-BE49-F238E27FC236}">
                <a16:creationId xmlns:a16="http://schemas.microsoft.com/office/drawing/2014/main" id="{A7426146-DB30-4221-BB39-ACC5D766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447925"/>
          </a:xfrm>
          <a:prstGeom xmlns:a="http://schemas.openxmlformats.org/drawingml/2006/main" prst="roundRect">
            <a:avLst>
              <a:gd name="adj" fmla="val 3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02201A8A-CD60-4459-B82F-00A94AF1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9720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เห็นภาพก่อน แล้วจึงเปิดการโต้ตอบ</a:t>
            </a:r>
          </a:p>
        </p:txBody>
      </p:sp>
      <p:sp>
        <p:nvSpPr>
          <p:cNvPr id="12" name="shape-86">
            <a:extLst xmlns:a="http://schemas.openxmlformats.org/drawingml/2006/main">
              <a:ext uri="{FF2B5EF4-FFF2-40B4-BE49-F238E27FC236}">
                <a16:creationId xmlns:a16="http://schemas.microsoft.com/office/drawing/2014/main" id="{B82D94C8-D62D-4869-A7C8-7878F724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87">
            <a:extLst xmlns:a="http://schemas.openxmlformats.org/drawingml/2006/main">
              <a:ext uri="{FF2B5EF4-FFF2-40B4-BE49-F238E27FC236}">
                <a16:creationId xmlns:a16="http://schemas.microsoft.com/office/drawing/2014/main" id="{6605B31D-C4D0-4E43-A980-E80A8C4C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ภาพปรากฏครบ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ถึงจุดวัด TTR</a:t>
            </a:r>
          </a:p>
        </p:txBody>
      </p:sp>
      <p:sp>
        <p:nvSpPr>
          <p:cNvPr id="14" name="shape-88">
            <a:extLst xmlns:a="http://schemas.openxmlformats.org/drawingml/2006/main">
              <a:ext uri="{FF2B5EF4-FFF2-40B4-BE49-F238E27FC236}">
                <a16:creationId xmlns:a16="http://schemas.microsoft.com/office/drawing/2014/main" id="{E975C7EA-B946-48D9-815D-6073A578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91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89">
            <a:extLst xmlns:a="http://schemas.openxmlformats.org/drawingml/2006/main">
              <a:ext uri="{FF2B5EF4-FFF2-40B4-BE49-F238E27FC236}">
                <a16:creationId xmlns:a16="http://schemas.microsoft.com/office/drawing/2014/main" id="{45E3EE20-5BCD-428B-B82D-421382A3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726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0">
            <a:extLst xmlns:a="http://schemas.openxmlformats.org/drawingml/2006/main">
              <a:ext uri="{FF2B5EF4-FFF2-40B4-BE49-F238E27FC236}">
                <a16:creationId xmlns:a16="http://schemas.microsoft.com/office/drawing/2014/main" id="{820A62D8-A3D5-4674-9EE7-B2479382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51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1">
            <a:extLst xmlns:a="http://schemas.openxmlformats.org/drawingml/2006/main">
              <a:ext uri="{FF2B5EF4-FFF2-40B4-BE49-F238E27FC236}">
                <a16:creationId xmlns:a16="http://schemas.microsoft.com/office/drawing/2014/main" id="{C987F283-82EE-467D-9194-67D031A5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6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เริ่มคอมโพเนนต์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ฝั่งไคลเอนต์ (Hydration)</a:t>
            </a:r>
          </a:p>
        </p:txBody>
      </p:sp>
      <p:sp>
        <p:nvSpPr>
          <p:cNvPr id="18" name="shape-92">
            <a:extLst xmlns:a="http://schemas.openxmlformats.org/drawingml/2006/main">
              <a:ext uri="{FF2B5EF4-FFF2-40B4-BE49-F238E27FC236}">
                <a16:creationId xmlns:a16="http://schemas.microsoft.com/office/drawing/2014/main" id="{ADE8C34B-4B41-4168-B3B0-AEF0F482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6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3">
            <a:extLst xmlns:a="http://schemas.openxmlformats.org/drawingml/2006/main">
              <a:ext uri="{FF2B5EF4-FFF2-40B4-BE49-F238E27FC236}">
                <a16:creationId xmlns:a16="http://schemas.microsoft.com/office/drawing/2014/main" id="{C1A93983-528F-4EE4-BF1C-38295EDF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201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4">
            <a:extLst xmlns:a="http://schemas.openxmlformats.org/drawingml/2006/main">
              <a:ext uri="{FF2B5EF4-FFF2-40B4-BE49-F238E27FC236}">
                <a16:creationId xmlns:a16="http://schemas.microsoft.com/office/drawing/2014/main" id="{78EB6473-1390-4C62-A2DB-C7F8F537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2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5">
            <a:extLst xmlns:a="http://schemas.openxmlformats.org/drawingml/2006/main">
              <a:ext uri="{FF2B5EF4-FFF2-40B4-BE49-F238E27FC236}">
                <a16:creationId xmlns:a16="http://schemas.microsoft.com/office/drawing/2014/main" id="{88697872-5B13-4E38-AD4C-842F5B78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5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พร้อมกรองและซูม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ถึงจุดวัด TTA</a:t>
            </a:r>
          </a:p>
        </p:txBody>
      </p:sp>
      <p:sp>
        <p:nvSpPr>
          <p:cNvPr id="22" name="text-96">
            <a:extLst xmlns:a="http://schemas.openxmlformats.org/drawingml/2006/main">
              <a:ext uri="{FF2B5EF4-FFF2-40B4-BE49-F238E27FC236}">
                <a16:creationId xmlns:a16="http://schemas.microsoft.com/office/drawing/2014/main" id="{61577AF2-3811-4454-A86F-E59AA3D9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5151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ผังแสดงขั้นตอนตาม Section 4.3 ไม่ได้แสดงสัดส่วนเวลา (PDF หน้า 3)</a:t>
            </a:r>
          </a:p>
        </p:txBody>
      </p:sp>
      <p:sp>
        <p:nvSpPr>
          <p:cNvPr id="23" name="shape-97">
            <a:extLst xmlns:a="http://schemas.openxmlformats.org/drawingml/2006/main">
              <a:ext uri="{FF2B5EF4-FFF2-40B4-BE49-F238E27FC236}">
                <a16:creationId xmlns:a16="http://schemas.microsoft.com/office/drawing/2014/main" id="{419AEFAB-A21E-4556-A244-A0275846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390" y="1238250"/>
            <a:ext cx="4972050" cy="5953125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98">
            <a:extLst xmlns:a="http://schemas.openxmlformats.org/drawingml/2006/main">
              <a:ext uri="{FF2B5EF4-FFF2-40B4-BE49-F238E27FC236}">
                <a16:creationId xmlns:a16="http://schemas.microsoft.com/office/drawing/2014/main" id="{EF176AAE-8498-4EFB-860F-DEF70949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4668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ภาพสองประเภทและต้นทุน Hydration</a:t>
            </a:r>
          </a:p>
        </p:txBody>
      </p:sp>
      <p:sp>
        <p:nvSpPr>
          <p:cNvPr id="25" name="text-99">
            <a:extLst xmlns:a="http://schemas.openxmlformats.org/drawingml/2006/main">
              <a:ext uri="{FF2B5EF4-FFF2-40B4-BE49-F238E27FC236}">
                <a16:creationId xmlns:a16="http://schemas.microsoft.com/office/drawing/2014/main" id="{AC6D7F0A-28F1-47BD-A7B0-C9ABEA1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0">
            <a:extLst xmlns:a="http://schemas.openxmlformats.org/drawingml/2006/main">
              <a:ext uri="{FF2B5EF4-FFF2-40B4-BE49-F238E27FC236}">
                <a16:creationId xmlns:a16="http://schemas.microsoft.com/office/drawing/2014/main" id="{C74D6625-BF35-47E7-AD91-6D60271C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383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ภาพสถิต (Static Views)</a:t>
            </a:r>
          </a:p>
        </p:txBody>
      </p:sp>
      <p:sp>
        <p:nvSpPr>
          <p:cNvPr id="27" name="text-101">
            <a:extLst xmlns:a="http://schemas.openxmlformats.org/drawingml/2006/main">
              <a:ext uri="{FF2B5EF4-FFF2-40B4-BE49-F238E27FC236}">
                <a16:creationId xmlns:a16="http://schemas.microsoft.com/office/drawing/2014/main" id="{A110602C-711B-44B4-8F9F-AC61E9BF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812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ส่งเนื้อหาที่วาดไว้โดยไม่ต้องเพิ่ม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สคริปต์สำหรับการโต้ตอบ</a:t>
            </a:r>
          </a:p>
        </p:txBody>
      </p:sp>
      <p:sp>
        <p:nvSpPr>
          <p:cNvPr id="28" name="shape-102">
            <a:extLst xmlns:a="http://schemas.openxmlformats.org/drawingml/2006/main">
              <a:ext uri="{FF2B5EF4-FFF2-40B4-BE49-F238E27FC236}">
                <a16:creationId xmlns:a16="http://schemas.microsoft.com/office/drawing/2014/main" id="{B46390A1-9F3F-4AE4-BD9E-B81D5CB5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6099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3">
            <a:extLst xmlns:a="http://schemas.openxmlformats.org/drawingml/2006/main">
              <a:ext uri="{FF2B5EF4-FFF2-40B4-BE49-F238E27FC236}">
                <a16:creationId xmlns:a16="http://schemas.microsoft.com/office/drawing/2014/main" id="{8BBC5586-BFCF-475F-B91B-EB42EEFC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4">
            <a:extLst xmlns:a="http://schemas.openxmlformats.org/drawingml/2006/main">
              <a:ext uri="{FF2B5EF4-FFF2-40B4-BE49-F238E27FC236}">
                <a16:creationId xmlns:a16="http://schemas.microsoft.com/office/drawing/2014/main" id="{4785E51B-00E8-4875-8321-9B625C43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8100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ภาพโต้ตอบ (Interactive Views)</a:t>
            </a:r>
          </a:p>
        </p:txBody>
      </p:sp>
      <p:sp>
        <p:nvSpPr>
          <p:cNvPr id="31" name="text-105">
            <a:extLst xmlns:a="http://schemas.openxmlformats.org/drawingml/2006/main">
              <a:ext uri="{FF2B5EF4-FFF2-40B4-BE49-F238E27FC236}">
                <a16:creationId xmlns:a16="http://schemas.microsoft.com/office/drawing/2014/main" id="{3B4AAA54-4608-42E6-8530-3D029CC7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15290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ส่งภาพพร้อม JavaScript เพื่อเริ่มคอมโพเนนต์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และส่วนรับอินพุต ก่อนกรองหรือซูมได้</a:t>
            </a:r>
          </a:p>
        </p:txBody>
      </p:sp>
      <p:sp>
        <p:nvSpPr>
          <p:cNvPr id="32" name="shape-106">
            <a:extLst xmlns:a="http://schemas.openxmlformats.org/drawingml/2006/main">
              <a:ext uri="{FF2B5EF4-FFF2-40B4-BE49-F238E27FC236}">
                <a16:creationId xmlns:a16="http://schemas.microsoft.com/office/drawing/2014/main" id="{6FA97541-9445-40E7-BE5C-D887621F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3816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07">
            <a:extLst xmlns:a="http://schemas.openxmlformats.org/drawingml/2006/main">
              <a:ext uri="{FF2B5EF4-FFF2-40B4-BE49-F238E27FC236}">
                <a16:creationId xmlns:a16="http://schemas.microsoft.com/office/drawing/2014/main" id="{9FA754C3-F7A1-4BFF-BA7B-1683C57A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08">
            <a:extLst xmlns:a="http://schemas.openxmlformats.org/drawingml/2006/main">
              <a:ext uri="{FF2B5EF4-FFF2-40B4-BE49-F238E27FC236}">
                <a16:creationId xmlns:a16="http://schemas.microsoft.com/office/drawing/2014/main" id="{7370220A-12CA-49EB-8D03-E0C9D6AB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5816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Hydration ยังเป็นคอขวด</a:t>
            </a:r>
          </a:p>
        </p:txBody>
      </p:sp>
      <p:sp>
        <p:nvSpPr>
          <p:cNvPr id="35" name="text-109">
            <a:extLst xmlns:a="http://schemas.openxmlformats.org/drawingml/2006/main">
              <a:ext uri="{FF2B5EF4-FFF2-40B4-BE49-F238E27FC236}">
                <a16:creationId xmlns:a16="http://schemas.microsoft.com/office/drawing/2014/main" id="{80DAFEE8-C586-4126-B934-4DDECFC2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9245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วิธีที่ทดลองใช้ต้นทุนใกล้การเรนเดอร์เต็มชุด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ผู้วิจัยเสนอให้ลดงานเริ่มคอมโพเนนต์ต่อไป</a:t>
            </a:r>
          </a:p>
        </p:txBody>
      </p:sp>
      <p:sp>
        <p:nvSpPr>
          <p:cNvPr id="36" name="text-110">
            <a:extLst xmlns:a="http://schemas.openxmlformats.org/drawingml/2006/main">
              <a:ext uri="{FF2B5EF4-FFF2-40B4-BE49-F238E27FC236}">
                <a16:creationId xmlns:a16="http://schemas.microsoft.com/office/drawing/2014/main" id="{44947057-B4E2-4E9F-B7D2-C3D1A317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 (หน้า PDF 3–4)</a:t>
            </a:r>
          </a:p>
        </p:txBody>
      </p:sp>
    </p:spTree>
    <p:extLst>
      <p:ext uri="{BB962C8B-B14F-4D97-AF65-F5344CB8AC3E}">
        <p14:creationId xmlns:p14="http://schemas.microsoft.com/office/powerpoint/2010/main" val="38244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11">
            <a:extLst xmlns:a="http://schemas.openxmlformats.org/drawingml/2006/main">
              <a:ext uri="{FF2B5EF4-FFF2-40B4-BE49-F238E27FC236}">
                <a16:creationId xmlns:a16="http://schemas.microsoft.com/office/drawing/2014/main" id="{9A777508-C253-423E-AE31-171B7690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F8FFD9ED-5612-451B-AB64-CE2F8121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ผลการทดลอง: เวลาเปิดภาพและต้นทุนพื้นที่</a:t>
            </a:r>
          </a:p>
        </p:txBody>
      </p:sp>
      <p:sp>
        <p:nvSpPr>
          <p:cNvPr id="3" name="shape-113">
            <a:extLst xmlns:a="http://schemas.openxmlformats.org/drawingml/2006/main">
              <a:ext uri="{FF2B5EF4-FFF2-40B4-BE49-F238E27FC236}">
                <a16:creationId xmlns:a16="http://schemas.microsoft.com/office/drawing/2014/main" id="{477B68E4-50A6-422E-97CA-4C65A8DB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CDA0E23A-2049-459C-BB91-4E8EE672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E4BFD112-CE79-4C24-B01D-C65F9319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116">
            <a:extLst xmlns:a="http://schemas.openxmlformats.org/drawingml/2006/main">
              <a:ext uri="{FF2B5EF4-FFF2-40B4-BE49-F238E27FC236}">
                <a16:creationId xmlns:a16="http://schemas.microsoft.com/office/drawing/2014/main" id="{8C518BEB-695A-4D14-937C-E31CDD71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0962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F6A1553B-1E8A-430C-88D9-889EE6F2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48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 TTR และ TTA เมื่อขนาดข้อมูลเพิ่มขึ้น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341958edf495a"/>
          <a:stretch xmlns:a="http://schemas.openxmlformats.org/drawingml/2006/main"/>
        </p:blipFill>
        <p:spPr>
          <a:xfrm xmlns:a="http://schemas.openxmlformats.org/drawingml/2006/main">
            <a:off x="1258480" y="1847850"/>
            <a:ext cx="7225211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text-118">
            <a:extLst xmlns:a="http://schemas.openxmlformats.org/drawingml/2006/main">
              <a:ext uri="{FF2B5EF4-FFF2-40B4-BE49-F238E27FC236}">
                <a16:creationId xmlns:a16="http://schemas.microsoft.com/office/drawing/2014/main" id="{972FE703-0D80-4B2F-BD6B-15E4079B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1910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19">
            <a:extLst xmlns:a="http://schemas.openxmlformats.org/drawingml/2006/main">
              <a:ext uri="{FF2B5EF4-FFF2-40B4-BE49-F238E27FC236}">
                <a16:creationId xmlns:a16="http://schemas.microsoft.com/office/drawing/2014/main" id="{29B699B8-FB04-4A4D-B7DE-720510EE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1238250"/>
            <a:ext cx="45529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0">
            <a:extLst xmlns:a="http://schemas.openxmlformats.org/drawingml/2006/main">
              <a:ext uri="{FF2B5EF4-FFF2-40B4-BE49-F238E27FC236}">
                <a16:creationId xmlns:a16="http://schemas.microsoft.com/office/drawing/2014/main" id="{E04D0C65-C888-40FA-88FD-C7B01BDB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14668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ผลเทียบกรณีไม่ปรับปรุง (none)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9483090" y="1866900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1066800"/>
                <a:gridCol w="1066800"/>
                <a:gridCol w="1066800"/>
              </a:tblGrid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57150" marB="57150" anchor="ctr"/>
                </a:tc>
              </a:tr>
            </a:tbl>
          </a:graphicData>
        </a:graphic>
      </p:graphicFrame>
      <p:sp>
        <p:nvSpPr>
          <p:cNvPr id="13" name="text-121">
            <a:extLst xmlns:a="http://schemas.openxmlformats.org/drawingml/2006/main">
              <a:ext uri="{FF2B5EF4-FFF2-40B4-BE49-F238E27FC236}">
                <a16:creationId xmlns:a16="http://schemas.microsoft.com/office/drawing/2014/main" id="{86027C54-1230-452E-8DFE-EB4084B6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581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 ± SD ของการเปลี่ยนแปลง (%)</a:t>
            </a:r>
          </a:p>
        </p:txBody>
      </p:sp>
      <p:sp>
        <p:nvSpPr>
          <p:cNvPr id="14" name="text-122">
            <a:extLst xmlns:a="http://schemas.openxmlformats.org/drawingml/2006/main">
              <a:ext uri="{FF2B5EF4-FFF2-40B4-BE49-F238E27FC236}">
                <a16:creationId xmlns:a16="http://schemas.microsoft.com/office/drawing/2014/main" id="{821B207F-5A5C-43D7-870C-AFD3F68F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848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+most คือระดับรวมที่เพิ่มภาพล่วงหน้า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ในกราฟใช้ชื่อ +prerender</a:t>
            </a:r>
          </a:p>
        </p:txBody>
      </p:sp>
      <p:sp>
        <p:nvSpPr>
          <p:cNvPr id="15" name="shape-123">
            <a:extLst xmlns:a="http://schemas.openxmlformats.org/drawingml/2006/main">
              <a:ext uri="{FF2B5EF4-FFF2-40B4-BE49-F238E27FC236}">
                <a16:creationId xmlns:a16="http://schemas.microsoft.com/office/drawing/2014/main" id="{75243C44-1641-4AF9-A806-D844800D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4">
            <a:extLst xmlns:a="http://schemas.openxmlformats.org/drawingml/2006/main">
              <a:ext uri="{FF2B5EF4-FFF2-40B4-BE49-F238E27FC236}">
                <a16:creationId xmlns:a16="http://schemas.microsoft.com/office/drawing/2014/main" id="{35F7A78C-768C-4978-81D8-74E15BB1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5">
            <a:extLst xmlns:a="http://schemas.openxmlformats.org/drawingml/2006/main">
              <a:ext uri="{FF2B5EF4-FFF2-40B4-BE49-F238E27FC236}">
                <a16:creationId xmlns:a16="http://schemas.microsoft.com/office/drawing/2014/main" id="{E552E791-4C3D-4133-B8EA-CA4164E2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เวลาจนภาพข้อมูลปรากฏครบ (TTR)</a:t>
            </a:r>
          </a:p>
        </p:txBody>
      </p:sp>
      <p:sp>
        <p:nvSpPr>
          <p:cNvPr id="18" name="text-126">
            <a:extLst xmlns:a="http://schemas.openxmlformats.org/drawingml/2006/main">
              <a:ext uri="{FF2B5EF4-FFF2-40B4-BE49-F238E27FC236}">
                <a16:creationId xmlns:a16="http://schemas.microsoft.com/office/drawing/2014/main" id="{6C36AB0A-9537-439D-AAAD-88686930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ชุดรวมเทียบ none · SD = 2.1%</a:t>
            </a:r>
          </a:p>
        </p:txBody>
      </p:sp>
      <p:sp>
        <p:nvSpPr>
          <p:cNvPr id="19" name="shape-127">
            <a:extLst xmlns:a="http://schemas.openxmlformats.org/drawingml/2006/main">
              <a:ext uri="{FF2B5EF4-FFF2-40B4-BE49-F238E27FC236}">
                <a16:creationId xmlns:a16="http://schemas.microsoft.com/office/drawing/2014/main" id="{78293BDA-64CA-4096-AF92-2C3B8349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28">
            <a:extLst xmlns:a="http://schemas.openxmlformats.org/drawingml/2006/main">
              <a:ext uri="{FF2B5EF4-FFF2-40B4-BE49-F238E27FC236}">
                <a16:creationId xmlns:a16="http://schemas.microsoft.com/office/drawing/2014/main" id="{2B7319A2-2678-478D-B6AF-8A0D0903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29">
            <a:extLst xmlns:a="http://schemas.openxmlformats.org/drawingml/2006/main">
              <a:ext uri="{FF2B5EF4-FFF2-40B4-BE49-F238E27FC236}">
                <a16:creationId xmlns:a16="http://schemas.microsoft.com/office/drawing/2014/main" id="{97092DAE-5B85-4A33-8527-97C4F335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เวลาจนระบบพร้อมโต้ตอบ (TTA)</a:t>
            </a:r>
          </a:p>
        </p:txBody>
      </p:sp>
      <p:sp>
        <p:nvSpPr>
          <p:cNvPr id="22" name="text-130">
            <a:extLst xmlns:a="http://schemas.openxmlformats.org/drawingml/2006/main">
              <a:ext uri="{FF2B5EF4-FFF2-40B4-BE49-F238E27FC236}">
                <a16:creationId xmlns:a16="http://schemas.microsoft.com/office/drawing/2014/main" id="{11A974AA-6CED-4F1A-9192-6A40D30E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แคชลด TTA 32.3% · ชุดรวม SD = 9.6%</a:t>
            </a:r>
          </a:p>
        </p:txBody>
      </p:sp>
      <p:sp>
        <p:nvSpPr>
          <p:cNvPr id="23" name="shape-131">
            <a:extLst xmlns:a="http://schemas.openxmlformats.org/drawingml/2006/main">
              <a:ext uri="{FF2B5EF4-FFF2-40B4-BE49-F238E27FC236}">
                <a16:creationId xmlns:a16="http://schemas.microsoft.com/office/drawing/2014/main" id="{0D84A356-3E60-458C-89D4-96E5BB62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115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2">
            <a:extLst xmlns:a="http://schemas.openxmlformats.org/drawingml/2006/main">
              <a:ext uri="{FF2B5EF4-FFF2-40B4-BE49-F238E27FC236}">
                <a16:creationId xmlns:a16="http://schemas.microsoft.com/office/drawing/2014/main" id="{613E09EF-093C-4C01-842E-3A55FA97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3">
            <a:extLst xmlns:a="http://schemas.openxmlformats.org/drawingml/2006/main">
              <a:ext uri="{FF2B5EF4-FFF2-40B4-BE49-F238E27FC236}">
                <a16:creationId xmlns:a16="http://schemas.microsoft.com/office/drawing/2014/main" id="{0086222E-A028-4F38-BB25-A0554A9A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ขนาดทรัพยากรที่เผยแพร่ (SC)</a:t>
            </a:r>
          </a:p>
        </p:txBody>
      </p:sp>
      <p:sp>
        <p:nvSpPr>
          <p:cNvPr id="26" name="text-134">
            <a:extLst xmlns:a="http://schemas.openxmlformats.org/drawingml/2006/main">
              <a:ext uri="{FF2B5EF4-FFF2-40B4-BE49-F238E27FC236}">
                <a16:creationId xmlns:a16="http://schemas.microsoft.com/office/drawing/2014/main" id="{E8869998-B2B1-45AB-9F27-12C65230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พื้นที่เพิ่มเฉลี่ย · SD = 29.9%</a:t>
            </a:r>
          </a:p>
        </p:txBody>
      </p:sp>
      <p:sp>
        <p:nvSpPr>
          <p:cNvPr id="27" name="shape-135">
            <a:extLst xmlns:a="http://schemas.openxmlformats.org/drawingml/2006/main">
              <a:ext uri="{FF2B5EF4-FFF2-40B4-BE49-F238E27FC236}">
                <a16:creationId xmlns:a16="http://schemas.microsoft.com/office/drawing/2014/main" id="{834CA70D-6DD3-4C14-8A72-93FA09C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53200"/>
            <a:ext cx="1298448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136">
            <a:extLst xmlns:a="http://schemas.openxmlformats.org/drawingml/2006/main">
              <a:ext uri="{FF2B5EF4-FFF2-40B4-BE49-F238E27FC236}">
                <a16:creationId xmlns:a16="http://schemas.microsoft.com/office/drawing/2014/main" id="{4D452C1F-DD3D-476C-A879-43BD9141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สภาพแวดล้อม: MacBook Pro (M1 Pro, RAM 16 GB), Node 22.9.0, Local Server, DuckDB-WASM</a:t>
            </a:r>
          </a:p>
        </p:txBody>
      </p:sp>
      <p:sp>
        <p:nvSpPr>
          <p:cNvPr id="29" name="text-137">
            <a:extLst xmlns:a="http://schemas.openxmlformats.org/drawingml/2006/main">
              <a:ext uri="{FF2B5EF4-FFF2-40B4-BE49-F238E27FC236}">
                <a16:creationId xmlns:a16="http://schemas.microsoft.com/office/drawing/2014/main" id="{D999E365-10E7-4087-8C8D-AD412B3B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TTA ลดเพิ่มจาก +cache อีก 1.0 จุดเปอร์เซ็นต์ (33.3 − 32.3) เมื่อเทียบฐาน none เดียวกัน</a:t>
            </a:r>
          </a:p>
        </p:txBody>
      </p:sp>
      <p:sp>
        <p:nvSpPr>
          <p:cNvPr id="30" name="text-138">
            <a:extLst xmlns:a="http://schemas.openxmlformats.org/drawingml/2006/main">
              <a:ext uri="{FF2B5EF4-FFF2-40B4-BE49-F238E27FC236}">
                <a16:creationId xmlns:a16="http://schemas.microsoft.com/office/drawing/2014/main" id="{86EDE25E-3C84-49D5-BCBC-8F35FA4E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Figure 3 และ Table 1 (PDF หน้า 4) · ตารางเฉลี่ยข้าม 5 รูปแบบภาพและข้อมูล 10k–10M แถว</a:t>
            </a:r>
          </a:p>
        </p:txBody>
      </p:sp>
    </p:spTree>
    <p:extLst>
      <p:ext uri="{BB962C8B-B14F-4D97-AF65-F5344CB8AC3E}">
        <p14:creationId xmlns:p14="http://schemas.microsoft.com/office/powerpoint/2010/main" val="1341495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39">
            <a:extLst xmlns:a="http://schemas.openxmlformats.org/drawingml/2006/main">
              <a:ext uri="{FF2B5EF4-FFF2-40B4-BE49-F238E27FC236}">
                <a16:creationId xmlns:a16="http://schemas.microsoft.com/office/drawing/2014/main" id="{870C72D9-1E48-4221-952C-EEE6D7FE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40">
            <a:extLst xmlns:a="http://schemas.openxmlformats.org/drawingml/2006/main">
              <a:ext uri="{FF2B5EF4-FFF2-40B4-BE49-F238E27FC236}">
                <a16:creationId xmlns:a16="http://schemas.microsoft.com/office/drawing/2014/main" id="{0623D173-5CBD-4315-958F-9601C084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ผลงานวิจัยและข้อจำกัดของการทดลอง</a:t>
            </a:r>
          </a:p>
        </p:txBody>
      </p:sp>
      <p:sp>
        <p:nvSpPr>
          <p:cNvPr id="3" name="shape-141">
            <a:extLst xmlns:a="http://schemas.openxmlformats.org/drawingml/2006/main">
              <a:ext uri="{FF2B5EF4-FFF2-40B4-BE49-F238E27FC236}">
                <a16:creationId xmlns:a16="http://schemas.microsoft.com/office/drawing/2014/main" id="{ECE95FB7-13CC-43ED-8E90-25DD5C00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BDA78C66-BAD1-4B45-96DE-2CBDC864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261185E7-3F4D-4A26-A817-365804F9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44">
            <a:extLst xmlns:a="http://schemas.openxmlformats.org/drawingml/2006/main">
              <a:ext uri="{FF2B5EF4-FFF2-40B4-BE49-F238E27FC236}">
                <a16:creationId xmlns:a16="http://schemas.microsoft.com/office/drawing/2014/main" id="{6513B3FD-AB68-41C4-B3D7-FFBD7CBA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2D2733F0-A865-4311-892D-AD46D0C8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ผลงานสำคัญของบทความ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2EECAD8B-6C11-47F3-8EEF-4768DC33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08B29C61-66FD-411E-B99E-48E85018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พัฒนา Publisher บนระบบ Mosaic</a:t>
            </a:r>
          </a:p>
        </p:txBody>
      </p:sp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2F4345B4-EFAA-4BB2-8201-6BFB3C84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เตรียมข้อมูล ผลคิวรี และภาพเริ่มต้นจากข้อกำหนดเดิม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เติมแคชผ่านตัวกลางคิวรี และแก้แหล่งข้อมูลเฉพาะส่วนที่จำเป็น</a:t>
            </a:r>
          </a:p>
        </p:txBody>
      </p:sp>
      <p:sp>
        <p:nvSpPr>
          <p:cNvPr id="11" name="shape-149">
            <a:extLst xmlns:a="http://schemas.openxmlformats.org/drawingml/2006/main">
              <a:ext uri="{FF2B5EF4-FFF2-40B4-BE49-F238E27FC236}">
                <a16:creationId xmlns:a16="http://schemas.microsoft.com/office/drawing/2014/main" id="{A57789A3-F6E6-4B8C-809B-FBCD514F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50">
            <a:extLst xmlns:a="http://schemas.openxmlformats.org/drawingml/2006/main">
              <a:ext uri="{FF2B5EF4-FFF2-40B4-BE49-F238E27FC236}">
                <a16:creationId xmlns:a16="http://schemas.microsoft.com/office/drawing/2014/main" id="{5787703F-E46B-4AB0-BE8D-C6F01AF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D008867B-4AEE-4801-B784-39B41DFF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ประเมินทั้งการแสดงภาพและการโต้ตอบ</a:t>
            </a:r>
          </a:p>
        </p:txBody>
      </p:sp>
      <p:sp>
        <p:nvSpPr>
          <p:cNvPr id="14" name="text-152">
            <a:extLst xmlns:a="http://schemas.openxmlformats.org/drawingml/2006/main">
              <a:ext uri="{FF2B5EF4-FFF2-40B4-BE49-F238E27FC236}">
                <a16:creationId xmlns:a16="http://schemas.microsoft.com/office/drawing/2014/main" id="{530BE056-82BF-4E71-B749-4B60437F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 TTR และ TTA แยกเวลารอของสองขั้นตอน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พร้อมวัด SC เพื่อรายงานต้นทุนพื้นที่ของการปรับปรุง</a:t>
            </a:r>
          </a:p>
        </p:txBody>
      </p:sp>
      <p:sp>
        <p:nvSpPr>
          <p:cNvPr id="15" name="shape-153">
            <a:extLst xmlns:a="http://schemas.openxmlformats.org/drawingml/2006/main">
              <a:ext uri="{FF2B5EF4-FFF2-40B4-BE49-F238E27FC236}">
                <a16:creationId xmlns:a16="http://schemas.microsoft.com/office/drawing/2014/main" id="{AB3C06BC-2C29-4779-87B3-5D896531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54">
            <a:extLst xmlns:a="http://schemas.openxmlformats.org/drawingml/2006/main">
              <a:ext uri="{FF2B5EF4-FFF2-40B4-BE49-F238E27FC236}">
                <a16:creationId xmlns:a16="http://schemas.microsoft.com/office/drawing/2014/main" id="{0FA472D7-8ACD-4268-A9FD-AFF55D84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55">
            <a:extLst xmlns:a="http://schemas.openxmlformats.org/drawingml/2006/main">
              <a:ext uri="{FF2B5EF4-FFF2-40B4-BE49-F238E27FC236}">
                <a16:creationId xmlns:a16="http://schemas.microsoft.com/office/drawing/2014/main" id="{69E9C867-9295-4F1D-A8E7-ECA9AC79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เปรียบเทียบการปรับปรุงทีละระดับ</a:t>
            </a:r>
          </a:p>
        </p:txBody>
      </p:sp>
      <p:sp>
        <p:nvSpPr>
          <p:cNvPr id="18" name="text-156">
            <a:extLst xmlns:a="http://schemas.openxmlformats.org/drawingml/2006/main">
              <a:ext uri="{FF2B5EF4-FFF2-40B4-BE49-F238E27FC236}">
                <a16:creationId xmlns:a16="http://schemas.microsoft.com/office/drawing/2014/main" id="{D39498FE-B659-4FD2-A6B9-D44425AA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ทดสอบ 5 รูปแบบภาพและข้อมูล 10k–10M แถว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พบว่าแคชช่วย TTA ส่วนภาพล่วงหน้าช่วย TTR เด่นกว่า</a:t>
            </a:r>
          </a:p>
        </p:txBody>
      </p:sp>
      <p:sp>
        <p:nvSpPr>
          <p:cNvPr id="19" name="shape-157">
            <a:extLst xmlns:a="http://schemas.openxmlformats.org/drawingml/2006/main">
              <a:ext uri="{FF2B5EF4-FFF2-40B4-BE49-F238E27FC236}">
                <a16:creationId xmlns:a16="http://schemas.microsoft.com/office/drawing/2014/main" id="{A3980119-CB16-45E7-A429-0082B369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58">
            <a:extLst xmlns:a="http://schemas.openxmlformats.org/drawingml/2006/main">
              <a:ext uri="{FF2B5EF4-FFF2-40B4-BE49-F238E27FC236}">
                <a16:creationId xmlns:a16="http://schemas.microsoft.com/office/drawing/2014/main" id="{5C8C3A5B-960C-48C5-8B45-5CB33606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ข้อจำกัดของการทดลอง</a:t>
            </a:r>
          </a:p>
        </p:txBody>
      </p:sp>
      <p:sp>
        <p:nvSpPr>
          <p:cNvPr id="21" name="text-159">
            <a:extLst xmlns:a="http://schemas.openxmlformats.org/drawingml/2006/main">
              <a:ext uri="{FF2B5EF4-FFF2-40B4-BE49-F238E27FC236}">
                <a16:creationId xmlns:a16="http://schemas.microsoft.com/office/drawing/2014/main" id="{EF5A832D-7FF4-4597-B8B7-7E1599F4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60">
            <a:extLst xmlns:a="http://schemas.openxmlformats.org/drawingml/2006/main">
              <a:ext uri="{FF2B5EF4-FFF2-40B4-BE49-F238E27FC236}">
                <a16:creationId xmlns:a16="http://schemas.microsoft.com/office/drawing/2014/main" id="{09565ACA-693C-405E-A061-6EEEAA31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ยังไม่ครอบคลุมอุปกรณ์และเครือข่ายอื่น</a:t>
            </a:r>
          </a:p>
        </p:txBody>
      </p:sp>
      <p:sp>
        <p:nvSpPr>
          <p:cNvPr id="23" name="text-161">
            <a:extLst xmlns:a="http://schemas.openxmlformats.org/drawingml/2006/main">
              <a:ext uri="{FF2B5EF4-FFF2-40B4-BE49-F238E27FC236}">
                <a16:creationId xmlns:a16="http://schemas.microsoft.com/office/drawing/2014/main" id="{07AD6470-5DF9-414B-8F77-5ADBF8E5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ทดสอบบน M1 Pro กับ local server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ยังไม่มีผลบนมือถือหรือเครือข่ายระยะไกล</a:t>
            </a:r>
          </a:p>
        </p:txBody>
      </p:sp>
      <p:sp>
        <p:nvSpPr>
          <p:cNvPr id="24" name="shape-162">
            <a:extLst xmlns:a="http://schemas.openxmlformats.org/drawingml/2006/main">
              <a:ext uri="{FF2B5EF4-FFF2-40B4-BE49-F238E27FC236}">
                <a16:creationId xmlns:a16="http://schemas.microsoft.com/office/drawing/2014/main" id="{DDE5BD01-FED1-4005-8972-40FC2E2B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63">
            <a:extLst xmlns:a="http://schemas.openxmlformats.org/drawingml/2006/main">
              <a:ext uri="{FF2B5EF4-FFF2-40B4-BE49-F238E27FC236}">
                <a16:creationId xmlns:a16="http://schemas.microsoft.com/office/drawing/2014/main" id="{EC533AF6-F865-48F8-BE9F-A8792BCA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64">
            <a:extLst xmlns:a="http://schemas.openxmlformats.org/drawingml/2006/main">
              <a:ext uri="{FF2B5EF4-FFF2-40B4-BE49-F238E27FC236}">
                <a16:creationId xmlns:a16="http://schemas.microsoft.com/office/drawing/2014/main" id="{E9020C1C-2422-423F-B32B-B0CC1E8E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ยังมีต้นทุนเริ่มระบบและพื้นที่เพิ่ม</a:t>
            </a:r>
          </a:p>
        </p:txBody>
      </p:sp>
      <p:sp>
        <p:nvSpPr>
          <p:cNvPr id="27" name="text-165">
            <a:extLst xmlns:a="http://schemas.openxmlformats.org/drawingml/2006/main">
              <a:ext uri="{FF2B5EF4-FFF2-40B4-BE49-F238E27FC236}">
                <a16:creationId xmlns:a16="http://schemas.microsoft.com/office/drawing/2014/main" id="{0026733B-9905-4232-8ED3-83160F78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Hydration ใช้วิธีสร้างคอมโพเนนต์ตามปกติ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เพิ่มเฉลี่ย 21.2% และต่างกันมากระหว่างกรณี (SD 29.9%)</a:t>
            </a:r>
          </a:p>
        </p:txBody>
      </p:sp>
      <p:sp>
        <p:nvSpPr>
          <p:cNvPr id="28" name="shape-166">
            <a:extLst xmlns:a="http://schemas.openxmlformats.org/drawingml/2006/main">
              <a:ext uri="{FF2B5EF4-FFF2-40B4-BE49-F238E27FC236}">
                <a16:creationId xmlns:a16="http://schemas.microsoft.com/office/drawing/2014/main" id="{622D6362-105B-4DAA-A1AC-F720B614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67">
            <a:extLst xmlns:a="http://schemas.openxmlformats.org/drawingml/2006/main">
              <a:ext uri="{FF2B5EF4-FFF2-40B4-BE49-F238E27FC236}">
                <a16:creationId xmlns:a16="http://schemas.microsoft.com/office/drawing/2014/main" id="{EC64A32C-2246-43FD-9BDD-7289910D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68">
            <a:extLst xmlns:a="http://schemas.openxmlformats.org/drawingml/2006/main">
              <a:ext uri="{FF2B5EF4-FFF2-40B4-BE49-F238E27FC236}">
                <a16:creationId xmlns:a16="http://schemas.microsoft.com/office/drawing/2014/main" id="{2AB8E5C3-29A9-49DD-9562-F85702D2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การอัปเดตข้อมูลและรายละเอียดการวัด</a:t>
            </a:r>
          </a:p>
        </p:txBody>
      </p:sp>
      <p:sp>
        <p:nvSpPr>
          <p:cNvPr id="31" name="text-169">
            <a:extLst xmlns:a="http://schemas.openxmlformats.org/drawingml/2006/main">
              <a:ext uri="{FF2B5EF4-FFF2-40B4-BE49-F238E27FC236}">
                <a16:creationId xmlns:a16="http://schemas.microsoft.com/office/drawing/2014/main" id="{9D0D24A2-578E-485E-8174-E3B79C8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ข้อมูลที่เปลี่ยนต้องสร้างทรัพยากรใหม่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เอกสารไม่ได้ระบุจำนวนรอบทดลองซ้ำ</a:t>
            </a:r>
          </a:p>
        </p:txBody>
      </p:sp>
      <p:sp>
        <p:nvSpPr>
          <p:cNvPr id="32" name="text-170">
            <a:extLst xmlns:a="http://schemas.openxmlformats.org/drawingml/2006/main">
              <a:ext uri="{FF2B5EF4-FFF2-40B4-BE49-F238E27FC236}">
                <a16:creationId xmlns:a16="http://schemas.microsoft.com/office/drawing/2014/main" id="{10E43B24-CE7C-4F3B-B4F7-5D53F721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3–5 (PDF หน้า 2–4) · พิจารณาข้อจำกัดตามสภาพแวดล้อมและข้อมูลที่รายงาน</a:t>
            </a:r>
          </a:p>
        </p:txBody>
      </p:sp>
    </p:spTree>
    <p:extLst>
      <p:ext uri="{BB962C8B-B14F-4D97-AF65-F5344CB8AC3E}">
        <p14:creationId xmlns:p14="http://schemas.microsoft.com/office/powerpoint/2010/main" val="2015951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1">
            <a:extLst xmlns:a="http://schemas.openxmlformats.org/drawingml/2006/main">
              <a:ext uri="{FF2B5EF4-FFF2-40B4-BE49-F238E27FC236}">
                <a16:creationId xmlns:a16="http://schemas.microsoft.com/office/drawing/2014/main" id="{E7BCA1F8-C637-417B-9AEA-AF67FA27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2">
            <a:extLst xmlns:a="http://schemas.openxmlformats.org/drawingml/2006/main">
              <a:ext uri="{FF2B5EF4-FFF2-40B4-BE49-F238E27FC236}">
                <a16:creationId xmlns:a16="http://schemas.microsoft.com/office/drawing/2014/main" id="{FE51468F-EE84-4265-9F2E-D33CDE0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สรุปผลและแนวทางวิจัยในอนาคต</a:t>
            </a:r>
          </a:p>
        </p:txBody>
      </p:sp>
      <p:sp>
        <p:nvSpPr>
          <p:cNvPr id="3" name="shape-173">
            <a:extLst xmlns:a="http://schemas.openxmlformats.org/drawingml/2006/main">
              <a:ext uri="{FF2B5EF4-FFF2-40B4-BE49-F238E27FC236}">
                <a16:creationId xmlns:a16="http://schemas.microsoft.com/office/drawing/2014/main" id="{66DC76CC-4D76-4D85-AAD6-67C517A4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4">
            <a:extLst xmlns:a="http://schemas.openxmlformats.org/drawingml/2006/main">
              <a:ext uri="{FF2B5EF4-FFF2-40B4-BE49-F238E27FC236}">
                <a16:creationId xmlns:a16="http://schemas.microsoft.com/office/drawing/2014/main" id="{04F4EA35-976C-4038-A04C-D52EBA86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5">
            <a:extLst xmlns:a="http://schemas.openxmlformats.org/drawingml/2006/main">
              <a:ext uri="{FF2B5EF4-FFF2-40B4-BE49-F238E27FC236}">
                <a16:creationId xmlns:a16="http://schemas.microsoft.com/office/drawing/2014/main" id="{82ED5D2D-84A0-4DA2-862B-25F3E3DC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76">
            <a:extLst xmlns:a="http://schemas.openxmlformats.org/drawingml/2006/main">
              <a:ext uri="{FF2B5EF4-FFF2-40B4-BE49-F238E27FC236}">
                <a16:creationId xmlns:a16="http://schemas.microsoft.com/office/drawing/2014/main" id="{D29465DF-0959-44A4-B105-5BCEFFF1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77">
            <a:extLst xmlns:a="http://schemas.openxmlformats.org/drawingml/2006/main">
              <a:ext uri="{FF2B5EF4-FFF2-40B4-BE49-F238E27FC236}">
                <a16:creationId xmlns:a16="http://schemas.microsoft.com/office/drawing/2014/main" id="{87B86CEF-AB62-4924-8F1C-6B195DA2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ผลที่ได้จากการทดลอง</a:t>
            </a:r>
          </a:p>
        </p:txBody>
      </p:sp>
      <p:sp>
        <p:nvSpPr>
          <p:cNvPr id="8" name="text-178">
            <a:extLst xmlns:a="http://schemas.openxmlformats.org/drawingml/2006/main">
              <a:ext uri="{FF2B5EF4-FFF2-40B4-BE49-F238E27FC236}">
                <a16:creationId xmlns:a16="http://schemas.microsoft.com/office/drawing/2014/main" id="{C8D0FB0A-1E45-479E-8BC6-4747FB52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9">
            <a:extLst xmlns:a="http://schemas.openxmlformats.org/drawingml/2006/main">
              <a:ext uri="{FF2B5EF4-FFF2-40B4-BE49-F238E27FC236}">
                <a16:creationId xmlns:a16="http://schemas.microsoft.com/office/drawing/2014/main" id="{E7A326FC-8BC0-41E1-ADB7-BB09EE41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แคชล่วงหน้าลดเวลาจนพร้อมโต้ตอบ</a:t>
            </a:r>
          </a:p>
        </p:txBody>
      </p:sp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F26C4498-F8A0-450B-94C8-ADE8C53F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การเพิ่มแคชและผลรวม (+cache) ลด TTA เฉลี่ย 32.3%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ช่วยลดงานคิวรีที่ต้องคำนวณตอนเปิดเว็บ</a:t>
            </a:r>
          </a:p>
        </p:txBody>
      </p:sp>
      <p:sp>
        <p:nvSpPr>
          <p:cNvPr id="11" name="shape-181">
            <a:extLst xmlns:a="http://schemas.openxmlformats.org/drawingml/2006/main">
              <a:ext uri="{FF2B5EF4-FFF2-40B4-BE49-F238E27FC236}">
                <a16:creationId xmlns:a16="http://schemas.microsoft.com/office/drawing/2014/main" id="{280D378A-4B50-42B8-9B48-BFCBF8F9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82">
            <a:extLst xmlns:a="http://schemas.openxmlformats.org/drawingml/2006/main">
              <a:ext uri="{FF2B5EF4-FFF2-40B4-BE49-F238E27FC236}">
                <a16:creationId xmlns:a16="http://schemas.microsoft.com/office/drawing/2014/main" id="{398DD0E5-6576-42C7-8F88-F254EC2B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83">
            <a:extLst xmlns:a="http://schemas.openxmlformats.org/drawingml/2006/main">
              <a:ext uri="{FF2B5EF4-FFF2-40B4-BE49-F238E27FC236}">
                <a16:creationId xmlns:a16="http://schemas.microsoft.com/office/drawing/2014/main" id="{24B8A471-7F3C-4CF0-AC1B-56F58A01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ภาพล่วงหน้าทำให้เห็นข้อมูลเร็วขึ้น</a:t>
            </a:r>
          </a:p>
        </p:txBody>
      </p:sp>
      <p:sp>
        <p:nvSpPr>
          <p:cNvPr id="14" name="text-184">
            <a:extLst xmlns:a="http://schemas.openxmlformats.org/drawingml/2006/main">
              <a:ext uri="{FF2B5EF4-FFF2-40B4-BE49-F238E27FC236}">
                <a16:creationId xmlns:a16="http://schemas.microsoft.com/office/drawing/2014/main" id="{9BB81B31-4FD3-437F-A31C-6DE2C653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ชุดรวมลด TTR เฉลี่ย 83.7% และ TTA 33.3%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ภาพแสดงเร็วขึ้น แต่ยังต้องรอเริ่มคอมโพเนนต์โต้ตอบ</a:t>
            </a:r>
          </a:p>
        </p:txBody>
      </p:sp>
      <p:sp>
        <p:nvSpPr>
          <p:cNvPr id="15" name="shape-185">
            <a:extLst xmlns:a="http://schemas.openxmlformats.org/drawingml/2006/main">
              <a:ext uri="{FF2B5EF4-FFF2-40B4-BE49-F238E27FC236}">
                <a16:creationId xmlns:a16="http://schemas.microsoft.com/office/drawing/2014/main" id="{B05CE669-BBF0-4086-B592-BCB95795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86">
            <a:extLst xmlns:a="http://schemas.openxmlformats.org/drawingml/2006/main">
              <a:ext uri="{FF2B5EF4-FFF2-40B4-BE49-F238E27FC236}">
                <a16:creationId xmlns:a16="http://schemas.microsoft.com/office/drawing/2014/main" id="{4E278D90-5840-422D-8D86-FF6EACA7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87">
            <a:extLst xmlns:a="http://schemas.openxmlformats.org/drawingml/2006/main">
              <a:ext uri="{FF2B5EF4-FFF2-40B4-BE49-F238E27FC236}">
                <a16:creationId xmlns:a16="http://schemas.microsoft.com/office/drawing/2014/main" id="{1B88605E-0D33-41FE-83C4-75CE7AB9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การลดเวลารอต้องแลกกับพื้นที่จัดเก็บ</a:t>
            </a:r>
          </a:p>
        </p:txBody>
      </p:sp>
      <p:sp>
        <p:nvSpPr>
          <p:cNvPr id="18" name="text-188">
            <a:extLst xmlns:a="http://schemas.openxmlformats.org/drawingml/2006/main">
              <a:ext uri="{FF2B5EF4-FFF2-40B4-BE49-F238E27FC236}">
                <a16:creationId xmlns:a16="http://schemas.microsoft.com/office/drawing/2014/main" id="{3DC728E0-E154-4D35-AA69-55B53482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เพิ่มเฉลี่ย 21.2% (SD 29.9%) เทียบ none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ต้นทุนพื้นที่ต่างกันตามรูปแบบภาพและขนาดข้อมูล</a:t>
            </a:r>
          </a:p>
        </p:txBody>
      </p:sp>
      <p:sp>
        <p:nvSpPr>
          <p:cNvPr id="19" name="shape-189">
            <a:extLst xmlns:a="http://schemas.openxmlformats.org/drawingml/2006/main">
              <a:ext uri="{FF2B5EF4-FFF2-40B4-BE49-F238E27FC236}">
                <a16:creationId xmlns:a16="http://schemas.microsoft.com/office/drawing/2014/main" id="{EE369FDD-359D-4A66-BA9A-519E10CA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90">
            <a:extLst xmlns:a="http://schemas.openxmlformats.org/drawingml/2006/main">
              <a:ext uri="{FF2B5EF4-FFF2-40B4-BE49-F238E27FC236}">
                <a16:creationId xmlns:a16="http://schemas.microsoft.com/office/drawing/2014/main" id="{1B5B05B5-6454-43DD-B097-7696EA50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แนวทางที่ผู้วิจัยเสนอ</a:t>
            </a:r>
          </a:p>
        </p:txBody>
      </p:sp>
      <p:sp>
        <p:nvSpPr>
          <p:cNvPr id="21" name="text-191">
            <a:extLst xmlns:a="http://schemas.openxmlformats.org/drawingml/2006/main">
              <a:ext uri="{FF2B5EF4-FFF2-40B4-BE49-F238E27FC236}">
                <a16:creationId xmlns:a16="http://schemas.microsoft.com/office/drawing/2014/main" id="{037D1997-AE1F-42EE-B31F-EC48039C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92">
            <a:extLst xmlns:a="http://schemas.openxmlformats.org/drawingml/2006/main">
              <a:ext uri="{FF2B5EF4-FFF2-40B4-BE49-F238E27FC236}">
                <a16:creationId xmlns:a16="http://schemas.microsoft.com/office/drawing/2014/main" id="{5FBB30B0-173C-4FA5-A6A2-8417E18E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ลดภาระการเริ่มคอมโพเนนต์</a:t>
            </a:r>
          </a:p>
        </p:txBody>
      </p:sp>
      <p:sp>
        <p:nvSpPr>
          <p:cNvPr id="23" name="text-193">
            <a:extLst xmlns:a="http://schemas.openxmlformats.org/drawingml/2006/main">
              <a:ext uri="{FF2B5EF4-FFF2-40B4-BE49-F238E27FC236}">
                <a16:creationId xmlns:a16="http://schemas.microsoft.com/office/drawing/2014/main" id="{EDA56F2A-B07D-4D26-88E9-E6138E4C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ศึกษาวิธี Hydration ที่ละเอียดขึ้น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เพื่อลดต้นทุนที่ยังใกล้การเรนเดอร์เต็มชุด (§5)</a:t>
            </a:r>
          </a:p>
        </p:txBody>
      </p:sp>
      <p:sp>
        <p:nvSpPr>
          <p:cNvPr id="24" name="shape-194">
            <a:extLst xmlns:a="http://schemas.openxmlformats.org/drawingml/2006/main">
              <a:ext uri="{FF2B5EF4-FFF2-40B4-BE49-F238E27FC236}">
                <a16:creationId xmlns:a16="http://schemas.microsoft.com/office/drawing/2014/main" id="{987EAACC-E5C6-479F-869D-1E377F6A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95">
            <a:extLst xmlns:a="http://schemas.openxmlformats.org/drawingml/2006/main">
              <a:ext uri="{FF2B5EF4-FFF2-40B4-BE49-F238E27FC236}">
                <a16:creationId xmlns:a16="http://schemas.microsoft.com/office/drawing/2014/main" id="{9403FE57-82D5-43CE-905E-384CB4F9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96">
            <a:extLst xmlns:a="http://schemas.openxmlformats.org/drawingml/2006/main">
              <a:ext uri="{FF2B5EF4-FFF2-40B4-BE49-F238E27FC236}">
                <a16:creationId xmlns:a16="http://schemas.microsoft.com/office/drawing/2014/main" id="{28491C1B-70A7-48A0-883D-FC813626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ผสานการคำนวณและสร้างใหม่เฉพาะส่วน</a:t>
            </a:r>
          </a:p>
        </p:txBody>
      </p:sp>
      <p:sp>
        <p:nvSpPr>
          <p:cNvPr id="27" name="text-197">
            <a:extLst xmlns:a="http://schemas.openxmlformats.org/drawingml/2006/main">
              <a:ext uri="{FF2B5EF4-FFF2-40B4-BE49-F238E27FC236}">
                <a16:creationId xmlns:a16="http://schemas.microsoft.com/office/drawing/2014/main" id="{AD94DDD2-6D8B-406A-B69C-13E75B27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ใช้ทั้งช่วงเผยแพร่และรันไทม์ (Hybrid) และสร้างใหม่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เฉพาะส่วนที่เปลี่ยน (Incremental Regeneration, §6)</a:t>
            </a:r>
          </a:p>
        </p:txBody>
      </p:sp>
      <p:sp>
        <p:nvSpPr>
          <p:cNvPr id="28" name="shape-198">
            <a:extLst xmlns:a="http://schemas.openxmlformats.org/drawingml/2006/main">
              <a:ext uri="{FF2B5EF4-FFF2-40B4-BE49-F238E27FC236}">
                <a16:creationId xmlns:a16="http://schemas.microsoft.com/office/drawing/2014/main" id="{6E456634-E5F5-40B0-B9B4-A8E98192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99">
            <a:extLst xmlns:a="http://schemas.openxmlformats.org/drawingml/2006/main">
              <a:ext uri="{FF2B5EF4-FFF2-40B4-BE49-F238E27FC236}">
                <a16:creationId xmlns:a16="http://schemas.microsoft.com/office/drawing/2014/main" id="{6ED0875D-48FA-436D-A513-5D025518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200">
            <a:extLst xmlns:a="http://schemas.openxmlformats.org/drawingml/2006/main">
              <a:ext uri="{FF2B5EF4-FFF2-40B4-BE49-F238E27FC236}">
                <a16:creationId xmlns:a16="http://schemas.microsoft.com/office/drawing/2014/main" id="{E42352F4-A50F-47E0-A9DC-027EB0EF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เลือกระดับการปรับปรุงโดยอัตโนมัติ</a:t>
            </a:r>
          </a:p>
        </p:txBody>
      </p:sp>
      <p:sp>
        <p:nvSpPr>
          <p:cNvPr id="31" name="text-201">
            <a:extLst xmlns:a="http://schemas.openxmlformats.org/drawingml/2006/main">
              <a:ext uri="{FF2B5EF4-FFF2-40B4-BE49-F238E27FC236}">
                <a16:creationId xmlns:a16="http://schemas.microsoft.com/office/drawing/2014/main" id="{797D6167-289B-47A4-8BFF-030C0349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พัฒนาวิธีเลือกการตั้งค่าจากข้อมูลและข้อกำหนดภาพ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ให้เหมาะกับประโยชน์และต้นทุนของแต่ละกรณี (§6)</a:t>
            </a:r>
          </a:p>
        </p:txBody>
      </p:sp>
      <p:sp>
        <p:nvSpPr>
          <p:cNvPr id="32" name="text-202">
            <a:extLst xmlns:a="http://schemas.openxmlformats.org/drawingml/2006/main">
              <a:ext uri="{FF2B5EF4-FFF2-40B4-BE49-F238E27FC236}">
                <a16:creationId xmlns:a16="http://schemas.microsoft.com/office/drawing/2014/main" id="{530533FA-6EE2-464A-805A-43E2CF54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ผลทดลอง Table 1 / Figure 4 · แนวทางอนาคต Sections 5–6 (PDF หน้า 4) ยังไม่ได้ทดสอบ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1115379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2026-10-07T04:53:39.7900000Z</dcterms:created>
  <dcterms:modified xsi:type="dcterms:W3CDTF">2026-10-07T04:53:39.7900000Z</dcterms:modified>
</coreProperties>
</file>