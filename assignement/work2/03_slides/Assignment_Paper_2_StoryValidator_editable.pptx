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[0:00 - 0:30 · บทนำและโจทย์ตั้งต้นของงานวิจัย]</a:t>
            </a:r>
          </a:p>
          <a:p>
            <a:r>
              <a:t>สวัสดีครับอาจารย์และเพื่อนๆ ทุกคน ผมธีรภัทร ภู่ระย้า วันนี้ขอสรุปบทความวิจัยเรื่อง 'Story Validator: Validating the Plot of Interactive Narrative Games' จากการประชุมวิชาการ IEEE Conference on Games ปี 2021 ครับ</a:t>
            </a:r>
          </a:p>
          <a:p/>
          <a:p>
            <a:r>
              <a:t>ในการพัฒนาเกมที่มีเนื้อเรื่องแตกแขนง สิ่งที่ท้าทายมากคือ เมื่อเรื่องราวมีทางเลือกซับซ้อน เราจะมั่นใจได้อย่างไรว่าทุกเส้นทางที่ผู้เล่นเลือก จะสามารถดำเนินไปถึงฉากจบได้จริงโดยไม่ติดบั๊กกลางคัน เปเปอร์นี้นำเสนอเครื่องมือวิศวกรรมที่ใช้แบบจำลองกราฟและจำลองพฤติกรรมผู้เล่น มาตรวจความถูกต้องของโครงเรื่องแบบอัตโนมัติครับ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[0:30 - 1:15 · ปัญหาและความท้าทายในการตรวจสอบ]</a:t>
            </a:r>
          </a:p>
          <a:p>
            <a:r>
              <a:t>ความท้าทายของเกมเล่าเรื่องแบบแตกแขนงมี 4 ข้อสำคัญครับ</a:t>
            </a:r>
          </a:p>
          <a:p>
            <a:r>
              <a:t>1. การรักษาสมดุลระหว่างเจตจำนงของคนแต่งกับอิสระในการตัดสินใจของผู้เล่น</a:t>
            </a:r>
          </a:p>
          <a:p>
            <a:r>
              <a:t>2. ปัญหา State-Space Explosion เมื่อมีทางเลือกมาก เส้นทางจะทวีคูณจนเกินขีดความสามารถที่มนุษย์จะตรวจด้วยตาเปล่าได้ครบ</a:t>
            </a:r>
          </a:p>
          <a:p>
            <a:r>
              <a:t>3. การผูกเงื่อนไขกับตัวแปรสะสม เช่น ค่าอารมณ์ ซึ่งเสี่ยงต่อการเกิดข้อผิดพลาดเชิงตรรกะในเส้นทางที่คาดไม่ถึง</a:t>
            </a:r>
          </a:p>
          <a:p>
            <a:r>
              <a:t>4. การใช้คนจริงทดสอบมีต้นทุนสูง ช้า และไม่ครอบคลุม</a:t>
            </a:r>
          </a:p>
          <a:p/>
          <a:p>
            <a:r>
              <a:t>และที่น่าตกใจคือ ผลสำรวจในเปเปอร์พบว่า 76% ของคนเขียนบทยังใช้ MS Word หรือ Google Docs ทำให้ขาดระบบตรวจจับความถูกต้องเชิงตรรกะ จนเกิดปัญหาทางตันและเนื้อเรื่องหลุดรอดไปถึงผู้เล่นครับ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[1:15 - 2:05 · แบบจำลองกราฟและตัวชี้วัด 5 ด้าน]</a:t>
            </a:r>
          </a:p>
          <a:p>
            <a:r>
              <a:t>เพื่อแก้ปัญหานี้ งานวิจัยเสนอแบบจำลอง 2 ส่วนหลักครับ</a:t>
            </a:r>
          </a:p>
          <a:p/>
          <a:p>
            <a:r>
              <a:t>ฝั่งซ้ายคือการแปลงโครงเรื่องเป็น Directed Graph G = (V, E) โดยให้แต่ละฉากหรือ Passage เป็นโหนด V และให้ทางเลือกเป็นเส้นเชื่อม E ที่มีเงื่อนไขตัวแปรกำกับ จากนั้นใช้อัลกอริทึม Depth-First Search หรือ DFS ท่องกราฟเพื่อรวบรวมร่องรอยการเล่นทุกเส้นทางแบบอัตโนมัติ</a:t>
            </a:r>
          </a:p>
          <a:p/>
          <a:p>
            <a:r>
              <a:t>ส่วนฝั่งขวาคือนิยามตัวชี้วัดคุณภาพ 5 ด้าน ได้แก่:</a:t>
            </a:r>
          </a:p>
          <a:p>
            <a:r>
              <a:t>1. Number of Paths (N_paths) นับผลรวมเส้นทางทั้งหมดตั้งแต่จุดเริ่มจนถึงฉากจบ</a:t>
            </a:r>
          </a:p>
          <a:p>
            <a:r>
              <a:t>2. Stroke Points (S_points) ฉากบังคับผ่านที่ทุกเส้นทางต้องไหลผ่าน เพื่อยืนยันว่าผู้เล่นได้รับสารสำคัญครบถ้วน</a:t>
            </a:r>
          </a:p>
          <a:p>
            <a:r>
              <a:t>3. Endings Hit Percentage (P_endings) คำนวณสัดส่วนความน่าจะเป็นในการเข้าถึงฉากจบแต่ละแบบ</a:t>
            </a:r>
          </a:p>
          <a:p>
            <a:r>
              <a:t>4. Dead-Ends (D_ends) และ Lost Plot (L_plot) ดักจับฉากทางตันที่ไปต่อไม่ได้ และฉากที่ไม่สามารถเข้าถึงได้จริงเนื่องจากเงื่อนไขตัวแปรขัดแย้ง</a:t>
            </a:r>
          </a:p>
          <a:p>
            <a:r>
              <a:t>5. Evolution of Variables (V_evol) พล็อต Dotted Chart ติดตามค่าตัวแปรเพื่อตรวจจับค่าหลุดกรอบครับ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[2:05 - 2:55 · กรณีศึกษา The Murder Case และการจำลอง Persona]</a:t>
            </a:r>
          </a:p>
          <a:p>
            <a:r>
              <a:t>ผู้เขียนทดสอบระบบด้วยกรณีศึกษา The Murder Case บทสนทนาสืบสวนสอบปากคำที่มีตัวแปรอารมณ์ 3 ด้าน คือ โกรธ สับสน และกลัว ขนาด 14 ฉาก 20 เส้นทาง และ 3 ฉากจบ โดยจงใจฝังบั๊กไว้ 5 จุด ได้แก่ เส้นทางที่ 7 และ 14 ติด Dead-End, เส้นทางที่ 8 วนลูปไม่รู้จบ, และ Ending 1 กับ Choice 6 เข้าไม่ถึงจริง</a:t>
            </a:r>
          </a:p>
          <a:p/>
          <a:p>
            <a:r>
              <a:t>ไฮไลต์ของงานนี้คือการสร้าง Player Personas จำลองพฤติกรรมผู้เล่น 2 สไตล์ คือ Aggressive ที่เน้นอารมณ์โกรธ และ Paranoid ที่เน้นอารมณ์กลัว โดยใช้อัลกอริทึม Heuristic Greedy Search คำนวณค่าน้ำหนักอารมณ์ Score(L) ช่วยให้นักเขียนพยากรณ์ได้ล่วงหน้าว่าผู้เล่นแต่ละกลุ่มจะหลุดเข้าไปเจอบั๊กตัวไหนบ้าง ก่อนเปิดทดสอบเล่นกับคนจริงครับ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[2:55 - 3:45 · ผลการทดสอบกับผู้ใช้และการตรวจจับข้อผิดพลาด]</a:t>
            </a:r>
          </a:p>
          <a:p>
            <a:r>
              <a:t>ผลการทดสอบกับผู้ใช้ 20 คนใน User Study 2 ยืนยันประสิทธิภาพอย่างชัดเจนครับ</a:t>
            </a:r>
          </a:p>
          <a:p>
            <a:r>
              <a:t>Story Validator ช่วยให้ผู้ใช้ตรวจพบบั๊กได้ในเวลาเฉลี่ยเพียง 52.3 วินาที และใช้เวลาแก้ปัญหาเสร็จใน 146.2 วินาที พร้อมได้คะแนนความพึงพอใจการใช้งาน หรือ SUS สูงถึง 92.4 เต็ม 100 อยู่ในระดับ Truly Superior ครับ</a:t>
            </a:r>
          </a:p>
          <a:p/>
          <a:p>
            <a:r>
              <a:t>ข้อค้นพบสำคัญคือ ผู้ใช้ 15% ที่พยายามตรวจด้วยตาเปล่าโดยไม่เปิดตัวกรองอัตโนมัติ ไม่สามารถหาบั๊กพบเลย และบั๊กที่มีเงื่อนไขตัวแปรซับซ้อนหลายชั้นเป็นจุดที่ผู้ใช้ติดขัดมากที่สุด แสดงให้เห็นว่าสายตามนุษย์ไม่เพียงพอสำหรับการตรวจผังเรื่องที่ซับซ้อน และเครื่องมืออัตโนมัตินี้มีความจำเป็นอย่างยิ่งครับ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[3:45 - 4:25 · การมีส่วนร่วมทางวิชาการและการประยุกต์ใช้งาน]</a:t>
            </a:r>
          </a:p>
          <a:p>
            <a:r>
              <a:t>คุณค่าทางวิชาการของเปเปอร์นี้มี 3 ด้านครับ คือการแปลงการเล่าเรื่องให้เป็นตัวชี้วัดเชิงคณิตศาสตร์, การวางสถาปัตยกรรมตรวจสอบกราฟแบบออฟไลน์, และการจำลองพฤติกรรมผู้เล่นด้วย Persona</a:t>
            </a:r>
          </a:p>
          <a:p/>
          <a:p>
            <a:r>
              <a:t>ในทางปฏิบัติ เราสามารถต่อยอดโมเดล Directed Graph นี้ไปเชื่อมต่อกับ Game Engine สมัยใหม่ เช่น Unity หรือ Unreal Engine ใช้แนวคิด Guarded Edges ประเมินเงื่อนไขตัวแปรระหว่างรันไทม์ และผสานอัลกอริทึม DFS Validation เข้ากับกระบวนการ CI/CD เพื่อสแกนหาข้อผิดพลาดของบทเกมโดยอัตโนมัติก่อนส่งมอบเกมสู่ตลาดครับ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[4:25 - 5:00 · ข้อจำกัด และบทสรุปภาพรวม]</a:t>
            </a:r>
          </a:p>
          <a:p>
            <a:r>
              <a:t>สุดท้ายในด้านข้อจำกัด เปเปอร์นี้ยังขาดกลุ่มควบคุมเปรียบเทียบเชิงสถิติ และการใช้ DFS ยังมีความเสี่ยงต่อปัญหา State-Space Explosion หากนำไปใช้กับเกมขนาดใหญ่ที่มีทางเลือกมหาศาล</a:t>
            </a:r>
          </a:p>
          <a:p/>
          <a:p>
            <a:r>
              <a:t>โดยสรุป Story Validator ได้วางรากฐานสำคัญของการนำวิทยาการคอมพิวเตอร์มาช่วยยกระดับงานเขียนบทเกมสู่ Automated QA และในอนาคต การนำโมเดลนี้ไปผสานร่วมกับ AI หรือ Large Language Models เพื่อช่วยแนะนำวิธีแก้ไขเงื่อนไขตัวแปรและเนื้อเรื่องที่ติดตัน จะเป็นทิศทางที่น่าสนใจอย่างยิ่งครับ</a:t>
            </a:r>
          </a:p>
          <a:p/>
          <a:p>
            <a:r>
              <a:t>ผมขอจบการนำเสนอเพียงเท่านี้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TH Sarabun New"/>
              </a:defRPr>
            </a:pPr>
            <a:r>
              <a:t>วิชา 305432 เครือข่ายเซนเซอร์ (Sensor Networks)</a:t>
            </a:r>
          </a:p>
          <a:p>
            <a:pPr algn="ctr">
              <a:spcBef>
                <a:spcPts val="1600"/>
              </a:spcBef>
              <a:defRPr sz="3000" b="1">
                <a:solidFill>
                  <a:srgbClr val="0F2D4A"/>
                </a:solidFill>
                <a:latin typeface="TH Sarabun New"/>
              </a:defRPr>
            </a:pPr>
            <a:r>
              <a:t>Story Validator: Validating the Plot of Interactive Narrative Games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1E3A8A"/>
                </a:solidFill>
                <a:latin typeface="TH Sarabun New"/>
              </a:defRPr>
            </a:pPr>
            <a:r>
              <a:t>การตรวจสอบโครงเรื่องของเกมแบบโต้ตอบด้วยแบบจำลองกราฟและจำลองพฤติกรรมผู้เล่น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3870" y="3291840"/>
            <a:ext cx="14630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2895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TH Sarabun New"/>
              </a:defRPr>
            </a:pPr>
            <a:r>
              <a:t>2021 IEEE Conference on Games (CoG)</a:t>
            </a:r>
          </a:p>
          <a:p>
            <a:pPr algn="ctr">
              <a:spcBef>
                <a:spcPts val="400"/>
              </a:spcBef>
              <a:defRPr sz="1400">
                <a:solidFill>
                  <a:srgbClr val="64748B"/>
                </a:solidFill>
                <a:latin typeface="TH Sarabun New"/>
              </a:defRPr>
            </a:pPr>
            <a:r>
              <a:t>คณะผู้วิจัย: Carolina Veloso, Rui Prada (INESC-ID &amp; Instituto Superior Técnico, Universidade de Lisboa)</a:t>
            </a:r>
          </a:p>
          <a:p>
            <a:pPr algn="ctr">
              <a:spcBef>
                <a:spcPts val="2600"/>
              </a:spcBef>
              <a:defRPr sz="1750" b="1">
                <a:solidFill>
                  <a:srgbClr val="0F2D4A"/>
                </a:solidFill>
                <a:latin typeface="TH Sarabun New"/>
              </a:defRPr>
            </a:pPr>
            <a:r>
              <a:t>นายธีรภัทร ภู่ระย้า ลำดับที่ 10</a:t>
            </a:r>
          </a:p>
          <a:p>
            <a:pPr algn="ctr">
              <a:spcBef>
                <a:spcPts val="300"/>
              </a:spcBef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รหัสนิสิต 66362416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82880"/>
          <a:lstStyle/>
          <a:p>
            <a:pPr algn="ctr">
              <a:defRPr sz="2000" b="1">
                <a:solidFill>
                  <a:srgbClr val="FFFFFF"/>
                </a:solidFill>
                <a:latin typeface="TH Sarabun New"/>
              </a:defRPr>
            </a:pPr>
            <a:r>
              <a:t>ปัญหาและความท้าทายในการตรวจสอบ Interactive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6422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Veloso &amp; Prada, IEEE CoG 2021 (IEEE Xplore: 9618897)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642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D4A"/>
                </a:solidFill>
                <a:latin typeface="TH Sarabun New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51663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/>
          <a:lstStyle/>
          <a:p>
            <a:pPr algn="ctr">
              <a:defRPr sz="1600" b="1">
                <a:solidFill>
                  <a:srgbClr val="0F2D4A"/>
                </a:solidFill>
                <a:latin typeface="TH Sarabun New"/>
              </a:defRPr>
            </a:pPr>
            <a:r>
              <a:t>ความท้าทายหลักของโครงเรื่องแบบแตกแขนง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TH Sarabun New"/>
              </a:defRPr>
            </a:pPr>
            <a:r>
              <a:t>• Authorial Intent vs Player Agency: การรักษาสมดุลระหว่างสิ่งที่คนแต่งต้องการเล่า กับอิสระในการตัดสินใจของผู้เล่น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TH Sarabun New"/>
              </a:defRPr>
            </a:pPr>
            <a:r>
              <a:t>• State-Space Explosion: โครงเรื่องแตกกิ่งก้านสาขาทวีคูณตามทางเลือก จนเกินขีดความสามารถที่จะตรวจสอบด้วยสายตามนุษย์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TH Sarabun New"/>
              </a:defRPr>
            </a:pPr>
            <a:r>
              <a:t>• Guarded Variables &amp; Logic: การผูกเงื่อนไขกับตัวแปรสะสม (เช่น ค่าอารมณ์, สกิล) เสี่ยงต่อการเกิดข้อผิดพลาดเชิงตรรกะในเส้นทางที่คาดไม่ถึง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TH Sarabun New"/>
              </a:defRPr>
            </a:pPr>
            <a:r>
              <a:t>• High Playtesting Cost: การทดสอบเล่นด้วยคนจริงมีต้นทุนสูง ช้า และไม่ครอบคลุมทุกเส้นทางของเรื่องราว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242255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1_twine_story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4876495" cy="21578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84048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ภาพที่ 1: ผังโครงเรื่องแบบ Node &amp; Link ใน Twine ซึ่งซับซ้อนเกินกว่าจะตรวจทานด้วยสายตามนุษย์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242255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/>
          <a:lstStyle/>
          <a:p>
            <a:pPr algn="ctr">
              <a:defRPr sz="1400" b="1">
                <a:solidFill>
                  <a:srgbClr val="0F2D4A"/>
                </a:solidFill>
                <a:latin typeface="TH Sarabun New"/>
              </a:defRPr>
            </a:pPr>
            <a:r>
              <a:t>ปัญหาการตรวจสอบในทางปฏิบัติ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ผลสำรวจในบทความพบว่า 76% ของนักเขียนบทเกมยังคงใช้ MS Word หรือ Google Docs ในการร่างบท โดยเครื่องมืออย่าง Twine หรือ Ren'Py ช่วยเพียงการเรียบเรียง แต่ขาดระบบตรวจสอบความถูกต้องเชิงตรรกะแบบอัตโนมัติ ทำให้มักพบ Dead-Ends และ Lost Plot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82880"/>
          <a:lstStyle/>
          <a:p>
            <a:pPr algn="ctr">
              <a:defRPr sz="2000" b="1">
                <a:solidFill>
                  <a:srgbClr val="FFFFFF"/>
                </a:solidFill>
                <a:latin typeface="TH Sarabun New"/>
              </a:defRPr>
            </a:pPr>
            <a:r>
              <a:t>แบบจำลองกราฟและตัวชี้วัดโครงเรื่อง (The Proposed Model &amp; Metrics)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6422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Veloso &amp; Prada, IEEE CoG 2021 (IEEE Xplore: 9618897)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642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D4A"/>
                </a:solidFill>
                <a:latin typeface="TH Sarabun New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0F2D4A"/>
                </a:solidFill>
                <a:latin typeface="TH Sarabun New"/>
              </a:defRPr>
            </a:pPr>
            <a:r>
              <a:t>แบบจำลองโครงเรื่องด้วยกราฟ (Graph Representation)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defRPr sz="1400" b="1">
                <a:solidFill>
                  <a:srgbClr val="1E3A8A"/>
                </a:solidFill>
                <a:latin typeface="TH Sarabun New"/>
              </a:defRPr>
            </a:pPr>
            <a:r>
              <a:t>1. นิยามกราฟระบุทิศทาง G = (V, E)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Passage (โหนด V): แต่ละฉากของเนื้อเรื่อง บรรจุเนื้อหาบทสนทนาและคำสั่งตัวแปร</a:t>
            </a:r>
            <a:br/>
            <a:r>
              <a:t>• Link (เส้นเชื่อม E): ทางเลือกของผู้เล่น พร้อมเงื่อนไขตัวแปรกำกับ (Guarded Edges)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4572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defRPr sz="1400" b="1">
                <a:solidFill>
                  <a:srgbClr val="1E3A8A"/>
                </a:solidFill>
                <a:latin typeface="TH Sarabun New"/>
              </a:defRPr>
            </a:pPr>
            <a:r>
              <a:t>2. การท่องกราฟด้วย DFS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ใช้อัลกอริทึม Depth-First Search (DFS) เริ่มจากจุดเริ่มต้นและท่องไปจนสุดฉากจบทีละเส้นทาง</a:t>
            </a:r>
            <a:br/>
            <a:r>
              <a:t>• รวบรวมร่องรอยการเล่น (Playthrough Traces) ทุกเส้นทางที่เป็นไปได้แบบอัตโนมัติ เพื่อนำไปคำนวณตัวชี้วัด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96012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0F2D4A"/>
                </a:solidFill>
                <a:latin typeface="TH Sarabun New"/>
              </a:defRPr>
            </a:pPr>
            <a:r>
              <a:t>ตัวชี้วัดคุณภาพโครงเรื่อง 5 ด้าน (Narrative Metrics)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371600"/>
            <a:ext cx="57908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/>
            <a:r>
              <a:rPr b="1">
                <a:solidFill>
                  <a:srgbClr val="1E3A8A"/>
                </a:solidFill>
              </a:rPr>
              <a:t>1. Number of Paths (N</a:t>
            </a:r>
            <a:r>
              <a:rPr b="1">
                <a:solidFill>
                  <a:srgbClr val="1E3A8A"/>
                </a:solidFill>
              </a:rPr>
              <a:t>paths</a:t>
            </a:r>
            <a:r>
              <a:rPr b="1">
                <a:solidFill>
                  <a:srgbClr val="1E3A8A"/>
                </a:solidFill>
              </a:rPr>
              <a:t>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TH Sarabun New"/>
              </a:defRPr>
            </a:pPr>
            <a:r>
              <a:t>นับผลรวมของเส้นทางการเล่นที่เป็นไปได้ทั้งหมดตั้งแต่จุดเริ่มต้นจนถึงฉากจบ พร้อมบันทึก Passage ที่แวะผ่าน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313432"/>
            <a:ext cx="57908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/>
            <a:r>
              <a:rPr b="1">
                <a:solidFill>
                  <a:srgbClr val="1E3A8A"/>
                </a:solidFill>
              </a:rPr>
              <a:t>2. Stroke Points (S</a:t>
            </a:r>
            <a:r>
              <a:rPr b="1">
                <a:solidFill>
                  <a:srgbClr val="1E3A8A"/>
                </a:solidFill>
              </a:rPr>
              <a:t>points</a:t>
            </a:r>
            <a:r>
              <a:rPr b="1">
                <a:solidFill>
                  <a:srgbClr val="1E3A8A"/>
                </a:solidFill>
              </a:rPr>
              <a:t>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TH Sarabun New"/>
              </a:defRPr>
            </a:pPr>
            <a:r>
              <a:t>ฉากสำคัญที่ทุกเส้นทางในกราฟต้องไหลผ่าน เพื่อยืนยันว่าผู้เล่นได้รับสารสำคัญตามเจตจำนงของผู้แต่งครบถ้วน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255264"/>
            <a:ext cx="57908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/>
            <a:r>
              <a:rPr b="1">
                <a:solidFill>
                  <a:srgbClr val="1E3A8A"/>
                </a:solidFill>
              </a:rPr>
              <a:t>3. Endings Hit Percentage (P</a:t>
            </a:r>
            <a:r>
              <a:rPr b="1">
                <a:solidFill>
                  <a:srgbClr val="1E3A8A"/>
                </a:solidFill>
              </a:rPr>
              <a:t>endings</a:t>
            </a:r>
            <a:r>
              <a:rPr b="1">
                <a:solidFill>
                  <a:srgbClr val="1E3A8A"/>
                </a:solidFill>
              </a:rPr>
              <a:t>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TH Sarabun New"/>
              </a:defRPr>
            </a:pPr>
            <a:r>
              <a:t>คำนวณสัดส่วนความน่าจะเป็นในการจบแต่ละแบบ และตรวจหาฉากจบที่ไม่สามารถเข้าถึงได้จริง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197096"/>
            <a:ext cx="579089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/>
            <a:r>
              <a:rPr b="1">
                <a:solidFill>
                  <a:srgbClr val="B91C1C"/>
                </a:solidFill>
              </a:rPr>
              <a:t>4. Dead-Ends (D</a:t>
            </a:r>
            <a:r>
              <a:rPr b="1">
                <a:solidFill>
                  <a:srgbClr val="B91C1C"/>
                </a:solidFill>
              </a:rPr>
              <a:t>ends</a:t>
            </a:r>
            <a:r>
              <a:rPr b="1">
                <a:solidFill>
                  <a:srgbClr val="B91C1C"/>
                </a:solidFill>
              </a:rPr>
              <a:t>) &amp; Lost Plot (L</a:t>
            </a:r>
            <a:r>
              <a:rPr b="1">
                <a:solidFill>
                  <a:srgbClr val="B91C1C"/>
                </a:solidFill>
              </a:rPr>
              <a:t>plot</a:t>
            </a:r>
            <a:r>
              <a:rPr b="1">
                <a:solidFill>
                  <a:srgbClr val="B91C1C"/>
                </a:solidFill>
              </a:rPr>
              <a:t>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TH Sarabun New"/>
              </a:defRPr>
            </a:pPr>
            <a:r>
              <a:t>• Dead-End: ฉากที่ดำเนินไปแล้วไม่มีทางเลือกให้ไปต่อจนจบเกม</a:t>
            </a:r>
            <a:br/>
            <a:r>
              <a:t>• Lost Plot: ฉากที่ไม่สามารถเข้าถึงได้จริงเนื่องจากเงื่อนไขตัวแปรขัดแย้ง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5138928"/>
            <a:ext cx="57908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/>
            <a:r>
              <a:rPr b="1">
                <a:solidFill>
                  <a:srgbClr val="1E3A8A"/>
                </a:solidFill>
              </a:rPr>
              <a:t>5. Evolution of Variables (V</a:t>
            </a:r>
            <a:r>
              <a:rPr b="1">
                <a:solidFill>
                  <a:srgbClr val="1E3A8A"/>
                </a:solidFill>
              </a:rPr>
              <a:t>evol</a:t>
            </a:r>
            <a:r>
              <a:rPr b="1">
                <a:solidFill>
                  <a:srgbClr val="1E3A8A"/>
                </a:solidFill>
              </a:rPr>
              <a:t>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TH Sarabun New"/>
              </a:defRPr>
            </a:pPr>
            <a:r>
              <a:t>พล็อต Dotted Chart ติดตามการเปลี่ยนแปลงค่าตัวแปรตลอดเส้นเรื่อง เพื่อตรวจจับค่าหลุดกรอบ (Out-of-range)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82880"/>
          <a:lstStyle/>
          <a:p>
            <a:pPr algn="ctr">
              <a:defRPr sz="2000" b="1">
                <a:solidFill>
                  <a:srgbClr val="FFFFFF"/>
                </a:solidFill>
                <a:latin typeface="TH Sarabun New"/>
              </a:defRPr>
            </a:pPr>
            <a:r>
              <a:t>กรณีศึกษา The Murder Case และการจำลองพฤติกรรมผู้เล่น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6422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Veloso &amp; Prada, IEEE CoG 2021 (IEEE Xplore: 9618897)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642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D4A"/>
                </a:solidFill>
                <a:latin typeface="TH Sarabun New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51663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defRPr sz="1500" b="1">
                <a:solidFill>
                  <a:srgbClr val="0F2D4A"/>
                </a:solidFill>
                <a:latin typeface="TH Sarabun New"/>
              </a:defRPr>
            </a:pPr>
            <a:r>
              <a:t>ฉากทดสอบ The Murder Case (TMC)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TH Sarabun New"/>
              </a:defRPr>
            </a:pPr>
            <a:r>
              <a:t>บทสนทนาแนวสืบสวนสอบปากคำผู้ต้องสงสัยคดีฆาตกรรม กำกับด้วยตัวแปรอารมณ์ 3 ด้าน: โกรธ (Anger), สับสน (Confusion), และกลัว (Fear)</a:t>
            </a:r>
            <a:br/>
            <a:br/>
            <a:r>
              <a:t>ขนาดบททดสอบ: 14 Passages · 20 Paths · 3 ฉากจบ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166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defRPr sz="1400" b="1">
                <a:solidFill>
                  <a:srgbClr val="B91C1C"/>
                </a:solidFill>
                <a:latin typeface="TH Sarabun New"/>
              </a:defRPr>
            </a:pPr>
            <a:r>
              <a:t>บั๊กทดสอบ 5 จุดที่จงใจฝังไว้ (Injected Defects)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บั๊ก 1 &amp; 3: เส้นทาง #7 และ #14 เกิด Dead-End ที่ Choice 5</a:t>
            </a:r>
            <a:br/>
            <a:r>
              <a:t>• บั๊ก 2: เส้นทาง #8 เกิด Loop วนซ้ำไม่รู้จบ</a:t>
            </a:r>
            <a:br/>
            <a:r>
              <a:t>• บั๊ก 4 &amp; 5: ฉาก Ending 1 และ Choice 6 เข้าไม่ถึง (Lost Plot)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242255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defRPr sz="1500" b="1">
                <a:solidFill>
                  <a:srgbClr val="0F2D4A"/>
                </a:solidFill>
                <a:latin typeface="TH Sarabun New"/>
              </a:defRPr>
            </a:pPr>
            <a:r>
              <a:t>การจำลองพฤติกรรมผู้เล่น (Player Personas)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ใช้อัลกอริทึม Heuristic Greedy Search คำนวณค่าน้ำหนักอารมณ์เพื่อจำลองการตัดสินใจของผู้เล่นแต่ละสไตล์: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487649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Score(L) = Σ (wi × vi),   L* = arg maxL ∈ Links Score(L)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Aggressive Persona: ให้น้ำหนัก Anger = 0.75, Confusion = 0.15, Fear = 0.10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Paranoid Persona: ให้น้ำหนัก Fear = 0.70, Confusion = 0.20, Anger = 0.10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34840"/>
            <a:ext cx="52422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ctr">
              <a:defRPr sz="1400" b="1">
                <a:solidFill>
                  <a:srgbClr val="1E3A8A"/>
                </a:solidFill>
                <a:latin typeface="TH Sarabun New"/>
              </a:defRPr>
            </a:pPr>
            <a:r>
              <a:t>ประโยชน์ในการทดสอบ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ช่วยให้นักเขียนพยากรณ์ได้ว่าผู้เล่นแต่ละกลุ่มจะหลุดเข้าไปเจอบั๊กใดบ้างตามแนวโน้มการตัดสินใจจริง ก่อนเปิดทดสอบเล่นกับผู้ใช้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82880"/>
          <a:lstStyle/>
          <a:p>
            <a:pPr algn="ctr">
              <a:defRPr sz="2000" b="1">
                <a:solidFill>
                  <a:srgbClr val="FFFFFF"/>
                </a:solidFill>
                <a:latin typeface="TH Sarabun New"/>
              </a:defRPr>
            </a:pPr>
            <a:r>
              <a:t>ผลการทดสอบกับผู้ใช้และการตรวจจับข้อผิดพลาด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6422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Veloso &amp; Prada, IEEE CoG 2021 (IEEE Xplore: 9618897)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642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D4A"/>
                </a:solidFill>
                <a:latin typeface="TH Sarabun New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51663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8_problem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4800600" cy="28487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16052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ภาพที่ 2: ระบบ Story Validator ชี้ตำแหน่ง Choice 5 ที่เกิดปัญหา Dead-End บนผังต้นไม้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ctr">
              <a:defRPr sz="1350" b="1">
                <a:solidFill>
                  <a:srgbClr val="0F2D4A"/>
                </a:solidFill>
                <a:latin typeface="TH Sarabun New"/>
              </a:defRPr>
            </a:pPr>
            <a:r>
              <a:t>การตรวจจับบั๊กในกราฟ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บั๊กทดสอบที่ 1, 3, 4, 5 ถูกตรวจพบได้ 100% ผ่านตัวกรอง Lost Plot ในทันที โดยชี้ตำแหน่งโหนดที่มีปัญหาได้อย่างแม่นยำ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1691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/>
          <a:lstStyle/>
          <a:p>
            <a:pPr algn="ctr">
              <a:defRPr sz="2800" b="1">
                <a:solidFill>
                  <a:srgbClr val="0F2D4A"/>
                </a:solidFill>
                <a:latin typeface="TH Sarabun New"/>
              </a:defRPr>
            </a:pPr>
            <a:r>
              <a:t>52.3s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  <a:latin typeface="TH Sarabun New"/>
              </a:defRPr>
            </a:pPr>
            <a:r>
              <a:t>เวลาตรวจพบบั๊ก (σ = 22.7s)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1691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/>
          <a:lstStyle/>
          <a:p>
            <a:pPr algn="ctr">
              <a:defRPr sz="2800" b="1">
                <a:solidFill>
                  <a:srgbClr val="0F2D4A"/>
                </a:solidFill>
                <a:latin typeface="TH Sarabun New"/>
              </a:defRPr>
            </a:pPr>
            <a:r>
              <a:t>146.2s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  <a:latin typeface="TH Sarabun New"/>
              </a:defRPr>
            </a:pPr>
            <a:r>
              <a:t>เวลาแก้ปัญหา (σ = 31.8s)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51560"/>
            <a:ext cx="1691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/>
          <a:lstStyle/>
          <a:p>
            <a:pPr algn="ctr">
              <a:defRPr sz="2800" b="1">
                <a:solidFill>
                  <a:srgbClr val="059669"/>
                </a:solidFill>
                <a:latin typeface="TH Sarabun New"/>
              </a:defRPr>
            </a:pPr>
            <a:r>
              <a:t>92.4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  <a:latin typeface="TH Sarabun New"/>
              </a:defRPr>
            </a:pPr>
            <a:r>
              <a:t>คะแนน SUS (Truly Superior)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23160"/>
            <a:ext cx="5242255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defRPr sz="1450" b="1">
                <a:solidFill>
                  <a:srgbClr val="0F2D4A"/>
                </a:solidFill>
                <a:latin typeface="TH Sarabun New"/>
              </a:defRPr>
            </a:pPr>
            <a:r>
              <a:t>ข้อค้นพบจากการทดสอบกับผู้ใช้ 20 คน (Study 2)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ความล้มเหลวของการตรวจด้วยตาเปล่า: ผู้ใช้ 3 คน (15%) ที่ไม่ยอมเปิดตัวกรองอัตโนมัติ หาบั๊กไม่พบเพราะพยายามกวาดสายตาไล่ดูบนแผนผังด้วยตนเอง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ความยากในการแก้ไข: บั๊กที่ 5 แก้ยากที่สุด (ผู้ใช้ 25% ติดขัด) เนื่องจากเงื่อนไขตัวแปรมีความซับซ้อนซ้อนกันหลายชั้น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TH Sarabun New"/>
              </a:defRPr>
            </a:pPr>
            <a:r>
              <a:t>• การพัฒนาเครื่องมือ: การเพิ่มระบบ Tooltips และหน้าต่างสรุปรายงาน ช่วยดันคะแนน SUS จาก 83.5 ใน Study 1 ขึ้นเป็น 92.4 ใน Study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82880"/>
          <a:lstStyle/>
          <a:p>
            <a:pPr algn="ctr">
              <a:defRPr sz="2000" b="1">
                <a:solidFill>
                  <a:srgbClr val="FFFFFF"/>
                </a:solidFill>
                <a:latin typeface="TH Sarabun New"/>
              </a:defRPr>
            </a:pPr>
            <a:r>
              <a:t>การมีส่วนร่วมทางวิชาการและการประยุกต์ใช้งาน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6422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Veloso &amp; Prada, IEEE CoG 2021 (IEEE Xplore: 9618897)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642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D4A"/>
                </a:solidFill>
                <a:latin typeface="TH Sarabun New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0F2D4A"/>
                </a:solidFill>
                <a:latin typeface="TH Sarabun New"/>
              </a:defRPr>
            </a:pPr>
            <a:r>
              <a:t>การมีส่วนร่วมทางวิชาการ (Academic Contributions)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1E3A8A"/>
                </a:solidFill>
                <a:latin typeface="TH Sarabun New"/>
              </a:defRPr>
            </a:pPr>
            <a:r>
              <a:t>1. การนิยามตัวชี้วัดโครงเรื่องด้วยทฤษฎีกราฟ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แปลงแนวคิดการแต่งเรื่องที่เป็นนามธรรม ให้กลายเป็นตัวชี้วัดเชิงคณิตศาสตร์ (เช่น Stroke Points, Lost Plot, Dead-Ends) ที่โปรแกรมคอมพิวเตอร์คำนวณซ้ำได้อัตโนมัติ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1E3A8A"/>
                </a:solidFill>
                <a:latin typeface="TH Sarabun New"/>
              </a:defRPr>
            </a:pPr>
            <a:r>
              <a:t>2. สถาปัตยกรรมการตรวจพิสูจน์แบบออฟไลน์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ออกแบบระบบตรวจพิสูจน์กราฟเนื้อเรื่องแบบอัตโนมัติ ช่วยลดภาระและต้นทุนก่อนเข้าสู่ขั้นตอน Human Playtesting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1E3A8A"/>
                </a:solidFill>
                <a:latin typeface="TH Sarabun New"/>
              </a:defRPr>
            </a:pPr>
            <a:r>
              <a:t>3. การจำลองพฤติกรรมผู้เล่นด้วย Persona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นำ Heuristic Search มาพยากรณ์แนวโน้มการตัดสินใจของผู้เล่นแต่ละกลุ่ม ช่วยค้นหาจุดบกพร่องที่ซ่อนอยู่ตามบุคลิกผู้เล่น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0F2D4A"/>
                </a:solidFill>
                <a:latin typeface="TH Sarabun New"/>
              </a:defRPr>
            </a:pPr>
            <a:r>
              <a:t>การประยุกต์ใช้งานกับเกมเล่าเรื่อง (Applications)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0F2D4A"/>
                </a:solidFill>
                <a:latin typeface="TH Sarabun New"/>
              </a:defRPr>
            </a:pPr>
            <a:r>
              <a:t>1. โครงสร้าง Node &amp; Edge ใน Game Engine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สามารถนำโมเดล Directed Graph ไปเชื่อมต่อกับเอนจินเกมเชิงโต้ตอบยุคใหม่ (เช่น Unity, Unreal Engine) ได้ทันที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0F2D4A"/>
                </a:solidFill>
                <a:latin typeface="TH Sarabun New"/>
              </a:defRPr>
            </a:pPr>
            <a:r>
              <a:t>2. การประเมินเงื่อนไขตัวแปรขณะเล่น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แนวคิด Guarded Edges สอดคล้องกับการตรวจประเมินค่าตัวแปรใน Game Runtime State ก่อนอนุญาตให้ผู้เล่นเลือกเส้นทาง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0F2D4A"/>
                </a:solidFill>
                <a:latin typeface="TH Sarabun New"/>
              </a:defRPr>
            </a:pPr>
            <a:r>
              <a:t>3. ระบบตรวจสอบคุณภาพอัตโนมัติใน CI/CD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ผสานอัลกอริทึม DFS Validation เข้ากับกระบวนการ Continuous Integration เพื่อสแกนหา Dead-Ends ก่อนส่งมอบเกม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0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82880"/>
          <a:lstStyle/>
          <a:p>
            <a:pPr algn="ctr">
              <a:defRPr sz="2000" b="1">
                <a:solidFill>
                  <a:srgbClr val="FFFFFF"/>
                </a:solidFill>
                <a:latin typeface="TH Sarabun New"/>
              </a:defRPr>
            </a:pPr>
            <a:r>
              <a:t>ข้อจำกัด และบทสรุป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6422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Veloso &amp; Prada, IEEE CoG 2021 (IEEE Xplore: 9618897)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642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D4A"/>
                </a:solidFill>
                <a:latin typeface="TH Sarabun New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B91C1C"/>
                </a:solidFill>
                <a:latin typeface="TH Sarabun New"/>
              </a:defRPr>
            </a:pPr>
            <a:r>
              <a:t>ข้อจำกัดที่ระบุในบทความ (Limitations &amp; Risks)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B91C1C"/>
                </a:solidFill>
                <a:latin typeface="TH Sarabun New"/>
              </a:defRPr>
            </a:pPr>
            <a:r>
              <a:t>1. ขาดกลุ่มควบคุมเปรียบเทียบ (No Control Baseline)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บทความวัดเวลาตรวจบั๊กได้ 52.3 วินาที แต่ไม่ได้วัดเทียบกับกลุ่มที่ตรวจด้วยสายตาเปล่าใน Twine จึงยังไม่เห็นความเร็วเปรียบเทียบเชิงสถิติ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B91C1C"/>
                </a:solidFill>
                <a:latin typeface="TH Sarabun New"/>
              </a:defRPr>
            </a:pPr>
            <a:r>
              <a:t>2. ปัญหา State-Space Explosion ของ DFS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การท่องทุกเส้นทางด้วย DFS ทำงานได้ดีในเรื่องขนาดเล็ก แต่หากกราฟมีหลายร้อยฉากและมีวงวน (Loops) จำนวนเส้นทางจะพุ่งสูงแบบ Exponential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B91C1C"/>
                </a:solidFill>
                <a:latin typeface="TH Sarabun New"/>
              </a:defRPr>
            </a:pPr>
            <a:r>
              <a:t>3. ขอบเขตชุดทดสอบมีขนาดเล็ก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บั๊กทั้ง 5 จุดใน TMC ถูกตรวจพบด้วย Lost Plot เพียงอย่างเดียว ยังไม่ได้พิสูจน์คุณค่าของ Stroke Points หรือตัวแปรที่ซับซ้อนสูงในเกมระดับอุตสาหกรรม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0F2D4A"/>
                </a:solidFill>
                <a:latin typeface="TH Sarabun New"/>
              </a:defRPr>
            </a:pPr>
            <a:r>
              <a:t>บทสรุปและการประยุกต์ใช้งาน (Conclusion &amp; Applications)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1E3A8A"/>
                </a:solidFill>
                <a:latin typeface="TH Sarabun New"/>
              </a:defRPr>
            </a:pPr>
            <a:r>
              <a:t>1. การยกระดับสู่ Automated QA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Story Validator วางรากฐานสำคัญของการนำทฤษฎีกราฟและการจำลอง Persona มาตรวจพิสูจน์เกมเล่าเรื่องแบบอัตโนมัติ ช่วยลดต้นทุน Playtesting และรักษาคุณภาพเนื้อเรื่อง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1E3A8A"/>
                </a:solidFill>
                <a:latin typeface="TH Sarabun New"/>
              </a:defRPr>
            </a:pPr>
            <a:r>
              <a:t>2. การเชื่อมต่อ Game Engine เชิงพาณิชย์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พัฒนาปลั๊กอินเชื่อมต่อไปยัง Unity, Unreal Engine หรือ Visual Novel Engines ยอดนิยม เพื่อให้นักพัฒนาเข้าถึงได้สะดวก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defRPr sz="1350" b="1">
                <a:solidFill>
                  <a:srgbClr val="1E3A8A"/>
                </a:solidFill>
                <a:latin typeface="TH Sarabun New"/>
              </a:defRPr>
            </a:pPr>
            <a:r>
              <a:t>3. การใช้ AI/LLM ช่วยซ่อมแซมเนื้อเรื่อง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TH Sarabun New"/>
              </a:defRPr>
            </a:pPr>
            <a:r>
              <a:t>ประยุกต์ใช้ Large Language Models ร่วมกับกราฟ เพื่อช่วยเสนอแนวทางแก้ไขเงื่อนไขตัวแปรหรือเส้นทางที่ตันโดยอัตโนมัติ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