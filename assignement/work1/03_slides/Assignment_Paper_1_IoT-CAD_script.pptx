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9860"/>
  </p:normalViewPr>
  <p:slideViewPr>
    <p:cSldViewPr snapToGrid="0" snapToObjects="1">
      <p:cViewPr varScale="1">
        <p:scale>
          <a:sx n="98" d="100"/>
          <a:sy n="98" d="100"/>
        </p:scale>
        <p:origin x="13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_________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h-TH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 (%)</c:v>
                </c:pt>
              </c:strCache>
            </c:strRef>
          </c:tx>
          <c:spPr>
            <a:solidFill>
              <a:srgbClr val="156082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IoT-CAD</c:v>
                </c:pt>
                <c:pt idx="1">
                  <c:v>One-Class SVM</c:v>
                </c:pt>
                <c:pt idx="2">
                  <c:v>Single LSTM</c:v>
                </c:pt>
                <c:pt idx="3">
                  <c:v>ConvLSTM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</c:v>
                </c:pt>
                <c:pt idx="1">
                  <c:v>89</c:v>
                </c:pt>
                <c:pt idx="2">
                  <c:v>64</c:v>
                </c:pt>
                <c:pt idx="3">
                  <c:v>51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071-8947-B9C6-FA07F06D719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 (%)</c:v>
                </c:pt>
              </c:strCache>
            </c:strRef>
          </c:tx>
          <c:spPr>
            <a:solidFill>
              <a:srgbClr val="B45309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IoT-CAD</c:v>
                </c:pt>
                <c:pt idx="1">
                  <c:v>One-Class SVM</c:v>
                </c:pt>
                <c:pt idx="2">
                  <c:v>Single LSTM</c:v>
                </c:pt>
                <c:pt idx="3">
                  <c:v>ConvLSTM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56</c:v>
                </c:pt>
                <c:pt idx="1">
                  <c:v>25</c:v>
                </c:pt>
                <c:pt idx="2">
                  <c:v>44</c:v>
                </c:pt>
                <c:pt idx="3">
                  <c:v>95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8071-8947-B9C6-FA07F06D719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F1-Score (%)</c:v>
                </c:pt>
              </c:strCache>
            </c:strRef>
          </c:tx>
          <c:spPr>
            <a:solidFill>
              <a:srgbClr val="0E2841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IoT-CAD</c:v>
                </c:pt>
                <c:pt idx="1">
                  <c:v>One-Class SVM</c:v>
                </c:pt>
                <c:pt idx="2">
                  <c:v>Single LSTM</c:v>
                </c:pt>
                <c:pt idx="3">
                  <c:v>ConvLSTM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70</c:v>
                </c:pt>
                <c:pt idx="1">
                  <c:v>39</c:v>
                </c:pt>
                <c:pt idx="2">
                  <c:v>52</c:v>
                </c:pt>
                <c:pt idx="3">
                  <c:v>66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8071-8947-B9C6-FA07F06D71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8468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[0:00 - 0:30 · </a:t>
            </a:r>
            <a:r>
              <a:rPr dirty="0" err="1"/>
              <a:t>บทนำและโจทย์ตั้งต้นของงานวิจัย</a:t>
            </a:r>
            <a:r>
              <a:rPr dirty="0"/>
              <a:t>]</a:t>
            </a:r>
          </a:p>
          <a:p>
            <a:r>
              <a:rPr dirty="0" err="1"/>
              <a:t>สวัสดีครับอาจารย์และเพื่อนๆ</a:t>
            </a:r>
            <a:r>
              <a:rPr dirty="0"/>
              <a:t> </a:t>
            </a:r>
            <a:r>
              <a:rPr dirty="0" err="1"/>
              <a:t>ทุกคน</a:t>
            </a:r>
            <a:r>
              <a:rPr dirty="0"/>
              <a:t> </a:t>
            </a:r>
            <a:r>
              <a:rPr dirty="0" err="1"/>
              <a:t>ผมธีรภัทร</a:t>
            </a:r>
            <a:r>
              <a:rPr dirty="0"/>
              <a:t> </a:t>
            </a:r>
            <a:r>
              <a:rPr dirty="0" err="1"/>
              <a:t>ภู่ระย้า</a:t>
            </a:r>
            <a:r>
              <a:rPr dirty="0"/>
              <a:t> </a:t>
            </a:r>
            <a:r>
              <a:rPr dirty="0" err="1"/>
              <a:t>จะมาสรุปเปเปอร์</a:t>
            </a:r>
            <a:r>
              <a:rPr dirty="0"/>
              <a:t> IoT-CAD </a:t>
            </a:r>
            <a:r>
              <a:rPr dirty="0" err="1"/>
              <a:t>จากการประชุมวิชาการ</a:t>
            </a:r>
            <a:r>
              <a:rPr dirty="0"/>
              <a:t> IEEE/ACM ICCAD </a:t>
            </a:r>
            <a:r>
              <a:rPr dirty="0" err="1"/>
              <a:t>ปี</a:t>
            </a:r>
            <a:r>
              <a:rPr dirty="0"/>
              <a:t> 2020 </a:t>
            </a:r>
            <a:r>
              <a:rPr dirty="0" err="1"/>
              <a:t>โดยทีมนักวิจัยจากมหาวิทยาลัย</a:t>
            </a:r>
            <a:r>
              <a:rPr dirty="0"/>
              <a:t> UC Irvine </a:t>
            </a:r>
            <a:r>
              <a:rPr dirty="0" err="1"/>
              <a:t>ครับ</a:t>
            </a:r>
            <a:r>
              <a:rPr dirty="0"/>
              <a:t> [</a:t>
            </a:r>
            <a:r>
              <a:rPr dirty="0" err="1"/>
              <a:t>สูดหายใจ</a:t>
            </a:r>
            <a:r>
              <a:rPr dirty="0"/>
              <a:t>]</a:t>
            </a:r>
          </a:p>
          <a:p>
            <a:endParaRPr dirty="0"/>
          </a:p>
          <a:p>
            <a:r>
              <a:rPr dirty="0" err="1"/>
              <a:t>โจทย์หลักของเปเปอร์นี้คือ</a:t>
            </a:r>
            <a:r>
              <a:rPr dirty="0"/>
              <a:t> </a:t>
            </a:r>
            <a:r>
              <a:rPr dirty="0" err="1"/>
              <a:t>ในระบบ</a:t>
            </a:r>
            <a:r>
              <a:rPr dirty="0"/>
              <a:t> IoT </a:t>
            </a:r>
            <a:r>
              <a:rPr dirty="0" err="1"/>
              <a:t>เวลาเซนเซอร์ตัวหนึ่งส่งค่าผิดปกติออกมา</a:t>
            </a:r>
            <a:r>
              <a:rPr dirty="0"/>
              <a:t> </a:t>
            </a:r>
            <a:r>
              <a:rPr dirty="0" err="1"/>
              <a:t>เราจะรู้ได้อย่างไรว่านั่นคือเหตุการณ์ผิดปกติในสภาพแวดล้อมจริง</a:t>
            </a:r>
            <a:r>
              <a:rPr dirty="0"/>
              <a:t> </a:t>
            </a:r>
            <a:r>
              <a:rPr dirty="0" err="1"/>
              <a:t>หรือเป็นเพียงตัวเซนเซอร์เองที่ชำรุดหรือถูกแฮก</a:t>
            </a:r>
            <a:r>
              <a:rPr dirty="0"/>
              <a:t> </a:t>
            </a:r>
            <a:r>
              <a:rPr dirty="0" err="1"/>
              <a:t>ซึ่งวิธีตรวจจับทั่วไปแยกสองกรณีนี้ไม่ออก</a:t>
            </a:r>
            <a:r>
              <a:rPr dirty="0"/>
              <a:t> </a:t>
            </a:r>
            <a:r>
              <a:rPr dirty="0" err="1"/>
              <a:t>ทำให้ระบบอัตโนมัติสั่งการผิดพลาด</a:t>
            </a:r>
            <a:r>
              <a:rPr dirty="0"/>
              <a:t> </a:t>
            </a:r>
            <a:r>
              <a:rPr dirty="0" err="1"/>
              <a:t>นี่จึงเป็นที่มาของการพัฒนาระบบ</a:t>
            </a:r>
            <a:r>
              <a:rPr dirty="0"/>
              <a:t> IoT-CAD </a:t>
            </a:r>
            <a:r>
              <a:rPr dirty="0" err="1"/>
              <a:t>ครับ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[0:30 - 1:30 · </a:t>
            </a:r>
            <a:r>
              <a:rPr dirty="0" err="1"/>
              <a:t>นิยามปัญหา</a:t>
            </a:r>
            <a:r>
              <a:rPr dirty="0"/>
              <a:t> EA </a:t>
            </a:r>
            <a:r>
              <a:rPr dirty="0" err="1"/>
              <a:t>กับ</a:t>
            </a:r>
            <a:r>
              <a:rPr dirty="0"/>
              <a:t> SDA </a:t>
            </a:r>
            <a:r>
              <a:rPr dirty="0" err="1"/>
              <a:t>และกรณีศึกษาจริง</a:t>
            </a:r>
            <a:r>
              <a:rPr dirty="0"/>
              <a:t>]</a:t>
            </a:r>
          </a:p>
          <a:p>
            <a:r>
              <a:rPr dirty="0" err="1"/>
              <a:t>ผู้เขียนยกตัวอย่างระบบบำบัดน้ำเสียจริงที่เมืองริช</a:t>
            </a:r>
            <a:r>
              <a:rPr lang="th-TH" dirty="0"/>
              <a:t>ชิโอ</a:t>
            </a:r>
            <a:r>
              <a:rPr dirty="0" err="1"/>
              <a:t>เน</a:t>
            </a:r>
            <a:r>
              <a:rPr dirty="0"/>
              <a:t> </a:t>
            </a:r>
            <a:r>
              <a:rPr dirty="0" err="1"/>
              <a:t>ประเทศอิตาลี</a:t>
            </a:r>
            <a:r>
              <a:rPr dirty="0"/>
              <a:t> </a:t>
            </a:r>
            <a:r>
              <a:rPr dirty="0" err="1"/>
              <a:t>ซึ่งมีเป้าหมายกำจัดไนเตรต</a:t>
            </a:r>
            <a:r>
              <a:rPr dirty="0"/>
              <a:t> </a:t>
            </a:r>
            <a:r>
              <a:rPr dirty="0" err="1"/>
              <a:t>โดยมีเซนเซอร์วัดออกซิเจน</a:t>
            </a:r>
            <a:r>
              <a:rPr dirty="0"/>
              <a:t> </a:t>
            </a:r>
            <a:r>
              <a:rPr dirty="0" err="1"/>
              <a:t>ไนเตรต</a:t>
            </a:r>
            <a:r>
              <a:rPr dirty="0"/>
              <a:t> </a:t>
            </a:r>
            <a:r>
              <a:rPr dirty="0" err="1"/>
              <a:t>และแอมโมเนีย</a:t>
            </a:r>
            <a:r>
              <a:rPr dirty="0"/>
              <a:t> </a:t>
            </a:r>
            <a:r>
              <a:rPr dirty="0" err="1"/>
              <a:t>ทำงานร่วมกันในถังบำบัด</a:t>
            </a:r>
            <a:r>
              <a:rPr dirty="0"/>
              <a:t> [</a:t>
            </a:r>
            <a:r>
              <a:rPr dirty="0" err="1"/>
              <a:t>สูดหายใจ</a:t>
            </a:r>
            <a:r>
              <a:rPr dirty="0"/>
              <a:t>]</a:t>
            </a:r>
          </a:p>
          <a:p>
            <a:endParaRPr dirty="0"/>
          </a:p>
          <a:p>
            <a:r>
              <a:rPr dirty="0" err="1"/>
              <a:t>ผู้เขียนจำแนกความผิดปกติออกเป็น</a:t>
            </a:r>
            <a:r>
              <a:rPr dirty="0"/>
              <a:t> 2 </a:t>
            </a:r>
            <a:r>
              <a:rPr dirty="0" err="1"/>
              <a:t>รูปแบบชัดเจน</a:t>
            </a:r>
            <a:r>
              <a:rPr dirty="0"/>
              <a:t>:</a:t>
            </a:r>
          </a:p>
          <a:p>
            <a:r>
              <a:rPr dirty="0" err="1"/>
              <a:t>แบบแรกคือ</a:t>
            </a:r>
            <a:r>
              <a:rPr dirty="0"/>
              <a:t> Environmental Anomaly </a:t>
            </a:r>
            <a:r>
              <a:rPr dirty="0" err="1"/>
              <a:t>หรือ</a:t>
            </a:r>
            <a:r>
              <a:rPr dirty="0"/>
              <a:t> EA </a:t>
            </a:r>
            <a:r>
              <a:rPr dirty="0" err="1"/>
              <a:t>คือสภาพแวดล้อมเปลี่ยนจริง</a:t>
            </a:r>
            <a:r>
              <a:rPr dirty="0"/>
              <a:t> </a:t>
            </a:r>
            <a:r>
              <a:rPr dirty="0" err="1"/>
              <a:t>เช่น</a:t>
            </a:r>
            <a:r>
              <a:rPr dirty="0"/>
              <a:t> </a:t>
            </a:r>
            <a:r>
              <a:rPr dirty="0" err="1"/>
              <a:t>อุณหภูมิน้ำเปลี่ยนกระทบต่อปฏิกิริยาเคมี</a:t>
            </a:r>
            <a:r>
              <a:rPr dirty="0"/>
              <a:t> </a:t>
            </a:r>
            <a:r>
              <a:rPr dirty="0" err="1"/>
              <a:t>เซนเซอร์ทั้งสามตัวจะเปลี่ยนสอดคล้องกัน</a:t>
            </a:r>
            <a:r>
              <a:rPr dirty="0"/>
              <a:t> </a:t>
            </a:r>
            <a:r>
              <a:rPr dirty="0" err="1"/>
              <a:t>คือออกซิเจนและไนเตรตเพิ่มขึ้นขณะที่แอมโมเนียลดลง</a:t>
            </a:r>
            <a:r>
              <a:rPr dirty="0"/>
              <a:t> </a:t>
            </a:r>
            <a:r>
              <a:rPr dirty="0" err="1"/>
              <a:t>กรณีนี้เซนเซอร์ทำงานถูกต้อง</a:t>
            </a:r>
            <a:r>
              <a:rPr dirty="0"/>
              <a:t> </a:t>
            </a:r>
            <a:r>
              <a:rPr dirty="0" err="1"/>
              <a:t>ระบบต้องสั่งปรับเครื่องจักรแก้ปัญหา</a:t>
            </a:r>
            <a:r>
              <a:rPr dirty="0"/>
              <a:t> </a:t>
            </a:r>
            <a:r>
              <a:rPr dirty="0" err="1"/>
              <a:t>ไม่ใช่ตัดสัญญาณเซนเซอร์ทิ้ง</a:t>
            </a:r>
            <a:endParaRPr dirty="0"/>
          </a:p>
          <a:p>
            <a:r>
              <a:rPr dirty="0" err="1"/>
              <a:t>แบบที่สองคือ</a:t>
            </a:r>
            <a:r>
              <a:rPr dirty="0"/>
              <a:t> Sensing Device Anomaly </a:t>
            </a:r>
            <a:r>
              <a:rPr dirty="0" err="1"/>
              <a:t>หรือ</a:t>
            </a:r>
            <a:r>
              <a:rPr dirty="0"/>
              <a:t> SDA </a:t>
            </a:r>
            <a:r>
              <a:rPr dirty="0" err="1"/>
              <a:t>คือเซนเซอร์ไนเตรตพังหรือถูกแฮก</a:t>
            </a:r>
            <a:r>
              <a:rPr dirty="0"/>
              <a:t> </a:t>
            </a:r>
            <a:r>
              <a:rPr dirty="0" err="1"/>
              <a:t>ค่าไนเตรตจะพุ่งสูงตัวเดียวโดดๆ</a:t>
            </a:r>
            <a:r>
              <a:rPr dirty="0"/>
              <a:t> </a:t>
            </a:r>
            <a:r>
              <a:rPr dirty="0" err="1"/>
              <a:t>โดยที่ตัวอื่นไม่เปลี่ยน</a:t>
            </a:r>
            <a:r>
              <a:rPr dirty="0"/>
              <a:t> </a:t>
            </a:r>
            <a:r>
              <a:rPr dirty="0" err="1"/>
              <a:t>กรณีนี้ต้องแจ้งซ่อมเซนเซอร์</a:t>
            </a:r>
            <a:r>
              <a:rPr dirty="0"/>
              <a:t> </a:t>
            </a:r>
            <a:r>
              <a:rPr dirty="0" err="1"/>
              <a:t>ไม่ใช่ไปสั่งปรับระบบน้ำ</a:t>
            </a:r>
            <a:endParaRPr dirty="0"/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เน้นเสียง</a:t>
            </a:r>
            <a:r>
              <a:rPr dirty="0"/>
              <a:t>] </a:t>
            </a:r>
            <a:r>
              <a:rPr dirty="0" err="1"/>
              <a:t>ถ้าใช้วิธีดั้งเดิมที่ตรวจทีละเซนเซอร์เดี่ยวๆ</a:t>
            </a:r>
            <a:r>
              <a:rPr dirty="0"/>
              <a:t> </a:t>
            </a:r>
            <a:r>
              <a:rPr dirty="0" err="1"/>
              <a:t>จะแยก</a:t>
            </a:r>
            <a:r>
              <a:rPr dirty="0"/>
              <a:t> EA </a:t>
            </a:r>
            <a:r>
              <a:rPr dirty="0" err="1"/>
              <a:t>กับ</a:t>
            </a:r>
            <a:r>
              <a:rPr dirty="0"/>
              <a:t> SDA </a:t>
            </a:r>
            <a:r>
              <a:rPr dirty="0" err="1"/>
              <a:t>ไม่ออกเลย</a:t>
            </a:r>
            <a:r>
              <a:rPr dirty="0"/>
              <a:t> </a:t>
            </a:r>
            <a:r>
              <a:rPr dirty="0" err="1"/>
              <a:t>และนำไปสู่ปัญหาการเตือนภัยลวงซ้ำซาก</a:t>
            </a:r>
            <a:r>
              <a:rPr dirty="0"/>
              <a:t> </a:t>
            </a:r>
            <a:r>
              <a:rPr dirty="0" err="1"/>
              <a:t>หรือ</a:t>
            </a:r>
            <a:r>
              <a:rPr dirty="0"/>
              <a:t> Alarm Fatigue </a:t>
            </a:r>
            <a:r>
              <a:rPr dirty="0" err="1"/>
              <a:t>ครับ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[1:30 - 2:45 · สถาปัตยกรรม 3 ระดับ และขั้นตอนการทำงาน 4 ขั้น]</a:t>
            </a:r>
          </a:p>
          <a:p>
            <a:r>
              <a:t>สถาปัตยกรรมของระบบแบ่งออกเป็น 3 ระดับครับ: Edge Tier ส่งข้อมูลดิบผ่านคลื่นวิทยุ IEEE 802.15.4, Fog Tier ใช้คอมพิวเตอร์เกตเวย์ Intel Core i5 สกัดฟีเจอร์และตัดสินใจแบบเรียลไทม์ในพื้นที่, และ Cloud Tier เอาไว้เก็บสถิติและเทรนโมเดลใหม่ระยะยาวครับ [สูดหายใจ]</a:t>
            </a:r>
          </a:p>
          <a:p/>
          <a:p>
            <a:r>
              <a:t>กระบวนการทำงานมี 4 ขั้นตอนหลัก:</a:t>
            </a:r>
          </a:p>
          <a:p>
            <a:r>
              <a:t>1. Context Generation: ตัดปัญหาเซนเซอร์คนละหน่วยวัด โดยดูแนวโน้มขึ้นลงเทียบกับค่าเฉลี่ยเคลื่อนที่ แล้วแปลงเป็น Binary Fingerprint บิต 0 กับ 1</a:t>
            </a:r>
          </a:p>
          <a:p>
            <a:r>
              <a:t>2. Sensor Association: นำ Fingerprint มาคำนวณ Hamming Distance ตาม Algorithm 1 เพื่อจัดกลุ่มเซนเซอร์ที่เปลี่ยนสอดคล้องกันเข้าคลัสเตอร์เดียวกัน โดยต้องมีตั้งแต่ 3 ตัวขึ้นไปเพื่อใช้โหวต</a:t>
            </a:r>
          </a:p>
          <a:p>
            <a:r>
              <a:t>3. Predictive Model: แต่ละกลุ่มจะใช้โมเดล LSTM พยากรณ์ค่าสัญญาณล่วงหน้า แล้วนำ Reconstruction Error มาคำนวณการแจกแจงเกาส์เซียนหลายตัวแปร เพื่อดูว่าค่าที่อ่านได้ยังอยู่ในเกณฑ์ปกติหรือไม่</a:t>
            </a:r>
          </a:p>
          <a:p>
            <a:r>
              <a:t>4. Consensus Algorithm และ Adaptive Retrain: ถ้าค่าหลุดเกณฑ์อัลฟ่า จะใช้อัลกอริทึมฉันทามติโหวตเสียงส่วนใหญ่ ถ้าผิดปกติพร้อมกันทั้งกลุ่มคือ EA ถ้าผิดปกติแค่ตัวเดียวคือ SDA พร้อมระบุโหนดที่เสีย และมีระบบ Adaptive ช่วยอัปเดตโมเดลเมื่อสภาพแวดล้อมเปลี่ยนครับ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[2:45 - 3:45 · สภาพแวดล้อมการทดสอบจริงและการสังเคราะห์ข้อมูล]</a:t>
            </a:r>
          </a:p>
          <a:p>
            <a:r>
              <a:t>ผู้เขียนทดสอบระบบบนอาคารจริง 4 ชั้นที่มหาวิทยาลัย UC Irvine โดยติดตั้งเซนเซอร์ฮาร์ดแวร์จริง 62 โหนด ครอบคลุม 13 ตัวแปร เช่น อุณหภูมิ แสง เสียง คาร์บอนไดออกไซด์ และการเคลื่อนไหว ส่งข้อมูลผ่าน TinyOS และคลื่น IEEE 802.15.4 มาประมวลผลที่โหนด Fog ประจำพื้นที่ครับ [สูดหายใจ]</a:t>
            </a:r>
          </a:p>
          <a:p>
            <a:endParaRPr/>
          </a:p>
          <a:p>
            <a:r>
              <a:t>ในส่วนของชุดข้อมูล ข้อมูลสภาวะปกติเก็บต่อเนื่อง 8 วัน ได้ 2.3 ล้านตัวอย่าง ส่วนข้อมูลความผิดปกติจำเป็นต้องใช้ข้อมูลสังเคราะห์ทางคณิตศาสตร์ เช่น จำลองเพลิงไหม้ และการฉีด Noise เข้าไปในสัญญาณ [เน้นเสียง] เหตุผลก็เพราะในอาคารจริงที่มีคนใช้งาน เราไม่สามารถจุดไฟเผาอาคารหรือจงใจทำลายอุปกรณ์เพื่อเก็บข้อมูลความเสียหายได้ครับ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[3:45 - 4:45 · ผลการทดลองเชิงปริมาณและข้อพิจารณาทางวิศวกรรม]</a:t>
            </a:r>
          </a:p>
          <a:p>
            <a:r>
              <a:t>ผลการทดลองตาม Table 2 จุดเด่นคือ IoT-CAD ทำค่า Precision ได้สูงถึง 92.0% โดยมี F1-Score อยู่ที่ 70.0% เหนือกว่า One-Class SVM ที่ได้ Recall แค่ 25.0% และ ConvLSTM ที่ Precision ตกเหลือ 51.2% ครับ [สูดหายใจ]</a:t>
            </a:r>
          </a:p>
          <a:p>
            <a:endParaRPr/>
          </a:p>
          <a:p>
            <a:r>
              <a:t>สาเหตุที่ Precision สูงถึง 92% เพราะผู้เขียนตั้งใจปรับเกณฑ์อัลฟ่าให้เข้มงวดเพื่อกำจัด False Alarm ไม่ให้เกิดการเตือนลวง แต่สิ่งที่ต้องแลกมาคือ Recall จะอยู่ที่ 56.0% หมายความว่ายังมี Anomaly บางส่วนที่หลุดรอดไปประมาณ 44%</a:t>
            </a:r>
          </a:p>
          <a:p>
            <a:endParaRPr/>
          </a:p>
          <a:p>
            <a:r>
              <a:t>ส่วนเรื่องความเร็วในการประมวลผลตาม Table 3 ขณะทำงานจริงบนโหนด Fog ระบบใช้เวลาตรวจจับเพียง 0.532 วินาทีต่อรอบ ซึ่งเร็วกว่ารอบการเก็บข้อมูลของเซนเซอร์ จึงทำงานแบบเรียลไทม์ในพื้นที่ได้จริงโดยไม่ต้องส่งข้อมูลขึ้นคลาวด์ตลอดเวลาครับ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[4:45 - 5:35 · คุณูปการและการมีส่วนร่วมทางวิชาการ]</a:t>
            </a:r>
          </a:p>
          <a:p>
            <a:r>
              <a:t>คุณูปการหลักของงานวิจัยนี้มี 3 ข้อครับ [สูดหายใจ]</a:t>
            </a:r>
          </a:p>
          <a:p>
            <a:endParaRPr/>
          </a:p>
          <a:p>
            <a:r>
              <a:t>ข้อแรก Cross-Modal Sensor Association ใช้ Binary Fingerprint ช่วยจับกลุ่มเซนเซอร์ต่างชนิดและต่างหน่วยวัดได้อัตโนมัติ โดยไม่ต้องให้ผู้เชี่ยวชาญมาเขียนสูตรฟิสิกส์เอง</a:t>
            </a:r>
          </a:p>
          <a:p>
            <a:r>
              <a:t>ข้อสอง Consensus-Based Disambiguation ก้าวข้ามการบอกแค่ว่าข้อมูลผิดปกติหรือไม่ ไปสู่การใช้เสียงส่วนใหญ่แยกแยะระหว่างสภาพแวดล้อม EA กับเซนเซอร์เสีย SDA ได้อย่างแม่นยำ</a:t>
            </a:r>
          </a:p>
          <a:p>
            <a:r>
              <a:t>และข้อสาม Adaptive Model Updating ออกแบบให้อัปเดตโมเดลบน Fog ได้ ช่วยรองรับเซนเซอร์ที่ค่าเริ่มเบี่ยงเบนตามอายุ และ Complete Retrain เมื่อมีการเพิ่มลดเซนเซอร์ในระบบครับ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[5:35 - 6:25 · ข้อจำกัดที่ระบุในบทความและบทสรุปภาพรวม]</a:t>
            </a:r>
          </a:p>
          <a:p>
            <a:r>
              <a:t>ข้อจำกัดสำคัญของงานนี้คือ อัตรา Recall 56.0% ที่ยังมีเหตุการณ์หลุดรอดถึง 44% จึงยังไม่เหมาะจะใช้เป็นระบบหลักในงาน Safety-Critical ที่ต้องปลอดภัยสูงสุด และข้อมูลยังจำกัดอยู่ที่อาคารเดียว 8 วัน รวมถึงถ้าถูกแฮกเซนเซอร์เกินครึ่งกลุ่มพร้อมกัน ระบบโหวตก็อาจถูกหลอกได้ครับ [สูดหายใจ]</a:t>
            </a:r>
          </a:p>
          <a:p>
            <a:endParaRPr/>
          </a:p>
          <a:p>
            <a:r>
              <a:t>อย่างไรก็ตาม เปเปอร์นี้พิสูจน์ให้เห็นว่า การนำบริบทความสัมพันธ์ข้ามเซนเซอร์มาร่วมกับ Fog Computing ช่วยลดการเตือนภัยลวงได้จริงถึง 92% โดยไม่ต้องพึ่งพาคลาวด์ตลอดเวลา เหมาะอย่างยิ่งกับการนำไปใช้เฝ้าระวังในระบบ IoT อุตสาหกรรมครับ</a:t>
            </a:r>
          </a:p>
          <a:p>
            <a:r>
              <a:t>ผมขอจบการสรุปบทความวิจัย IoT-CAD ไว้เท่านี้ครับ ขอบคุณอาจารย์และเพื่อนๆ ทุกคนครับ หากมีข้อสงสัย ยินดีแลกเปลี่ยนความคิดเห็นครับ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188720"/>
            <a:ext cx="10728655" cy="292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900" b="1">
                <a:solidFill>
                  <a:srgbClr val="156082"/>
                </a:solidFill>
                <a:latin typeface="TH Sarabun New"/>
              </a:defRPr>
            </a:pPr>
            <a:r>
              <a:rPr dirty="0" err="1"/>
              <a:t>วิชา</a:t>
            </a:r>
            <a:r>
              <a:rPr dirty="0"/>
              <a:t> 305432 </a:t>
            </a:r>
            <a:r>
              <a:rPr dirty="0" err="1"/>
              <a:t>เครือข่ายเซนเซอร์</a:t>
            </a:r>
            <a:r>
              <a:rPr dirty="0"/>
              <a:t> (Sensor Networks)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83080"/>
            <a:ext cx="10362895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2900" b="1">
                <a:solidFill>
                  <a:srgbClr val="0E2841"/>
                </a:solidFill>
                <a:latin typeface="Segoe UI"/>
              </a:defRPr>
            </a:pPr>
            <a:r>
              <a:t>IoT-CAD: Context-Aware Adaptive Anomaly Detection</a:t>
            </a:r>
            <a:br/>
            <a:r>
              <a:t>in IoT Systems Through Sensor Association</a:t>
            </a:r>
          </a:p>
          <a:p>
            <a:pPr algn="ctr">
              <a:spcBef>
                <a:spcPts val="800"/>
              </a:spcBef>
              <a:defRPr sz="2100" b="1">
                <a:solidFill>
                  <a:srgbClr val="156082"/>
                </a:solidFill>
                <a:latin typeface="TH Sarabun New"/>
              </a:defRPr>
            </a:pPr>
            <a:r>
              <a:t>การตรวจจับสิ่งผิดปกติแบบรู้บริบทและปรับตัวได้ในระบบ IoT ผ่านการเชื่อมโยงความสัมพันธ์เซนเซอร์</a:t>
            </a:r>
          </a:p>
        </p:txBody>
      </p:sp>
      <p:sp>
        <p:nvSpPr>
          <p:cNvPr id="4" name="Rectangle 3"/>
          <p:cNvSpPr/>
          <p:nvPr/>
        </p:nvSpPr>
        <p:spPr>
          <a:xfrm>
            <a:off x="4495190" y="3749039"/>
            <a:ext cx="3200400" cy="36576"/>
          </a:xfrm>
          <a:prstGeom prst="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36289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50">
                <a:solidFill>
                  <a:srgbClr val="64748B"/>
                </a:solidFill>
                <a:latin typeface="TH Sarabun New"/>
              </a:defRPr>
            </a:pPr>
            <a:r>
              <a:t>2020 IEEE/ACM International Conference on Computer-Aided Design (ICCAD)</a:t>
            </a:r>
            <a:br/>
            <a:r>
              <a:t>คณะผู้วิจัย: Rozhin Yasaei, Felix Hernandez, Mohammad Abdullah Al Faruque (UC Irvine)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92040"/>
            <a:ext cx="10362895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 b="1">
                <a:solidFill>
                  <a:srgbClr val="0E2841"/>
                </a:solidFill>
                <a:latin typeface="TH Sarabun New"/>
              </a:defRPr>
            </a:pPr>
            <a:r>
              <a:rPr dirty="0" err="1"/>
              <a:t>นายธีรภัทร</a:t>
            </a:r>
            <a:r>
              <a:rPr dirty="0"/>
              <a:t> </a:t>
            </a:r>
            <a:r>
              <a:rPr dirty="0" err="1"/>
              <a:t>ภู่ระย้า</a:t>
            </a:r>
            <a:r>
              <a:rPr dirty="0"/>
              <a:t> </a:t>
            </a:r>
            <a:r>
              <a:rPr lang="th-TH" dirty="0"/>
              <a:t>ลำดับที่ </a:t>
            </a:r>
            <a:r>
              <a:rPr lang="en-US" dirty="0"/>
              <a:t>10 </a:t>
            </a:r>
          </a:p>
          <a:p>
            <a:pPr algn="ctr">
              <a:defRPr sz="2200" b="1">
                <a:solidFill>
                  <a:srgbClr val="0E2841"/>
                </a:solidFill>
                <a:latin typeface="TH Sarabun New"/>
              </a:defRPr>
            </a:pPr>
            <a:r>
              <a:rPr dirty="0" err="1"/>
              <a:t>รหัสนิสิต</a:t>
            </a:r>
            <a:r>
              <a:rPr dirty="0"/>
              <a:t> 663624</a:t>
            </a:r>
            <a:r>
              <a:rPr lang="en-US" dirty="0"/>
              <a:t>16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2841"/>
          </a:solidFill>
          <a:ln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0"/>
            <a:ext cx="10728655" cy="10241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TH Sarabun New"/>
              </a:defRPr>
            </a:pPr>
            <a:r>
              <a:t>นิยามปัญหา: Environmental Anomaly (EA) เทียบกับ Sensing Device Anomaly (SDA)</a:t>
            </a:r>
          </a:p>
        </p:txBody>
      </p:sp>
      <p:pic>
        <p:nvPicPr>
          <p:cNvPr id="5" name="Picture 4" descr="figure2_ea_s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0160"/>
            <a:ext cx="10728655" cy="2240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3794760"/>
            <a:ext cx="5212080" cy="22402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5212080" cy="2240280"/>
          </a:xfrm>
          <a:prstGeom prst="rect">
            <a:avLst/>
          </a:prstGeom>
          <a:noFill/>
        </p:spPr>
        <p:txBody>
          <a:bodyPr wrap="square" lIns="228600" tIns="137160" rIns="228600" bIns="137160" anchor="ctr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66534"/>
                </a:solidFill>
                <a:latin typeface="TH Sarabun New"/>
              </a:defRPr>
            </a:pPr>
            <a:r>
              <a:t>1. Environmental Anomaly (EA)</a:t>
            </a:r>
          </a:p>
          <a:p>
            <a:pPr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TH Sarabun New"/>
              </a:rPr>
              <a:t>• นิยาม: </a:t>
            </a:r>
            <a:r>
              <a:rPr sz="1450">
                <a:solidFill>
                  <a:srgbClr val="0F172A"/>
                </a:solidFill>
                <a:latin typeface="TH Sarabun New"/>
              </a:rPr>
              <a:t>เกิดการเปลี่ยนแปลงทางกายภาพจริงในสภาวะแวดล้อม (เช่น เกิดเพลิงไหม้ หรือสารเคมีรั่วไหล)</a:t>
            </a:r>
          </a:p>
          <a:p>
            <a:pPr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TH Sarabun New"/>
              </a:rPr>
              <a:t>• พฤติกรรมสัญญาณ: </a:t>
            </a:r>
            <a:r>
              <a:rPr sz="1450">
                <a:solidFill>
                  <a:srgbClr val="0F172A"/>
                </a:solidFill>
                <a:latin typeface="TH Sarabun New"/>
              </a:rPr>
              <a:t>เซนเซอร์หลายชนิดที่เกี่ยวข้องจะเปลี่ยนแปลงไปในทิศทางสอดคล้องกัน (Correlated Signals)</a:t>
            </a:r>
          </a:p>
          <a:p>
            <a:pPr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TH Sarabun New"/>
              </a:rPr>
              <a:t>• การดำเนินการ: </a:t>
            </a:r>
            <a:r>
              <a:rPr sz="1450">
                <a:solidFill>
                  <a:srgbClr val="0F172A"/>
                </a:solidFill>
                <a:latin typeface="TH Sarabun New"/>
              </a:rPr>
              <a:t>ระบบต้องสั่งการมาตรการความปลอดภัย ไม่สรุปว่าเซนเซอร์ชำรุดหรือตัดสัญญาณทิ้ง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3794760"/>
            <a:ext cx="5212080" cy="22402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48095" y="3794760"/>
            <a:ext cx="5212080" cy="2240280"/>
          </a:xfrm>
          <a:prstGeom prst="rect">
            <a:avLst/>
          </a:prstGeom>
          <a:noFill/>
        </p:spPr>
        <p:txBody>
          <a:bodyPr wrap="square" lIns="228600" tIns="137160" rIns="228600" bIns="137160" anchor="ctr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991B1B"/>
                </a:solidFill>
                <a:latin typeface="TH Sarabun New"/>
              </a:defRPr>
            </a:pPr>
            <a:r>
              <a:t>2. Sensing Device Anomaly (SDA)</a:t>
            </a:r>
          </a:p>
          <a:p>
            <a:pPr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TH Sarabun New"/>
              </a:rPr>
              <a:t>• นิยาม: </a:t>
            </a:r>
            <a:r>
              <a:rPr sz="1450">
                <a:solidFill>
                  <a:srgbClr val="0F172A"/>
                </a:solidFill>
                <a:latin typeface="TH Sarabun New"/>
              </a:rPr>
              <a:t>ตัวอุปกรณ์ตรวจวัดชำรุด เสื่อมสภาพ หรือสัญญาณถูกโจมตีทางไซเบอร์ (Sensor Data Tampering)</a:t>
            </a:r>
          </a:p>
          <a:p>
            <a:pPr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TH Sarabun New"/>
              </a:rPr>
              <a:t>• พฤติกรรมสัญญาณ: </a:t>
            </a:r>
            <a:r>
              <a:rPr sz="1450">
                <a:solidFill>
                  <a:srgbClr val="0F172A"/>
                </a:solidFill>
                <a:latin typeface="TH Sarabun New"/>
              </a:rPr>
              <a:t>สัญญาณของเซนเซอร์ตัวที่มีปัญหาจะมีค่าขัดแย้งกับสมาชิกในกลุ่มบริบทเดียวกัน (Uncorrelated)</a:t>
            </a:r>
          </a:p>
          <a:p>
            <a:pPr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TH Sarabun New"/>
              </a:rPr>
              <a:t>• การดำเนินการ: </a:t>
            </a:r>
            <a:r>
              <a:rPr sz="1450">
                <a:solidFill>
                  <a:srgbClr val="0F172A"/>
                </a:solidFill>
                <a:latin typeface="TH Sarabun New"/>
              </a:rPr>
              <a:t>ระบบสามารถระบุชี้เป้าเซนเซอร์ที่มีปัญหาได้อย่างเจาะจงเพื่อแจ้งทีมซ่อมบำรุงอุปกรณ์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6364224"/>
            <a:ext cx="9601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TH Sarabun New"/>
              </a:defRPr>
            </a:pPr>
            <a:r>
              <a:t>เอกสารอ้างอิง: Yasaei et al., ICCAD 2020 (IEEE Xplore: 9256703, DOI: 10.1145/3400302.3415672)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364224"/>
            <a:ext cx="94457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Segoe U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2841"/>
          </a:solidFill>
          <a:ln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0"/>
            <a:ext cx="10728655" cy="10241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TH Sarabun New"/>
              </a:defRPr>
            </a:pPr>
            <a:r>
              <a:t>สถาปัตยกรรมระบบ 3 ระดับ และกระบวนการทำงาน 4 ขั้นตอน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4754880" cy="141732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4754880" cy="1417320"/>
          </a:xfrm>
          <a:prstGeom prst="rect">
            <a:avLst/>
          </a:prstGeom>
          <a:noFill/>
        </p:spPr>
        <p:txBody>
          <a:bodyPr wrap="square" lIns="228600" tIns="109728" rIns="228600" bIns="109728" anchor="ctr">
            <a:spAutoFit/>
          </a:bodyPr>
          <a:lstStyle/>
          <a:p>
            <a:pPr>
              <a:spcAft>
                <a:spcPts val="400"/>
              </a:spcAft>
              <a:defRPr sz="1750" b="1">
                <a:solidFill>
                  <a:srgbClr val="0E2841"/>
                </a:solidFill>
                <a:latin typeface="TH Sarabun New"/>
              </a:defRPr>
            </a:pPr>
            <a:r>
              <a:rPr dirty="0"/>
              <a:t>1. Edge Tier: </a:t>
            </a:r>
            <a:r>
              <a:rPr dirty="0" err="1"/>
              <a:t>โหนดตรวจวัดทางกายภาพ</a:t>
            </a:r>
            <a:endParaRPr dirty="0"/>
          </a:p>
          <a:p>
            <a:pPr>
              <a:spcAft>
                <a:spcPts val="200"/>
              </a:spcAft>
            </a:pPr>
            <a:r>
              <a:rPr sz="1400" b="1" dirty="0">
                <a:solidFill>
                  <a:srgbClr val="0F172A"/>
                </a:solidFill>
                <a:latin typeface="TH Sarabun New"/>
              </a:rPr>
              <a:t>• </a:t>
            </a:r>
            <a:r>
              <a:rPr sz="1400" b="1" dirty="0" err="1">
                <a:solidFill>
                  <a:srgbClr val="0F172A"/>
                </a:solidFill>
                <a:latin typeface="TH Sarabun New"/>
              </a:rPr>
              <a:t>หน้าที่</a:t>
            </a:r>
            <a:r>
              <a:rPr sz="1400" b="1" dirty="0">
                <a:solidFill>
                  <a:srgbClr val="0F172A"/>
                </a:solidFill>
                <a:latin typeface="TH Sarabun New"/>
              </a:rPr>
              <a:t>: </a:t>
            </a:r>
            <a:r>
              <a:rPr sz="1400" dirty="0" err="1">
                <a:solidFill>
                  <a:srgbClr val="0F172A"/>
                </a:solidFill>
                <a:latin typeface="TH Sarabun New"/>
              </a:rPr>
              <a:t>รวบรวมข้อมูลดิบ</a:t>
            </a:r>
            <a:r>
              <a:rPr sz="1400" dirty="0">
                <a:solidFill>
                  <a:srgbClr val="0F172A"/>
                </a:solidFill>
                <a:latin typeface="TH Sarabun New"/>
              </a:rPr>
              <a:t> (Raw Data) </a:t>
            </a:r>
            <a:r>
              <a:rPr sz="1400" dirty="0" err="1">
                <a:solidFill>
                  <a:srgbClr val="0F172A"/>
                </a:solidFill>
                <a:latin typeface="TH Sarabun New"/>
              </a:rPr>
              <a:t>จากเซนเซอร์กายภาพในพื้นที่</a:t>
            </a:r>
            <a:endParaRPr sz="1400" dirty="0">
              <a:solidFill>
                <a:srgbClr val="0F172A"/>
              </a:solidFill>
              <a:latin typeface="TH Sarabun New"/>
            </a:endParaRPr>
          </a:p>
          <a:p>
            <a:pPr>
              <a:spcAft>
                <a:spcPts val="200"/>
              </a:spcAft>
            </a:pPr>
            <a:r>
              <a:rPr sz="1400" b="1" dirty="0">
                <a:solidFill>
                  <a:srgbClr val="0F172A"/>
                </a:solidFill>
                <a:latin typeface="TH Sarabun New"/>
              </a:rPr>
              <a:t>• </a:t>
            </a:r>
            <a:r>
              <a:rPr sz="1400" b="1" dirty="0" err="1">
                <a:solidFill>
                  <a:srgbClr val="0F172A"/>
                </a:solidFill>
                <a:latin typeface="TH Sarabun New"/>
              </a:rPr>
              <a:t>การสื่อสาร</a:t>
            </a:r>
            <a:r>
              <a:rPr sz="1400" b="1" dirty="0">
                <a:solidFill>
                  <a:srgbClr val="0F172A"/>
                </a:solidFill>
                <a:latin typeface="TH Sarabun New"/>
              </a:rPr>
              <a:t>: </a:t>
            </a:r>
            <a:r>
              <a:rPr sz="1400" dirty="0" err="1">
                <a:solidFill>
                  <a:srgbClr val="0F172A"/>
                </a:solidFill>
                <a:latin typeface="TH Sarabun New"/>
              </a:rPr>
              <a:t>ส่งข้อมูลผ่านโปรโตคอลไร้สายกำลังต่ำ</a:t>
            </a:r>
            <a:r>
              <a:rPr sz="1400" dirty="0">
                <a:solidFill>
                  <a:srgbClr val="0F172A"/>
                </a:solidFill>
                <a:latin typeface="TH Sarabun New"/>
              </a:rPr>
              <a:t> IEEE 802.15.4 </a:t>
            </a:r>
            <a:r>
              <a:rPr sz="1400" dirty="0" err="1">
                <a:solidFill>
                  <a:srgbClr val="0F172A"/>
                </a:solidFill>
                <a:latin typeface="TH Sarabun New"/>
              </a:rPr>
              <a:t>สู่เกตเวย์</a:t>
            </a:r>
            <a:endParaRPr sz="1400" dirty="0">
              <a:solidFill>
                <a:srgbClr val="0F172A"/>
              </a:solidFill>
              <a:latin typeface="TH Sarabun New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2971800"/>
            <a:ext cx="4754880" cy="141732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4754880" cy="1417320"/>
          </a:xfrm>
          <a:prstGeom prst="rect">
            <a:avLst/>
          </a:prstGeom>
          <a:noFill/>
        </p:spPr>
        <p:txBody>
          <a:bodyPr wrap="square" lIns="228600" tIns="109728" rIns="228600" bIns="109728" anchor="ctr">
            <a:spAutoFit/>
          </a:bodyPr>
          <a:lstStyle/>
          <a:p>
            <a:pPr>
              <a:spcAft>
                <a:spcPts val="400"/>
              </a:spcAft>
              <a:defRPr sz="1750" b="1">
                <a:solidFill>
                  <a:srgbClr val="156082"/>
                </a:solidFill>
                <a:latin typeface="TH Sarabun New"/>
              </a:defRPr>
            </a:pPr>
            <a:r>
              <a:t>2. Fog Tier: เกตเวย์และประมวลผลพื้นที่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TH Sarabun New"/>
              </a:rPr>
              <a:t>• จุดประมวลผลหลัก: </a:t>
            </a:r>
            <a:r>
              <a:rPr sz="1400">
                <a:solidFill>
                  <a:srgbClr val="0F172A"/>
                </a:solidFill>
                <a:latin typeface="TH Sarabun New"/>
              </a:rPr>
              <a:t>สกัด Fingerprint, ทำนายด้วยแบบจำลอง LSTM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TH Sarabun New"/>
              </a:rPr>
              <a:t>• การตัดสินใจ: </a:t>
            </a:r>
            <a:r>
              <a:rPr sz="1400">
                <a:solidFill>
                  <a:srgbClr val="0F172A"/>
                </a:solidFill>
                <a:latin typeface="TH Sarabun New"/>
              </a:rPr>
              <a:t>จำแนก Anomaly และโหวตฉันทามติแบบ Real-time หน้างาน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17720"/>
            <a:ext cx="4754880" cy="141732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4617720"/>
            <a:ext cx="4754880" cy="1417320"/>
          </a:xfrm>
          <a:prstGeom prst="rect">
            <a:avLst/>
          </a:prstGeom>
          <a:noFill/>
        </p:spPr>
        <p:txBody>
          <a:bodyPr wrap="square" lIns="228600" tIns="109728" rIns="228600" bIns="109728" anchor="ctr">
            <a:spAutoFit/>
          </a:bodyPr>
          <a:lstStyle/>
          <a:p>
            <a:pPr>
              <a:spcAft>
                <a:spcPts val="400"/>
              </a:spcAft>
              <a:defRPr sz="1750" b="1">
                <a:solidFill>
                  <a:srgbClr val="0E2841"/>
                </a:solidFill>
                <a:latin typeface="TH Sarabun New"/>
              </a:defRPr>
            </a:pPr>
            <a:r>
              <a:t>3. Cloud Tier: ระบบคลาวด์ส่วนกลาง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TH Sarabun New"/>
              </a:rPr>
              <a:t>• ฐานข้อมูลประวัติ: </a:t>
            </a:r>
            <a:r>
              <a:rPr sz="1400">
                <a:solidFill>
                  <a:srgbClr val="0F172A"/>
                </a:solidFill>
                <a:latin typeface="TH Sarabun New"/>
              </a:rPr>
              <a:t>จัดเก็บข้อมูลประวัติย้อนหลังระยะยาวเพื่อการวิเคราะห์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TH Sarabun New"/>
              </a:rPr>
              <a:t>• การฝึกสอนใหญ่: </a:t>
            </a:r>
            <a:r>
              <a:rPr sz="1400">
                <a:solidFill>
                  <a:srgbClr val="0F172A"/>
                </a:solidFill>
                <a:latin typeface="TH Sarabun New"/>
              </a:rPr>
              <a:t>ดำเนินการ Complete Retraining เมื่อมีการเปลี่ยนโครงสร้างระบบ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325880"/>
            <a:ext cx="5699455" cy="106070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60720" y="1325880"/>
            <a:ext cx="5699455" cy="1060704"/>
          </a:xfrm>
          <a:prstGeom prst="rect">
            <a:avLst/>
          </a:prstGeom>
          <a:noFill/>
        </p:spPr>
        <p:txBody>
          <a:bodyPr wrap="square" lIns="228600" tIns="91440" rIns="228600" bIns="91440" anchor="ctr">
            <a:spAutoFit/>
          </a:bodyPr>
          <a:lstStyle/>
          <a:p>
            <a:pPr>
              <a:spcAft>
                <a:spcPts val="200"/>
              </a:spcAft>
              <a:defRPr sz="1650" b="1">
                <a:solidFill>
                  <a:srgbClr val="0E2841"/>
                </a:solidFill>
                <a:latin typeface="TH Sarabun New"/>
              </a:defRPr>
            </a:pPr>
            <a:r>
              <a:t>ขั้นที่ 1: Binary Fingerprint (สมการที่ 1)</a:t>
            </a:r>
          </a:p>
          <a:p>
            <a:pPr>
              <a:defRPr sz="1350">
                <a:solidFill>
                  <a:srgbClr val="0F172A"/>
                </a:solidFill>
                <a:latin typeface="TH Sarabun New"/>
              </a:defRPr>
            </a:pPr>
            <a:r>
              <a:t>แปลงทิศทางความเปลี่ยนแปลงสัมพัทธ์ในหน้าต่างเวลาเป็นบิต 0 และ 1 เพื่อตัดปัญหากำแพงหน่วยวัดทางกายภาพที่ต่างกัน (เช่น องศาเซลเซียส กับ ลักซ์)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2542032"/>
            <a:ext cx="5699455" cy="106070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60720" y="2542032"/>
            <a:ext cx="5699455" cy="1060704"/>
          </a:xfrm>
          <a:prstGeom prst="rect">
            <a:avLst/>
          </a:prstGeom>
          <a:noFill/>
        </p:spPr>
        <p:txBody>
          <a:bodyPr wrap="square" lIns="228600" tIns="91440" rIns="228600" bIns="91440" anchor="ctr">
            <a:spAutoFit/>
          </a:bodyPr>
          <a:lstStyle/>
          <a:p>
            <a:pPr>
              <a:spcAft>
                <a:spcPts val="200"/>
              </a:spcAft>
              <a:defRPr sz="1650" b="1">
                <a:solidFill>
                  <a:srgbClr val="156082"/>
                </a:solidFill>
                <a:latin typeface="TH Sarabun New"/>
              </a:defRPr>
            </a:pPr>
            <a:r>
              <a:t>ขั้นที่ 2: Sensor Association (Hamming Clustering)</a:t>
            </a:r>
          </a:p>
          <a:p>
            <a:pPr>
              <a:defRPr sz="1350">
                <a:solidFill>
                  <a:srgbClr val="0F172A"/>
                </a:solidFill>
                <a:latin typeface="TH Sarabun New"/>
              </a:defRPr>
            </a:pPr>
            <a:r>
              <a:t>วัดความคล้ายคลึงด้วย Hamming Distance และจัดกลุ่มด้วย Clustering 2 ระดับ โดยคลัสเตอร์ต้องมีสมาชิกตั้งแต่ 3 ตัวขึ้นไปเพื่อรองรับฉันทามติ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3758184"/>
            <a:ext cx="5699455" cy="106070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60720" y="3758184"/>
            <a:ext cx="5699455" cy="1060704"/>
          </a:xfrm>
          <a:prstGeom prst="rect">
            <a:avLst/>
          </a:prstGeom>
          <a:noFill/>
        </p:spPr>
        <p:txBody>
          <a:bodyPr wrap="square" lIns="228600" tIns="91440" rIns="228600" bIns="91440" anchor="ctr">
            <a:spAutoFit/>
          </a:bodyPr>
          <a:lstStyle/>
          <a:p>
            <a:pPr>
              <a:spcAft>
                <a:spcPts val="200"/>
              </a:spcAft>
              <a:defRPr sz="1650" b="1">
                <a:solidFill>
                  <a:srgbClr val="0E2841"/>
                </a:solidFill>
                <a:latin typeface="TH Sarabun New"/>
              </a:defRPr>
            </a:pPr>
            <a:r>
              <a:t>ขั้นที่ 3: Predictive Model (LSTM + Gaussian)</a:t>
            </a:r>
          </a:p>
          <a:p>
            <a:pPr>
              <a:defRPr sz="1350">
                <a:solidFill>
                  <a:srgbClr val="0F172A"/>
                </a:solidFill>
                <a:latin typeface="TH Sarabun New"/>
              </a:defRPr>
            </a:pPr>
            <a:r>
              <a:t>แต่ละคลัสเตอร์ใช้ LSTM Encoder-Decoder เรียนรู้พฤติกรรมปกติ และประเมินเวกเตอร์ Reconstruction Error ด้วย Multivariate Gaussian Distribution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4974336"/>
            <a:ext cx="5699455" cy="106070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720" y="4974336"/>
            <a:ext cx="5699455" cy="1060704"/>
          </a:xfrm>
          <a:prstGeom prst="rect">
            <a:avLst/>
          </a:prstGeom>
          <a:noFill/>
        </p:spPr>
        <p:txBody>
          <a:bodyPr wrap="square" lIns="228600" tIns="91440" rIns="228600" bIns="91440" anchor="ctr">
            <a:spAutoFit/>
          </a:bodyPr>
          <a:lstStyle/>
          <a:p>
            <a:pPr>
              <a:spcAft>
                <a:spcPts val="200"/>
              </a:spcAft>
              <a:defRPr sz="1650" b="1">
                <a:solidFill>
                  <a:srgbClr val="B45309"/>
                </a:solidFill>
                <a:latin typeface="TH Sarabun New"/>
              </a:defRPr>
            </a:pPr>
            <a:r>
              <a:t>ขั้นที่ 4: Consensus Algorithm &amp; Adaptive Retrain</a:t>
            </a:r>
          </a:p>
          <a:p>
            <a:pPr>
              <a:defRPr sz="1350">
                <a:solidFill>
                  <a:srgbClr val="0F172A"/>
                </a:solidFill>
                <a:latin typeface="TH Sarabun New"/>
              </a:defRPr>
            </a:pPr>
            <a:r>
              <a:t>ใช้เสียงส่วนใหญ่ในคลัสเตอร์จำแนก EA vs SDA พร้อมระบุโหนดเสีย และ Retrain แบบ Adaptive เมื่อเกิดการเปลี่ยนแปลงในระบบ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6364224"/>
            <a:ext cx="9601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TH Sarabun New"/>
              </a:defRPr>
            </a:pPr>
            <a:r>
              <a:t>เอกสารอ้างอิง: Yasaei et al., ICCAD 2020 (IEEE Xplore: 9256703, DOI: 10.1145/3400302.3415672)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364224"/>
            <a:ext cx="94457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Segoe U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2841"/>
          </a:solidFill>
          <a:ln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0"/>
            <a:ext cx="10728655" cy="10241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TH Sarabun New"/>
              </a:defRPr>
            </a:pPr>
            <a:r>
              <a:t>สภาพแวดล้อมการทดสอบจริง (Hardware Testbed &amp; Experimental Scope)</a:t>
            </a:r>
          </a:p>
        </p:txBody>
      </p:sp>
      <p:pic>
        <p:nvPicPr>
          <p:cNvPr id="5" name="Picture 4" descr="figure8_testb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25880"/>
            <a:ext cx="4937760" cy="4709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0" y="1325880"/>
            <a:ext cx="2681935" cy="12344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0" y="1325880"/>
            <a:ext cx="2681935" cy="1234440"/>
          </a:xfrm>
          <a:prstGeom prst="rect">
            <a:avLst/>
          </a:prstGeom>
          <a:noFill/>
        </p:spPr>
        <p:txBody>
          <a:bodyPr wrap="square" lIns="137160" tIns="91440" rIns="137160" bIns="91440" anchor="ctr">
            <a:spAutoFit/>
          </a:bodyPr>
          <a:lstStyle/>
          <a:p>
            <a:pPr algn="ctr">
              <a:defRPr sz="2800" b="1">
                <a:solidFill>
                  <a:srgbClr val="0E2841"/>
                </a:solidFill>
                <a:latin typeface="TH Sarabun New"/>
              </a:defRPr>
            </a:pPr>
            <a:r>
              <a:rPr dirty="0"/>
              <a:t>62 </a:t>
            </a:r>
            <a:r>
              <a:rPr dirty="0" err="1"/>
              <a:t>โหนด</a:t>
            </a:r>
            <a:endParaRPr dirty="0"/>
          </a:p>
          <a:p>
            <a:pPr algn="ctr">
              <a:defRPr sz="1600">
                <a:solidFill>
                  <a:srgbClr val="64748B"/>
                </a:solidFill>
                <a:latin typeface="TH Sarabun New"/>
              </a:defRPr>
            </a:pPr>
            <a:r>
              <a:rPr dirty="0" err="1"/>
              <a:t>เซนเซอร์ฮาร์ดแวร์จริง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8778240" y="1325880"/>
            <a:ext cx="2681935" cy="12344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0" y="1325880"/>
            <a:ext cx="2681935" cy="1234440"/>
          </a:xfrm>
          <a:prstGeom prst="rect">
            <a:avLst/>
          </a:prstGeom>
          <a:noFill/>
        </p:spPr>
        <p:txBody>
          <a:bodyPr wrap="square" lIns="137160" tIns="91440" rIns="137160" bIns="91440" anchor="ctr">
            <a:spAutoFit/>
          </a:bodyPr>
          <a:lstStyle/>
          <a:p>
            <a:pPr algn="ctr">
              <a:defRPr sz="2800" b="1">
                <a:solidFill>
                  <a:srgbClr val="0E2841"/>
                </a:solidFill>
                <a:latin typeface="TH Sarabun New"/>
              </a:defRPr>
            </a:pPr>
            <a:r>
              <a:t>13 ชนิด</a:t>
            </a:r>
          </a:p>
          <a:p>
            <a:pPr algn="ctr">
              <a:defRPr sz="1600">
                <a:solidFill>
                  <a:srgbClr val="64748B"/>
                </a:solidFill>
                <a:latin typeface="TH Sarabun New"/>
              </a:defRPr>
            </a:pPr>
            <a:r>
              <a:t>ตัวแปรทางกายภาพ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743200"/>
            <a:ext cx="2681935" cy="12344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0" y="2743200"/>
            <a:ext cx="2681935" cy="1234440"/>
          </a:xfrm>
          <a:prstGeom prst="rect">
            <a:avLst/>
          </a:prstGeom>
          <a:noFill/>
        </p:spPr>
        <p:txBody>
          <a:bodyPr wrap="square" lIns="137160" tIns="91440" rIns="137160" bIns="91440" anchor="ctr">
            <a:spAutoFit/>
          </a:bodyPr>
          <a:lstStyle/>
          <a:p>
            <a:pPr algn="ctr">
              <a:defRPr sz="2800" b="1">
                <a:solidFill>
                  <a:srgbClr val="0E2841"/>
                </a:solidFill>
                <a:latin typeface="TH Sarabun New"/>
              </a:defRPr>
            </a:pPr>
            <a:r>
              <a:t>8 วัน</a:t>
            </a:r>
          </a:p>
          <a:p>
            <a:pPr algn="ctr">
              <a:defRPr sz="1600">
                <a:solidFill>
                  <a:srgbClr val="64748B"/>
                </a:solidFill>
                <a:latin typeface="TH Sarabun New"/>
              </a:defRPr>
            </a:pPr>
            <a:r>
              <a:t>บันทึกสภาวะปกติ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2743200"/>
            <a:ext cx="2681935" cy="12344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78240" y="2743200"/>
            <a:ext cx="2681935" cy="1234440"/>
          </a:xfrm>
          <a:prstGeom prst="rect">
            <a:avLst/>
          </a:prstGeom>
          <a:noFill/>
        </p:spPr>
        <p:txBody>
          <a:bodyPr wrap="square" lIns="137160" tIns="91440" rIns="137160" bIns="91440" anchor="ctr">
            <a:spAutoFit/>
          </a:bodyPr>
          <a:lstStyle/>
          <a:p>
            <a:pPr algn="ctr">
              <a:defRPr sz="2800" b="1">
                <a:solidFill>
                  <a:srgbClr val="0E2841"/>
                </a:solidFill>
                <a:latin typeface="TH Sarabun New"/>
              </a:defRPr>
            </a:pPr>
            <a:r>
              <a:t>2.3 ล้าน</a:t>
            </a:r>
          </a:p>
          <a:p>
            <a:pPr algn="ctr">
              <a:defRPr sz="1600">
                <a:solidFill>
                  <a:srgbClr val="64748B"/>
                </a:solidFill>
                <a:latin typeface="TH Sarabun New"/>
              </a:defRPr>
            </a:pPr>
            <a:r>
              <a:t>จุดข้อมูลการวัดทั้งหมด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4160520"/>
            <a:ext cx="5516575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0" y="4160520"/>
            <a:ext cx="5516575" cy="1874519"/>
          </a:xfrm>
          <a:prstGeom prst="rect">
            <a:avLst/>
          </a:prstGeom>
          <a:noFill/>
        </p:spPr>
        <p:txBody>
          <a:bodyPr wrap="square" lIns="228600" tIns="109728" rIns="228600" bIns="109728" anchor="ctr">
            <a:spAutoFit/>
          </a:bodyPr>
          <a:lstStyle/>
          <a:p>
            <a:pPr>
              <a:spcAft>
                <a:spcPts val="400"/>
              </a:spcAft>
              <a:defRPr sz="1750" b="1">
                <a:solidFill>
                  <a:srgbClr val="0E2841"/>
                </a:solidFill>
                <a:latin typeface="TH Sarabun New"/>
              </a:defRPr>
            </a:pPr>
            <a:r>
              <a:t>องค์ประกอบเครือข่ายและข้อกำหนดข้อมูล:</a:t>
            </a:r>
          </a:p>
          <a:p>
            <a:pPr>
              <a:spcAft>
                <a:spcPts val="300"/>
              </a:spcAft>
            </a:pPr>
            <a:r>
              <a:rPr sz="1350" b="1">
                <a:solidFill>
                  <a:srgbClr val="0F172A"/>
                </a:solidFill>
                <a:latin typeface="TH Sarabun New"/>
              </a:rPr>
              <a:t>• การเชื่อมต่อเครือข่าย: </a:t>
            </a:r>
            <a:r>
              <a:rPr sz="1350">
                <a:solidFill>
                  <a:srgbClr val="0F172A"/>
                </a:solidFill>
                <a:latin typeface="TH Sarabun New"/>
              </a:rPr>
              <a:t>โปรโตคอลไร้สาย IEEE 802.15.4 (TinyOS) รวบรวมผ่าน Raspberry Pi Gateway</a:t>
            </a:r>
          </a:p>
          <a:p>
            <a:pPr>
              <a:spcAft>
                <a:spcPts val="300"/>
              </a:spcAft>
            </a:pPr>
            <a:r>
              <a:rPr sz="1350" b="1">
                <a:solidFill>
                  <a:srgbClr val="0F172A"/>
                </a:solidFill>
                <a:latin typeface="TH Sarabun New"/>
              </a:rPr>
              <a:t>• โหนดประมวลผล Fog: </a:t>
            </a:r>
            <a:r>
              <a:rPr sz="1350">
                <a:solidFill>
                  <a:srgbClr val="0F172A"/>
                </a:solidFill>
                <a:latin typeface="TH Sarabun New"/>
              </a:rPr>
              <a:t>แล็ปท็อป Intel Core i5-6300HQ, RAM 8 GB ทำหน้าที่ประมวลผลหน้างาน</a:t>
            </a:r>
          </a:p>
          <a:p>
            <a:pPr>
              <a:spcAft>
                <a:spcPts val="300"/>
              </a:spcAft>
            </a:pPr>
            <a:r>
              <a:rPr sz="1350" b="1">
                <a:solidFill>
                  <a:srgbClr val="0F172A"/>
                </a:solidFill>
                <a:latin typeface="TH Sarabun New"/>
              </a:rPr>
              <a:t>• ข้อกำหนดข้อมูลที่สำคัญ: </a:t>
            </a:r>
            <a:r>
              <a:rPr sz="1350">
                <a:solidFill>
                  <a:srgbClr val="0F172A"/>
                </a:solidFill>
                <a:latin typeface="TH Sarabun New"/>
              </a:rPr>
              <a:t>ข้อมูลปกติเก็บจริง 8 วัน แต่ข้อมูลความผิดปกติเป็นข้อมูลสังเคราะห์ (Synthetic Anomaly) เพื่อความปลอดภัย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6364224"/>
            <a:ext cx="9601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TH Sarabun New"/>
              </a:defRPr>
            </a:pPr>
            <a:r>
              <a:t>เอกสารอ้างอิง: Yasaei et al., ICCAD 2020 (IEEE Xplore: 9256703, DOI: 10.1145/3400302.3415672)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364224"/>
            <a:ext cx="94457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Segoe U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2841"/>
          </a:solidFill>
          <a:ln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0"/>
            <a:ext cx="10728655" cy="10241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TH Sarabun New"/>
              </a:defRPr>
            </a:pPr>
            <a:r>
              <a:t>ผลการทดลองเชิงปริมาณ: การเปรียบเทียบ Precision, Recall และ F1-Score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325880"/>
          <a:ext cx="566928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675120" y="1325880"/>
            <a:ext cx="4785055" cy="14173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0" y="1325880"/>
            <a:ext cx="4785055" cy="1417320"/>
          </a:xfrm>
          <a:prstGeom prst="rect">
            <a:avLst/>
          </a:prstGeom>
          <a:noFill/>
        </p:spPr>
        <p:txBody>
          <a:bodyPr wrap="square" lIns="228600" tIns="109728" rIns="228600" bIns="109728" anchor="ctr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166534"/>
                </a:solidFill>
                <a:latin typeface="TH Sarabun New"/>
              </a:defRPr>
            </a:pPr>
            <a:r>
              <a:t>Precision สูงสุด 92.0%  (F1 รวม 70.0%)</a:t>
            </a:r>
          </a:p>
          <a:p>
            <a:pPr>
              <a:defRPr sz="1400">
                <a:solidFill>
                  <a:srgbClr val="0F172A"/>
                </a:solidFill>
                <a:latin typeface="TH Sarabun New"/>
              </a:defRPr>
            </a:pPr>
            <a:r>
              <a:t>เมื่อระบบส่งสัญญาณแจ้งเตือน มั่นใจได้ถึง 92% ว่าเกิดเหตุผิดปกติขึ้นจริง ช่วยขจัดปัญหาการเตือนภัยลวง (False Alarm Fatigue) ในระบบเฝ้าระวังอุตสาหกรรมได้อย่างมีนัยสำคัญ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971800"/>
            <a:ext cx="4785055" cy="141732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2971800"/>
            <a:ext cx="4785055" cy="1417320"/>
          </a:xfrm>
          <a:prstGeom prst="rect">
            <a:avLst/>
          </a:prstGeom>
          <a:noFill/>
        </p:spPr>
        <p:txBody>
          <a:bodyPr wrap="square" lIns="228600" tIns="109728" rIns="228600" bIns="109728" anchor="ctr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B45309"/>
                </a:solidFill>
                <a:latin typeface="TH Sarabun New"/>
              </a:defRPr>
            </a:pPr>
            <a:r>
              <a:t>Recall อยู่ที่ 56.0%  (ยังมี False Negative 44.0%)</a:t>
            </a:r>
          </a:p>
          <a:p>
            <a:pPr>
              <a:defRPr sz="1400">
                <a:solidFill>
                  <a:srgbClr val="0F172A"/>
                </a:solidFill>
                <a:latin typeface="TH Sarabun New"/>
              </a:defRPr>
            </a:pPr>
            <a:r>
              <a:t>เกิดจากการตั้งค่าเกณฑ์ขีดเริ่มเปลี่ยนอัลฟ่าอย่างเข้มงวดเพื่อกด False Positive ทำให้ความผิดปกติบางรูปแบบหลุดรอดการตรวจจับ จึงยังไม่เหมาะกับระบบ Safety-Critical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4617720"/>
            <a:ext cx="4785055" cy="1417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4617720"/>
            <a:ext cx="4785055" cy="1417320"/>
          </a:xfrm>
          <a:prstGeom prst="rect">
            <a:avLst/>
          </a:prstGeom>
          <a:noFill/>
        </p:spPr>
        <p:txBody>
          <a:bodyPr wrap="square" lIns="228600" tIns="109728" rIns="228600" bIns="109728" anchor="ctr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0E2841"/>
                </a:solidFill>
                <a:latin typeface="TH Sarabun New"/>
              </a:defRPr>
            </a:pPr>
            <a:r>
              <a:t>เวลาประมวลผล (Latency): 0.532 วินาทีต่อรอบ</a:t>
            </a:r>
          </a:p>
          <a:p>
            <a:pPr>
              <a:defRPr sz="1400">
                <a:solidFill>
                  <a:srgbClr val="0F172A"/>
                </a:solidFill>
                <a:latin typeface="TH Sarabun New"/>
              </a:defRPr>
            </a:pPr>
            <a:r>
              <a:t>ความเร็วในการประมวลผล 0.532 วินาที เร็วกว่ารอบการเก็บข้อมูลของเซนเซอร์ ยืนยันว่าระบบสามารถทำงานแบบ Real-time บนโหนด Fog ได้จริง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6364224"/>
            <a:ext cx="9601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TH Sarabun New"/>
              </a:defRPr>
            </a:pPr>
            <a:r>
              <a:t>แหล่งข้อมูล: Table 2 และ Table 3 จาก Yasaei et al., ICCAD 2020 (เปรียบเทียบ One-Class SVM, LSTM, ConvLSTM)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364224"/>
            <a:ext cx="94457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Segoe U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2841"/>
          </a:solidFill>
          <a:ln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0"/>
            <a:ext cx="10728655" cy="10241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TH Sarabun New"/>
              </a:defRPr>
            </a:pPr>
            <a:r>
              <a:t>การมีส่วนร่วมทางวิชาการ (Academic Contributions)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28655" cy="1417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728655" cy="1417320"/>
          </a:xfrm>
          <a:prstGeom prst="rect">
            <a:avLst/>
          </a:prstGeom>
          <a:noFill/>
        </p:spPr>
        <p:txBody>
          <a:bodyPr wrap="square" lIns="274320" tIns="137160" rIns="274320" bIns="137160" anchor="ctr">
            <a:spAutoFit/>
          </a:bodyPr>
          <a:lstStyle/>
          <a:p>
            <a:pPr>
              <a:spcAft>
                <a:spcPts val="400"/>
              </a:spcAft>
              <a:defRPr sz="1850" b="1">
                <a:solidFill>
                  <a:srgbClr val="0E2841"/>
                </a:solidFill>
                <a:latin typeface="TH Sarabun New"/>
              </a:defRPr>
            </a:pPr>
            <a:r>
              <a:t>1. การเชื่อมโยงเซนเซอร์ต่างชนิดโดยอาศัยบริบท (Cross-Modal Sensor Association)   [Section 3.2, Algorithm 1]</a:t>
            </a:r>
          </a:p>
          <a:p>
            <a:pPr>
              <a:defRPr sz="1450">
                <a:solidFill>
                  <a:srgbClr val="0F172A"/>
                </a:solidFill>
                <a:latin typeface="TH Sarabun New"/>
              </a:defRPr>
            </a:pPr>
            <a:r>
              <a:t>นำเสนอเทคนิค Binary Fingerprint ที่แปลงพลวัตการเปลี่ยนแปลงของค่าสัญญาณให้เป็นลำดับบิต 0 และ 1 ช่วยขจัดกำแพงเรื่องความแตกต่างของหน่วยวัดทางกายภาพ ทำให้ระบบสามารถคำนวณ Hamming Distance และจัดกลุ่มเซนเซอร์ต่างประเภท (เช่น เซนเซอร์วัดแสง กับ เซนเซอร์วัดอุณหภูมิ) ได้อย่างอัตโนมัติ โดยไม่ต้องกำหนดความสัมพันธ์ทางกายภาพด้วยมือ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71800"/>
            <a:ext cx="10728655" cy="1417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0728655" cy="1417320"/>
          </a:xfrm>
          <a:prstGeom prst="rect">
            <a:avLst/>
          </a:prstGeom>
          <a:noFill/>
        </p:spPr>
        <p:txBody>
          <a:bodyPr wrap="square" lIns="274320" tIns="137160" rIns="274320" bIns="137160" anchor="ctr">
            <a:spAutoFit/>
          </a:bodyPr>
          <a:lstStyle/>
          <a:p>
            <a:pPr>
              <a:spcAft>
                <a:spcPts val="400"/>
              </a:spcAft>
              <a:defRPr sz="1850" b="1">
                <a:solidFill>
                  <a:srgbClr val="156082"/>
                </a:solidFill>
                <a:latin typeface="TH Sarabun New"/>
              </a:defRPr>
            </a:pPr>
            <a:r>
              <a:t>2. กลไกฉันทามติเพื่อจำแนกประเภทและระบุต้นทางความผิดปกติ (Consensus-Based Disambiguation)   [Section 3.4, Algorithm 2]</a:t>
            </a:r>
          </a:p>
          <a:p>
            <a:pPr>
              <a:defRPr sz="1450">
                <a:solidFill>
                  <a:srgbClr val="0F172A"/>
                </a:solidFill>
                <a:latin typeface="TH Sarabun New"/>
              </a:defRPr>
            </a:pPr>
            <a:r>
              <a:t>พัฒนาการตรวจจับความผิดปกติให้ก้าวข้ามการบอกเพียงว่าข้อมูลผิดปกติหรือไม่ โดยใช้เสียงส่วนใหญ่ของคลัสเตอร์เพื่อแยกแยะระหว่าง Environmental Anomaly (EA) ออกจาก Sensing Device Anomaly (SDA) พร้อมทั้งระบุหมายเลขโหนดที่เป็นต้นเหตุได้อย่างเจาะจงเพื่อการบำรุงรักษาอุปกรณ์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17720"/>
            <a:ext cx="10728655" cy="1417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4617720"/>
            <a:ext cx="10728655" cy="1417320"/>
          </a:xfrm>
          <a:prstGeom prst="rect">
            <a:avLst/>
          </a:prstGeom>
          <a:noFill/>
        </p:spPr>
        <p:txBody>
          <a:bodyPr wrap="square" lIns="274320" tIns="137160" rIns="274320" bIns="137160" anchor="ctr">
            <a:spAutoFit/>
          </a:bodyPr>
          <a:lstStyle/>
          <a:p>
            <a:pPr>
              <a:spcAft>
                <a:spcPts val="400"/>
              </a:spcAft>
              <a:defRPr sz="1850" b="1">
                <a:solidFill>
                  <a:srgbClr val="0E2841"/>
                </a:solidFill>
                <a:latin typeface="TH Sarabun New"/>
              </a:defRPr>
            </a:pPr>
            <a:r>
              <a:t>3. สถาปัตยกรรมการปรับตัวแบบเพิ่มพูนบน Fog Computing (Adaptive Model Updating)   [Section 3.4, Subsection D]</a:t>
            </a:r>
          </a:p>
          <a:p>
            <a:pPr>
              <a:defRPr sz="1450">
                <a:solidFill>
                  <a:srgbClr val="0F172A"/>
                </a:solidFill>
                <a:latin typeface="TH Sarabun New"/>
              </a:defRPr>
            </a:pPr>
            <a:r>
              <a:t>ออกแบบกลไกการปรับปรุงโมเดลสองระดับ ได้แก่ Partial Update บน Fog Node เพื่อรองรับการเปลี่ยนแปลงของสภาพแวดล้อม และ Complete Retrain เมื่อมีการเพิ่มลดโหนดในเครือข่าย โดยฝึกสอนใหม่เฉพาะคลัสเตอร์ที่ได้รับผลกระทบ ช่วยลดภาระการประมวลผลและการส่งข้อมูลขึ้นคลาวด์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364224"/>
            <a:ext cx="9601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TH Sarabun New"/>
              </a:defRPr>
            </a:pPr>
            <a:r>
              <a:t>เอกสารอ้างอิง: Yasaei et al., ICCAD 2020 (IEEE Xplore: 9256703, DOI: 10.1145/3400302.3415672)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364224"/>
            <a:ext cx="94457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Segoe U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2841"/>
          </a:solidFill>
          <a:ln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19703"/>
            <a:ext cx="10728655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TH Sarabun New"/>
              </a:defRPr>
            </a:pPr>
            <a:r>
              <a:rPr dirty="0" err="1"/>
              <a:t>ข้อจำกัด</a:t>
            </a:r>
            <a:r>
              <a:rPr dirty="0"/>
              <a:t> </a:t>
            </a:r>
            <a:r>
              <a:rPr dirty="0" err="1"/>
              <a:t>และบทสรุป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521208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900" b="1">
                <a:solidFill>
                  <a:srgbClr val="B45309"/>
                </a:solidFill>
                <a:latin typeface="TH Sarabun New"/>
              </a:defRPr>
            </a:pPr>
            <a:r>
              <a:t>ข้อจำกัดที่ระบุในบทความ (Limitations &amp; Risks)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1298448"/>
            <a:ext cx="521208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900" b="1">
                <a:solidFill>
                  <a:srgbClr val="166534"/>
                </a:solidFill>
                <a:latin typeface="TH Sarabun New"/>
              </a:defRPr>
            </a:pPr>
            <a:r>
              <a:t>บทสรุปและการประยุกต์ใช้งาน (Conclusion &amp; Applications)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212080" cy="13258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5212080" cy="1325880"/>
          </a:xfrm>
          <a:prstGeom prst="rect">
            <a:avLst/>
          </a:prstGeom>
          <a:noFill/>
        </p:spPr>
        <p:txBody>
          <a:bodyPr wrap="square" lIns="228600" tIns="109728" rIns="228600" bIns="109728" anchor="ctr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B45309"/>
                </a:solidFill>
                <a:latin typeface="TH Sarabun New"/>
              </a:defRPr>
            </a:pPr>
            <a:r>
              <a:t>1. อัตรา Recall 56% ยังไม่เหมาะกับระบบวิกฤต</a:t>
            </a:r>
          </a:p>
          <a:p>
            <a:pPr>
              <a:defRPr sz="1400">
                <a:solidFill>
                  <a:srgbClr val="0F172A"/>
                </a:solidFill>
                <a:latin typeface="TH Sarabun New"/>
              </a:defRPr>
            </a:pPr>
            <a:r>
              <a:t>การปล่อยให้ Anomaly หลุดรอดไปถึง 44% ถือเป็นความเสี่ยงที่ไม่สามารถยอมรับได้ในระบบความปลอดภัยสูง (Safety-Critical) เช่น ระบบแจ้งเตือนอัคคีภัยหรือโรงไฟฟ้านิวเคลียร์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46120"/>
            <a:ext cx="5212080" cy="13258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5212080" cy="1325880"/>
          </a:xfrm>
          <a:prstGeom prst="rect">
            <a:avLst/>
          </a:prstGeom>
          <a:noFill/>
        </p:spPr>
        <p:txBody>
          <a:bodyPr wrap="square" lIns="228600" tIns="109728" rIns="228600" bIns="109728" anchor="ctr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B45309"/>
                </a:solidFill>
                <a:latin typeface="TH Sarabun New"/>
              </a:defRPr>
            </a:pPr>
            <a:r>
              <a:t>2. การประเมินผลด้วยข้อมูลสังเคราะห์ระยะสั้น</a:t>
            </a:r>
          </a:p>
          <a:p>
            <a:pPr>
              <a:defRPr sz="1400">
                <a:solidFill>
                  <a:srgbClr val="0F172A"/>
                </a:solidFill>
                <a:latin typeface="TH Sarabun New"/>
              </a:defRPr>
            </a:pPr>
            <a:r>
              <a:t>ข้อมูล Anomaly ทั้งหมดสร้างด้วยแบบจำลองคณิตศาสตร์ และบันทึกข้อมูลปกติเพียง 8 วันในอาคารเดียว ยังไม่ได้ทดสอบความทนทานต่อสภาพอากาศข้ามฤดูกาล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09160"/>
            <a:ext cx="5212080" cy="13258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4709160"/>
            <a:ext cx="5212080" cy="1325880"/>
          </a:xfrm>
          <a:prstGeom prst="rect">
            <a:avLst/>
          </a:prstGeom>
          <a:noFill/>
        </p:spPr>
        <p:txBody>
          <a:bodyPr wrap="square" lIns="228600" tIns="109728" rIns="228600" bIns="109728" anchor="ctr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B45309"/>
                </a:solidFill>
                <a:latin typeface="TH Sarabun New"/>
              </a:defRPr>
            </a:pPr>
            <a:r>
              <a:t>3. ความเสี่ยงต่อการโจมตีแบบ Coordinated Attack</a:t>
            </a:r>
          </a:p>
          <a:p>
            <a:pPr>
              <a:defRPr sz="1400">
                <a:solidFill>
                  <a:srgbClr val="0F172A"/>
                </a:solidFill>
                <a:latin typeface="TH Sarabun New"/>
              </a:defRPr>
            </a:pPr>
            <a:r>
              <a:t>ต้องมีเซนเซอร์อย่างน้อย 3 ตัวในคลัสเตอร์จึงจะทำฉันทามติได้ และหากผู้โจมตีเจาะระบบเซนเซอร์ได้พร้อมกันเกินครึ่งกลุ่ม ระบบจะถูกหลอกให้ตัดสินเป็น EA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095" y="1783080"/>
            <a:ext cx="5212080" cy="13258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48095" y="1783080"/>
            <a:ext cx="5212080" cy="1325880"/>
          </a:xfrm>
          <a:prstGeom prst="rect">
            <a:avLst/>
          </a:prstGeom>
          <a:noFill/>
        </p:spPr>
        <p:txBody>
          <a:bodyPr wrap="square" lIns="228600" tIns="109728" rIns="228600" bIns="109728" anchor="ctr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66534"/>
                </a:solidFill>
                <a:latin typeface="TH Sarabun New"/>
              </a:defRPr>
            </a:pPr>
            <a:r>
              <a:t>1. ประโยชน์หลักต่อเครือข่ายเซนเซอร์ IoT</a:t>
            </a:r>
          </a:p>
          <a:p>
            <a:pPr>
              <a:defRPr sz="1400">
                <a:solidFill>
                  <a:srgbClr val="0F172A"/>
                </a:solidFill>
                <a:latin typeface="TH Sarabun New"/>
              </a:defRPr>
            </a:pPr>
            <a:r>
              <a:t>พิสูจน์ว่าความสัมพันธ์ข้ามมิติของเซนเซอร์ช่วยลด False Alarm ได้อย่างเด็ดขาด (Precision 92%) บนสถาปัตยกรรม Fog โดยไม่ต้องพึ่งพา Cloud ตลอดเวลา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3246120"/>
            <a:ext cx="5212080" cy="13258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48095" y="3246120"/>
            <a:ext cx="5212080" cy="1325880"/>
          </a:xfrm>
          <a:prstGeom prst="rect">
            <a:avLst/>
          </a:prstGeom>
          <a:noFill/>
        </p:spPr>
        <p:txBody>
          <a:bodyPr wrap="square" lIns="228600" tIns="109728" rIns="228600" bIns="109728" anchor="ctr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66534"/>
                </a:solidFill>
                <a:latin typeface="TH Sarabun New"/>
              </a:defRPr>
            </a:pPr>
            <a:r>
              <a:t>2. การนำไปต่อยอดในโครงงานวิศวกรรม</a:t>
            </a:r>
          </a:p>
          <a:p>
            <a:pPr>
              <a:defRPr sz="1400">
                <a:solidFill>
                  <a:srgbClr val="0F172A"/>
                </a:solidFill>
                <a:latin typeface="TH Sarabun New"/>
              </a:defRPr>
            </a:pPr>
            <a:r>
              <a:t>สามารถนำหลักการ Cross-Sensor Association ไปต่อยอดตรวจสอบ Data Integrity ในระบบเกษตรแม่นยำ (Smart Agriculture) หรือตรวจสภาพเครื่องจักรโรงงาน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8095" y="4709160"/>
            <a:ext cx="5212080" cy="13258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48095" y="4709160"/>
            <a:ext cx="5212080" cy="1325880"/>
          </a:xfrm>
          <a:prstGeom prst="rect">
            <a:avLst/>
          </a:prstGeom>
          <a:noFill/>
        </p:spPr>
        <p:txBody>
          <a:bodyPr wrap="square" lIns="228600" tIns="109728" rIns="228600" bIns="109728" anchor="ctr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66534"/>
                </a:solidFill>
                <a:latin typeface="TH Sarabun New"/>
              </a:defRPr>
            </a:pPr>
            <a:r>
              <a:t>3. ทิศทางการปรับปรุงระบบในอนาคต</a:t>
            </a:r>
          </a:p>
          <a:p>
            <a:pPr>
              <a:defRPr sz="1400">
                <a:solidFill>
                  <a:srgbClr val="0F172A"/>
                </a:solidFill>
                <a:latin typeface="TH Sarabun New"/>
              </a:defRPr>
            </a:pPr>
            <a:r>
              <a:t>ควรปรับจูนเกณฑ์อัลฟ่าให้ยืดหยุ่นตามระดับความเสี่ยงของแต่ละพื้นที่ และทดสอบกับชุดข้อมูลการโจมตีทางไซเบอร์ของจริง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6364224"/>
            <a:ext cx="9601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TH Sarabun New"/>
              </a:defRPr>
            </a:pPr>
            <a:r>
              <a:t>เอกสารอ้างอิง: Yasaei et al., ICCAD 2020 (IEEE Xplore: 9256703, DOI: 10.1145/3400302.3415672)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364224"/>
            <a:ext cx="94457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Segoe U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2477</Words>
  <Application>Microsoft Macintosh PowerPoint</Application>
  <PresentationFormat>แบบจอกว้าง</PresentationFormat>
  <Paragraphs>128</Paragraphs>
  <Slides>7</Slides>
  <Notes>7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3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7</vt:i4>
      </vt:variant>
    </vt:vector>
  </HeadingPairs>
  <TitlesOfParts>
    <vt:vector size="11" baseType="lpstr">
      <vt:lpstr>Arial</vt:lpstr>
      <vt:lpstr>Calibri</vt:lpstr>
      <vt:lpstr>TH Sarabun New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THEERAPAT POORAYA</cp:lastModifiedBy>
  <cp:revision>8</cp:revision>
  <dcterms:created xsi:type="dcterms:W3CDTF">2013-01-27T09:14:16Z</dcterms:created>
  <dcterms:modified xsi:type="dcterms:W3CDTF">2026-09-15T06:48:15Z</dcterms:modified>
  <cp:category/>
</cp:coreProperties>
</file>