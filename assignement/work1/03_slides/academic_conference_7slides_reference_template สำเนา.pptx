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8"/>
  </p:normalViewPr>
  <p:slideViewPr>
    <p:cSldViewPr snapToGrid="0" snapToObjects="1">
      <p:cViewPr varScale="1">
        <p:scale>
          <a:sx n="117" d="100"/>
          <a:sy n="117" d="100"/>
        </p:scale>
        <p:origin x="55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0E2841"/>
          </a:solidFill>
          <a:ln>
            <a:solidFill>
              <a:srgbClr val="0E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73152"/>
          </a:xfrm>
          <a:prstGeom prst="rect">
            <a:avLst/>
          </a:prstGeom>
          <a:solidFill>
            <a:srgbClr val="E97132"/>
          </a:solidFill>
          <a:ln>
            <a:solidFill>
              <a:srgbClr val="E97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IoT-CAD: Context-Aware Anomaly Detection</a:t>
            </a:r>
          </a:p>
          <a:p>
            <a:pPr>
              <a:defRPr sz="2000">
                <a:solidFill>
                  <a:srgbClr val="C8DCF0"/>
                </a:solidFill>
                <a:latin typeface="TH Sarabun New"/>
              </a:defRPr>
            </a:pPr>
            <a:r>
              <a:t>การตรวจจับสิ่งผิดปกติแบบรู้บริบทและปรับตัวได้ในระบบ IoT ผ่านการเชื่อมโยงความสัมพันธ์เซนเซอร์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10728655" cy="1463040"/>
          </a:xfrm>
          <a:prstGeom prst="roundRect">
            <a:avLst/>
          </a:prstGeom>
          <a:solidFill>
            <a:srgbClr val="F2F4F7"/>
          </a:solidFill>
          <a:ln w="1905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0E2841"/>
                </a:solidFill>
                <a:latin typeface="TH Sarabun New"/>
              </a:defRPr>
            </a:pPr>
            <a:r>
              <a:rPr dirty="0" err="1"/>
              <a:t>คำถามนำเสนอ</a:t>
            </a:r>
            <a:r>
              <a:rPr dirty="0"/>
              <a:t> (Research Motivation):</a:t>
            </a:r>
          </a:p>
          <a:p>
            <a:pPr>
              <a:defRPr sz="2200" b="1">
                <a:solidFill>
                  <a:srgbClr val="156082"/>
                </a:solidFill>
                <a:latin typeface="TH Sarabun New"/>
              </a:defRPr>
            </a:pPr>
            <a:r>
              <a:rPr dirty="0"/>
              <a:t>“</a:t>
            </a:r>
            <a:r>
              <a:rPr dirty="0" err="1"/>
              <a:t>เมื่อเซนเซอร์ในระบบรายงานค่าผิดปกติขึ้นมา</a:t>
            </a:r>
            <a:r>
              <a:rPr dirty="0"/>
              <a:t>... </a:t>
            </a:r>
            <a:r>
              <a:rPr dirty="0" err="1"/>
              <a:t>เกิดภัยคุกคามในระบบจริง</a:t>
            </a:r>
            <a:r>
              <a:rPr dirty="0"/>
              <a:t> </a:t>
            </a:r>
            <a:r>
              <a:rPr dirty="0" err="1"/>
              <a:t>หรือเป็นเพียงความขัดข้องของตัวเซนเซอร์เอง</a:t>
            </a:r>
            <a:r>
              <a:rPr dirty="0"/>
              <a:t>?”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297680"/>
            <a:ext cx="10728655" cy="1645920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A1A2E"/>
                </a:solidFill>
                <a:latin typeface="TH Sarabun New"/>
              </a:defRPr>
            </a:pPr>
            <a:r>
              <a:rPr dirty="0" err="1"/>
              <a:t>นายธีรภัทร</a:t>
            </a:r>
            <a:r>
              <a:rPr dirty="0"/>
              <a:t> </a:t>
            </a:r>
            <a:r>
              <a:rPr dirty="0" err="1"/>
              <a:t>ภู่ระย้า</a:t>
            </a:r>
            <a:r>
              <a:rPr dirty="0"/>
              <a:t>  </a:t>
            </a:r>
            <a:r>
              <a:rPr dirty="0" err="1"/>
              <a:t>รหัสนิสิต</a:t>
            </a:r>
            <a:r>
              <a:rPr dirty="0"/>
              <a:t> 663624</a:t>
            </a:r>
          </a:p>
          <a:p>
            <a:pPr>
              <a:defRPr sz="1800">
                <a:solidFill>
                  <a:srgbClr val="6B7280"/>
                </a:solidFill>
                <a:latin typeface="TH Sarabun New"/>
              </a:defRPr>
            </a:pPr>
            <a:r>
              <a:rPr dirty="0" err="1"/>
              <a:t>รายวิชา</a:t>
            </a:r>
            <a:r>
              <a:rPr dirty="0"/>
              <a:t>: 305432 </a:t>
            </a:r>
            <a:r>
              <a:rPr dirty="0" err="1"/>
              <a:t>เครือข่ายเซนเซอร์</a:t>
            </a:r>
            <a:r>
              <a:rPr dirty="0"/>
              <a:t> (Sensor Networks) </a:t>
            </a:r>
            <a:endParaRPr lang="th-TH" dirty="0"/>
          </a:p>
          <a:p>
            <a:pPr>
              <a:defRPr sz="1800">
                <a:solidFill>
                  <a:srgbClr val="6B7280"/>
                </a:solidFill>
                <a:latin typeface="TH Sarabun New"/>
              </a:defRPr>
            </a:pPr>
            <a:r>
              <a:rPr dirty="0" err="1"/>
              <a:t>แหล่งตีพิมพ์</a:t>
            </a:r>
            <a:r>
              <a:rPr dirty="0"/>
              <a:t>: IEEE/ACM International Conference on Computer-Aided Design (ICCAD 2020)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2841"/>
          </a:solidFill>
          <a:ln>
            <a:solidFill>
              <a:srgbClr val="0E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156082"/>
          </a:solidFill>
          <a:ln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H Sarabun New"/>
              </a:defRPr>
            </a:pPr>
            <a:r>
              <a:t>โจทย์ปัญหา: ความแตกต่างระหว่าง EA และ SDA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2860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8CB4D2"/>
                </a:solidFill>
                <a:latin typeface="Segoe UI"/>
              </a:defRPr>
            </a:pPr>
            <a:r>
              <a:t>02 /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DCE1E6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6B7280"/>
                </a:solidFill>
                <a:latin typeface="TH Sarabun New"/>
              </a:defRPr>
            </a:pPr>
            <a:r>
              <a:t>แหล่งอ้างอิง: Yasaei et al., ICCAD 2020 · IEEE Xplore: 9256703 · doi:10.1145/3400302.3415672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3840480"/>
          </a:xfrm>
          <a:prstGeom prst="roundRect">
            <a:avLst/>
          </a:prstGeom>
          <a:solidFill>
            <a:srgbClr val="F0F8F2"/>
          </a:solidFill>
          <a:ln w="25400">
            <a:solidFill>
              <a:srgbClr val="196B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196B24"/>
                </a:solidFill>
                <a:latin typeface="TH Sarabun New"/>
              </a:defRPr>
            </a:pPr>
            <a:r>
              <a:t>1. Environmental Anomaly (EA)</a:t>
            </a:r>
          </a:p>
          <a:p>
            <a:pPr>
              <a:defRPr sz="1800">
                <a:solidFill>
                  <a:srgbClr val="1A1A2E"/>
                </a:solidFill>
                <a:latin typeface="TH Sarabun New"/>
              </a:defRPr>
            </a:pPr>
            <a:r>
              <a:t>• เกิดจากเหตุการณ์จริงในสภาพแวดล้อมกายภาพ</a:t>
            </a:r>
            <a:br/>
            <a:r>
              <a:t>• เซนเซอร์ที่เกี่ยวข้องหลายตัวจะขยับเปลี่ยนแปลงสอดคล้องกัน (Correlated)</a:t>
            </a:r>
            <a:br/>
            <a:r>
              <a:t>• ระบบต้อง “ไม่ตัดไฟหรือเตือนว่าเซนเซอร์เสีย” แต่ต้องรายงานว่าเกิดเหตุจริง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120640" cy="38404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C5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C53030"/>
                </a:solidFill>
                <a:latin typeface="TH Sarabun New"/>
              </a:defRPr>
            </a:pPr>
            <a:r>
              <a:t>2. Sensing Device Anomaly (SDA)</a:t>
            </a:r>
          </a:p>
          <a:p>
            <a:pPr>
              <a:defRPr sz="1800">
                <a:solidFill>
                  <a:srgbClr val="1A1A2E"/>
                </a:solidFill>
                <a:latin typeface="TH Sarabun New"/>
              </a:defRPr>
            </a:pPr>
            <a:r>
              <a:t>• เกิดจากตัวอุปกรณ์ ฮาร์ดแวร์ชำรุด หรือสัญญาณถูกโจมตี (Sensor Attack)</a:t>
            </a:r>
            <a:br/>
            <a:r>
              <a:t>• เซนเซอร์ตัวที่มีปัญหาจะมีสัญญาณ “ขัดแย้งกับสมาชิกในกลุ่มบริบท”</a:t>
            </a:r>
            <a:br/>
            <a:r>
              <a:t>• ระบบสามารถระบุชี้เป้าเซนเซอร์ที่มีปัญหาได้อย่างแม่นยำ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394960"/>
            <a:ext cx="724589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E2841"/>
                </a:solidFill>
                <a:latin typeface="TH Sarabun New"/>
              </a:defRPr>
            </a:pPr>
            <a:r>
              <a:rPr dirty="0" err="1"/>
              <a:t>จุดตัดสำคัญ</a:t>
            </a:r>
            <a:r>
              <a:rPr dirty="0"/>
              <a:t>: </a:t>
            </a:r>
            <a:r>
              <a:rPr dirty="0" err="1"/>
              <a:t>ใช้พฤติกรรมของ</a:t>
            </a:r>
            <a:r>
              <a:rPr dirty="0"/>
              <a:t> “</a:t>
            </a:r>
            <a:r>
              <a:rPr dirty="0" err="1"/>
              <a:t>กลุ่มเซนเซอร์ข้างเคียง</a:t>
            </a:r>
            <a:r>
              <a:rPr dirty="0"/>
              <a:t>” </a:t>
            </a:r>
            <a:r>
              <a:rPr dirty="0" err="1"/>
              <a:t>เป็นพยานบริบท</a:t>
            </a:r>
            <a:r>
              <a:rPr dirty="0"/>
              <a:t> (Context) </a:t>
            </a:r>
            <a:r>
              <a:rPr dirty="0" err="1"/>
              <a:t>แทนการตัดสินจากค่าเดี่ยว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2841"/>
          </a:solidFill>
          <a:ln>
            <a:solidFill>
              <a:srgbClr val="0E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156082"/>
          </a:solidFill>
          <a:ln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H Sarabun New"/>
              </a:defRPr>
            </a:pPr>
            <a:r>
              <a:t>สถาปัตยกรรมและกระบวนการทำงาน 4 ขั้นตอน (Pipeline)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2860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8CB4D2"/>
                </a:solidFill>
                <a:latin typeface="Segoe UI"/>
              </a:defRPr>
            </a:pPr>
            <a:r>
              <a:t>03 /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DCE1E6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6B7280"/>
                </a:solidFill>
                <a:latin typeface="TH Sarabun New"/>
              </a:defRPr>
            </a:pPr>
            <a:r>
              <a:t>แหล่งอ้างอิง: Yasaei et al., ICCAD 2020 · IEEE Xplore: 9256703 · doi:10.1145/3400302.3415672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2468880" cy="32918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E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0E2841"/>
                </a:solidFill>
                <a:latin typeface="TH Sarabun New"/>
              </a:defRPr>
            </a:pPr>
            <a:r>
              <a:t>1. Fingerprint</a:t>
            </a:r>
          </a:p>
          <a:p>
            <a:br/>
            <a:r>
              <a:t>แปลงสัญญาณเป็น</a:t>
            </a:r>
            <a:br/>
            <a:r>
              <a:t>Binary Fingerprint</a:t>
            </a:r>
            <a:br/>
            <a:r>
              <a:t>(ขจัดกำแพงหน่วยวัด)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46120" y="2926080"/>
            <a:ext cx="182880" cy="320040"/>
          </a:xfrm>
          <a:prstGeom prst="rightArrow">
            <a:avLst/>
          </a:prstGeom>
          <a:solidFill>
            <a:srgbClr val="6B7280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474720" y="1645920"/>
            <a:ext cx="2468880" cy="32918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156082"/>
                </a:solidFill>
                <a:latin typeface="TH Sarabun New"/>
              </a:defRPr>
            </a:pPr>
            <a:r>
              <a:t>2. Association</a:t>
            </a:r>
          </a:p>
          <a:p>
            <a:br/>
            <a:r>
              <a:t>คำนวณ Hamming</a:t>
            </a:r>
            <a:br/>
            <a:r>
              <a:t>Distance + Cluster</a:t>
            </a:r>
            <a:br/>
            <a:r>
              <a:t>หาบริบทร่วม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89320" y="2926080"/>
            <a:ext cx="182880" cy="320040"/>
          </a:xfrm>
          <a:prstGeom prst="rightArrow">
            <a:avLst/>
          </a:prstGeom>
          <a:solidFill>
            <a:srgbClr val="6B7280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2468880" cy="32918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E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0E2841"/>
                </a:solidFill>
                <a:latin typeface="TH Sarabun New"/>
              </a:defRPr>
            </a:pPr>
            <a:r>
              <a:t>3. Prediction</a:t>
            </a:r>
          </a:p>
          <a:p>
            <a:br/>
            <a:r>
              <a:t>โมเดล LSTM +</a:t>
            </a:r>
            <a:br/>
            <a:r>
              <a:t>Gaussian Distribution</a:t>
            </a:r>
            <a:br/>
            <a:r>
              <a:t>ประเมินพฤติกรรมปกติ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732520" y="2926080"/>
            <a:ext cx="182880" cy="320040"/>
          </a:xfrm>
          <a:prstGeom prst="rightArrow">
            <a:avLst/>
          </a:prstGeom>
          <a:solidFill>
            <a:srgbClr val="6B7280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961120" y="1645920"/>
            <a:ext cx="2468880" cy="32918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E97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E97132"/>
                </a:solidFill>
                <a:latin typeface="TH Sarabun New"/>
              </a:defRPr>
            </a:pPr>
            <a:r>
              <a:t>4. Consensus</a:t>
            </a:r>
          </a:p>
          <a:p>
            <a:br/>
            <a:r>
              <a:t>ลงมติแยก EA/SDA</a:t>
            </a:r>
            <a:br/>
            <a:r>
              <a:t>ระบุโหนดเสีย และ</a:t>
            </a:r>
            <a:br/>
            <a:r>
              <a:t>Adaptive Retrain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212080"/>
            <a:ext cx="10728655" cy="914400"/>
          </a:xfrm>
          <a:prstGeom prst="rect">
            <a:avLst/>
          </a:prstGeom>
          <a:solidFill>
            <a:srgbClr val="F2F4F7"/>
          </a:solidFill>
          <a:ln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E2841"/>
                </a:solidFill>
                <a:latin typeface="TH Sarabun New"/>
              </a:defRPr>
            </a:pPr>
            <a:r>
              <a:t>หัวใจสำคัญ: ฝึกสอนแบบ Unsupervised แต่ใช้ Validation Set เล็กน้อยเพื่อปรับจูนเกณฑ์ Threshold (α)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2841"/>
          </a:solidFill>
          <a:ln>
            <a:solidFill>
              <a:srgbClr val="0E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156082"/>
          </a:solidFill>
          <a:ln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H Sarabun New"/>
              </a:defRPr>
            </a:pPr>
            <a:r>
              <a:t>สภาพแวดล้อมการทดสอบจริง (Testbed &amp; Experimental Setup)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2860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8CB4D2"/>
                </a:solidFill>
                <a:latin typeface="Segoe UI"/>
              </a:defRPr>
            </a:pPr>
            <a:r>
              <a:t>04 /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DCE1E6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6B7280"/>
                </a:solidFill>
                <a:latin typeface="TH Sarabun New"/>
              </a:defRPr>
            </a:pPr>
            <a:r>
              <a:t>แหล่งอ้างอิง: Yasaei et al., ICCAD 2020 · IEEE Xplore: 9256703 · doi:10.1145/3400302.3415672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2468880" cy="1463040"/>
          </a:xfrm>
          <a:prstGeom prst="roundRect">
            <a:avLst/>
          </a:prstGeom>
          <a:solidFill>
            <a:srgbClr val="F2F4F7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0E2841"/>
                </a:solidFill>
                <a:latin typeface="TH Sarabun New"/>
              </a:defRPr>
            </a:pPr>
            <a:r>
              <a:t>62 โหนด</a:t>
            </a:r>
          </a:p>
          <a:p>
            <a:pPr algn="ctr">
              <a:defRPr sz="1600">
                <a:solidFill>
                  <a:srgbClr val="6B7280"/>
                </a:solidFill>
                <a:latin typeface="TH Sarabun New"/>
              </a:defRPr>
            </a:pPr>
            <a:r>
              <a:t>เซนเซอร์ฮาร์ดแวร์จริง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371600"/>
            <a:ext cx="2468880" cy="1463040"/>
          </a:xfrm>
          <a:prstGeom prst="roundRect">
            <a:avLst/>
          </a:prstGeom>
          <a:solidFill>
            <a:srgbClr val="F2F4F7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0E2841"/>
                </a:solidFill>
                <a:latin typeface="TH Sarabun New"/>
              </a:defRPr>
            </a:pPr>
            <a:r>
              <a:t>13 ชนิด</a:t>
            </a:r>
          </a:p>
          <a:p>
            <a:pPr algn="ctr">
              <a:defRPr sz="1600">
                <a:solidFill>
                  <a:srgbClr val="6B7280"/>
                </a:solidFill>
                <a:latin typeface="TH Sarabun New"/>
              </a:defRPr>
            </a:pPr>
            <a:r>
              <a:t>ตัวแปรทางกายภาพ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2468880" cy="1463040"/>
          </a:xfrm>
          <a:prstGeom prst="roundRect">
            <a:avLst/>
          </a:prstGeom>
          <a:solidFill>
            <a:srgbClr val="F2F4F7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0E2841"/>
                </a:solidFill>
                <a:latin typeface="TH Sarabun New"/>
              </a:defRPr>
            </a:pPr>
            <a:r>
              <a:t>8 วัน</a:t>
            </a:r>
          </a:p>
          <a:p>
            <a:pPr algn="ctr">
              <a:defRPr sz="1600">
                <a:solidFill>
                  <a:srgbClr val="6B7280"/>
                </a:solidFill>
                <a:latin typeface="TH Sarabun New"/>
              </a:defRPr>
            </a:pPr>
            <a:r>
              <a:t>บันทึกพฤติกรรมปกติ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371600"/>
            <a:ext cx="2468880" cy="1463040"/>
          </a:xfrm>
          <a:prstGeom prst="roundRect">
            <a:avLst/>
          </a:prstGeom>
          <a:solidFill>
            <a:srgbClr val="F2F4F7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0E2841"/>
                </a:solidFill>
                <a:latin typeface="TH Sarabun New"/>
              </a:defRPr>
            </a:pPr>
            <a:r>
              <a:t>2.3 ล้าน</a:t>
            </a:r>
          </a:p>
          <a:p>
            <a:pPr algn="ctr">
              <a:defRPr sz="1600">
                <a:solidFill>
                  <a:srgbClr val="6B7280"/>
                </a:solidFill>
                <a:latin typeface="TH Sarabun New"/>
              </a:defRPr>
            </a:pPr>
            <a:r>
              <a:t>ข้อมูลที่ใช้ประเมิน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108960"/>
            <a:ext cx="10728655" cy="2926080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0E2841"/>
                </a:solidFill>
                <a:latin typeface="TH Sarabun New"/>
              </a:defRPr>
            </a:pPr>
            <a:r>
              <a:t>องค์ประกอบระบบเครือข่ายและข้อจำกัดการทดลอง:</a:t>
            </a:r>
          </a:p>
          <a:p>
            <a:pPr>
              <a:defRPr sz="1800">
                <a:solidFill>
                  <a:srgbClr val="1A1A2E"/>
                </a:solidFill>
                <a:latin typeface="TH Sarabun New"/>
              </a:defRPr>
            </a:pPr>
            <a:r>
              <a:t>• การเชื่อมต่อเครือข่าย: ใช้มาตรฐานไร้สาย IEEE 802.15.4 ส่งเข้า Raspberry Pi Gateway</a:t>
            </a:r>
            <a:br/>
            <a:r>
              <a:t>• Fog Computing Node: ประมวลผลบนโน้ตบุ๊ก Intel Core i5, RAM 8GB ทำหน้าที่เป็น Fog Processor หน้างาน</a:t>
            </a:r>
            <a:br/>
            <a:r>
              <a:t>• ข้อจำกัดข้อมูลที่ต้องยอมรับ: ข้อมูลสภาวะปกติ (Normal Data) เก็บจากสถานการณ์จริง 8 วัน</a:t>
            </a:r>
            <a:br/>
            <a:r>
              <a:t>  แต่ข้อมูลความผิดปกติ (Anomaly Data) เป็นข้อมูลสังเคราะห์ทางกายภาพ (Synthetic Anomalies) เนื่องจากไม่สามารถเสี่ยงทำลายอุปกรณ์จริงได้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2841"/>
          </a:solidFill>
          <a:ln>
            <a:solidFill>
              <a:srgbClr val="0E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156082"/>
          </a:solidFill>
          <a:ln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H Sarabun New"/>
              </a:defRPr>
            </a:pPr>
            <a:r>
              <a:t>ผลการประเมิน: เจาะลึก Precision vs Recall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2860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8CB4D2"/>
                </a:solidFill>
                <a:latin typeface="Segoe UI"/>
              </a:defRPr>
            </a:pPr>
            <a:r>
              <a:t>05 /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DCE1E6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6B7280"/>
                </a:solidFill>
                <a:latin typeface="TH Sarabun New"/>
              </a:defRPr>
            </a:pPr>
            <a:r>
              <a:t>แหล่งอ้างอิง: Yasaei et al., ICCAD 2020 · IEEE Xplore: 9256703 · doi:10.1145/3400302.3415672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219456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156082"/>
                </a:solidFill>
                <a:latin typeface="TH Sarabun New"/>
              </a:defRPr>
            </a:pPr>
            <a:r>
              <a:t>Precision สูงสุด = 92%</a:t>
            </a:r>
          </a:p>
          <a:p>
            <a:pPr>
              <a:defRPr sz="1800">
                <a:solidFill>
                  <a:srgbClr val="1A1A2E"/>
                </a:solidFill>
                <a:latin typeface="TH Sarabun New"/>
              </a:defRPr>
            </a:pPr>
            <a:r>
              <a:t>ความหมาย: เมื่อระบบตัดสินใจส่งเสียงเตือน มั่นใจได้ 92% ว่าเป็นเหตุผิดปกติจริง (False Alarm ต่ำมาก)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120640" cy="2194560"/>
          </a:xfrm>
          <a:prstGeom prst="roundRect">
            <a:avLst/>
          </a:prstGeom>
          <a:solidFill>
            <a:srgbClr val="FFF7ED"/>
          </a:solidFill>
          <a:ln w="25400">
            <a:solidFill>
              <a:srgbClr val="E97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E97132"/>
                </a:solidFill>
                <a:latin typeface="TH Sarabun New"/>
              </a:defRPr>
            </a:pPr>
            <a:r>
              <a:t>Recall = 56% (จุดที่ต้องยอมรับ)</a:t>
            </a:r>
          </a:p>
          <a:p>
            <a:pPr>
              <a:defRPr sz="1800">
                <a:solidFill>
                  <a:srgbClr val="1A1A2E"/>
                </a:solidFill>
                <a:latin typeface="TH Sarabun New"/>
              </a:defRPr>
            </a:pPr>
            <a:r>
              <a:t>ความหมาย: ยังหลุดรอดการตรวจจับ (False Negative) ราว 44% ในเคสความผิดปกติจริง จึงยังไม่เหมาะกับระบบ Safety-Critical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840480"/>
            <a:ext cx="10728655" cy="2194560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0E2841"/>
                </a:solidFill>
                <a:latin typeface="TH Sarabun New"/>
              </a:defRPr>
            </a:pPr>
            <a:r>
              <a:t>การเปรียบเทียบกับโมเดลพื้นฐาน (Table 2 จากต้นฉบับ):</a:t>
            </a:r>
          </a:p>
          <a:p>
            <a:pPr>
              <a:defRPr sz="1800">
                <a:solidFill>
                  <a:srgbClr val="1A1A2E"/>
                </a:solidFill>
                <a:latin typeface="TH Sarabun New"/>
              </a:defRPr>
            </a:pPr>
            <a:r>
              <a:t>• IoT-CAD (เสนอ): Precision 92% | Recall 56% | F1-Score 70%  (ให้ผลรวม F1 ดีที่สุดในภาพรวม)</a:t>
            </a:r>
            <a:br/>
            <a:r>
              <a:t>• One-Class SVM: Precision 89% | Recall 25% | F1-Score 39%  (Recall ต่ำมาก ตรวจจับแทบไม่พบ)</a:t>
            </a:r>
            <a:br/>
            <a:r>
              <a:t>• LSTM แบบเดี่ยว: Precision 64% | Recall 44% | F1-Score 52%</a:t>
            </a:r>
            <a:br/>
            <a:r>
              <a:t>• ConvLSTM: Precision 51% | Recall 95% | F1-Score 66%  (จับได้หมดแต่แจ้งเตือนมั่วไปถึง 49%)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2841"/>
          </a:solidFill>
          <a:ln>
            <a:solidFill>
              <a:srgbClr val="0E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156082"/>
          </a:solidFill>
          <a:ln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H Sarabun New"/>
              </a:defRPr>
            </a:pPr>
            <a:r>
              <a:t>การมีส่วนร่วมทางวิชาการ (Academic Contributions)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2860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8CB4D2"/>
                </a:solidFill>
                <a:latin typeface="Segoe UI"/>
              </a:defRPr>
            </a:pPr>
            <a:r>
              <a:t>06 /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DCE1E6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6B7280"/>
                </a:solidFill>
                <a:latin typeface="TH Sarabun New"/>
              </a:defRPr>
            </a:pPr>
            <a:r>
              <a:t>แหล่งอ้างอิง: Yasaei et al., ICCAD 2020 · IEEE Xplore: 9256703 · doi:10.1145/3400302.3415672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10728655" cy="1371600"/>
          </a:xfrm>
          <a:prstGeom prst="rect">
            <a:avLst/>
          </a:prstGeom>
          <a:solidFill>
            <a:srgbClr val="F2F4F7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0E2841"/>
                </a:solidFill>
                <a:latin typeface="TH Sarabun New"/>
              </a:defRPr>
            </a:pPr>
            <a:r>
              <a:t>1. การเชื่อมโยงเซนเซอร์ต่างชนิด (Sensor Association)  [Section 3.2]</a:t>
            </a:r>
          </a:p>
          <a:p>
            <a:pPr>
              <a:defRPr sz="1600">
                <a:solidFill>
                  <a:srgbClr val="1A1A2E"/>
                </a:solidFill>
                <a:latin typeface="TH Sarabun New"/>
              </a:defRPr>
            </a:pPr>
            <a:r>
              <a:t>เสนอเทคนิคแปลงรูปแบบการเปลี่ยนแปลงเชิงเวลาเป็น Binary Fingerprint ทำให้สามารถจัดกลุ่มเซนเซอร์ต่างหน่วยวัด (เช่น อุณหภูมิ กับ แสง) เข้าเป็นบริบทเดียวกันได้โดยไม่ต้องแปลงหน่วยกายภาพ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971800"/>
            <a:ext cx="10728655" cy="1371600"/>
          </a:xfrm>
          <a:prstGeom prst="rect">
            <a:avLst/>
          </a:prstGeom>
          <a:solidFill>
            <a:srgbClr val="F2F4F7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0E2841"/>
                </a:solidFill>
                <a:latin typeface="TH Sarabun New"/>
              </a:defRPr>
            </a:pPr>
            <a:r>
              <a:t>2. กลไก Consensus ระบุประเภทและต้นทางความผิดปกติ  [Section 3.4]</a:t>
            </a:r>
          </a:p>
          <a:p>
            <a:pPr>
              <a:defRPr sz="1600">
                <a:solidFill>
                  <a:srgbClr val="1A1A2E"/>
                </a:solidFill>
                <a:latin typeface="TH Sarabun New"/>
              </a:defRPr>
            </a:pPr>
            <a:r>
              <a:t>ใช้เสียงส่วนใหญ่ในคลัสเตอร์เพื่อจำแนกแยกแยะระหว่าง EA (เหตุสิ่งแวดล้อมจริง) กับ SDA (เซนเซอร์เสีย/ถูกโจมตี) พร้อมชี้ระบุว่าโหนดใดคือต้นเหตุได้อย่างเจาะจง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572000"/>
            <a:ext cx="10728655" cy="1371600"/>
          </a:xfrm>
          <a:prstGeom prst="rect">
            <a:avLst/>
          </a:prstGeom>
          <a:solidFill>
            <a:srgbClr val="F2F4F7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0E2841"/>
                </a:solidFill>
                <a:latin typeface="TH Sarabun New"/>
              </a:defRPr>
            </a:pPr>
            <a:r>
              <a:t>3. ความสามารถในการปรับตัวของโมเดล (Adaptive Model)  [Section 3.4]</a:t>
            </a:r>
          </a:p>
          <a:p>
            <a:pPr>
              <a:defRPr sz="1600">
                <a:solidFill>
                  <a:srgbClr val="1A1A2E"/>
                </a:solidFill>
                <a:latin typeface="TH Sarabun New"/>
              </a:defRPr>
            </a:pPr>
            <a:r>
              <a:t>รองรับการเปลี่ยนแปลงของระบบ เช่น สภาพแวดล้อมเปลี่ยน หรือมีเซนเซอร์โหนดใหม่เข้ามา โดยทำการ Retrain เฉพาะกลุ่มที่เกี่ยวข้องแบบ Incremental บน Fog Node ได้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2841"/>
          </a:solidFill>
          <a:ln>
            <a:solidFill>
              <a:srgbClr val="0E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156082"/>
          </a:solidFill>
          <a:ln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H Sarabun New"/>
              </a:defRPr>
            </a:pPr>
            <a:r>
              <a:t>ข้อจำกัดของงานและข้อสรุป (Limitations &amp; Conclusion)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2860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8CB4D2"/>
                </a:solidFill>
                <a:latin typeface="Segoe UI"/>
              </a:defRPr>
            </a:pPr>
            <a:r>
              <a:t>07 /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DCE1E6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6B7280"/>
                </a:solidFill>
                <a:latin typeface="TH Sarabun New"/>
              </a:defRPr>
            </a:pPr>
            <a:r>
              <a:t>แหล่งอ้างอิง: Yasaei et al., ICCAD 2020 · IEEE Xplore: 9256703 · doi:10.1145/3400302.3415672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486400" cy="4572000"/>
          </a:xfrm>
          <a:prstGeom prst="roundRect">
            <a:avLst/>
          </a:prstGeom>
          <a:solidFill>
            <a:srgbClr val="FFFAF0"/>
          </a:solidFill>
          <a:ln w="25400">
            <a:solidFill>
              <a:srgbClr val="E97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E97132"/>
                </a:solidFill>
                <a:latin typeface="TH Sarabun New"/>
              </a:defRPr>
            </a:pPr>
            <a:r>
              <a:rPr dirty="0" err="1"/>
              <a:t>ข้อจำกัดที่ควรระบุอย่างตรงไปตรงมา</a:t>
            </a:r>
            <a:r>
              <a:rPr dirty="0"/>
              <a:t>:</a:t>
            </a:r>
          </a:p>
          <a:p>
            <a:pPr>
              <a:defRPr sz="1700">
                <a:solidFill>
                  <a:srgbClr val="1A1A2E"/>
                </a:solidFill>
                <a:latin typeface="TH Sarabun New"/>
              </a:defRPr>
            </a:pPr>
            <a:r>
              <a:rPr dirty="0"/>
              <a:t>1. Recall 56% </a:t>
            </a:r>
            <a:r>
              <a:rPr dirty="0" err="1"/>
              <a:t>ยังต่ำเกินไป</a:t>
            </a:r>
            <a:r>
              <a:rPr dirty="0"/>
              <a:t>: </a:t>
            </a:r>
            <a:r>
              <a:rPr dirty="0" err="1"/>
              <a:t>ในระบบที่ความปลอดภัยเป็นวิกฤต</a:t>
            </a:r>
            <a:r>
              <a:rPr dirty="0"/>
              <a:t> (Critical Infrastructure) </a:t>
            </a:r>
            <a:r>
              <a:rPr dirty="0" err="1"/>
              <a:t>การปล่อยให้</a:t>
            </a:r>
            <a:r>
              <a:rPr dirty="0"/>
              <a:t> Anomaly </a:t>
            </a:r>
            <a:r>
              <a:rPr dirty="0" err="1"/>
              <a:t>หลุดรอด</a:t>
            </a:r>
            <a:r>
              <a:rPr dirty="0"/>
              <a:t> 44% </a:t>
            </a:r>
            <a:r>
              <a:rPr dirty="0" err="1"/>
              <a:t>ถือว่ายังมีความเสี่ยงสูง</a:t>
            </a:r>
            <a:br>
              <a:rPr dirty="0"/>
            </a:br>
            <a:br>
              <a:rPr dirty="0"/>
            </a:br>
            <a:r>
              <a:rPr dirty="0"/>
              <a:t>2. </a:t>
            </a:r>
            <a:r>
              <a:rPr dirty="0" err="1"/>
              <a:t>การประเมินผลด้วยข้อมูลสังเคราะห์</a:t>
            </a:r>
            <a:r>
              <a:rPr dirty="0"/>
              <a:t>: </a:t>
            </a:r>
            <a:r>
              <a:rPr dirty="0" err="1"/>
              <a:t>ข้อมูลความผิดปกติสร้างขึ้นด้วยแบบจำลองคณิตศาสตร์</a:t>
            </a:r>
            <a:r>
              <a:rPr dirty="0"/>
              <a:t> </a:t>
            </a:r>
            <a:r>
              <a:rPr dirty="0" err="1"/>
              <a:t>ยังไม่ได้ทดสอบกับภัยคุกคาม</a:t>
            </a:r>
            <a:r>
              <a:rPr dirty="0"/>
              <a:t> Cyber-Physical </a:t>
            </a:r>
            <a:r>
              <a:rPr dirty="0" err="1"/>
              <a:t>ขั้นสูงในชีวิตจริง</a:t>
            </a:r>
            <a:br>
              <a:rPr dirty="0"/>
            </a:br>
            <a:br>
              <a:rPr dirty="0"/>
            </a:br>
            <a:r>
              <a:rPr dirty="0"/>
              <a:t>3. </a:t>
            </a:r>
            <a:r>
              <a:rPr dirty="0" err="1"/>
              <a:t>ข้อจำกัดของกลุ่มเซนเซอร์</a:t>
            </a:r>
            <a:r>
              <a:rPr dirty="0"/>
              <a:t>: </a:t>
            </a:r>
            <a:r>
              <a:rPr dirty="0" err="1"/>
              <a:t>ต้องมีเซนเซอร์อย่างน้อย</a:t>
            </a:r>
            <a:r>
              <a:rPr dirty="0"/>
              <a:t> 3 </a:t>
            </a:r>
            <a:r>
              <a:rPr dirty="0" err="1"/>
              <a:t>ตัวในคลัสเตอร์เดียวกันจึงจะลงมติ</a:t>
            </a:r>
            <a:r>
              <a:rPr dirty="0"/>
              <a:t> (Majority Voting) </a:t>
            </a:r>
            <a:r>
              <a:rPr dirty="0" err="1"/>
              <a:t>ได้</a:t>
            </a:r>
            <a:r>
              <a:rPr dirty="0"/>
              <a:t> </a:t>
            </a:r>
            <a:r>
              <a:rPr dirty="0" err="1"/>
              <a:t>หากคลัสเตอร์มีขนาดเล็กหรือถูกโจมตีพร้อมกัน</a:t>
            </a:r>
            <a:r>
              <a:rPr dirty="0"/>
              <a:t> </a:t>
            </a:r>
            <a:r>
              <a:rPr dirty="0" err="1"/>
              <a:t>กลไกจะล้มเหลว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6583680" y="1371600"/>
            <a:ext cx="4876495" cy="4572000"/>
          </a:xfrm>
          <a:prstGeom prst="roundRect">
            <a:avLst/>
          </a:prstGeom>
          <a:solidFill>
            <a:srgbClr val="F0F5FA"/>
          </a:solidFill>
          <a:ln w="25400">
            <a:solidFill>
              <a:srgbClr val="0E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0E2841"/>
                </a:solidFill>
                <a:latin typeface="TH Sarabun New"/>
              </a:defRPr>
            </a:pPr>
            <a:r>
              <a:t>ข้อสรุปภาพรวม (Conclusion):</a:t>
            </a:r>
          </a:p>
          <a:p>
            <a:pPr>
              <a:defRPr sz="1700">
                <a:solidFill>
                  <a:srgbClr val="1A1A2E"/>
                </a:solidFill>
                <a:latin typeface="TH Sarabun New"/>
              </a:defRPr>
            </a:pPr>
            <a:r>
              <a:t>• IoT-CAD ได้พิสูจน์ให้เห็นว่า “บริบทของกลุ่มเซนเซอร์” สามารถช่วยลด False Alarm ได้อย่างมีนัยสำคัญ (Precision สูงถึง 92%)</a:t>
            </a:r>
            <a:br/>
            <a:br/>
            <a:r>
              <a:t>• เป็นสถาปัตยกรรมที่ใช้งานได้จริงบน Fog Computing โดยไม่จำเป็นต้องส่งข้อมูลทั้งหมดขึ้น Cloud</a:t>
            </a:r>
            <a:br/>
            <a:br/>
            <a:r>
              <a:t>• เหมาะกับการประยุกต์ใช้เพื่อคัดกรองข้อมูลก่อนส่งต่อไปยัง AI ศูนย์กลาง หรือใช้เฝ้าระวังเซนเซอร์ชำรุดในฟาร์ม IoT ขนาดใหญ่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1107</Words>
  <Application>Microsoft Macintosh PowerPoint</Application>
  <PresentationFormat>แบบจอกว้าง</PresentationFormat>
  <Paragraphs>65</Paragraphs>
  <Slides>7</Slides>
  <Notes>0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2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THEERAPAT POORAYA</cp:lastModifiedBy>
  <cp:revision>4</cp:revision>
  <dcterms:created xsi:type="dcterms:W3CDTF">2013-01-27T09:14:16Z</dcterms:created>
  <dcterms:modified xsi:type="dcterms:W3CDTF">2026-09-15T04:37:21Z</dcterms:modified>
  <cp:category/>
</cp:coreProperties>
</file>