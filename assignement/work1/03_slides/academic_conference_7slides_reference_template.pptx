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156082"/>
            </a:solidFill>
          </c:spPr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92.0</c:v>
                </c:pt>
                <c:pt idx="1">
                  <c:v>89.0</c:v>
                </c:pt>
                <c:pt idx="2">
                  <c:v>64.0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56.0</c:v>
                </c:pt>
                <c:pt idx="1">
                  <c:v>25.0</c:v>
                </c:pt>
                <c:pt idx="2">
                  <c:v>44.0</c:v>
                </c:pt>
                <c:pt idx="3">
                  <c:v>95.0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0E2841"/>
            </a:solidFill>
          </c:spPr>
          <c:cat>
            <c:strRef>
              <c:f>Sheet1!$A$2:$A$5</c:f>
              <c:strCache>
                <c:ptCount val="4"/>
                <c:pt idx="0">
                  <c:v>IoT-CAD</c:v>
                </c:pt>
                <c:pt idx="1">
                  <c:v>One-Class SVM</c:v>
                </c:pt>
                <c:pt idx="2">
                  <c:v>Single LSTM</c:v>
                </c:pt>
                <c:pt idx="3">
                  <c:v>ConvLSTM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70.0</c:v>
                </c:pt>
                <c:pt idx="1">
                  <c:v>39.0</c:v>
                </c:pt>
                <c:pt idx="2">
                  <c:v>52.0</c:v>
                </c:pt>
                <c:pt idx="3">
                  <c:v>66.0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แนะนำตัวและเปิดบทความ (0:00 - 0:45)]</a:t>
            </a:r>
          </a:p>
          <a:p/>
          <a:p>
            <a:r>
              <a:t>กราบเรียนอาจารย์ประจำวิชา 305432 เครือข่ายเซนเซอร์ และสวัสดีเพื่อนๆ ทุกคนครับ</a:t>
            </a:r>
          </a:p>
          <a:p>
            <a:r>
              <a:t>ผม นายธีรภัทร ภู่ระย้า รหัสนิสิต 663624 วันนี้จะมานำเสนอบทความวิจัยระดับนานาชาติเรื่อง:</a:t>
            </a:r>
          </a:p>
          <a:p>
            <a:r>
              <a:t>"IoT-CAD: Context-Aware Adaptive Anomaly Detection in IoT Systems Through Sensor Association"</a:t>
            </a:r>
          </a:p>
          <a:p>
            <a:r>
              <a:t>ซึ่งได้รับการตีพิมพ์ในงานประชุมวิชาการ IEEE/ACM ICCAD ปี 2020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การจำแนก EA และ SDA (0:45 - 1:45)]</a:t>
            </a:r>
          </a:p>
          <a:p/>
          <a:p>
            <a:r>
              <a:t>1. การอธิบายภาพ Figure 2:</a:t>
            </a:r>
          </a:p>
          <a:p>
            <a:r>
              <a:t>ภาพด้านบนคือกรณีศึกษาโรงบำบัดน้ำเสียจากบทความต้นฉบับ ซึ่งมีเซนเซอร์วัดค่าออกซิเจน ไนเตรต และแอมโมเนียติดตั้งอยู่ร่วมกัน</a:t>
            </a:r>
          </a:p>
          <a:p>
            <a:r>
              <a:t>- กราฟ (b) คือกรณี Environmental Anomaly (EA): สังเกตว่าเมื่อสภาวะน้ำเปลี่ยน สัญญาณของเซนเซอร์ทั้งสามชนิดมีแนวโน้มขยับตามกันอย่างสอดคล้อง</a:t>
            </a:r>
          </a:p>
          <a:p>
            <a:r>
              <a:t>- กราฟ (c) คือกรณี Sensing Device Anomaly (SDA): มีเพียงเซนเซอร์ไนเตรตตัวเดียวที่กระโดดขึ้นผิดปกติ ในขณะที่ออกซิเจนและแอมโมเนียยังมีค่าปกติ</a:t>
            </a:r>
          </a:p>
          <a:p/>
          <a:p>
            <a:r>
              <a:t>2. สรุปหลักการสำคัญ:</a:t>
            </a:r>
          </a:p>
          <a:p>
            <a:r>
              <a:t>ใช้ความสัมพันธ์ของกลุ่มเซนเซอร์ข้างเคียงเป็นพยานบริบทในการจำแนกสาเหตุ แทนการพิจารณาเซนเซอร์เดี่ยว</a:t>
            </a:r>
          </a:p>
          <a:p>
            <a:r>
              <a:t>- หากเป็น EA ต้องสั่งการรับมือทางกายภาพ</a:t>
            </a:r>
          </a:p>
          <a:p>
            <a:r>
              <a:t>- หากเป็น SDA ต้องชี้เป้าอุปกรณ์เพื่อส่งช่างไปซ่อม หรือตัดออกจากระบบโหวตเพื่อไม่ให้ระบบควบคุมหลักทำงานผิดพลาดครับ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สถาปัตยกรรมและกระบวนการทำงาน 4 ขั้นตอน (1:45 - 3:00)]</a:t>
            </a:r>
          </a:p>
          <a:p/>
          <a:p>
            <a:r>
              <a:t>1. โครงสร้าง 3 ระดับ:</a:t>
            </a:r>
          </a:p>
          <a:p>
            <a:r>
              <a:t>ผู้เขียนแบ่งระบบเป็น Edge, Fog และ Cloud โดยหัวใจของ IoT-CAD รันอยู่บนระดับ Fog เพื่อให้ตอบสนองได้รวดเร็วแบบ Low-latency</a:t>
            </a:r>
          </a:p>
          <a:p/>
          <a:p>
            <a:r>
              <a:t>2. กลไกเชิงลึก 4 ขั้นตอน:</a:t>
            </a:r>
          </a:p>
          <a:p>
            <a:r>
              <a:t>- ขั้นที่ 1 Binary Fingerprint: ตัดปัญหากำแพงของหน่วยวัด โดยไม่สนว่าค่าดิบคืออะไร แต่ดูทิศทางการเปลี่ยนแปลงสัมพัทธ์ในหน้าต่างเวลาแล้วแปลงเป็นบิต 0 หรือ 1</a:t>
            </a:r>
          </a:p>
          <a:p>
            <a:r>
              <a:t>- ขั้นที่ 2 Sensor Association: นำลำดับบิตมาคำนวณ Hamming Distance จัดกลุ่มเซนเซอร์ที่มีรูปแบบการเปลี่ยนตามกัน โดยมีกฎเหล็กว่าคลัสเตอร์ต้องมีเซนเซอร์อย่างน้อย 3 ตัวขึ้นไป</a:t>
            </a:r>
          </a:p>
          <a:p>
            <a:r>
              <a:t>- ขั้นที่ 3 Predictive Model: แต่ละคลัสเตอร์ใช้ LSTM ทำนายค่าปกติ และนำ Reconstruction Error มาคำนวณความน่าจะเป็นด้วย Multivariate Gaussian</a:t>
            </a:r>
          </a:p>
          <a:p>
            <a:r>
              <a:t>- ขั้นที่ 4 Consensus: เมื่อมีเซนเซอร์ตรวจพบ Anomaly ระบบจะตรวจสมาชิกในคลัสเตอร์ ถ้าเกินครึ่งหนึ่งเห็นตรงกันสรุปเป็น EA แต่ถ้ามีตัวเดียวที่ผิดปกติสรุปเป็น SDA ทันที</a:t>
            </a:r>
          </a:p>
          <a:p/>
          <a:p>
            <a:r>
              <a:t>3. รูปแบบการฝึกสอน:</a:t>
            </a:r>
          </a:p>
          <a:p>
            <a:r>
              <a:t>โมเดลฝึกสอนแบบ Unsupervised จากข้อมูลปกติ และใช้ Validation Set เล็กน้อยเพื่อปรับจูนเกณฑ์อัลฟ่า (alpha)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ฮาร์ดแวร์และชุดข้อมูลทดสอบ (3:00 - 4:00)]</a:t>
            </a:r>
          </a:p>
          <a:p/>
          <a:p>
            <a:r>
              <a:t>1. จุดแข็งด้านการทดลอง:</a:t>
            </a:r>
          </a:p>
          <a:p>
            <a:r>
              <a:t>ผู้เขียนไม่ได้ทดลองเฉพาะในการจำลองซอฟต์แวร์ แต่สร้าง Testbed จริงในอาคารตามภาพ Figure 8 มีเซนเซอร์ 62 ตัว ครอบคลุม 13 ชนิด เช่น อุณหภูมิ ความชื้น แสง เสียง ก๊าซ CO2 และแรงสั่นสะเทือน</a:t>
            </a:r>
          </a:p>
          <a:p/>
          <a:p>
            <a:r>
              <a:t>2. สถาปัตยกรรมการสื่อสาร:</a:t>
            </a:r>
          </a:p>
          <a:p>
            <a:r>
              <a:t>เซนเซอร์ใช้โปรโตคอล IEEE 802.15.4 ซึ่งเป็นมาตรฐานสากลของ Wireless Sensor Networks ส่งผ่านเกตเวย์ Raspberry Pi เข้าสู่โน้ตบุ๊ก Fog เพื่อประมวลผล</a:t>
            </a:r>
          </a:p>
          <a:p/>
          <a:p>
            <a:r>
              <a:t>3. ประเด็นสำคัญที่ต้องพูดให้ชัดเจน:</a:t>
            </a:r>
          </a:p>
          <a:p>
            <a:r>
              <a:t>ข้อมูลสภาวะปกติ 2.3 ล้านจุดวัดมาจากเหตุการณ์จริง 8 วัน แต่ Anomaly เป็นข้อมูลสังเคราะห์ทางกายภาพ เนื่องจากในการวิจัยระบบน้ำหรืออาคารจริง ไม่สามารถเสี่ยงสร้างไฟไหม้หรือทำให้อุปกรณ์พังได้ ซึ่งจุดนี้เป็นข้อจำกัดที่ผู้เขียนระบุไว้อย่างตรงไปตรงมาครับ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ผลลัพธ์เชิงตัวเลขและการวิเคราะห์ Trade-off (4:00 - 5:15)]</a:t>
            </a:r>
          </a:p>
          <a:p/>
          <a:p>
            <a:r>
              <a:t>1. ตัวเลขผลการทดลอง:</a:t>
            </a:r>
          </a:p>
          <a:p>
            <a:r>
              <a:t>- IoT-CAD ได้ Precision สูงสุดที่ 92.0% และ F1-Score 70.0% สูงกว่าทุกวิธีในตาราง</a:t>
            </a:r>
          </a:p>
          <a:p>
            <a:r>
              <a:t>- เมื่อเทียบกับ One-Class SVM แม้จะได้ Precision 89% แต่ Recall ต่ำมากเพียง 25% (ตรวจแทบไม่เจอ)</a:t>
            </a:r>
          </a:p>
          <a:p>
            <a:r>
              <a:t>- ส่วน ConvLSTM ได้ Recall สูงถึง 95% แต่ Precision ร่วงลงมาเหลือเพียง 51% แปลว่าครึ่งหนึ่งของการแจ้งเตือนเป็นสัญญาณเตือนภัยลวง</a:t>
            </a:r>
          </a:p>
          <a:p/>
          <a:p>
            <a:r>
              <a:t>2. จุดวิเคราะห์เชิงวิศวกรรม:</a:t>
            </a:r>
          </a:p>
          <a:p>
            <a:r>
              <a:t>- IoT-CAD ยอมแลก Recall 56% เพื่อให้ได้ Precision 92% เพราะในโรงงานอุตสาหกรรม สัญญาณเตือนภัยลวงที่ดังตลอดเวลาจะทำให้พนักงานหยุดความสนใจระบบ (Alarm Fatigue)</a:t>
            </a:r>
          </a:p>
          <a:p>
            <a:r>
              <a:t>- เวลาประมวลผล 0.532 วินาทีต่อรอบ ถือว่าทำงานได้แบบ Real-time บนคอมพิวเตอร์ระดับ Fog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Contribution 3 ข้อหลัก (5:15 - 6:15)]</a:t>
            </a:r>
          </a:p>
          <a:p/>
          <a:p>
            <a:r>
              <a:t>1. Contribution ข้อแรก (Section 3.2):</a:t>
            </a:r>
          </a:p>
          <a:p>
            <a:r>
              <a:t>คือการเสนอ Binary Fingerprint ที่ขจัดปัญหาหน่วยวัด ทำให้เซนเซอร์คนละหน่วยจัดกลุ่มร่วมกันได้โดยไม่ต้องมาเขียนสมการแปลงหน่วยทางกายภาพด้วยมือ</a:t>
            </a:r>
          </a:p>
          <a:p/>
          <a:p>
            <a:r>
              <a:t>2. Contribution ข้อที่สอง (Section 3.4):</a:t>
            </a:r>
          </a:p>
          <a:p>
            <a:r>
              <a:t>คือการเพิ่มกระบวนการ Consensus หลัง Anomaly Detection ทั่วไป ทำให้ระบบไม่ได้ตอบแค่ว่าปกติหรือไม่ปกติ แต่ตอบได้ว่าเป็น EA หรือ SDA และบอกได้ด้วยว่าเซนเซอร์ตัวใดเป็นต้นเหตุ</a:t>
            </a:r>
          </a:p>
          <a:p/>
          <a:p>
            <a:r>
              <a:t>3. Contribution ข้อที่สาม (Section 3.4):</a:t>
            </a:r>
          </a:p>
          <a:p>
            <a:r>
              <a:t>คือกลไกการปรับตัวบน Fog Computing เมื่อมีโหนดใหม่เข้ามา หรือสภาพแวดล้อมเปลี่ยน ระบบสามารถ Retrain เฉพาะกลุ่มที่เกี่ยวข้องได้โดยไม่ต้องเริ่มนับหนึ่งใหม่ทั้งระบบเครือข่ายครับ</a:t>
            </a:r>
          </a:p>
          <a:p/>
          <a:p>
            <a:r>
              <a:t>4. บทสรุปคุณค่าเชิงวิศวกรรม:</a:t>
            </a:r>
          </a:p>
          <a:p>
            <a:r>
              <a:t>งานวิจัยนี้ไม่ได้เน้นการคิดค้นโครงสร้าง Deep Learning ใหม่ แต่เน้นการสร้างระบบที่เข้าใจบริบททางกายภาพและทำงานได้จริงบนทรัพยากรระดับ Fog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[ประเด็นการนำเสนอ: ข้อวิจารณ์ ข้อจำกัด และบทสรุป (6:15 - 7:30)]</a:t>
            </a:r>
          </a:p>
          <a:p/>
          <a:p>
            <a:r>
              <a:t>1. การวิจารณ์อย่างตรงไปตรงมา:</a:t>
            </a:r>
          </a:p>
          <a:p>
            <a:r>
              <a:t>- ประเด็นแรกคือ Recall 56% ที่ยังมี Anomaly หลุดรอดไปถึง 44% ถือว่ายังไม่พร้อมสำหรับระบบวิกฤตความปลอดภัย</a:t>
            </a:r>
          </a:p>
          <a:p>
            <a:r>
              <a:t>- ประเด็นที่สองคือ Anomaly ในการทดลองเป็นข้อมูลสังเคราะห์ และเก็บข้อมูลเพียง 8 วัน</a:t>
            </a:r>
          </a:p>
          <a:p>
            <a:r>
              <a:t>- ประเด็นที่สามคือ หากแฮกเกอร์โจมตีเซนเซอร์พร้อมกันหลายตัวในกลุ่ม (Coordinated Attack) ฉันทามติอาจถูกหลอกได้</a:t>
            </a:r>
          </a:p>
          <a:p/>
          <a:p>
            <a:r>
              <a:t>2. บทสรุปและการนำไปใช้:</a:t>
            </a:r>
          </a:p>
          <a:p>
            <a:r>
              <a:t>ถึงแม้จะมีข้อจำกัด แต่ IoT-CAD ได้ให้แนวคิดที่ยอดเยี่ยมในการนำ Cross-Sensor Association มาใช้ลด False Alarm และทำงานได้จริงบน Fog Computing ซึ่งสามารถนำหลักการนี้ไปประยุกต์ใช้ในโครงงานระบบเซนเซอร์หรือวิทยานิพนธ์ได้เป็นอย่างดีครับ</a:t>
            </a:r>
          </a:p>
          <a:p/>
          <a:p>
            <a:r>
              <a:t>ผมขอจบการนำเสนอแต่เพียงเท่านี้ พร้อมรับฟังข้อเสนอแนะและตอบคำถามจากอาจารย์และเพื่อนๆ ทุกท่านครับ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156082"/>
                </a:solidFill>
                <a:latin typeface="TH Sarabun New"/>
              </a:defRPr>
            </a:pPr>
            <a:r>
              <a:t>วิชา 305432 เครือข่ายเซนเซอร์ (Sensor Networks)  ·  รายงานสรุปบทความวิจัย (Paper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900" b="1">
                <a:solidFill>
                  <a:srgbClr val="0E2841"/>
                </a:solidFill>
                <a:latin typeface="Segoe UI"/>
              </a:defRPr>
            </a:pPr>
            <a:r>
              <a:t>IoT-CAD: Context-Aware Adaptive Anomaly Detection</a:t>
            </a:r>
            <a:br/>
            <a:r>
              <a:t>in IoT Systems Through Sensor Association</a:t>
            </a:r>
          </a:p>
          <a:p>
            <a:pPr algn="ctr">
              <a:spcBef>
                <a:spcPts val="800"/>
              </a:spcBef>
              <a:defRPr sz="2100" b="1">
                <a:solidFill>
                  <a:srgbClr val="156082"/>
                </a:solidFill>
                <a:latin typeface="TH Sarabun New"/>
              </a:defRPr>
            </a:pPr>
            <a:r>
              <a:t>การตรวจจับสิ่งผิดปกติแบบรู้บริบทและปรับตัวได้ในระบบ IoT ผ่านการเชื่อมโยงความสัมพันธ์เซนเซอร์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4495190" y="3749039"/>
            <a:ext cx="3200400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64748B"/>
                </a:solidFill>
                <a:latin typeface="TH Sarabun New"/>
              </a:defRPr>
            </a:pPr>
            <a:r>
              <a:t>2020 IEEE/ACM International Conference on Computer-Aided Design (ICCAD)</a:t>
            </a:r>
            <a:br/>
            <a:r>
              <a:t>คณะผู้วิจัย: Rozhin Yasaei, Felix Hernandez, Mohammad Abdullah Al Faruque (UC Irvine)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ผู้นำเสนอ: นายธีรภัทร ภู่ระย้า  (รหัสนิสิต 663624)</a:t>
            </a:r>
          </a:p>
          <a:p>
            <a:pPr algn="ctr">
              <a:spcBef>
                <a:spcPts val="400"/>
              </a:spcBef>
              <a:defRPr sz="1700">
                <a:solidFill>
                  <a:srgbClr val="64748B"/>
                </a:solidFill>
                <a:latin typeface="TH Sarabun New"/>
              </a:defRPr>
            </a:pPr>
            <a:r>
              <a:t>ภาควิชาวิศวกรรมไฟฟ้าและคอมพิวเตอร์  คณะวิศวกรรมศาสตร์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นิยามปัญหา: Environmental Anomaly (EA) เทียบกับ Sensing Device Anomaly (SDA)</a:t>
            </a:r>
          </a:p>
        </p:txBody>
      </p:sp>
      <p:pic>
        <p:nvPicPr>
          <p:cNvPr id="5" name="Picture 4" descr="figure2_ea_s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212080" cy="2240280"/>
          </a:xfrm>
          <a:prstGeom prst="rect">
            <a:avLst/>
          </a:prstGeom>
          <a:noFill/>
        </p:spPr>
        <p:txBody>
          <a:bodyPr wrap="square" lIns="228600" rIns="228600" tIns="13716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6534"/>
                </a:solidFill>
                <a:latin typeface="TH Sarabun New"/>
              </a:defRPr>
            </a:pPr>
            <a:r>
              <a:t>1. Environmental Anomaly (EA)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เกิดการเปลี่ยนแปลงทางกายภาพจริงในสภาวะแวดล้อม (เช่น เกิดเพลิงไหม้ หรือสารเคมีรั่วไหล)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เซนเซอร์หลายชนิดที่เกี่ยวข้องจะเปลี่ยนแปลงไปในทิศทางสอดคล้องกัน (Correlated Signals)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ระบบต้องสั่งการมาตรการความปลอดภัย ไม่สรุปว่าเซนเซอร์ชำรุดหรือตัดสัญญาณทิ้ง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79476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095" y="3794760"/>
            <a:ext cx="5212080" cy="2240280"/>
          </a:xfrm>
          <a:prstGeom prst="rect">
            <a:avLst/>
          </a:prstGeom>
          <a:noFill/>
        </p:spPr>
        <p:txBody>
          <a:bodyPr wrap="square" lIns="228600" rIns="228600" tIns="137160" bIns="137160" anchor="ctr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991B1B"/>
                </a:solidFill>
                <a:latin typeface="TH Sarabun New"/>
              </a:defRPr>
            </a:pPr>
            <a:r>
              <a:t>2. Sensing Device Anomaly (SDA)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นิยาม: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ตัวอุปกรณ์ตรวจวัดชำรุด เสื่อมสภาพ หรือสัญญาณถูกโจมตีทางไซเบอร์ (Sensor Data Tampering)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พฤติกรรมสัญญาณ: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สัญญาณของเซนเซอร์ตัวที่มีปัญหาจะมีค่าขัดแย้งกับสมาชิกในกลุ่มบริบทเดียวกัน (Uncorrelated)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TH Sarabun New"/>
              </a:rPr>
              <a:t>• การดำเนินการ: </a:t>
            </a:r>
            <a:r>
              <a:rPr sz="1450">
                <a:solidFill>
                  <a:srgbClr val="0F172A"/>
                </a:solidFill>
                <a:latin typeface="TH Sarabun New"/>
              </a:rPr>
              <a:t>ระบบสามารถระบุชี้เป้าเซนเซอร์ที่มีปัญหาได้อย่างเจาะจงเพื่อแจ้งทีมซ่อมบำรุงอุปกรณ์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สถาปัตยกรรมระบบ 3 ระดับ และกระบวนการทำงาน 4 ขั้นตอน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7548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754880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1. Edge Tier: โหนดตรวจวัดทางกายภาพ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หน้าที่: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รวบรวมข้อมูลดิบ (Raw Data) จากเซนเซอร์กายภาพในพื้นที่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การสื่อสาร: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ส่งข้อมูลผ่านโปรโตคอลไร้สายกำลังต่ำ IEEE 802.15.4 สู่เกตเวย์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47548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754880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156082"/>
                </a:solidFill>
                <a:latin typeface="TH Sarabun New"/>
              </a:defRPr>
            </a:pPr>
            <a:r>
              <a:t>2. Fog Tier: เกตเวย์และประมวลผลพื้นที่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จุดประมวลผลหลัก: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สกัด Fingerprint, ทำนายด้วยแบบจำลอง LSTM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การตัดสินใจ: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จำแนก Anomaly และโหวตฉันทามติแบบ Real-time หน้างาน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47548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4754880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3. Cloud Tier: ระบบคลาวด์ส่วนกลาง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ฐานข้อมูลประวัติ: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จัดเก็บข้อมูลประวัติย้อนหลังระยะยาวเพื่อการวิเคราะห์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TH Sarabun New"/>
              </a:rPr>
              <a:t>• การฝึกสอนใหญ่: </a:t>
            </a:r>
            <a:r>
              <a:rPr sz="1400">
                <a:solidFill>
                  <a:srgbClr val="0F172A"/>
                </a:solidFill>
                <a:latin typeface="TH Sarabun New"/>
              </a:rPr>
              <a:t>ดำเนินการ Complete Retraining เมื่อมีการเปลี่ยนโครงสร้างระบบ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325880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25880"/>
            <a:ext cx="5699455" cy="1060704"/>
          </a:xfrm>
          <a:prstGeom prst="rect">
            <a:avLst/>
          </a:prstGeom>
          <a:noFill/>
        </p:spPr>
        <p:txBody>
          <a:bodyPr wrap="square" lIns="228600" rIns="228600" tIns="9144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1: Binary Fingerprint (สมการที่ 1)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แปลงทิศทางความเปลี่ยนแปลงสัมพัทธ์ในหน้าต่างเวลาเป็นบิต 0 และ 1 เพื่อตัดปัญหากำแพงหน่วยวัดทางกายภาพที่ต่างกัน (เช่น องศาเซลเซียส กับ ลักซ์)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542032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542032"/>
            <a:ext cx="5699455" cy="1060704"/>
          </a:xfrm>
          <a:prstGeom prst="rect">
            <a:avLst/>
          </a:prstGeom>
          <a:noFill/>
        </p:spPr>
        <p:txBody>
          <a:bodyPr wrap="square" lIns="228600" rIns="228600" tIns="9144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156082"/>
                </a:solidFill>
                <a:latin typeface="TH Sarabun New"/>
              </a:defRPr>
            </a:pPr>
            <a:r>
              <a:t>ขั้นที่ 2: Sensor Association (Hamming Clustering)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วัดความคล้ายคลึงด้วย Hamming Distance และจัดกลุ่มด้วย Clustering 2 ระดับ โดยคลัสเตอร์ต้องมีสมาชิกตั้งแต่ 3 ตัวขึ้นไปเพื่อรองรับฉันทามติ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758184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3758184"/>
            <a:ext cx="5699455" cy="1060704"/>
          </a:xfrm>
          <a:prstGeom prst="rect">
            <a:avLst/>
          </a:prstGeom>
          <a:noFill/>
        </p:spPr>
        <p:txBody>
          <a:bodyPr wrap="square" lIns="228600" rIns="228600" tIns="9144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0E2841"/>
                </a:solidFill>
                <a:latin typeface="TH Sarabun New"/>
              </a:defRPr>
            </a:pPr>
            <a:r>
              <a:t>ขั้นที่ 3: Predictive Model (LSTM + Gaussian)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แต่ละคลัสเตอร์ใช้ LSTM Encoder-Decoder เรียนรู้พฤติกรรมปกติ และประเมินเวกเตอร์ Reconstruction Error ด้วย Multivariate Gaussian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974336"/>
            <a:ext cx="5699455" cy="106070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974336"/>
            <a:ext cx="5699455" cy="1060704"/>
          </a:xfrm>
          <a:prstGeom prst="rect">
            <a:avLst/>
          </a:prstGeom>
          <a:noFill/>
        </p:spPr>
        <p:txBody>
          <a:bodyPr wrap="square" lIns="228600" rIns="228600" tIns="91440" bIns="91440" anchor="ctr">
            <a:spAutoFit/>
          </a:bodyPr>
          <a:lstStyle/>
          <a:p>
            <a:pPr>
              <a:spcAft>
                <a:spcPts val="200"/>
              </a:spcAft>
              <a:defRPr sz="1650" b="1">
                <a:solidFill>
                  <a:srgbClr val="B45309"/>
                </a:solidFill>
                <a:latin typeface="TH Sarabun New"/>
              </a:defRPr>
            </a:pPr>
            <a:r>
              <a:t>ขั้นที่ 4: Consensus Algorithm &amp; Adaptive Retrain</a:t>
            </a:r>
          </a:p>
          <a:p>
            <a:pPr>
              <a:defRPr sz="1350">
                <a:solidFill>
                  <a:srgbClr val="0F172A"/>
                </a:solidFill>
                <a:latin typeface="TH Sarabun New"/>
              </a:defRPr>
            </a:pPr>
            <a:r>
              <a:t>ใช้เสียงส่วนใหญ่ในคลัสเตอร์จำแนก EA vs SDA พร้อมระบุโหนดเสีย และ Retrain แบบ Adaptive เมื่อเกิดการเปลี่ยนแปลงในระบบ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สภาพแวดล้อมการทดสอบจริง (Hardware Testbed &amp; Experimental Scope)</a:t>
            </a:r>
          </a:p>
        </p:txBody>
      </p:sp>
      <p:pic>
        <p:nvPicPr>
          <p:cNvPr id="5" name="Picture 4" descr="figure8_test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93776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2681935" cy="1234440"/>
          </a:xfrm>
          <a:prstGeom prst="rect">
            <a:avLst/>
          </a:prstGeom>
          <a:noFill/>
        </p:spPr>
        <p:txBody>
          <a:bodyPr wrap="square" lIns="137160" rIns="137160" tIns="9144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62 โหนด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เซนเซอร์ฮาร์ดแวร์จริง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32588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325880"/>
            <a:ext cx="2681935" cy="1234440"/>
          </a:xfrm>
          <a:prstGeom prst="rect">
            <a:avLst/>
          </a:prstGeom>
          <a:noFill/>
        </p:spPr>
        <p:txBody>
          <a:bodyPr wrap="square" lIns="137160" rIns="137160" tIns="9144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13 ชนิด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ตัวแปรทางกายภาพ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681935" cy="1234440"/>
          </a:xfrm>
          <a:prstGeom prst="rect">
            <a:avLst/>
          </a:prstGeom>
          <a:noFill/>
        </p:spPr>
        <p:txBody>
          <a:bodyPr wrap="square" lIns="137160" rIns="137160" tIns="9144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8 วัน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บันทึกสภาวะปกติ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743200"/>
            <a:ext cx="2681935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743200"/>
            <a:ext cx="2681935" cy="1234440"/>
          </a:xfrm>
          <a:prstGeom prst="rect">
            <a:avLst/>
          </a:prstGeom>
          <a:noFill/>
        </p:spPr>
        <p:txBody>
          <a:bodyPr wrap="square" lIns="137160" rIns="137160" tIns="91440" bIns="91440" anchor="ctr">
            <a:spAutoFit/>
          </a:bodyPr>
          <a:lstStyle/>
          <a:p>
            <a:pPr algn="ctr">
              <a:defRPr sz="2800" b="1">
                <a:solidFill>
                  <a:srgbClr val="0E2841"/>
                </a:solidFill>
                <a:latin typeface="TH Sarabun New"/>
              </a:defRPr>
            </a:pPr>
            <a:r>
              <a:t>2.3 ล้าน</a:t>
            </a:r>
          </a:p>
          <a:p>
            <a:pPr algn="ctr">
              <a:defRPr sz="1600">
                <a:solidFill>
                  <a:srgbClr val="64748B"/>
                </a:solidFill>
                <a:latin typeface="TH Sarabun New"/>
              </a:defRPr>
            </a:pPr>
            <a:r>
              <a:t>จุดข้อมูลการวัดทั้งหมด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60520"/>
            <a:ext cx="551657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160520"/>
            <a:ext cx="5516575" cy="1874519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0E2841"/>
                </a:solidFill>
                <a:latin typeface="TH Sarabun New"/>
              </a:defRPr>
            </a:pPr>
            <a:r>
              <a:t>องค์ประกอบเครือข่ายและข้อกำหนดข้อมูล: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การเชื่อมต่อเครือข่าย: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โปรโตคอลไร้สาย IEEE 802.15.4 (TinyOS) รวบรวมผ่าน Raspberry Pi Gateway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โหนดประมวลผล Fog: </a:t>
            </a:r>
            <a:r>
              <a:rPr sz="1350">
                <a:solidFill>
                  <a:srgbClr val="0F172A"/>
                </a:solidFill>
                <a:latin typeface="TH Sarabun New"/>
              </a:rPr>
              <a:t>แล็ปท็อป Intel Core i5-6300HQ, RAM 8 GB ทำหน้าที่ประมวลผลหน้างาน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TH Sarabun New"/>
              </a:rPr>
              <a:t>• ข้อกำหนดข้อมูลที่สำคัญ: </a:t>
            </a:r>
            <a:r>
              <a:rPr sz="1350">
                <a:solidFill>
                  <a:srgbClr val="0F172A"/>
                </a:solidFill>
                <a:latin typeface="TH Sarabun New"/>
              </a:rPr>
              <a:t>ข้อมูลปกติเก็บจริง 8 วัน แต่ข้อมูลความผิดปกติเป็นข้อมูลสังเคราะห์ (Synthetic Anomaly) เพื่อความปลอดภัย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ผลการทดลองเชิงปริมาณ: การเปรียบเทียบ Precision, Recall และ F1-Score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66928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325880"/>
            <a:ext cx="4785055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25880"/>
            <a:ext cx="4785055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Precision สูงสุด 92.0%  (F1 รวม 70.0%)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เมื่อระบบส่งสัญญาณแจ้งเตือน มั่นใจได้ถึง 92% ว่าเกิดเหตุผิดปกติขึ้นจริง ช่วยขจัดปัญหาการเตือนภัยลวง (False Alarm Fatigue) ในระบบเฝ้าระวังอุตสาหกรรมได้อย่างมีนัยสำคัญ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971800"/>
            <a:ext cx="4785055" cy="1417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971800"/>
            <a:ext cx="4785055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Recall อยู่ที่ 56.0%  (ยังมี False Negative 44.0%)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เกิดจากการตั้งค่าเกณฑ์ขีดเริ่มเปลี่ยนอัลฟ่าอย่างเข้มงวดเพื่อกด False Positive ทำให้ความผิดปกติบางรูปแบบหลุดรอดการตรวจจับ จึงยังไม่เหมาะกับระบบ Safety-Critical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617720"/>
            <a:ext cx="47850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617720"/>
            <a:ext cx="4785055" cy="141732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E2841"/>
                </a:solidFill>
                <a:latin typeface="TH Sarabun New"/>
              </a:defRPr>
            </a:pPr>
            <a:r>
              <a:t>เวลาประมวลผล (Latency): 0.532 วินาทีต่อรอบ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ความเร็วในการประมวลผล 0.532 วินาที เร็วกว่ารอบการเก็บข้อมูลของเซนเซอร์ ยืนยันว่าระบบสามารถทำงานแบบ Real-time บนโหนด Fog ได้จริง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แหล่งข้อมูล: Table 2 และ Table 3 จาก Yasaei et al., ICCAD 2020 (เปรียบเทียบ One-Class SVM, LSTM, ConvLSTM)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การมีส่วนร่วมทางวิชาการ (Academic Contributions)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1417320"/>
          </a:xfrm>
          <a:prstGeom prst="rect">
            <a:avLst/>
          </a:prstGeom>
          <a:noFill/>
        </p:spPr>
        <p:txBody>
          <a:bodyPr wrap="square" lIns="274320" rIns="274320" tIns="13716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1. การเชื่อมโยงเซนเซอร์ต่างชนิดโดยอาศัยบริบท (Cross-Modal Sensor Association)   [Section 3.2, Algorithm 1]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นำเสนอเทคนิค Binary Fingerprint ที่แปลงพลวัตการเปลี่ยนแปลงของค่าสัญญาณให้เป็นลำดับบิต 0 และ 1 ช่วยขจัดกำแพงเรื่องความแตกต่างของหน่วยวัดทางกายภาพ ทำให้ระบบสามารถคำนวณ Hamming Distance และจัดกลุ่มเซนเซอร์ต่างประเภท (เช่น เซนเซอร์วัดแสง กับ เซนเซอร์วัดอุณหภูมิ) ได้อย่างอัตโนมัติ โดยไม่ต้องกำหนดความสัมพันธ์ทางกายภาพด้วยมือ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1417320"/>
          </a:xfrm>
          <a:prstGeom prst="rect">
            <a:avLst/>
          </a:prstGeom>
          <a:noFill/>
        </p:spPr>
        <p:txBody>
          <a:bodyPr wrap="square" lIns="274320" rIns="274320" tIns="13716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156082"/>
                </a:solidFill>
                <a:latin typeface="TH Sarabun New"/>
              </a:defRPr>
            </a:pPr>
            <a:r>
              <a:t>2. กลไกฉันทามติเพื่อจำแนกประเภทและระบุต้นทางความผิดปกติ (Consensus-Based Disambiguation)   [Section 3.4, Algorithm 2]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พัฒนาการตรวจจับความผิดปกติให้ก้าวข้ามการบอกเพียงว่าข้อมูลผิดปกติหรือไม่ โดยใช้เสียงส่วนใหญ่ของคลัสเตอร์เพื่อแยกแยะระหว่าง Environmental Anomaly (EA) ออกจาก Sensing Device Anomaly (SDA) พร้อมทั้งระบุหมายเลขโหนดที่เป็นต้นเหตุได้อย่างเจาะจงเพื่อการบำรุงรักษาอุปกรณ์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728655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8655" cy="1417320"/>
          </a:xfrm>
          <a:prstGeom prst="rect">
            <a:avLst/>
          </a:prstGeom>
          <a:noFill/>
        </p:spPr>
        <p:txBody>
          <a:bodyPr wrap="square" lIns="274320" rIns="274320" tIns="137160" bIns="137160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0E2841"/>
                </a:solidFill>
                <a:latin typeface="TH Sarabun New"/>
              </a:defRPr>
            </a:pPr>
            <a:r>
              <a:t>3. สถาปัตยกรรมการปรับตัวแบบเพิ่มพูนบน Fog Computing (Adaptive Model Updating)   [Section 3.4, Subsection D]</a:t>
            </a:r>
          </a:p>
          <a:p>
            <a:pPr>
              <a:defRPr sz="1450">
                <a:solidFill>
                  <a:srgbClr val="0F172A"/>
                </a:solidFill>
                <a:latin typeface="TH Sarabun New"/>
              </a:defRPr>
            </a:pPr>
            <a:r>
              <a:t>ออกแบบกลไกการปรับปรุงโมเดลสองระดับ ได้แก่ Partial Update บน Fog Node เพื่อรองรับการเปลี่ยนแปลงของสภาพแวดล้อม และ Complete Retrain เมื่อมีการเพิ่มลดโหนดในเครือข่าย โดยฝึกสอนใหม่เฉพาะคลัสเตอร์ที่ได้รับผลกระทบ ช่วยลดภาระการประมวลผลและการส่งข้อมูลขึ้นคลาวด์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0"/>
            <a:ext cx="10728655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TH Sarabun New"/>
              </a:defRPr>
            </a:pPr>
            <a:r>
              <a:t>ข้อวิจารณ์เชิงวิชาการ ข้อจำกัด และบทสรุป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B45309"/>
                </a:solidFill>
                <a:latin typeface="TH Sarabun New"/>
              </a:defRPr>
            </a:pPr>
            <a:r>
              <a:t>ข้อจำกัดที่ระบุในบทความ (Limitations &amp; Risks)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98448"/>
            <a:ext cx="5212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166534"/>
                </a:solidFill>
                <a:latin typeface="TH Sarabun New"/>
              </a:defRPr>
            </a:pPr>
            <a:r>
              <a:t>บทสรุปและการประยุกต์ใช้งาน (Conclusion &amp; Applications)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1. อัตรา Recall 56% ยังไม่เหมาะกับระบบวิกฤต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การปล่อยให้ Anomaly หลุดรอดไปถึง 44% ถือเป็นความเสี่ยงที่ไม่สามารถยอมรับได้ในระบบความปลอดภัยสูง (Safety-Critical) เช่น ระบบแจ้งเตือนอัคคีภัยหรือโรงไฟฟ้านิวเคลียร์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2. การประเมินผลด้วยข้อมูลสังเคราะห์ระยะสั้น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ข้อมูล Anomaly ทั้งหมดสร้างด้วยแบบจำลองคณิตศาสตร์ และบันทึกข้อมูลปกติเพียง 8 วันในอาคารเดียว ยังไม่ได้ทดสอบความทนทานต่อสภาพอากาศข้ามฤดูกาล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5212080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B45309"/>
                </a:solidFill>
                <a:latin typeface="TH Sarabun New"/>
              </a:defRPr>
            </a:pPr>
            <a:r>
              <a:t>3. ความเสี่ยงต่อการโจมตีแบบ Coordinated Attack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ต้องมีเซนเซอร์อย่างน้อย 3 ตัวในคลัสเตอร์จึงจะทำฉันทามติได้ และหากผู้โจมตีเจาะระบบเซนเซอร์ได้พร้อมกันเกินครึ่งกลุ่ม ระบบจะถูกหลอกให้ตัดสินเป็น 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78308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8095" y="178308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1. ประโยชน์หลักต่อเครือข่ายเซนเซอร์ IoT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พิสูจน์ว่าความสัมพันธ์ข้ามมิติของเซนเซอร์ช่วยลด False Alarm ได้อย่างเด็ดขาด (Precision 92%) บนสถาปัตยกรรม Fog โดยไม่ต้องพึ่งพา Cloud ตลอดเวลา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24612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095" y="324612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2. การนำไปต่อยอดในโครงงานวิศวกรรม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สามารถนำหลักการ Cross-Sensor Association ไปต่อยอดตรวจสอบ Data Integrity ในระบบเกษตรแม่นยำ (Smart Agriculture) หรือตรวจสภาพเครื่องจักรโรงงาน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4709160"/>
            <a:ext cx="5212080" cy="1325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095" y="4709160"/>
            <a:ext cx="5212080" cy="1325880"/>
          </a:xfrm>
          <a:prstGeom prst="rect">
            <a:avLst/>
          </a:prstGeom>
          <a:noFill/>
        </p:spPr>
        <p:txBody>
          <a:bodyPr wrap="square" lIns="228600" rIns="228600" tIns="109728" bIns="109728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6534"/>
                </a:solidFill>
                <a:latin typeface="TH Sarabun New"/>
              </a:defRPr>
            </a:pPr>
            <a:r>
              <a:t>3. ทิศทางการปรับปรุงระบบในอนาคต</a:t>
            </a:r>
          </a:p>
          <a:p>
            <a:pPr>
              <a:defRPr sz="1400">
                <a:solidFill>
                  <a:srgbClr val="0F172A"/>
                </a:solidFill>
                <a:latin typeface="TH Sarabun New"/>
              </a:defRPr>
            </a:pPr>
            <a:r>
              <a:t>ควรปรับจูนเกณฑ์อัลฟ่าให้ยืดหยุ่นตามระดับความเสี่ยงของแต่ละพื้นที่ และทดสอบกับชุดข้อมูลการโจมตีทางไซเบอร์ของจริง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64224"/>
            <a:ext cx="9601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TH Sarabun New"/>
              </a:defRPr>
            </a:pPr>
            <a:r>
              <a:t>เอกสารอ้างอิง: Yasaei et al., ICCAD 2020 (IEEE Xplore: 9256703, DOI: 10.1145/3400302.3415672)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64224"/>
            <a:ext cx="94457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