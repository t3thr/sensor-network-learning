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888"/>
  </p:normalViewPr>
  <p:slideViewPr>
    <p:cSldViewPr snapToGrid="0" snapToObjects="1">
      <p:cViewPr>
        <p:scale>
          <a:sx n="104" d="100"/>
          <a:sy n="104" d="100"/>
        </p:scale>
        <p:origin x="1088" y="-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15608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89</c:v>
                </c:pt>
                <c:pt idx="2">
                  <c:v>64</c:v>
                </c:pt>
                <c:pt idx="3">
                  <c:v>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71-8947-B9C6-FA07F06D71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B45309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25</c:v>
                </c:pt>
                <c:pt idx="2">
                  <c:v>44</c:v>
                </c:pt>
                <c:pt idx="3">
                  <c:v>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71-8947-B9C6-FA07F06D71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0E28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39</c:v>
                </c:pt>
                <c:pt idx="2">
                  <c:v>52</c:v>
                </c:pt>
                <c:pt idx="3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071-8947-B9C6-FA07F06D71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468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88720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156082"/>
                </a:solidFill>
                <a:latin typeface="TH Sarabun New"/>
              </a:defRPr>
            </a:pPr>
            <a:r>
              <a:rPr dirty="0" err="1"/>
              <a:t>วิชา</a:t>
            </a:r>
            <a:r>
              <a:rPr dirty="0"/>
              <a:t> 305432 </a:t>
            </a:r>
            <a:r>
              <a:rPr dirty="0" err="1"/>
              <a:t>เครือข่ายเซนเซอร์</a:t>
            </a:r>
            <a:r>
              <a:rPr dirty="0"/>
              <a:t> (Sensor Networks)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900" b="1">
                <a:solidFill>
                  <a:srgbClr val="0E2841"/>
                </a:solidFill>
                <a:latin typeface="Segoe UI"/>
              </a:defRPr>
            </a:pPr>
            <a:r>
              <a:t>IoT-CAD: Context-Aware Adaptive Anomaly Detection</a:t>
            </a:r>
            <a:br/>
            <a:r>
              <a:t>in IoT Systems Through Sensor Association</a:t>
            </a:r>
          </a:p>
          <a:p>
            <a:pPr algn="ctr">
              <a:spcBef>
                <a:spcPts val="800"/>
              </a:spcBef>
              <a:defRPr sz="2100" b="1">
                <a:solidFill>
                  <a:srgbClr val="156082"/>
                </a:solidFill>
                <a:latin typeface="TH Sarabun New"/>
              </a:defRPr>
            </a:pPr>
            <a:r>
              <a:t>การตรวจจับสิ่งผิดปกติแบบรู้บริบทและปรับตัวได้ในระบบ IoT ผ่านการเชื่อมโยงความสัมพันธ์เซนเซอร์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4495190" y="3749039"/>
            <a:ext cx="3200400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64748B"/>
                </a:solidFill>
                <a:latin typeface="TH Sarabun New"/>
              </a:defRPr>
            </a:pPr>
            <a:r>
              <a:t>2020 IEEE/ACM International Conference on Computer-Aided Design (ICCAD)</a:t>
            </a:r>
            <a:br/>
            <a:r>
              <a:t>คณะผู้วิจัย: Rozhin Yasaei, Felix Hernandez, Mohammad Abdullah Al Faruque (UC Irvine)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62895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นายธีรภัทร</a:t>
            </a:r>
            <a:r>
              <a:rPr dirty="0"/>
              <a:t> </a:t>
            </a:r>
            <a:r>
              <a:rPr dirty="0" err="1"/>
              <a:t>ภู่ระย้า</a:t>
            </a:r>
            <a:r>
              <a:rPr dirty="0"/>
              <a:t> </a:t>
            </a:r>
            <a:r>
              <a:rPr lang="th-TH" dirty="0"/>
              <a:t>ลำดับที่ </a:t>
            </a:r>
            <a:r>
              <a:rPr lang="en-US" dirty="0"/>
              <a:t>10 </a:t>
            </a:r>
          </a:p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รหัสนิสิต</a:t>
            </a:r>
            <a:r>
              <a:rPr dirty="0"/>
              <a:t> 663624</a:t>
            </a:r>
            <a:r>
              <a:rPr lang="en-US" dirty="0"/>
              <a:t>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นิยามปัญหา: Environmental Anomaly (EA) เทียบกับ Sensing Device Anomaly (SDA)</a:t>
            </a:r>
          </a:p>
        </p:txBody>
      </p:sp>
      <p:pic>
        <p:nvPicPr>
          <p:cNvPr id="5" name="Picture 4" descr="figure2_ea_s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10728655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212080" cy="2240280"/>
          </a:xfrm>
          <a:prstGeom prst="rect">
            <a:avLst/>
          </a:prstGeom>
          <a:noFill/>
        </p:spPr>
        <p:txBody>
          <a:bodyPr wrap="square" lIns="228600" tIns="137160" rIns="22860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6534"/>
                </a:solidFill>
                <a:latin typeface="TH Sarabun New"/>
              </a:defRPr>
            </a:pPr>
            <a:r>
              <a:t>1. Environmental Anomaly (EA)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เกิดการเปลี่ยนแปลงทางกายภาพจริงในสภาวะแวดล้อม (เช่น เกิดเพลิงไหม้ หรือสารเคมีรั่วไหล)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เซนเซอร์หลายชนิดที่เกี่ยวข้องจะเปลี่ยนแปลงไปในทิศทางสอดคล้องกัน (Correlated Signals)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ระบบต้องสั่งการมาตรการความปลอดภัย ไม่สรุปว่าเซนเซอร์ชำรุดหรือตัดสัญญาณทิ้ง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79476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8095" y="3794760"/>
            <a:ext cx="5212080" cy="2240280"/>
          </a:xfrm>
          <a:prstGeom prst="rect">
            <a:avLst/>
          </a:prstGeom>
          <a:noFill/>
        </p:spPr>
        <p:txBody>
          <a:bodyPr wrap="square" lIns="228600" tIns="137160" rIns="22860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991B1B"/>
                </a:solidFill>
                <a:latin typeface="TH Sarabun New"/>
              </a:defRPr>
            </a:pPr>
            <a:r>
              <a:t>2. Sensing Device Anomaly (SDA)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ตัวอุปกรณ์ตรวจวัดชำรุด เสื่อมสภาพ หรือสัญญาณถูกโจมตีทางไซเบอร์ (Sensor Data Tampering)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สัญญาณของเซนเซอร์ตัวที่มีปัญหาจะมีค่าขัดแย้งกับสมาชิกในกลุ่มบริบทเดียวกัน (Uncorrelated)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ระบบสามารถระบุชี้เป้าเซนเซอร์ที่มีปัญหาได้อย่างเจาะจงเพื่อแจ้งทีมซ่อมบำรุงอุปกรณ์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สถาปัตยกรรมระบบ 3 ระดับ และกระบวนการทำงาน 4 ขั้นตอน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rPr dirty="0"/>
              <a:t>1. Edge Tier: </a:t>
            </a:r>
            <a:r>
              <a:rPr dirty="0" err="1"/>
              <a:t>โหนดตรวจวัดทางกายภาพ</a:t>
            </a:r>
            <a:endParaRPr dirty="0"/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  <a:latin typeface="TH Sarabun New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TH Sarabun New"/>
              </a:rPr>
              <a:t>หน้าที่</a:t>
            </a:r>
            <a:r>
              <a:rPr sz="1400" b="1" dirty="0">
                <a:solidFill>
                  <a:srgbClr val="0F172A"/>
                </a:solidFill>
                <a:latin typeface="TH Sarabun New"/>
              </a:rPr>
              <a:t>: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รวบรวมข้อมูลดิบ</a:t>
            </a:r>
            <a:r>
              <a:rPr sz="1400" dirty="0">
                <a:solidFill>
                  <a:srgbClr val="0F172A"/>
                </a:solidFill>
                <a:latin typeface="TH Sarabun New"/>
              </a:rPr>
              <a:t> (Raw Data)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จากเซนเซอร์กายภาพในพื้นที่</a:t>
            </a:r>
            <a:endParaRPr sz="1400" dirty="0">
              <a:solidFill>
                <a:srgbClr val="0F172A"/>
              </a:solidFill>
              <a:latin typeface="TH Sarabun New"/>
            </a:endParaRPr>
          </a:p>
          <a:p>
            <a:pPr>
              <a:spcAft>
                <a:spcPts val="200"/>
              </a:spcAft>
            </a:pPr>
            <a:r>
              <a:rPr sz="1400" b="1" dirty="0">
                <a:solidFill>
                  <a:srgbClr val="0F172A"/>
                </a:solidFill>
                <a:latin typeface="TH Sarabun New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TH Sarabun New"/>
              </a:rPr>
              <a:t>การสื่อสาร</a:t>
            </a:r>
            <a:r>
              <a:rPr sz="1400" b="1" dirty="0">
                <a:solidFill>
                  <a:srgbClr val="0F172A"/>
                </a:solidFill>
                <a:latin typeface="TH Sarabun New"/>
              </a:rPr>
              <a:t>: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ส่งข้อมูลผ่านโปรโตคอลไร้สายกำลังต่ำ</a:t>
            </a:r>
            <a:r>
              <a:rPr sz="1400" dirty="0">
                <a:solidFill>
                  <a:srgbClr val="0F172A"/>
                </a:solidFill>
                <a:latin typeface="TH Sarabun New"/>
              </a:rPr>
              <a:t> IEEE 802.15.4 </a:t>
            </a:r>
            <a:r>
              <a:rPr sz="1400" dirty="0" err="1">
                <a:solidFill>
                  <a:srgbClr val="0F172A"/>
                </a:solidFill>
                <a:latin typeface="TH Sarabun New"/>
              </a:rPr>
              <a:t>สู่เกตเวย์</a:t>
            </a:r>
            <a:endParaRPr sz="1400" dirty="0">
              <a:solidFill>
                <a:srgbClr val="0F172A"/>
              </a:solidFill>
              <a:latin typeface="TH Sarabun New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156082"/>
                </a:solidFill>
                <a:latin typeface="TH Sarabun New"/>
              </a:defRPr>
            </a:pPr>
            <a:r>
              <a:t>2. Fog Tier: เกตเวย์และประมวลผลพื้นที่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จุดประมวลผลหลัก: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สกัด Fingerprint, ทำนายด้วยแบบจำลอง LSTM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การตัดสินใจ: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จำแนก Anomaly และโหวตฉันทามติแบบ Real-time หน้างาน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475488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4754880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3. Cloud Tier: ระบบคลาวด์ส่วนกลาง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ฐานข้อมูลประวัติ: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จัดเก็บข้อมูลประวัติย้อนหลังระยะยาวเพื่อการวิเคราะห์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การฝึกสอนใหญ่: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ดำเนินการ Complete Retraining เมื่อมีการเปลี่ยนโครงสร้างระบบ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325880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1325880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1: Binary Fingerprint (สมการที่ 1)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แปลงทิศทางความเปลี่ยนแปลงสัมพัทธ์ในหน้าต่างเวลาเป็นบิต 0 และ 1 เพื่อตัดปัญหากำแพงหน่วยวัดทางกายภาพที่ต่างกัน (เช่น องศาเซลเซียส กับ ลักซ์)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542032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2542032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156082"/>
                </a:solidFill>
                <a:latin typeface="TH Sarabun New"/>
              </a:defRPr>
            </a:pPr>
            <a:r>
              <a:t>ขั้นที่ 2: Sensor Association (Hamming Clustering)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วัดความคล้ายคลึงด้วย Hamming Distance และจัดกลุ่มด้วย Clustering 2 ระดับ โดยคลัสเตอร์ต้องมีสมาชิกตั้งแต่ 3 ตัวขึ้นไปเพื่อรองรับฉันทามติ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758184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3758184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3: Predictive Model (LSTM + Gaussian)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แต่ละคลัสเตอร์ใช้ LSTM Encoder-Decoder เรียนรู้พฤติกรรมปกติ และประเมินเวกเตอร์ Reconstruction Error ด้วย Multivariate Gaussian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974336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4974336"/>
            <a:ext cx="5699455" cy="1060704"/>
          </a:xfrm>
          <a:prstGeom prst="rect">
            <a:avLst/>
          </a:prstGeom>
          <a:noFill/>
        </p:spPr>
        <p:txBody>
          <a:bodyPr wrap="square" lIns="228600" tIns="91440" rIns="22860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B45309"/>
                </a:solidFill>
                <a:latin typeface="TH Sarabun New"/>
              </a:defRPr>
            </a:pPr>
            <a:r>
              <a:t>ขั้นที่ 4: Consensus Algorithm &amp; Adaptive Retrain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ใช้เสียงส่วนใหญ่ในคลัสเตอร์จำแนก EA vs SDA พร้อมระบุโหนดเสีย และ Retrain แบบ Adaptive เมื่อเกิดการเปลี่ยนแปลงในระบบ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สภาพแวดล้อมการทดสอบจริง (Hardware Testbed &amp; Experimental Scope)</a:t>
            </a:r>
          </a:p>
        </p:txBody>
      </p:sp>
      <p:pic>
        <p:nvPicPr>
          <p:cNvPr id="5" name="Picture 4" descr="figure8_test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493776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rPr dirty="0"/>
              <a:t>62 </a:t>
            </a:r>
            <a:r>
              <a:rPr dirty="0" err="1"/>
              <a:t>โหนด</a:t>
            </a:r>
            <a:endParaRPr dirty="0"/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rPr dirty="0" err="1"/>
              <a:t>เซนเซอร์ฮาร์ดแวร์จริง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77824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0" y="132588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13 ชนิด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ตัวแปรทางกายภาพ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8 วัน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บันทึกสภาวะปกติ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743200"/>
            <a:ext cx="2681935" cy="1234440"/>
          </a:xfrm>
          <a:prstGeom prst="rect">
            <a:avLst/>
          </a:prstGeom>
          <a:noFill/>
        </p:spPr>
        <p:txBody>
          <a:bodyPr wrap="square" lIns="137160" tIns="91440" rIns="13716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2.3 ล้าน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จุดข้อมูลการวัดทั้งหมด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60520"/>
            <a:ext cx="551657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160520"/>
            <a:ext cx="5516575" cy="1874519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องค์ประกอบเครือข่ายและข้อกำหนดข้อมูล: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การเชื่อมต่อเครือข่าย: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โปรโตคอลไร้สาย IEEE 802.15.4 (TinyOS) รวบรวมผ่าน Raspberry Pi Gateway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โหนดประมวลผล Fog: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แล็ปท็อป Intel Core i5-6300HQ, RAM 8 GB ทำหน้าที่ประมวลผลหน้างาน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ข้อกำหนดข้อมูลที่สำคัญ: </a:t>
            </a:r>
            <a:r>
              <a:rPr sz="1350">
                <a:solidFill>
                  <a:srgbClr val="0F172A"/>
                </a:solidFill>
                <a:latin typeface="TH Sarabun New"/>
              </a:rPr>
              <a:t>ข้อมูลปกติเก็บจริง 8 วัน แต่ข้อมูลความผิดปกติเป็นข้อมูลสังเคราะห์ (Synthetic Anomaly) เพื่อความปลอดภัย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ผลการทดลองเชิงปริมาณ: การเปรียบเทียบ Precision, Recall และ F1-Score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6692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325880"/>
            <a:ext cx="4785055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2588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Precision สูงสุด 92.0%  (F1 รวม 70.0%)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เมื่อระบบส่งสัญญาณแจ้งเตือน มั่นใจได้ถึง 92% ว่าเกิดเหตุผิดปกติขึ้นจริง ช่วยขจัดปัญหาการเตือนภัยลวง (False Alarm Fatigue) ในระบบเฝ้าระวังอุตสาหกรรมได้อย่างมีนัยสำคัญ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971800"/>
            <a:ext cx="4785055" cy="1417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97180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Recall อยู่ที่ 56.0%  (ยังมี False Negative 44.0%)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เกิดจากการตั้งค่าเกณฑ์ขีดเริ่มเปลี่ยนอัลฟ่าอย่างเข้มงวดเพื่อกด False Positive ทำให้ความผิดปกติบางรูปแบบหลุดรอดการตรวจจับ จึงยังไม่เหมาะกับระบบ Safety-Critical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617720"/>
            <a:ext cx="47850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4617720"/>
            <a:ext cx="4785055" cy="141732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E2841"/>
                </a:solidFill>
                <a:latin typeface="TH Sarabun New"/>
              </a:defRPr>
            </a:pPr>
            <a:r>
              <a:t>เวลาประมวลผล (Latency): 0.532 วินาทีต่อรอบ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ความเร็วในการประมวลผล 0.532 วินาที เร็วกว่ารอบการเก็บข้อมูลของเซนเซอร์ ยืนยันว่าระบบสามารถทำงานแบบ Real-time บนโหนด Fog ได้จริง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แหล่งข้อมูล: Table 2 และ Table 3 จาก Yasaei et al., ICCAD 2020 (เปรียบเทียบ One-Class SVM, LSTM, ConvLSTM)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การมีส่วนร่วมทางวิชาการ (Academic Contributions)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1. การเชื่อมโยงเซนเซอร์ต่างชนิดโดยอาศัยบริบท (Cross-Modal Sensor Association)   [Section 3.2, Algorithm 1]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นำเสนอเทคนิค Binary Fingerprint ที่แปลงพลวัตการเปลี่ยนแปลงของค่าสัญญาณให้เป็นลำดับบิต 0 และ 1 ช่วยขจัดกำแพงเรื่องความแตกต่างของหน่วยวัดทางกายภาพ ทำให้ระบบสามารถคำนวณ Hamming Distance และจัดกลุ่มเซนเซอร์ต่างประเภท (เช่น เซนเซอร์วัดแสง กับ เซนเซอร์วัดอุณหภูมิ) ได้อย่างอัตโนมัติ โดยไม่ต้องกำหนดความสัมพันธ์ทางกายภาพด้วยมือ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156082"/>
                </a:solidFill>
                <a:latin typeface="TH Sarabun New"/>
              </a:defRPr>
            </a:pPr>
            <a:r>
              <a:t>2. กลไกฉันทามติเพื่อจำแนกประเภทและระบุต้นทางความผิดปกติ (Consensus-Based Disambiguation)   [Section 3.4, Algorithm 2]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พัฒนาการตรวจจับความผิดปกติให้ก้าวข้ามการบอกเพียงว่าข้อมูลผิดปกติหรือไม่ โดยใช้เสียงส่วนใหญ่ของคลัสเตอร์เพื่อแยกแยะระหว่าง Environmental Anomaly (EA) ออกจาก Sensing Device Anomaly (SDA) พร้อมทั้งระบุหมายเลขโหนดที่เป็นต้นเหตุได้อย่างเจาะจงเพื่อการบำรุงรักษาอุปกรณ์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8655" cy="1417320"/>
          </a:xfrm>
          <a:prstGeom prst="rect">
            <a:avLst/>
          </a:prstGeom>
          <a:noFill/>
        </p:spPr>
        <p:txBody>
          <a:bodyPr wrap="square" lIns="274320" tIns="137160" rIns="27432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3. สถาปัตยกรรมการปรับตัวแบบเพิ่มพูนบน Fog Computing (Adaptive Model Updating)   [Section 3.4, Subsection D]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ออกแบบกลไกการปรับปรุงโมเดลสองระดับ ได้แก่ Partial Update บน Fog Node เพื่อรองรับการเปลี่ยนแปลงของสภาพแวดล้อม และ Complete Retrain เมื่อมีการเพิ่มลดโหนดในเครือข่าย โดยฝึกสอนใหม่เฉพาะคลัสเตอร์ที่ได้รับผลกระทบ ช่วยลดภาระการประมวลผลและการส่งข้อมูลขึ้นคลาวด์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19703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rPr dirty="0" err="1"/>
              <a:t>ข้อจำกัด</a:t>
            </a:r>
            <a:r>
              <a:rPr dirty="0"/>
              <a:t> </a:t>
            </a:r>
            <a:r>
              <a:rPr dirty="0" err="1"/>
              <a:t>และบทสรุป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ข้อจำกัดที่ระบุในบทความ (Limitations &amp; Risks)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บทสรุปและการประยุกต์ใช้งาน (Conclusion &amp; Applications)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1. อัตรา Recall 56% ยังไม่เหมาะกับระบบวิกฤต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การปล่อยให้ Anomaly หลุดรอดไปถึง 44% ถือเป็นความเสี่ยงที่ไม่สามารถยอมรับได้ในระบบความปลอดภัยสูง (Safety-Critical) เช่น ระบบแจ้งเตือนอัคคีภัยหรือโรงไฟฟ้านิวเคลียร์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2. การประเมินผลด้วยข้อมูลสังเคราะห์ระยะสั้น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ข้อมูล Anomaly ทั้งหมดสร้างด้วยแบบจำลองคณิตศาสตร์ และบันทึกข้อมูลปกติเพียง 8 วันในอาคารเดียว ยังไม่ได้ทดสอบความทนทานต่อสภาพอากาศข้ามฤดูกาล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3. ความเสี่ยงต่อการโจมตีแบบ Coordinated Attack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ต้องมีเซนเซอร์อย่างน้อย 3 ตัวในคลัสเตอร์จึงจะทำฉันทามติได้ และหากผู้โจมตีเจาะระบบเซนเซอร์ได้พร้อมกันเกินครึ่งกลุ่ม ระบบจะถูกหลอกให้ตัดสินเป็น 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78308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8095" y="178308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1. ประโยชน์หลักต่อเครือข่ายเซนเซอร์ IoT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พิสูจน์ว่าความสัมพันธ์ข้ามมิติของเซนเซอร์ช่วยลด False Alarm ได้อย่างเด็ดขาด (Precision 92%) บนสถาปัตยกรรม Fog โดยไม่ต้องพึ่งพา Cloud ตลอดเวลา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24612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8095" y="324612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2. การนำไปต่อยอดในโครงงานวิศวกรรม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สามารถนำหลักการ Cross-Sensor Association ไปต่อยอดตรวจสอบ Data Integrity ในระบบเกษตรแม่นยำ (Smart Agriculture) หรือตรวจสภาพเครื่องจักรโรงงาน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470916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8095" y="4709160"/>
            <a:ext cx="5212080" cy="1325880"/>
          </a:xfrm>
          <a:prstGeom prst="rect">
            <a:avLst/>
          </a:prstGeom>
          <a:noFill/>
        </p:spPr>
        <p:txBody>
          <a:bodyPr wrap="square" lIns="228600" tIns="109728" rIns="228600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3. ทิศทางการปรับปรุงระบบในอนาคต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ควรปรับจูนเกณฑ์อัลฟ่าให้ยืดหยุ่นตามระดับความเสี่ยงของแต่ละพื้นที่ และทดสอบกับชุดข้อมูลการโจมตีทางไซเบอร์ของจริง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1360</Words>
  <Application>Microsoft Macintosh PowerPoint</Application>
  <PresentationFormat>แบบจอกว้าง</PresentationFormat>
  <Paragraphs>87</Paragraphs>
  <Slides>7</Slides>
  <Notes>7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1" baseType="lpstr">
      <vt:lpstr>Arial</vt:lpstr>
      <vt:lpstr>Calibri</vt:lpstr>
      <vt:lpstr>TH Sarabun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THEERAPAT POORAYA</cp:lastModifiedBy>
  <cp:revision>6</cp:revision>
  <dcterms:created xsi:type="dcterms:W3CDTF">2013-01-27T09:14:16Z</dcterms:created>
  <dcterms:modified xsi:type="dcterms:W3CDTF">2026-09-15T05:46:16Z</dcterms:modified>
  <cp:category/>
</cp:coreProperties>
</file>