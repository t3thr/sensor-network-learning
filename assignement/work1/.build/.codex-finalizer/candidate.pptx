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4e3937c37d45b9" /><Relationship Type="http://schemas.openxmlformats.org/officeDocument/2006/relationships/extended-properties" Target="/docProps/app.xml" Id="R1a448addfc0b4d53" /><Relationship Type="http://schemas.openxmlformats.org/officeDocument/2006/relationships/officeDocument" Target="/ppt/presentation.xml" Id="Rd4143f635e8147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3e2d6a706248e1"/>
  </p:sldMasterIdLst>
  <p:notesMasterIdLst>
    <p:notesMasterId xmlns:r="http://schemas.openxmlformats.org/officeDocument/2006/relationships" r:id="R87d6d5c9e97c4849"/>
  </p:notesMasterIdLst>
  <p:sldIdLst>
    <p:sldId xmlns:r="http://schemas.openxmlformats.org/officeDocument/2006/relationships" id="256" r:id="R1566b2f98da54c77"/>
    <p:sldId xmlns:r="http://schemas.openxmlformats.org/officeDocument/2006/relationships" id="257" r:id="Rcae938babbd74fb7"/>
    <p:sldId xmlns:r="http://schemas.openxmlformats.org/officeDocument/2006/relationships" id="258" r:id="R5882f41ca0814591"/>
    <p:sldId xmlns:r="http://schemas.openxmlformats.org/officeDocument/2006/relationships" id="259" r:id="R4e69e8df369a4175"/>
    <p:sldId xmlns:r="http://schemas.openxmlformats.org/officeDocument/2006/relationships" id="260" r:id="R50c290ece74940e4"/>
    <p:sldId xmlns:r="http://schemas.openxmlformats.org/officeDocument/2006/relationships" id="261" r:id="Rda63a81d60814320"/>
    <p:sldId xmlns:r="http://schemas.openxmlformats.org/officeDocument/2006/relationships" id="262" r:id="R45072f5d55c04a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08bfc68d4a44eb" /><Relationship Type="http://schemas.openxmlformats.org/officeDocument/2006/relationships/slideMaster" Target="/ppt/slideMasters/slideMaster1.xml" Id="Rb33e2d6a706248e1" /><Relationship Type="http://schemas.openxmlformats.org/officeDocument/2006/relationships/notesMaster" Target="/ppt/notesMasters/notesMaster1.xml" Id="R87d6d5c9e97c4849" /><Relationship Type="http://schemas.openxmlformats.org/officeDocument/2006/relationships/presProps" Target="/ppt/presProps.xml" Id="R2bd857a6c24f4739" /><Relationship Type="http://schemas.openxmlformats.org/officeDocument/2006/relationships/tableStyles" Target="/ppt/tableStyles.xml" Id="R370b6cc010954bf7" /><Relationship Type="http://schemas.openxmlformats.org/officeDocument/2006/relationships/slide" Target="/ppt/slides/slide1.xml" Id="R1566b2f98da54c77" /><Relationship Type="http://schemas.openxmlformats.org/officeDocument/2006/relationships/slide" Target="/ppt/slides/slide2.xml" Id="Rcae938babbd74fb7" /><Relationship Type="http://schemas.openxmlformats.org/officeDocument/2006/relationships/slide" Target="/ppt/slides/slide3.xml" Id="R5882f41ca0814591" /><Relationship Type="http://schemas.openxmlformats.org/officeDocument/2006/relationships/slide" Target="/ppt/slides/slide4.xml" Id="R4e69e8df369a4175" /><Relationship Type="http://schemas.openxmlformats.org/officeDocument/2006/relationships/slide" Target="/ppt/slides/slide5.xml" Id="R50c290ece74940e4" /><Relationship Type="http://schemas.openxmlformats.org/officeDocument/2006/relationships/slide" Target="/ppt/slides/slide6.xml" Id="Rda63a81d60814320" /><Relationship Type="http://schemas.openxmlformats.org/officeDocument/2006/relationships/slide" Target="/ppt/slides/slide7.xml" Id="R45072f5d55c04a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8c1373be104a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45c0e855bb49f0" /><Relationship Type="http://schemas.openxmlformats.org/officeDocument/2006/relationships/notesMaster" Target="/ppt/notesMasters/notesMaster1.xml" Id="R6bc8f5eba9084c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1467e48fdc4be2" /><Relationship Type="http://schemas.openxmlformats.org/officeDocument/2006/relationships/notesMaster" Target="/ppt/notesMasters/notesMaster1.xml" Id="Ra97ffe3d0c5447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017189802840b7" /><Relationship Type="http://schemas.openxmlformats.org/officeDocument/2006/relationships/notesMaster" Target="/ppt/notesMasters/notesMaster1.xml" Id="R644561b108b84b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f96afb370746f2" /><Relationship Type="http://schemas.openxmlformats.org/officeDocument/2006/relationships/notesMaster" Target="/ppt/notesMasters/notesMaster1.xml" Id="R2028139eb9204a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733583319341c1" /><Relationship Type="http://schemas.openxmlformats.org/officeDocument/2006/relationships/notesMaster" Target="/ppt/notesMasters/notesMaster1.xml" Id="R31bf578a4c0944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8729f9aafe4e81" /><Relationship Type="http://schemas.openxmlformats.org/officeDocument/2006/relationships/notesMaster" Target="/ppt/notesMasters/notesMaster1.xml" Id="Rfecc2a98c5d64d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5d8c15932e495c" /><Relationship Type="http://schemas.openxmlformats.org/officeDocument/2006/relationships/notesMaster" Target="/ppt/notesMasters/notesMaster1.xml" Id="R2af49d555ba947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0:00–0:35 เปิดด้วยคำถามว่า หากเซนเซอร์อุณหภูมิรายงานค่าสูง เราจะรู้ได้อย่างไรว่าเกิดไฟจริงหรือเซนเซอร์เสีย บทความนี้เสนอให้ใช้เซนเซอร์อื่นเป็นพยานบริบทแทนการเชื่อเซนเซอร์ตัวเดียว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R. Yasaei, F. Hernandez, and M. A. Al Faruque, “IoT-CAD,” ICCAD 2020, doi:10.1145/3400302.3415672. IEEE Xplore document 9256703.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0:35–1:20 อธิบาย EA ว่าเป็นเหตุจริงที่ทำให้เซนเซอร์สัมพันธ์กันหลายตัวเปลี่ยนพร้อมกัน ส่วน SDA เกิดที่ตัวอุปกรณ์หรือข้อมูลของอุปกรณ์ จึงมักขัดกับรูปแบบของสมาชิกอื่นในกลุ่ม ภาพนี้เป็น motivational example ของโรงบำบัดน้ำเสียในบทความ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R. Yasaei, F. Hernandez, and M. A. Al Faruque, “IoT-CAD,” ICCAD 2020, doi:10.1145/3400302.3415672. IEEE Xplore document 9256703.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1:20–2:45 อธิบายสี่ขั้นตอน ขั้นแรกแปลงค่าต่างหน่วยเป็นลำดับบิตของการเปลี่ยน ขั้นสองจัดกลุ่มเซนเซอร์ที่มีบริบทร่วม ขั้นสาม LSTM ทำนายพฤติกรรมปกติและ Gaussian ประเมิน error ขั้นสี่ใช้เสียงส่วนใหญ่ในกลุ่มแยก EA กับ SDA พร้อม retrain เมื่อข้อมูลหรือจำนวนเซนเซอร์เปลี่ยน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R. Yasaei, F. Hernandez, and M. A. Al Faruque, “IoT-CAD,” ICCAD 2020, doi:10.1145/3400302.3415672. IEEE Xplore document 9256703.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2:45–3:35 งานนี้มี testbed จริง 62 เซนเซอร์ 13 ชนิด สื่อสารผ่าน IEEE 802.15.4 และ Raspberry Pi แล้วประมวลผลบนแล็ปท็อปที่ทำหน้าที่ fog node ผู้เขียนเก็บข้อมูลปกติ 8 วันประมาณ 2.3 ล้านค่า แต่ความผิดปกติที่ใช้ประเมินเป็นข้อมูลสังเคราะห์ ซึ่งต้องจำไว้ตอนวิจารณ์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R. Yasaei, F. Hernandez, and M. A. Al Faruque, “IoT-CAD,” ICCAD 2020, doi:10.1145/3400302.3415672. IEEE Xplore document 9256703.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3:35–4:30 IoT-CAD ให้ precision 92 เปอร์เซ็นต์ ซึ่งสูงสุดในชุดเปรียบเทียบ และ F1 เท่ากับ 70 เปอร์เซ็นต์ แต่ recall มีเพียง 56 เปอร์เซ็นต์ อย่าพูดว่าโมเดลตรวจได้ถูกต้อง 92 เปอร์เซ็นต์ทุกกรณี ความหมายที่ถูกคือ เมื่อระบบแจ้งเตือน ส่วนใหญ่แจ้งถูก แต่ยังพลาด anomaly จริง 44 เปอร์เซ็นต์ในชุดประเมิน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R. Yasaei, F. Hernandez, and M. A. Al Faruque, “IoT-CAD,” ICCAD 2020, doi:10.1145/3400302.3415672. IEEE Xplore document 9256703.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4:30–5:25 Contribution หลักมีสามข้อ ได้แก่ sensor association ที่รองรับหลาย modality, consensus ที่บอกชนิดและต้นทางของ anomaly และ adaptive model ที่รองรับการเปลี่ยนระบบ ในยุค AI คุณค่าอยู่ที่ความน่าเชื่อถือของข้อมูลก่อน AI ตัดสินใจ รวมถึง concept drift และ edge deployment ไม่ได้อยู่ที่การใช้ LSTM ว่าใหม่ที่สุด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R. Yasaei, F. Hernandez, and M. A. Al Faruque, “IoT-CAD,” ICCAD 2020, doi:10.1145/3400302.3415672. IEEE Xplore document 9256703.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5:25–6:10 วิจารณ์สี่ข้อ Recall 56 เปอร์เซ็นต์ ข้อมูล anomaly สังเคราะห์ ระยะเก็บข้อมูลสั้น และข้อจำกัดของ consensus หากผู้โจมตีควบคุมหลายเซนเซอร์ ปิดด้วยข้อสรุปว่า IoT-CAD ช่วยให้ anomaly detector ใช้บริบททางกายภาพ แต่ต้องมีข้อมูลจริงและการทดสอบด้านความปลอดภัยมากกว่านี้ก่อนใช้ในระบบ safety-critical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R. Yasaei, F. Hernandez, and M. A. Al Faruque, “IoT-CAD,” ICCAD 2020, doi:10.1145/3400302.3415672. IEEE Xplore document 9256703.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68729a323e44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7dced8ba8b439f" /><Relationship Type="http://schemas.openxmlformats.org/officeDocument/2006/relationships/slideLayout" Target="/ppt/slideLayouts/slideLayout1.xml" Id="Rae97216e09814d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97216e09814d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206e01614e4801" /><Relationship Type="http://schemas.openxmlformats.org/officeDocument/2006/relationships/notesSlide" Target="/ppt/notesSlides/notesSlide1.xml" Id="R560f3660dfe844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3cc61208e64492" /><Relationship Type="http://schemas.openxmlformats.org/officeDocument/2006/relationships/image" Target="/ppt/media/image.png" Id="R367321f4292e4569" /><Relationship Type="http://schemas.openxmlformats.org/officeDocument/2006/relationships/notesSlide" Target="/ppt/notesSlides/notesSlide2.xml" Id="Rc71e00152a1b40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1a9b71ceb4e05" /><Relationship Type="http://schemas.openxmlformats.org/officeDocument/2006/relationships/notesSlide" Target="/ppt/notesSlides/notesSlide3.xml" Id="R2ef613f335404a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1807aba7e4c42" /><Relationship Type="http://schemas.openxmlformats.org/officeDocument/2006/relationships/image" Target="/ppt/media/image2.png" Id="R132ea6ee206c4f6d" /><Relationship Type="http://schemas.openxmlformats.org/officeDocument/2006/relationships/notesSlide" Target="/ppt/notesSlides/notesSlide4.xml" Id="R04fa1657d7b640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8e5899fe6e459c" /><Relationship Type="http://schemas.openxmlformats.org/officeDocument/2006/relationships/chart" Target="/ppt/slides/charts/chart1.xml" Id="Rf7277e63faba45a4" /><Relationship Type="http://schemas.openxmlformats.org/officeDocument/2006/relationships/notesSlide" Target="/ppt/notesSlides/notesSlide5.xml" Id="R8c5bb78a5ef045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27b9c5a30342a0" /><Relationship Type="http://schemas.openxmlformats.org/officeDocument/2006/relationships/notesSlide" Target="/ppt/notesSlides/notesSlide6.xml" Id="R1055a484bcdc4f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b44cf31eba4f23" /><Relationship Type="http://schemas.openxmlformats.org/officeDocument/2006/relationships/notesSlide" Target="/ppt/notesSlides/notesSlide7.xml" Id="Ra43804795035458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Precision</c:v>
          </c:tx>
          <c:spPr>
            <a:solidFill xmlns:a="http://schemas.openxmlformats.org/drawingml/2006/main">
              <a:srgbClr val="1E5A7A"/>
            </a:solidFill>
          </c:spPr>
          <c:cat>
            <c:strLit>
              <c:ptCount val="4"/>
              <c:pt idx="0">
                <c:v>IoT-CAD</c:v>
              </c:pt>
              <c:pt idx="1">
                <c:v>LSTM</c:v>
              </c:pt>
              <c:pt idx="2">
                <c:v>ConvLSTM</c:v>
              </c:pt>
              <c:pt idx="3">
                <c:v>One-Class SVM</c:v>
              </c:pt>
            </c:strLit>
          </c:cat>
          <c:val>
            <c:numLit>
              <c:formatCode>General</c:formatCode>
              <c:ptCount val="4"/>
              <c:pt idx="0">
                <c:v>92</c:v>
              </c:pt>
              <c:pt idx="1">
                <c:v>64</c:v>
              </c:pt>
              <c:pt idx="2">
                <c:v>51</c:v>
              </c:pt>
              <c:pt idx="3">
                <c:v>89</c:v>
              </c:pt>
            </c:numLit>
          </c:val>
        </c:ser>
        <c:ser>
          <c:idx val="1"/>
          <c:order val="1"/>
          <c:tx>
            <c:v>Recall</c:v>
          </c:tx>
          <c:spPr>
            <a:solidFill xmlns:a="http://schemas.openxmlformats.org/drawingml/2006/main">
              <a:srgbClr val="F59E0B"/>
            </a:solidFill>
          </c:spPr>
          <c:cat>
            <c:strLit>
              <c:ptCount val="4"/>
              <c:pt idx="0">
                <c:v>IoT-CAD</c:v>
              </c:pt>
              <c:pt idx="1">
                <c:v>LSTM</c:v>
              </c:pt>
              <c:pt idx="2">
                <c:v>ConvLSTM</c:v>
              </c:pt>
              <c:pt idx="3">
                <c:v>One-Class SVM</c:v>
              </c:pt>
            </c:strLit>
          </c:cat>
          <c:val>
            <c:numLit>
              <c:formatCode>General</c:formatCode>
              <c:ptCount val="4"/>
              <c:pt idx="0">
                <c:v>56</c:v>
              </c:pt>
              <c:pt idx="1">
                <c:v>44</c:v>
              </c:pt>
              <c:pt idx="2">
                <c:v>95</c:v>
              </c:pt>
              <c:pt idx="3">
                <c:v>25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4212B"/>
                  </a:solidFill>
                  <a:latin typeface="Tahoma"/>
                  <a:ea typeface="Tahoma"/>
                  <a:cs typeface="Tahom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5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CD6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14212B"/>
              </a:solidFill>
              <a:latin typeface="Tahoma"/>
              <a:ea typeface="Tahoma"/>
              <a:cs typeface="Tahoma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286C5F-294F-43FD-910B-13B20CFA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46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IoT-CAD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01FC77-4ECA-4171-B327-BC48526C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9620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DCEAF2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DCEAF2"/>
                </a:solidFill>
                <a:latin typeface="Tahoma"/>
                <a:ea typeface="Tahoma"/>
                <a:cs typeface="Tahoma"/>
              </a:rPr>
              <a:t>Context-Aware Adaptive Anomaly Detection</a:t>
            </a:r>
          </a:p>
          <a:p xmlns:a="http://schemas.openxmlformats.org/drawingml/2006/main">
            <a:pPr algn="l">
              <a:defRPr sz="2550" b="0">
                <a:solidFill>
                  <a:srgbClr val="DCEAF2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DCEAF2"/>
                </a:solidFill>
                <a:latin typeface="Tahoma"/>
                <a:ea typeface="Tahoma"/>
                <a:cs typeface="Tahoma"/>
              </a:rPr>
              <a:t>in IoT Systems Through Sensor Association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0543C-5D0D-438C-8F3E-4755D138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2D6C7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62D6C7"/>
                </a:solidFill>
                <a:latin typeface="Tahoma"/>
                <a:ea typeface="Tahoma"/>
                <a:cs typeface="Tahoma"/>
              </a:rPr>
              <a:t>เมื่อเซนเซอร์รายงานค่าผิดปกติ เกิดเหตุจริง หรือเซนเซอร์เสีย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50AC3-6DF9-4183-8ACF-8BBEDA22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8637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[กรอกชื่อ นามสกุล]   [กรอกรหัสนิสิต]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305432 เครือข่ายเซนเซอร์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3C9CC-C354-4C39-BFCC-2E65F522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5721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7C7D2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7C7D2"/>
                </a:solidFill>
                <a:latin typeface="Tahoma"/>
                <a:ea typeface="Tahoma"/>
                <a:cs typeface="Tahoma"/>
              </a:rPr>
              <a:t>IEEE/ACM ICCAD 2020</a:t>
            </a:r>
          </a:p>
        </p:txBody>
      </p:sp>
    </p:spTree>
    <p:extLst>
      <p:ext uri="{BB962C8B-B14F-4D97-AF65-F5344CB8AC3E}">
        <p14:creationId xmlns:p14="http://schemas.microsoft.com/office/powerpoint/2010/main" val="4115678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A69D96-706F-494B-9A61-180617AC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Environmental Anomaly และ Sensing Device Anomaly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914E6E-63B9-4816-BF33-244673E7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F9D8B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F9D8B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7321f4292e4569"/>
          <a:stretch xmlns:a="http://schemas.openxmlformats.org/drawingml/2006/main"/>
        </p:blipFill>
        <p:spPr>
          <a:xfrm xmlns:a="http://schemas.openxmlformats.org/drawingml/2006/main">
            <a:off x="756557" y="1200150"/>
            <a:ext cx="10678886" cy="3429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035B6-9C51-4847-90E1-E562FCBE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768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59E0B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59E0B"/>
                </a:solidFill>
                <a:latin typeface="Tahoma"/>
                <a:ea typeface="Tahoma"/>
                <a:cs typeface="Tahoma"/>
              </a:rPr>
              <a:t>EA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03BD5D-26F1-4018-9632-6B399D64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569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หลายเซนเซอร์เปลี่ยนสอดคล้องกัน</a:t>
            </a:r>
          </a:p>
          <a:p xmlns:a="http://schemas.openxmlformats.org/drawingml/2006/main">
            <a:pPr algn="ctr">
              <a:defRPr sz="1575" b="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เหตุจากสภาพแวดล้อม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BB67A-FB9E-487E-BDC8-C9F2BD5E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196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คำถามของงาน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996378-FEC9-4351-B76C-7ED56255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27685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ค่าผิดปกติมาจากโลกจริง</a:t>
            </a:r>
          </a:p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หรือมาจากอุปกรณ์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A66C04-AEE7-48C7-BD5D-591648A6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768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94C4C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D94C4C"/>
                </a:solidFill>
                <a:latin typeface="Tahoma"/>
                <a:ea typeface="Tahoma"/>
                <a:cs typeface="Tahoma"/>
              </a:rPr>
              <a:t>SDA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51DC3D-94E4-476C-9299-24588222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292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บางเซนเซอร์ขัดกับกลุ่ม</a:t>
            </a:r>
          </a:p>
          <a:p xmlns:a="http://schemas.openxmlformats.org/drawingml/2006/main">
            <a:pPr algn="ctr">
              <a:defRPr sz="1575" b="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เซนเซอร์เสียหรือถูกโจมตี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93C600-BFB0-405B-84B4-90028178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Figure 2 จาก Yasaei et al., ICCAD 2020</a:t>
            </a:r>
          </a:p>
        </p:txBody>
      </p:sp>
    </p:spTree>
    <p:extLst>
      <p:ext uri="{BB962C8B-B14F-4D97-AF65-F5344CB8AC3E}">
        <p14:creationId xmlns:p14="http://schemas.microsoft.com/office/powerpoint/2010/main" val="17333753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92152E-3ECF-45DA-A77B-C17A7AAD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วิธีของ IoT-CAD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A19130-A7ED-4254-A4BE-CE8FBCD1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F9D8B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F9D8B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B020FB-E0F8-4887-A4C4-C0D2719D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381250" cy="266700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8FAFB"/>
          </a:solidFill>
          <a:ln xmlns:a="http://schemas.openxmlformats.org/drawingml/2006/main" w="28575">
            <a:solidFill>
              <a:srgbClr val="1E5A7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82FB9F-714F-4ED4-8F5E-0A26C336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3525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A7A"/>
          </a:solidFill>
          <a:ln xmlns:a="http://schemas.openxmlformats.org/drawingml/2006/main" w="0">
            <a:solidFill>
              <a:srgbClr val="1E5A7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6DBE1C-90E4-415A-A16C-BAEA5AE0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409700"/>
            <a:ext cx="704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49A394-9D4A-4DD3-A2A9-C672D025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1962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Binary fingerprint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D54F6-B15A-44D0-B8C7-EAAC6E65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1962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เก็บรูปแบบการเปลี่ยน</a:t>
            </a:r>
          </a:p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ไม่ยึดหน่วยวัด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438882-5596-4B3F-A90C-3E0F6900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2381250" cy="266700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8FAFB"/>
          </a:solidFill>
          <a:ln xmlns:a="http://schemas.openxmlformats.org/drawingml/2006/main" w="28575">
            <a:solidFill>
              <a:srgbClr val="0F9D8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A1C27E-5F15-4496-B253-BB58B623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3525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B"/>
          </a:solidFill>
          <a:ln xmlns:a="http://schemas.openxmlformats.org/drawingml/2006/main" w="0">
            <a:solidFill>
              <a:srgbClr val="0F9D8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709B18-F5CF-4631-9DED-6B7BE6C5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409700"/>
            <a:ext cx="704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4699BC-EBB2-4A6F-BA5A-2DE2A6E5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81250"/>
            <a:ext cx="1962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Sensor association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2642E7-0678-4C8E-A2D8-8B6D5230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05150"/>
            <a:ext cx="1962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Hamming distance</a:t>
            </a:r>
          </a:p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และ clustering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4BAB1B-80D7-4DC9-841C-2797E3A3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2381250" cy="266700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8FAFB"/>
          </a:solidFill>
          <a:ln xmlns:a="http://schemas.openxmlformats.org/drawingml/2006/main" w="28575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AA030D-661F-444F-9FBF-17F1D01A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3525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1FBCD2-2E0F-469A-9057-1FFC2C9C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09700"/>
            <a:ext cx="704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9997AE-4E4B-4AE6-A18B-C60FF4E2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1962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85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Predictive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181557-6EF8-4E6F-ABC3-D559075A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05150"/>
            <a:ext cx="1962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LSTM และ Gaussian</a:t>
            </a:r>
          </a:p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ตรวจ reconstruction error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232A77-E6C6-497D-959A-6111FA4A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2381250" cy="266700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8FAFB"/>
          </a:solidFill>
          <a:ln xmlns:a="http://schemas.openxmlformats.org/drawingml/2006/main" w="28575">
            <a:solidFill>
              <a:srgbClr val="D94C4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D8250E-A965-4E55-9C38-C74CB935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3525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C4C"/>
          </a:solidFill>
          <a:ln xmlns:a="http://schemas.openxmlformats.org/drawingml/2006/main" w="0">
            <a:solidFill>
              <a:srgbClr val="D94C4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1D8633-E43B-4C86-9025-1705A805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409700"/>
            <a:ext cx="704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51D689-2A4A-4A16-A8CA-6D6F3D9F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81250"/>
            <a:ext cx="1962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Consensus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BC6786-603D-4E4C-AAC4-63464E17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05150"/>
            <a:ext cx="1962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แยก EA กับ SDA</a:t>
            </a:r>
          </a:p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แล้วปรับแบบจำลอง</a:t>
            </a:r>
          </a:p>
        </p:txBody>
      </p:sp>
      <p:cxnSp>
        <p:nvCxnSpPr>
          <p:cNvPr id="53" name=""/>
          <p:cNvCxnSpPr>
            <a:stCxn xmlns:a="http://schemas.openxmlformats.org/drawingml/2006/main" id="3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048000" y="3048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9BA8"/>
            </a:solidFill>
            <a:prstDash val="solid"/>
            <a:head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8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905500" y="3048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9BA8"/>
            </a:solidFill>
            <a:prstDash val="solid"/>
            <a:head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13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763000" y="3048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9BA8"/>
            </a:solidFill>
            <a:prstDash val="solid"/>
            <a:head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F38B3D-CAEE-463C-9FE8-4DEB8574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9D8B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9D8B"/>
                </a:solidFill>
                <a:latin typeface="Tahoma"/>
                <a:ea typeface="Tahoma"/>
                <a:cs typeface="Tahoma"/>
              </a:rPr>
              <a:t>ข้อมูลปกติ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B72050-44B8-47BF-91B1-3202C0A6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5300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ฝึกแบบ unsupervised แต่ใช้ validation anomalies เพื่อปรับ threshold 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B5E33E-027E-41A0-AACA-C549DD17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054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F59E0B"/>
                </a:solidFill>
                <a:latin typeface="Tahoma"/>
                <a:ea typeface="Tahoma"/>
                <a:cs typeface="Tahoma"/>
              </a:rPr>
              <a:t>ข้อมูลใหม่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65366A-2854-4FB6-863E-50773488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054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ทำนายค่าปกติ ตรวจ anomaly ลงมติใน cluster และ retrain เมื่อระบบเปลี่ยน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DA424B-D77D-42B2-99B4-B3161138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Yasaei et al., ICCAD 2020 · doi:10.1145/3400302.3415672</a:t>
            </a:r>
          </a:p>
        </p:txBody>
      </p:sp>
    </p:spTree>
    <p:extLst>
      <p:ext uri="{BB962C8B-B14F-4D97-AF65-F5344CB8AC3E}">
        <p14:creationId xmlns:p14="http://schemas.microsoft.com/office/powerpoint/2010/main" val="3085247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BFEA60-361F-4EE3-9CBE-5C533DC5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Testbed และขอบเขตการทดลอง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2263EA-16AF-4338-9750-04FDEF1C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F9D8B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F9D8B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2ea6ee206c4f6d"/>
          <a:stretch xmlns:a="http://schemas.openxmlformats.org/drawingml/2006/main"/>
        </p:blipFill>
        <p:spPr>
          <a:xfrm xmlns:a="http://schemas.openxmlformats.org/drawingml/2006/main">
            <a:off x="723534" y="1257300"/>
            <a:ext cx="4648933" cy="4476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3C9FD-3E35-4AC9-A361-BD7C8B48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525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E5A7A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E5A7A"/>
                </a:solidFill>
                <a:latin typeface="Tahoma"/>
                <a:ea typeface="Tahoma"/>
                <a:cs typeface="Tahoma"/>
              </a:rPr>
              <a:t>62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42CF9E-6683-4993-A1B3-CA128107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812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เซนเซอร์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EF91C9-BE42-4185-A5E9-D3F5DEA7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3525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F9D8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0F9D8B"/>
                </a:solidFill>
                <a:latin typeface="Tahoma"/>
                <a:ea typeface="Tahoma"/>
                <a:cs typeface="Tahoma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EC56E9-C560-4916-9B15-9F3DFA48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812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ตัวแปรทางกายภาพ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A48616-DE44-46B6-B2CE-90B0FCF9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525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59E0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F59E0B"/>
                </a:solidFill>
                <a:latin typeface="Tahoma"/>
                <a:ea typeface="Tahoma"/>
                <a:cs typeface="Tahoma"/>
              </a:rPr>
              <a:t>8 วัน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2F8AC1-B4E1-4EFB-B902-DBF859E7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812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ข้อมูลปกติ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1BC078-72A0-4C49-B384-8AC0A324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ประมาณ 2.3 ล้านค่าการวัด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403052-FECA-4F8A-BBFD-A6D26458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5143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65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IEEE 802.15.4 และ Raspberry Pi gateway</a:t>
            </a:r>
          </a:p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65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Intel Core i5 และ RAM 8 GB เป็น fog node</a:t>
            </a:r>
          </a:p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65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ประเมินด้วย synthetic anomalies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7A8EC4-1B38-4DD2-BAE9-2441DDA9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Figure 8 และ Section 4.2 จาก Yasaei et al., ICCAD 2020</a:t>
            </a:r>
          </a:p>
        </p:txBody>
      </p:sp>
    </p:spTree>
    <p:extLst>
      <p:ext uri="{BB962C8B-B14F-4D97-AF65-F5344CB8AC3E}">
        <p14:creationId xmlns:p14="http://schemas.microsoft.com/office/powerpoint/2010/main" val="5757938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55C530-95BC-4905-9AB6-FABF63AE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ผลเปรียบเทียบ Precision และ Recall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84FCF-E576-4B01-B47C-7F326A29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F9D8B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F9D8B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66750" y="1381125"/>
          <a:ext xmlns:a="http://schemas.openxmlformats.org/drawingml/2006/main" cx="7239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7277e63faba45a4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8EED72-DF52-41C6-87DB-562A5A67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240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1E5A7A"/>
                </a:solidFill>
                <a:latin typeface="Tahoma"/>
                <a:ea typeface="Tahoma"/>
                <a:cs typeface="Tahoma"/>
              </a:defRPr>
            </a:pPr>
            <a:r>
              <a:rPr sz="3900" b="1">
                <a:solidFill>
                  <a:srgbClr val="1E5A7A"/>
                </a:solidFill>
                <a:latin typeface="Tahoma"/>
                <a:ea typeface="Tahoma"/>
                <a:cs typeface="Tahoma"/>
              </a:rPr>
              <a:t>92%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D1E14B-7F84-487A-A473-6B748048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526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Precision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510C86-1AA4-41B9-9044-A73DC662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00375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59E0B"/>
                </a:solidFill>
                <a:latin typeface="Tahoma"/>
                <a:ea typeface="Tahoma"/>
                <a:cs typeface="Tahoma"/>
              </a:defRPr>
            </a:pPr>
            <a:r>
              <a:rPr sz="3900" b="1">
                <a:solidFill>
                  <a:srgbClr val="F59E0B"/>
                </a:solidFill>
                <a:latin typeface="Tahoma"/>
                <a:ea typeface="Tahoma"/>
                <a:cs typeface="Tahoma"/>
              </a:rPr>
              <a:t>56%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AA9AD-E667-41A6-AC20-910A4763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290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Recall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BF015E-61CA-4600-AD95-A804FDA1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19625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แจ้งแล้วมักถูก</a:t>
            </a:r>
          </a:p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แต่ยังพลาด anomaly จริง 44%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B4E276-A0D2-4F22-A9BE-DCFD9136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Table 2 จาก Yasaei et al., ICCAD 2020</a:t>
            </a:r>
          </a:p>
        </p:txBody>
      </p:sp>
    </p:spTree>
    <p:extLst>
      <p:ext uri="{BB962C8B-B14F-4D97-AF65-F5344CB8AC3E}">
        <p14:creationId xmlns:p14="http://schemas.microsoft.com/office/powerpoint/2010/main" val="3487194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6C1CC-1CD6-4A1B-A26A-C7F05717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Contribution และความเกี่ยวข้องกับ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77EF05-51C0-47D7-818A-C8B83F30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F9D8B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F9D8B"/>
                </a:solidFill>
                <a:latin typeface="Tahoma"/>
                <a:ea typeface="Tahoma"/>
                <a:cs typeface="Tahoma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A06A8-6108-4BE1-AC5D-2906DF50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Contribution ของผู้เขียน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6F2C22-6F99-4A48-BA50-9C56EE03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49530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14212B"/>
                </a:solidFill>
                <a:latin typeface="Tahoma"/>
                <a:ea typeface="Tahoma"/>
                <a:cs typeface="Tahoma"/>
              </a:rPr>
              <a:t>จัดกลุ่มเซนเซอร์ต่างชนิดจาก contextual variation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14212B"/>
                </a:solidFill>
                <a:latin typeface="Tahoma"/>
                <a:ea typeface="Tahoma"/>
                <a:cs typeface="Tahoma"/>
              </a:rPr>
              <a:t>ใช้ consensus แยก EA กับ SDA และระบุต้นทาง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14212B"/>
                </a:solidFill>
                <a:latin typeface="Tahoma"/>
                <a:ea typeface="Tahoma"/>
                <a:cs typeface="Tahoma"/>
              </a:rPr>
              <a:t>ปรับแบบจำลองเมื่อสภาพแวดล้อมหรือจำนวนโหนดเปลี่ยน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94918-8B86-4063-9EEB-9961998F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525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9D8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F9D8B"/>
                </a:solidFill>
                <a:latin typeface="Tahoma"/>
                <a:ea typeface="Tahoma"/>
                <a:cs typeface="Tahoma"/>
              </a:rPr>
              <a:t>เหตุผลที่ยังมี impact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49185E-F928-4E90-90F7-A24AD04B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AI ที่รับข้อมูลจากโลกจริงต้องรู้ว่า</a:t>
            </a:r>
          </a:p>
          <a:p xmlns:a="http://schemas.openxmlformats.org/drawingml/2006/main">
            <a:pPr algn="l">
              <a:defRPr sz="225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ข้อมูลจากเซนเซอร์น่าเชื่อถือหรือไม่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09266D-099F-4251-985B-872E7ADF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76625"/>
            <a:ext cx="4476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65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Sensor integrity ก่อนการตัดสินใจ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65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Concept drift และการปรับโมเดล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65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Edge AI ที่ประมวลผลใกล้หน้างาน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DCA2AF-79EF-405C-BF7C-07F4C2C3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7150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94C4C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D94C4C"/>
                </a:solidFill>
                <a:latin typeface="Tahoma"/>
                <a:ea typeface="Tahoma"/>
                <a:cs typeface="Tahoma"/>
              </a:rPr>
              <a:t>LSTM ไม่ใช่โมเดลใหม่ล่าสุด แต่โจทย์ยังไม่ล้าสมัย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FE9DB9-40C8-4FEA-8AD7-F296720E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Yasaei et al., ICCAD 2020 · doi:10.1145/3400302.3415672</a:t>
            </a:r>
          </a:p>
        </p:txBody>
      </p:sp>
    </p:spTree>
    <p:extLst>
      <p:ext uri="{BB962C8B-B14F-4D97-AF65-F5344CB8AC3E}">
        <p14:creationId xmlns:p14="http://schemas.microsoft.com/office/powerpoint/2010/main" val="20945993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B635BB-3CF5-443C-B9AD-ABB0B149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ข้อจำกัดที่ต้องพูดให้ชัด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E21729-FBB8-48D5-9324-FEBAD247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53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2D6C7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2D6C7"/>
                </a:solidFill>
                <a:latin typeface="Tahoma"/>
                <a:ea typeface="Tahoma"/>
                <a:cs typeface="Tahoma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B5198F-A8CF-40D6-833B-B33A1D1D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Recall 56% ยังต่ำสำหรับเหตุที่ false negative มีต้นทุนสูง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ข้อมูล anomaly เป็น synthetic และเก็บข้อมูลปกติ 8 วัน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ต้องมีเซนเซอร์สัมพันธ์กันอย่างน้อย 3 ตัว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Coordinated attack และ model poisoning ยังเป็นความเสี่ยง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484A0B-95BC-4287-84E9-3743D2A5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7640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62D6C7"/>
                </a:solidFill>
                <a:latin typeface="Tahoma"/>
                <a:ea typeface="Tahoma"/>
                <a:cs typeface="Tahoma"/>
              </a:defRPr>
            </a:pPr>
            <a:r>
              <a:rPr sz="4050" b="1">
                <a:solidFill>
                  <a:srgbClr val="62D6C7"/>
                </a:solidFill>
                <a:latin typeface="Tahoma"/>
                <a:ea typeface="Tahoma"/>
                <a:cs typeface="Tahoma"/>
              </a:rPr>
              <a:t>0.532 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D6A235-0138-446B-81D6-928EA274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76500"/>
            <a:ext cx="276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CEAF2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DCEAF2"/>
                </a:solidFill>
                <a:latin typeface="Tahoma"/>
                <a:ea typeface="Tahoma"/>
                <a:cs typeface="Tahoma"/>
              </a:rPr>
              <a:t>เวลาตรวจหนึ่งรอบ</a:t>
            </a:r>
          </a:p>
          <a:p xmlns:a="http://schemas.openxmlformats.org/drawingml/2006/main">
            <a:pPr algn="ctr">
              <a:defRPr sz="1500" b="0">
                <a:solidFill>
                  <a:srgbClr val="DCEAF2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DCEAF2"/>
                </a:solidFill>
                <a:latin typeface="Tahoma"/>
                <a:ea typeface="Tahoma"/>
                <a:cs typeface="Tahoma"/>
              </a:rPr>
              <a:t>เฉพาะ testbed ของบทความ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80857B-67FD-4607-B931-2D3C98A3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2D6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62D6C7"/>
                </a:solidFill>
                <a:latin typeface="Tahoma"/>
                <a:ea typeface="Tahoma"/>
                <a:cs typeface="Tahoma"/>
              </a:rPr>
              <a:t>ข้อสรุป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3C104F-0DF4-42E2-BEED-33C54950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09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12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IoT-CAD ทำให้สัญญาณเตือนมีบริบทมากขึ้น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แต่หลักฐานยังไม่พอสำหรับระบบ safety-critical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78BBF2-4848-4D11-97AE-45B60B3D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8652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7C7D2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B7C7D2"/>
                </a:solidFill>
                <a:latin typeface="Tahoma"/>
                <a:ea typeface="Tahoma"/>
                <a:cs typeface="Tahoma"/>
              </a:rPr>
              <a:t>doi:10.1145/3400302.3415672</a:t>
            </a:r>
          </a:p>
        </p:txBody>
      </p:sp>
    </p:spTree>
    <p:extLst>
      <p:ext uri="{BB962C8B-B14F-4D97-AF65-F5344CB8AC3E}">
        <p14:creationId xmlns:p14="http://schemas.microsoft.com/office/powerpoint/2010/main" val="760288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2026-09-15T03:21:17.0080000Z</dcterms:created>
  <dcterms:modified xsi:type="dcterms:W3CDTF">2026-09-15T03:21:17.0080000Z</dcterms:modified>
</coreProperties>
</file>