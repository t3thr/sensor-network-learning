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1b862820484a4a" /><Relationship Type="http://schemas.openxmlformats.org/officeDocument/2006/relationships/extended-properties" Target="/docProps/app.xml" Id="R9b52ba6930c34ce6" /><Relationship Type="http://schemas.openxmlformats.org/officeDocument/2006/relationships/officeDocument" Target="/ppt/presentation.xml" Id="Ra1fef304bcad40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df874e97cf4916"/>
  </p:sldMasterIdLst>
  <p:notesMasterIdLst>
    <p:notesMasterId xmlns:r="http://schemas.openxmlformats.org/officeDocument/2006/relationships" r:id="R48a293a9c8e24d62"/>
  </p:notesMasterIdLst>
  <p:sldIdLst>
    <p:sldId xmlns:r="http://schemas.openxmlformats.org/officeDocument/2006/relationships" id="256" r:id="R8fe52419b2c24e06"/>
    <p:sldId xmlns:r="http://schemas.openxmlformats.org/officeDocument/2006/relationships" id="257" r:id="R09b26e5c8caa4c5e"/>
    <p:sldId xmlns:r="http://schemas.openxmlformats.org/officeDocument/2006/relationships" id="258" r:id="R192064764d0549e1"/>
    <p:sldId xmlns:r="http://schemas.openxmlformats.org/officeDocument/2006/relationships" id="259" r:id="Ref13a5bed378414e"/>
    <p:sldId xmlns:r="http://schemas.openxmlformats.org/officeDocument/2006/relationships" id="260" r:id="R63540fbbeaec4459"/>
    <p:sldId xmlns:r="http://schemas.openxmlformats.org/officeDocument/2006/relationships" id="261" r:id="R9d3cc03da9894c23"/>
    <p:sldId xmlns:r="http://schemas.openxmlformats.org/officeDocument/2006/relationships" id="262" r:id="R674808779f6749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d38f58764244c5" /><Relationship Type="http://schemas.openxmlformats.org/officeDocument/2006/relationships/slideMaster" Target="/ppt/slideMasters/slideMaster1.xml" Id="R39df874e97cf4916" /><Relationship Type="http://schemas.openxmlformats.org/officeDocument/2006/relationships/notesMaster" Target="/ppt/notesMasters/notesMaster1.xml" Id="R48a293a9c8e24d62" /><Relationship Type="http://schemas.openxmlformats.org/officeDocument/2006/relationships/presProps" Target="/ppt/presProps.xml" Id="R85c1d3af9a054e5f" /><Relationship Type="http://schemas.openxmlformats.org/officeDocument/2006/relationships/tableStyles" Target="/ppt/tableStyles.xml" Id="R46c118f6f18a4f02" /><Relationship Type="http://schemas.openxmlformats.org/officeDocument/2006/relationships/slide" Target="/ppt/slides/slide1.xml" Id="R8fe52419b2c24e06" /><Relationship Type="http://schemas.openxmlformats.org/officeDocument/2006/relationships/slide" Target="/ppt/slides/slide2.xml" Id="R09b26e5c8caa4c5e" /><Relationship Type="http://schemas.openxmlformats.org/officeDocument/2006/relationships/slide" Target="/ppt/slides/slide3.xml" Id="R192064764d0549e1" /><Relationship Type="http://schemas.openxmlformats.org/officeDocument/2006/relationships/slide" Target="/ppt/slides/slide4.xml" Id="Ref13a5bed378414e" /><Relationship Type="http://schemas.openxmlformats.org/officeDocument/2006/relationships/slide" Target="/ppt/slides/slide5.xml" Id="R63540fbbeaec4459" /><Relationship Type="http://schemas.openxmlformats.org/officeDocument/2006/relationships/slide" Target="/ppt/slides/slide6.xml" Id="R9d3cc03da9894c23" /><Relationship Type="http://schemas.openxmlformats.org/officeDocument/2006/relationships/slide" Target="/ppt/slides/slide7.xml" Id="R674808779f6749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1ad5d7a8554d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b315f9fd4745ba" /><Relationship Type="http://schemas.openxmlformats.org/officeDocument/2006/relationships/notesMaster" Target="/ppt/notesMasters/notesMaster1.xml" Id="Rdbb0b2d0b6824e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2a2afe4ebe4aa9" /><Relationship Type="http://schemas.openxmlformats.org/officeDocument/2006/relationships/notesMaster" Target="/ppt/notesMasters/notesMaster1.xml" Id="R1f5d6cc969ab44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0c677f46314f9b" /><Relationship Type="http://schemas.openxmlformats.org/officeDocument/2006/relationships/notesMaster" Target="/ppt/notesMasters/notesMaster1.xml" Id="Rbcfbb62d27d148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3a058d9c764261" /><Relationship Type="http://schemas.openxmlformats.org/officeDocument/2006/relationships/notesMaster" Target="/ppt/notesMasters/notesMaster1.xml" Id="R73071ad2ae1448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d6856cc13f48b3" /><Relationship Type="http://schemas.openxmlformats.org/officeDocument/2006/relationships/notesMaster" Target="/ppt/notesMasters/notesMaster1.xml" Id="R02befdc2715140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167f3e6ca840b7" /><Relationship Type="http://schemas.openxmlformats.org/officeDocument/2006/relationships/notesMaster" Target="/ppt/notesMasters/notesMaster1.xml" Id="Re2e6f6c7c05943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699fb152644f60" /><Relationship Type="http://schemas.openxmlformats.org/officeDocument/2006/relationships/notesMaster" Target="/ppt/notesMasters/notesMaster1.xml" Id="R8a58afef05144f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0:00–0:35 เปิดด้วยคำถามว่า หากเซนเซอร์อุณหภูมิรายงานค่าสูง เราจะรู้ได้อย่างไรว่าเกิดไฟจริงหรือเซนเซอร์เสีย บทความนี้เสนอให้ใช้เซนเซอร์อื่นเป็นพยานบริบทแทนการเชื่อเซนเซอร์ตัวเดียว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0:35–1:20 อธิบาย EA ว่าเป็นเหตุจริงที่ทำให้เซนเซอร์สัมพันธ์กันหลายตัวเปลี่ยนพร้อมกัน ส่วน SDA เกิดที่ตัวอุปกรณ์หรือข้อมูลของอุปกรณ์ จึงมักขัดกับรูปแบบของสมาชิกอื่นในกลุ่ม ภาพนี้เป็น motivational example ของโรงบำบัดน้ำเสียในบทความ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1:20–2:45 อธิบายสี่ขั้นตอน ขั้นแรกแปลงค่าต่างหน่วยเป็นลำดับบิตของการเปลี่ยน ขั้นสองจัดกลุ่มเซนเซอร์ที่มีบริบทร่วม ขั้นสาม LSTM ทำนายพฤติกรรมปกติและ Gaussian ประเมิน error ขั้นสี่ใช้เสียงส่วนใหญ่ในกลุ่มแยก EA กับ SDA พร้อม retrain เมื่อข้อมูลหรือจำนวนเซนเซอร์เปลี่ยน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2:45–3:35 งานนี้มี testbed จริง 62 เซนเซอร์ 13 ชนิด สื่อสารผ่าน IEEE 802.15.4 และ Raspberry Pi แล้วประมวลผลบนแล็ปท็อปที่ทำหน้าที่ fog node ผู้เขียนเก็บข้อมูลปกติ 8 วันประมาณ 2.3 ล้านค่า แต่ความผิดปกติที่ใช้ประเมินเป็นข้อมูลสังเคราะห์ ซึ่งต้องจำไว้ตอนวิจารณ์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3:35–4:30 IoT-CAD ให้ precision 92 เปอร์เซ็นต์ ซึ่งสูงสุดในชุดเปรียบเทียบ และ F1 เท่ากับ 70 เปอร์เซ็นต์ แต่ recall มีเพียง 56 เปอร์เซ็นต์ อย่าพูดว่าโมเดลตรวจได้ถูกต้อง 92 เปอร์เซ็นต์ทุกกรณี ความหมายที่ถูกคือ เมื่อระบบแจ้งเตือน ส่วนใหญ่แจ้งถูก แต่ยังพลาด anomaly จริง 44 เปอร์เซ็นต์ในชุดประเมิน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4:30–5:25 Contribution หลักมีสามข้อ ได้แก่ sensor association ที่รองรับหลาย modality, consensus ที่บอกชนิดและต้นทางของ anomaly และ adaptive model ที่รองรับการเปลี่ยนระบบ ในยุค AI คุณค่าอยู่ที่ความน่าเชื่อถือของข้อมูลก่อน AI ตัดสินใจ รวมถึง concept drift และ edge deployment ไม่ได้อยู่ที่การใช้ LSTM ว่าใหม่ที่สุด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5:25–6:10 วิจารณ์สี่ข้อ Recall 56 เปอร์เซ็นต์ ข้อมูล anomaly สังเคราะห์ ระยะเก็บข้อมูลสั้น และข้อจำกัดของ consensus หากผู้โจมตีควบคุมหลายเซนเซอร์ ปิดด้วยข้อสรุปว่า IoT-CAD ช่วยให้ anomaly detector ใช้บริบททางกายภาพ แต่ต้องมีข้อมูลจริงและการทดสอบด้านความปลอดภัยมากกว่านี้ก่อนใช้ในระบบ safety-critical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R. Yasaei, F. Hernandez, and M. A. Al Faruque, “IoT-CAD,” ICCAD 2020, doi:10.1145/3400302.3415672. IEEE Xplore document 9256703.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5a37487f744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a0b033ddb541e1" /><Relationship Type="http://schemas.openxmlformats.org/officeDocument/2006/relationships/slideLayout" Target="/ppt/slideLayouts/slideLayout1.xml" Id="R9cdcde52aa4b41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dcde52aa4b41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52b8f49094624" /><Relationship Type="http://schemas.openxmlformats.org/officeDocument/2006/relationships/notesSlide" Target="/ppt/notesSlides/notesSlide1.xml" Id="R943251a461dd4b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93bb0953944c7" /><Relationship Type="http://schemas.openxmlformats.org/officeDocument/2006/relationships/image" Target="/ppt/media/image.png" Id="R96ddbc74784c401b" /><Relationship Type="http://schemas.openxmlformats.org/officeDocument/2006/relationships/notesSlide" Target="/ppt/notesSlides/notesSlide2.xml" Id="Rde36361e3dc64d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8cd3e12f34f88" /><Relationship Type="http://schemas.openxmlformats.org/officeDocument/2006/relationships/notesSlide" Target="/ppt/notesSlides/notesSlide3.xml" Id="R0406f7eecc4f47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a632e400d4007" /><Relationship Type="http://schemas.openxmlformats.org/officeDocument/2006/relationships/image" Target="/ppt/media/image2.png" Id="R51efe0d53fd04f13" /><Relationship Type="http://schemas.openxmlformats.org/officeDocument/2006/relationships/notesSlide" Target="/ppt/notesSlides/notesSlide4.xml" Id="Re5755f2c540541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c9c0ad4b34415" /><Relationship Type="http://schemas.openxmlformats.org/officeDocument/2006/relationships/chart" Target="/ppt/slides/charts/chart1.xml" Id="Rd6b99a58728e4f68" /><Relationship Type="http://schemas.openxmlformats.org/officeDocument/2006/relationships/notesSlide" Target="/ppt/notesSlides/notesSlide5.xml" Id="R874c921bdf8640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8223ac5124d06" /><Relationship Type="http://schemas.openxmlformats.org/officeDocument/2006/relationships/notesSlide" Target="/ppt/notesSlides/notesSlide6.xml" Id="Rad1bce8de29746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09c1338d144d1" /><Relationship Type="http://schemas.openxmlformats.org/officeDocument/2006/relationships/notesSlide" Target="/ppt/notesSlides/notesSlide7.xml" Id="Rde125f358e8c49f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Precision</c:v>
          </c:tx>
          <c:spPr>
            <a:solidFill xmlns:a="http://schemas.openxmlformats.org/drawingml/2006/main">
              <a:srgbClr val="1E5A7A"/>
            </a:solidFill>
          </c:spPr>
          <c:cat>
            <c:strLit>
              <c:ptCount val="4"/>
              <c:pt idx="0">
                <c:v>IoT-CAD</c:v>
              </c:pt>
              <c:pt idx="1">
                <c:v>LSTM</c:v>
              </c:pt>
              <c:pt idx="2">
                <c:v>ConvLSTM</c:v>
              </c:pt>
              <c:pt idx="3">
                <c:v>One-Class SVM</c:v>
              </c:pt>
            </c:strLit>
          </c:cat>
          <c:val>
            <c:numLit>
              <c:formatCode>General</c:formatCode>
              <c:ptCount val="4"/>
              <c:pt idx="0">
                <c:v>92</c:v>
              </c:pt>
              <c:pt idx="1">
                <c:v>64</c:v>
              </c:pt>
              <c:pt idx="2">
                <c:v>51</c:v>
              </c:pt>
              <c:pt idx="3">
                <c:v>89</c:v>
              </c:pt>
            </c:numLit>
          </c:val>
        </c:ser>
        <c:ser>
          <c:idx val="1"/>
          <c:order val="1"/>
          <c:tx>
            <c:v>Recall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4"/>
              <c:pt idx="0">
                <c:v>IoT-CAD</c:v>
              </c:pt>
              <c:pt idx="1">
                <c:v>LSTM</c:v>
              </c:pt>
              <c:pt idx="2">
                <c:v>ConvLSTM</c:v>
              </c:pt>
              <c:pt idx="3">
                <c:v>One-Class SVM</c:v>
              </c:pt>
            </c:strLit>
          </c:cat>
          <c:val>
            <c:numLit>
              <c:formatCode>General</c:formatCode>
              <c:ptCount val="4"/>
              <c:pt idx="0">
                <c:v>56</c:v>
              </c:pt>
              <c:pt idx="1">
                <c:v>44</c:v>
              </c:pt>
              <c:pt idx="2">
                <c:v>95</c:v>
              </c:pt>
              <c:pt idx="3">
                <c:v>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12B"/>
                  </a:solidFill>
                  <a:latin typeface="Tahoma"/>
                  <a:ea typeface="Tahoma"/>
                  <a:cs typeface="Tahom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6D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4212B"/>
              </a:solidFill>
              <a:latin typeface="Tahoma"/>
              <a:ea typeface="Tahoma"/>
              <a:cs typeface="Tahoma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883B7-6237-43D3-B2E7-87B23C6E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IoT-CAD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73ECA-D732-40DD-ADE6-F31A5020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962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Context-Aware Adaptive Anomaly Detection</a:t>
            </a:r>
          </a:p>
          <a:p xmlns:a="http://schemas.openxmlformats.org/drawingml/2006/main">
            <a:pPr algn="l">
              <a:defRPr sz="255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in IoT Systems Through Sensor Association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F8D17-5402-4F1A-8C4D-25AADFE0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เมื่อเซนเซอร์รายงานค่าผิดปกติ เกิดเหตุจริง หรือเซนเซอร์เสีย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06B6A-C16D-48D2-8E43-09F8E186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[กรอกชื่อ นามสกุล]   [กรอกรหัสนิสิต]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305432 เครือข่ายเซนเซอร์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21920-0292-4829-BAFD-A687E218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72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7C7D2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7C7D2"/>
                </a:solidFill>
                <a:latin typeface="Tahoma"/>
                <a:ea typeface="Tahoma"/>
                <a:cs typeface="Tahoma"/>
              </a:rPr>
              <a:t>IEEE/ACM ICCAD 2020</a:t>
            </a:r>
          </a:p>
        </p:txBody>
      </p:sp>
    </p:spTree>
    <p:extLst>
      <p:ext uri="{BB962C8B-B14F-4D97-AF65-F5344CB8AC3E}">
        <p14:creationId xmlns:p14="http://schemas.microsoft.com/office/powerpoint/2010/main" val="2120528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9D907-3893-4859-84D4-61FB80B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Environmental Anomaly และ Sensing Device Anomaly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00BC4-2E2F-464D-8514-9D8DB218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dbc74784c401b"/>
          <a:stretch xmlns:a="http://schemas.openxmlformats.org/drawingml/2006/main"/>
        </p:blipFill>
        <p:spPr>
          <a:xfrm xmlns:a="http://schemas.openxmlformats.org/drawingml/2006/main">
            <a:off x="756557" y="1200150"/>
            <a:ext cx="10678886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F8F4D-35DB-4171-8B91-322EED34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93652-D30C-4059-87B1-A7F21A4A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569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หลายเซนเซอร์เปลี่ยนสอดคล้องกัน</a:t>
            </a:r>
          </a:p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เหตุจากสภาพแวดล้อม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57533-8BA1-44EF-A1DE-ADC4805E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196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คำถามของงาน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DD480-B953-4918-81FD-5E272FE0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768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ค่าผิดปกติมาจากโลกจริง</a:t>
            </a:r>
          </a:p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หรือมาจากอุปกรณ์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3A4B1-FFD2-45A7-A7CF-6D3A0348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768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C4C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D94C4C"/>
                </a:solidFill>
                <a:latin typeface="Tahoma"/>
                <a:ea typeface="Tahoma"/>
                <a:cs typeface="Tahoma"/>
              </a:rPr>
              <a:t>SDA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382D6-D402-47D0-8C5F-87BFA9D3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29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บางเซนเซอร์ขัดกับกลุ่ม</a:t>
            </a:r>
          </a:p>
          <a:p xmlns:a="http://schemas.openxmlformats.org/drawingml/2006/main">
            <a:pPr algn="ctr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เซนเซอร์เสียหรือถูกโจมตี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496F0-B6F0-4C9C-8BB9-5A2A4B07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Figure 2 จาก Yasaei et al., ICCAD 2020</a:t>
            </a:r>
          </a:p>
        </p:txBody>
      </p:sp>
    </p:spTree>
    <p:extLst>
      <p:ext uri="{BB962C8B-B14F-4D97-AF65-F5344CB8AC3E}">
        <p14:creationId xmlns:p14="http://schemas.microsoft.com/office/powerpoint/2010/main" val="128045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0746D8-71B0-4F59-9771-F1E4D4F3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วิธีของ IoT-CAD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36FBE-4088-4323-8510-D986AD73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48638-F71C-4495-8211-9142CB19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1E5A7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BC272-75F0-4BB7-91D2-2A949799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A7A"/>
          </a:solidFill>
          <a:ln xmlns:a="http://schemas.openxmlformats.org/drawingml/2006/main" w="0">
            <a:solidFill>
              <a:srgbClr val="1E5A7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653EA-FBB6-49DB-870A-8661E6C8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6A468-ECBA-4E10-98D4-3C4C471D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Binary fingerprint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C3FB5-14B2-481C-8BFC-29C5B608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เก็บรูปแบบการเปลี่ยน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ไม่ยึดหน่วยวัด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75E13-F37B-4954-82DC-3EA61430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0F9D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47B68-D210-43CD-A77C-A7478124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8B"/>
          </a:solidFill>
          <a:ln xmlns:a="http://schemas.openxmlformats.org/drawingml/2006/main" w="0">
            <a:solidFill>
              <a:srgbClr val="0F9D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F8A09-5275-40EE-8DB1-CCBE4F5A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A0A64-42CC-43BE-95CE-AEC0829E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Sensor association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F3DAA-601A-4DE5-AA5E-1C7E3C16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Hamming distance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และ clustering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8B3A6-CC49-456C-9835-5E50430C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21B58-710F-4D07-ABAE-A8EFD6D7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BD891-8B0B-40B7-8068-E6A20053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45155-B764-4E2C-A4B0-D6B07432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85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Predictive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DB708-3609-4B28-97AE-47C70CEF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LSTM และ Gaussian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ตรวจ reconstruction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195ED-E0CF-4926-89FD-F8697A63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381250" cy="266700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28575">
            <a:solidFill>
              <a:srgbClr val="D94C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12AC9-F404-4A5F-8461-C078FB1C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352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0">
            <a:solidFill>
              <a:srgbClr val="D94C4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17BD9-7357-46CC-AB9E-44268133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409700"/>
            <a:ext cx="70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D8945-89E8-47DB-A9BE-9B358191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Consensus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EE0EE3-948E-440C-9A0D-0A0E3778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1962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แยก EA กับ SDA</a:t>
            </a:r>
          </a:p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แล้วปรับแบบจำลอง</a:t>
            </a:r>
          </a:p>
        </p:txBody>
      </p:sp>
      <p:cxnSp>
        <p:nvCxnSpPr>
          <p:cNvPr id="53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480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BA8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055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BA8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63000" y="3048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BA8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1DA967-4ACA-444F-9E08-596B8817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ข้อมูลปกติ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772326-DA4B-40D1-81B9-70A49163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ฝึกแบบ unsupervised แต่ใช้ validation anomalies เพื่อปรับ threshold 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4EFDA4-D995-440D-AB00-47402C3D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ข้อมูลใหม่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4F753-4274-469B-A002-235B08FA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054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ทำนายค่าปกติ ตรวจ anomaly ลงมติใน cluster และ retrain เมื่อระบบเปลี่ยน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A34255-FDB5-4506-87AB-CDF372A7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Yasaei et al., ICCAD 2020 · doi:10.1145/3400302.3415672</a:t>
            </a:r>
          </a:p>
        </p:txBody>
      </p:sp>
    </p:spTree>
    <p:extLst>
      <p:ext uri="{BB962C8B-B14F-4D97-AF65-F5344CB8AC3E}">
        <p14:creationId xmlns:p14="http://schemas.microsoft.com/office/powerpoint/2010/main" val="757906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EE12A-2505-467D-856A-BB4AC0C0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Testbed และขอบเขตการทดลอง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F40C0-5F2F-4297-9DDC-E7B643D8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fe0d53fd04f13"/>
          <a:stretch xmlns:a="http://schemas.openxmlformats.org/drawingml/2006/main"/>
        </p:blipFill>
        <p:spPr>
          <a:xfrm xmlns:a="http://schemas.openxmlformats.org/drawingml/2006/main">
            <a:off x="666750" y="1334911"/>
            <a:ext cx="4762500" cy="432152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96C00-F1A6-46CF-9D12-1A6A1B04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52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E5A7A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1E5A7A"/>
                </a:solidFill>
                <a:latin typeface="Tahoma"/>
                <a:ea typeface="Tahoma"/>
                <a:cs typeface="Tahoma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5B0B2-AA87-4304-904E-ED3C1BD8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เซนเซอร์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BE76-529A-4A5C-8F53-507E76D9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52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0A547-D7E6-4C96-B3E1-3147F98A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81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ตัวแปรทางกายภาพ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FAEE3-3E2B-4F3C-A3E9-FCADD71F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8 วัน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1C140-869B-4387-BC60-C5C994F3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81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ข้อมูลปกติ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DA3CD-60FB-49DB-AAE9-D2FDEAD2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ประมาณ 2.3 ล้านค่าการวัด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6E771-9B12-4938-9554-6436313F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IEEE 802.15.4 และ Raspberry Pi gateway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Intel Core i5 และ RAM 8 GB เป็น fog node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ประเมินด้วย synthetic anomalies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56C4C-5838-4CAE-93CB-03C5FB1A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Figure 8 และ Section 4.2 จาก Yasaei et al., ICCAD 2020</a:t>
            </a:r>
          </a:p>
        </p:txBody>
      </p:sp>
    </p:spTree>
    <p:extLst>
      <p:ext uri="{BB962C8B-B14F-4D97-AF65-F5344CB8AC3E}">
        <p14:creationId xmlns:p14="http://schemas.microsoft.com/office/powerpoint/2010/main" val="1749757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067C8-0C69-4B69-BAED-CBD03BF4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ผลเปรียบเทียบ Precision และ Recall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B29AC-FCFF-458C-A439-A690FB37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7239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b99a58728e4f6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B498A-2F2D-485D-98EA-D5870F2E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E5A7A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E5A7A"/>
                </a:solidFill>
                <a:latin typeface="Tahoma"/>
                <a:ea typeface="Tahoma"/>
                <a:cs typeface="Tahoma"/>
              </a:rPr>
              <a:t>92%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9511B-1C09-40EE-90D2-E15B8837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Precision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F5A4A-3B75-4BC9-B30A-6BDC0C96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59E0B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F59E0B"/>
                </a:solidFill>
                <a:latin typeface="Tahoma"/>
                <a:ea typeface="Tahoma"/>
                <a:cs typeface="Tahoma"/>
              </a:rPr>
              <a:t>56%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42EB5-9968-48ED-969B-DEF9BF97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290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A2AA0-7D3C-4FB1-9F65-C9133F09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19625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แจ้งแล้วมักถูก</a:t>
            </a:r>
          </a:p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แต่ยังพลาด anomaly จริง 44%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4C6B3-6C24-445D-8524-906ABF9B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Table 2 จาก Yasaei et al., ICCAD 2020</a:t>
            </a:r>
          </a:p>
        </p:txBody>
      </p:sp>
    </p:spTree>
    <p:extLst>
      <p:ext uri="{BB962C8B-B14F-4D97-AF65-F5344CB8AC3E}">
        <p14:creationId xmlns:p14="http://schemas.microsoft.com/office/powerpoint/2010/main" val="20183043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A9BD3-F8BD-43A6-86A1-E26A164D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Contribution และความเกี่ยวข้องกับ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5ABE1-EFB9-401F-A525-7FE2632E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C4051-7C9B-4CB5-AF6B-D022704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Contribution ของผู้เขียน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B95A7-0496-4F00-9F8E-799C57CA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143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จัดกลุ่มเซนเซอร์ต่างชนิดจาก contextual variation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ใช้ consensus แยก EA กับ SDA และระบุต้นทาง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ปรับโมเดลเมื่อสภาพแวดล้อมหรือโหนดเปลี่ยน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D3236-27EB-44DD-B3A1-B9367CCC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9D8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F9D8B"/>
                </a:solidFill>
                <a:latin typeface="Tahoma"/>
                <a:ea typeface="Tahoma"/>
                <a:cs typeface="Tahoma"/>
              </a:rPr>
              <a:t>เหตุผลที่ยังมี 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C2C8A-2E0C-4012-AC7C-C76AF36C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AI ที่รับข้อมูลจากโลกจริงต้องรู้ว่า</a:t>
            </a:r>
          </a:p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2A43"/>
                </a:solidFill>
                <a:latin typeface="Tahoma"/>
                <a:ea typeface="Tahoma"/>
                <a:cs typeface="Tahoma"/>
              </a:rPr>
              <a:t>ข้อมูลจากเซนเซอร์น่าเชื่อถือหรือไม่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D26C9-E182-487D-B336-81BD47D2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476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Sensor integrity ก่อนการตัดสินใจ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Concept drift และการปรับโมเดล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4212B"/>
                </a:solidFill>
                <a:latin typeface="Tahoma"/>
                <a:ea typeface="Tahoma"/>
                <a:cs typeface="Tahoma"/>
              </a:defRPr>
            </a:pPr>
            <a:r>
              <a:rPr sz="1650">
                <a:solidFill>
                  <a:srgbClr val="14212B"/>
                </a:solidFill>
                <a:latin typeface="Tahoma"/>
                <a:ea typeface="Tahoma"/>
                <a:cs typeface="Tahoma"/>
              </a:rPr>
              <a:t>Edge AI ที่ประมวลผลใกล้หน้างาน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D8923-715C-4FA7-B60B-3B686D6A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150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4C4C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94C4C"/>
                </a:solidFill>
                <a:latin typeface="Tahoma"/>
                <a:ea typeface="Tahoma"/>
                <a:cs typeface="Tahoma"/>
              </a:rPr>
              <a:t>LSTM ไม่ใช่โมเดลใหม่ล่าสุด แต่โจทย์ยังไม่ล้าสมัย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B74E0-1704-4E57-A2F7-5C9621C6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52616B"/>
                </a:solidFill>
                <a:latin typeface="Tahoma"/>
                <a:ea typeface="Tahoma"/>
                <a:cs typeface="Tahoma"/>
              </a:rPr>
              <a:t>Yasaei et al., ICCAD 2020 · doi:10.1145/3400302.3415672</a:t>
            </a:r>
          </a:p>
        </p:txBody>
      </p:sp>
    </p:spTree>
    <p:extLst>
      <p:ext uri="{BB962C8B-B14F-4D97-AF65-F5344CB8AC3E}">
        <p14:creationId xmlns:p14="http://schemas.microsoft.com/office/powerpoint/2010/main" val="1252615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D2829-5D82-4B20-9D41-FFCB44A3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ข้อจำกัดที่ต้องพูดให้ชัด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102AF-8050-4CB6-B436-3AB5E2E2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AC4E5-550A-4F1D-80E8-1B015C92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Recall 56% ยังต่ำสำหรับเหตุที่ false negative มีต้นทุนสูง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ข้อมูล anomaly เป็น synthetic และเก็บข้อมูลปกติ 8 วัน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ต้องมีเซนเซอร์สัมพันธ์กันอย่างน้อย 3 ตัว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Coordinated attack และ model poisoning ยังเป็นความเสี่ยง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9AAF6-8460-46D9-9414-7014B48C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0.532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BF262-E54C-4288-BE9E-DC698223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เวลาตรวจหนึ่งรอบ</a:t>
            </a:r>
          </a:p>
          <a:p xmlns:a="http://schemas.openxmlformats.org/drawingml/2006/main">
            <a:pPr algn="ctr">
              <a:defRPr sz="1500" b="0">
                <a:solidFill>
                  <a:srgbClr val="DCEAF2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DCEAF2"/>
                </a:solidFill>
                <a:latin typeface="Tahoma"/>
                <a:ea typeface="Tahoma"/>
                <a:cs typeface="Tahoma"/>
              </a:rPr>
              <a:t>เฉพาะ testbed ของบทความ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69B9D-22DF-4324-9486-09665BB1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2D6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62D6C7"/>
                </a:solidFill>
                <a:latin typeface="Tahoma"/>
                <a:ea typeface="Tahoma"/>
                <a:cs typeface="Tahoma"/>
              </a:rPr>
              <a:t>ข้อสรุป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9FAD1-6770-4C67-9AF9-6B2D52EC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12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IoT-CAD ทำให้สัญญาณเตือนมีบริบทมากขึ้น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แต่หลักฐานยังไม่พอสำหรับระบบ safety-critical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8BF1C-6586-4BA0-BA50-A035BDDB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865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7C7D2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B7C7D2"/>
                </a:solidFill>
                <a:latin typeface="Tahoma"/>
                <a:ea typeface="Tahoma"/>
                <a:cs typeface="Tahoma"/>
              </a:rPr>
              <a:t>doi:10.1145/3400302.3415672</a:t>
            </a:r>
          </a:p>
        </p:txBody>
      </p:sp>
    </p:spTree>
    <p:extLst>
      <p:ext uri="{BB962C8B-B14F-4D97-AF65-F5344CB8AC3E}">
        <p14:creationId xmlns:p14="http://schemas.microsoft.com/office/powerpoint/2010/main" val="129018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2026-09-15T03:29:06.8300000Z</dcterms:created>
  <dcterms:modified xsi:type="dcterms:W3CDTF">2026-09-15T03:29:06.8300000Z</dcterms:modified>
</coreProperties>
</file>