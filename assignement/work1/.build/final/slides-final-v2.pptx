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52df91ef54096" /><Relationship Type="http://schemas.openxmlformats.org/officeDocument/2006/relationships/extended-properties" Target="/docProps/app.xml" Id="Rac3d6f43935843f5" /><Relationship Type="http://schemas.openxmlformats.org/officeDocument/2006/relationships/officeDocument" Target="/ppt/presentation.xml" Id="R3a6a2454d264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9f13c7f6bd4828"/>
  </p:sldMasterIdLst>
  <p:notesMasterIdLst>
    <p:notesMasterId xmlns:r="http://schemas.openxmlformats.org/officeDocument/2006/relationships" r:id="R74f9a285aa274ffb"/>
  </p:notesMasterIdLst>
  <p:sldIdLst>
    <p:sldId xmlns:r="http://schemas.openxmlformats.org/officeDocument/2006/relationships" id="256" r:id="R414dae11c9d3479f"/>
    <p:sldId xmlns:r="http://schemas.openxmlformats.org/officeDocument/2006/relationships" id="257" r:id="Ra5ad3b9b31754fd0"/>
    <p:sldId xmlns:r="http://schemas.openxmlformats.org/officeDocument/2006/relationships" id="258" r:id="R952368b7f04b4f18"/>
    <p:sldId xmlns:r="http://schemas.openxmlformats.org/officeDocument/2006/relationships" id="259" r:id="R0e4184d89c4740d2"/>
    <p:sldId xmlns:r="http://schemas.openxmlformats.org/officeDocument/2006/relationships" id="260" r:id="R0bcd553577ae4b8b"/>
    <p:sldId xmlns:r="http://schemas.openxmlformats.org/officeDocument/2006/relationships" id="261" r:id="R89efccc34b034d64"/>
    <p:sldId xmlns:r="http://schemas.openxmlformats.org/officeDocument/2006/relationships" id="262" r:id="Rb6f99f3a5d4e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6d081f0aa417e" /><Relationship Type="http://schemas.openxmlformats.org/officeDocument/2006/relationships/slideMaster" Target="/ppt/slideMasters/slideMaster1.xml" Id="R3d9f13c7f6bd4828" /><Relationship Type="http://schemas.openxmlformats.org/officeDocument/2006/relationships/notesMaster" Target="/ppt/notesMasters/notesMaster1.xml" Id="R74f9a285aa274ffb" /><Relationship Type="http://schemas.openxmlformats.org/officeDocument/2006/relationships/presProps" Target="/ppt/presProps.xml" Id="Rcf4369c0947744fa" /><Relationship Type="http://schemas.openxmlformats.org/officeDocument/2006/relationships/tableStyles" Target="/ppt/tableStyles.xml" Id="R73c32d4f3de04ed7" /><Relationship Type="http://schemas.openxmlformats.org/officeDocument/2006/relationships/slide" Target="/ppt/slides/slide1.xml" Id="R414dae11c9d3479f" /><Relationship Type="http://schemas.openxmlformats.org/officeDocument/2006/relationships/slide" Target="/ppt/slides/slide2.xml" Id="Ra5ad3b9b31754fd0" /><Relationship Type="http://schemas.openxmlformats.org/officeDocument/2006/relationships/slide" Target="/ppt/slides/slide3.xml" Id="R952368b7f04b4f18" /><Relationship Type="http://schemas.openxmlformats.org/officeDocument/2006/relationships/slide" Target="/ppt/slides/slide4.xml" Id="R0e4184d89c4740d2" /><Relationship Type="http://schemas.openxmlformats.org/officeDocument/2006/relationships/slide" Target="/ppt/slides/slide5.xml" Id="R0bcd553577ae4b8b" /><Relationship Type="http://schemas.openxmlformats.org/officeDocument/2006/relationships/slide" Target="/ppt/slides/slide6.xml" Id="R89efccc34b034d64" /><Relationship Type="http://schemas.openxmlformats.org/officeDocument/2006/relationships/slide" Target="/ppt/slides/slide7.xml" Id="Rb6f99f3a5d4e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2f0bcf85348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d5ad75d6274b92" /><Relationship Type="http://schemas.openxmlformats.org/officeDocument/2006/relationships/notesMaster" Target="/ppt/notesMasters/notesMaster1.xml" Id="R270d1f8427c8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fe19cbb8245b4" /><Relationship Type="http://schemas.openxmlformats.org/officeDocument/2006/relationships/notesMaster" Target="/ppt/notesMasters/notesMaster1.xml" Id="R87966964f7b8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3c1aa22144d7e" /><Relationship Type="http://schemas.openxmlformats.org/officeDocument/2006/relationships/notesMaster" Target="/ppt/notesMasters/notesMaster1.xml" Id="Rf20b33c6bcb040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23bcdf6ab4ac8" /><Relationship Type="http://schemas.openxmlformats.org/officeDocument/2006/relationships/notesMaster" Target="/ppt/notesMasters/notesMaster1.xml" Id="Rb3c1524baebf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5e0876bef74ea1" /><Relationship Type="http://schemas.openxmlformats.org/officeDocument/2006/relationships/notesMaster" Target="/ppt/notesMasters/notesMaster1.xml" Id="Rcfe13441044f4c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d3fa798d54159" /><Relationship Type="http://schemas.openxmlformats.org/officeDocument/2006/relationships/notesMaster" Target="/ppt/notesMasters/notesMaster1.xml" Id="R0d33a20f4f8546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ba8880d3ef402c" /><Relationship Type="http://schemas.openxmlformats.org/officeDocument/2006/relationships/notesMaster" Target="/ppt/notesMasters/notesMaster1.xml" Id="R4a319eddc3e0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0:00–0:35 เปิดด้วยคำถามว่า หากเซนเซอร์อุณหภูมิรายงานค่าสูง เราจะรู้ได้อย่างไรว่าเกิดไฟจริงหรือเซนเซอร์เสีย บทความนี้เสนอให้ใช้เซนเซอร์อื่นเป็นพยานบริบทแทนการเชื่อเซนเซอร์ตัวเดียว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0:35–1:20 อธิบาย EA ว่าเป็นเหตุจริงที่ทำให้เซนเซอร์สัมพันธ์กันหลายตัวเปลี่ยนพร้อมกัน ส่วน SDA เกิดที่ตัวอุปกรณ์หรือข้อมูลของอุปกรณ์ จึงมักขัดกับรูปแบบของสมาชิกอื่นในกลุ่ม ภาพนี้เป็น motivational example ของโรงบำบัดน้ำเสียในบทความ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1:20–2:45 อธิบายสี่ขั้นตอน ขั้นแรกแปลงค่าต่างหน่วยเป็นลำดับบิตของการเปลี่ยน ขั้นสองจัดกลุ่มเซนเซอร์ที่มีบริบทร่วม ขั้นสาม LSTM ทำนายพฤติกรรมปกติและ Gaussian ประเมิน error ขั้นสี่ใช้เสียงส่วนใหญ่ในกลุ่มแยก EA กับ SDA พร้อม retrain เมื่อข้อมูลหรือจำนวนเซนเซอร์เปลี่ยน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2:45–3:35 งานนี้มี testbed จริง 62 เซนเซอร์ 13 ชนิด สื่อสารผ่าน IEEE 802.15.4 และ Raspberry Pi แล้วประมวลผลบนแล็ปท็อปที่ทำหน้าที่ fog node ผู้เขียนเก็บข้อมูลปกติ 8 วันประมาณ 2.3 ล้านค่า แต่ความผิดปกติที่ใช้ประเมินเป็นข้อมูลสังเคราะห์ ซึ่งต้องจำไว้ตอนวิจารณ์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3:35–4:30 IoT-CAD ให้ precision 92 เปอร์เซ็นต์ ซึ่งสูงสุดในชุดเปรียบเทียบ และ F1 เท่ากับ 70 เปอร์เซ็นต์ แต่ recall มีเพียง 56 เปอร์เซ็นต์ อย่าพูดว่าโมเดลตรวจได้ถูกต้อง 92 เปอร์เซ็นต์ทุกกรณี ความหมายที่ถูกคือ เมื่อระบบแจ้งเตือน ส่วนใหญ่แจ้งถูก แต่ยังพลาด anomaly จริง 44 เปอร์เซ็นต์ในชุดประเมิน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4:30–5:25 Contribution หลักมีสามข้อ ได้แก่ sensor association ที่รองรับหลาย modality, consensus ที่บอกชนิดและต้นทางของ anomaly และ adaptive model ที่รองรับการเปลี่ยนระบบ ในยุค AI คุณค่าอยู่ที่ความน่าเชื่อถือของข้อมูลก่อน AI ตัดสินใจ รวมถึง concept drift และ edge deployment ไม่ได้อยู่ที่การใช้ LSTM ว่าใหม่ที่สุด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5:25–6:10 วิจารณ์สี่ข้อ Recall 56 เปอร์เซ็นต์ ข้อมูล anomaly สังเคราะห์ ระยะเก็บข้อมูลสั้น และข้อจำกัดของ consensus หากผู้โจมตีควบคุมหลายเซนเซอร์ ปิดด้วยข้อสรุปว่า IoT-CAD ช่วยให้ anomaly detector ใช้บริบททางกายภาพ แต่ต้องมีข้อมูลจริงและการทดสอบด้านความปลอดภัยมากกว่านี้ก่อนใช้ในระบบ safety-critical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309d7745548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b5a4f09674496" /><Relationship Type="http://schemas.openxmlformats.org/officeDocument/2006/relationships/slideLayout" Target="/ppt/slideLayouts/slideLayout1.xml" Id="R62e1b35311ec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1b35311ec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ac0e09884dee" /><Relationship Type="http://schemas.openxmlformats.org/officeDocument/2006/relationships/notesSlide" Target="/ppt/notesSlides/notesSlide1.xml" Id="Rf93dd3dc64f143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e514e7c04136" /><Relationship Type="http://schemas.openxmlformats.org/officeDocument/2006/relationships/image" Target="/ppt/media/image.png" Id="Rb43635efb21e417b" /><Relationship Type="http://schemas.openxmlformats.org/officeDocument/2006/relationships/notesSlide" Target="/ppt/notesSlides/notesSlide2.xml" Id="R0b8bee43cd7849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af14ce29b4476" /><Relationship Type="http://schemas.openxmlformats.org/officeDocument/2006/relationships/notesSlide" Target="/ppt/notesSlides/notesSlide3.xml" Id="Rd696c839d99846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a528c31ca4884" /><Relationship Type="http://schemas.openxmlformats.org/officeDocument/2006/relationships/image" Target="/ppt/media/image2.png" Id="R7bd159e9125644ac" /><Relationship Type="http://schemas.openxmlformats.org/officeDocument/2006/relationships/notesSlide" Target="/ppt/notesSlides/notesSlide4.xml" Id="Re8c8711da4d945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5a9f515b43e4" /><Relationship Type="http://schemas.openxmlformats.org/officeDocument/2006/relationships/chart" Target="/ppt/slides/charts/chart1.xml" Id="R5946832f985441a3" /><Relationship Type="http://schemas.openxmlformats.org/officeDocument/2006/relationships/notesSlide" Target="/ppt/notesSlides/notesSlide5.xml" Id="R802f2cdb5edb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c34ea62574619" /><Relationship Type="http://schemas.openxmlformats.org/officeDocument/2006/relationships/notesSlide" Target="/ppt/notesSlides/notesSlide6.xml" Id="R038235220fbf40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60e5291764ec5" /><Relationship Type="http://schemas.openxmlformats.org/officeDocument/2006/relationships/notesSlide" Target="/ppt/notesSlides/notesSlide7.xml" Id="Ra1e5494456ee48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1E5A7A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64</c:v>
              </c:pt>
              <c:pt idx="2">
                <c:v>51</c:v>
              </c:pt>
              <c:pt idx="3">
                <c:v>89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56</c:v>
              </c:pt>
              <c:pt idx="1">
                <c:v>44</c:v>
              </c:pt>
              <c:pt idx="2">
                <c:v>95</c:v>
              </c:pt>
              <c:pt idx="3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12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4212B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45D2-037E-499A-9E5A-ABC526F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B2726-0BD9-40DB-BF81-1A5721B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62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Context-Aware Adaptive Anomaly Detection</a:t>
            </a:r>
          </a:p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in IoT Systems Through Sensor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9C030-B28F-4502-BAE6-67F24E4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เมื่อเซนเซอร์รายงานค่าผิดปกติ เกิดเหตุจริง หรือเซนเซอร์เสีย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FFEB-FAAD-4359-A194-C6E651A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[กรอกชื่อ นามสกุล]   [กรอกรหัสนิสิต]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305432 เครือข่ายเซนเซอร์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C3766-C775-41C5-8DE7-F04D32FA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7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IEEE/ACM ICCAD 2020</a:t>
            </a:r>
          </a:p>
        </p:txBody>
      </p:sp>
    </p:spTree>
    <p:extLst>
      <p:ext uri="{BB962C8B-B14F-4D97-AF65-F5344CB8AC3E}">
        <p14:creationId xmlns:p14="http://schemas.microsoft.com/office/powerpoint/2010/main" val="1490163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1678-46B8-45B9-8DC2-7EBB029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Environmental Anomaly และ Sensing Device Anomaly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A1C2D-595C-42E8-B055-40F8987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635efb21e417b"/>
          <a:stretch xmlns:a="http://schemas.openxmlformats.org/drawingml/2006/main"/>
        </p:blipFill>
        <p:spPr>
          <a:xfrm xmlns:a="http://schemas.openxmlformats.org/drawingml/2006/main">
            <a:off x="756557" y="1200150"/>
            <a:ext cx="10678886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A5A7B-DAE3-4E38-89A9-17181FC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88443-0B90-43C5-81BE-65FD77E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หลายเซนเซอร์เปลี่ยนสอดคล้องกัน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เหตุจากสภาพแวดล้อม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9B6F-B216-4399-B6EC-4232182B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คำถามของงาน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240BD-21FC-4235-9B68-F0738187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ค่าผิดปกติมาจากโลกจริง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หรือมาจากอุปกรณ์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FA818-688F-4990-8649-401880C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SDA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DAD4C-6EBC-4D7A-A081-7208CB0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บางเซนเซอร์ขัดกับกลุ่ม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เซนเซอร์เสียหรือถูกโจมตี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8CACD-0170-498D-8105-3509C3D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912506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49E96-6B05-4144-833A-026D106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วิธีของ 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47101-E376-47EA-A117-63003B23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6EB11-D77F-4D8F-8BFC-DC2EE8F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1E5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58D38-1FF2-45E6-A234-08DC5C1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D53D-6002-4572-9BBC-E0D568A9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B1E31-D82B-4611-BB0F-63F82D78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Binary fingerprint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E4FC-2482-4E8D-8D76-9A84D5E4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เก็บรูปแบบการเปลี่ยน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ไม่ยึดหน่วยวัด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7846F-0802-49DD-B454-1D99908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ACAD5-758D-4138-A219-462B010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6D14-BF61-499F-A4A5-ACB1116B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AD7B1-2DEF-4B9B-A5C9-B0BE90A3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Sensor association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F9B51-5188-4C19-8DFE-F419290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Hamming distance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และ 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C1015-9952-4652-942B-5BEDF85E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5C3EF-130A-427A-B194-4CD21240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27881-76F7-4881-A6E1-3D9DCC4C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E268F-C992-4EA5-8F5C-78CF9C8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8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Predictive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6B14A-8A2B-45AF-A02C-FB91148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LSTM และ Gaussian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ตรวจ reconstruction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7A677-3875-4114-9734-194F2068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D94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ECD9C-14CA-4C02-A51D-C4E9EC8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08052-261D-440C-AC28-3439D3CC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EF188-B0F1-40C2-9E5A-2F73406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Consensus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2798E-3859-4054-B251-9A483DA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แยก EA กับ SDA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แล้วปรับแบบจำลอง</a:t>
            </a:r>
          </a:p>
        </p:txBody>
      </p:sp>
      <p:cxnSp>
        <p:nvCxnSpPr>
          <p:cNvPr id="53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63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C5C29-A456-4924-9C46-C22A4D6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DE8CE-5912-4F4B-AC89-85A230B3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ฝึกแบบ unsupervised แต่ใช้ validation anomalies เพื่อปรับ threshold 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91AF8-8CE7-49A3-9760-61727A7A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ข้อมูลใหม่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0A6B3-3888-4922-BB02-5A564E42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ทำนายค่าปกติ ตรวจ anomaly ลงมติใน cluster และ retrain เมื่อระบบเปลี่ยน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5A32F-FA69-4579-BD89-76277C8F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1825020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046F3-6928-4104-93FD-5BDA268D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Testbed และขอบเขตการทดลอง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45AC5-A886-4797-A5A9-F7C806C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59e9125644ac"/>
          <a:stretch xmlns:a="http://schemas.openxmlformats.org/drawingml/2006/main"/>
        </p:blipFill>
        <p:spPr>
          <a:xfrm xmlns:a="http://schemas.openxmlformats.org/drawingml/2006/main">
            <a:off x="723534" y="1257300"/>
            <a:ext cx="4648933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596F-2CE9-40B6-8C96-207682AA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0D-D517-4C82-AA38-694B130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เซนเซอร์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98424-CF0A-4E5C-A6A2-B368AB0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189FC-7C8A-42B9-9E26-3890FF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ตัวแปรทางกายภาพ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50BD8-B037-449A-8B62-590A274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8 วัน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D0BF1-3B21-462A-B42C-E9BD427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6C771-AD4D-4B24-8890-CEA1163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ประมาณ 2.3 ล้านค่าการวัด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7B743-2E78-4462-B870-A36CBA1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IEEE 802.15.4 และ Raspberry Pi gateway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Intel Core i5 และ RAM 8 GB เป็น fog node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ประเมินด้วย synthetic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A5415-EC40-4271-9B20-719998D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8 และ Section 4.2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293410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6E5D-E2CE-4E5B-949E-A41B6A1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ผลเปรียบเทียบ Precision และ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B5D1A-2C86-4960-AD89-DD47658C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46832f985441a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9AF8-A820-4AB8-850A-CE629076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9618E-2238-4A6B-8342-AEDB5F6A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C9738-DC18-45BB-91FF-B37AE5B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56%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923BF-D332-4AE6-9D26-67FA0AC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976DC-7F7E-4451-8EB4-3F6F994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แจ้งแล้วมักถูก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แต่ยังพลาด anomaly จริง 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97C1C-BDF0-47FB-BFC7-6327601A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Table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605523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56FD3-2B83-4FD5-8E6B-338EBDD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และความเกี่ยวข้องกับ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824EA-94F0-4EAF-B30B-9AC30E5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CBFA7-CFD7-4E64-8F3F-F77EF47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ของผู้เขียน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1C438-58CA-407F-A1AE-C93B185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143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จัดกลุ่มเซนเซอร์ต่างชนิดจาก contextual variation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ใช้ consensus แยก EA กับ SDA และระบุต้นทาง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ปรับโมเดลเมื่อสภาพแวดล้อมหรือโหนดเปลี่ยน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ECE7D-A455-4937-884F-74057E6F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เหตุผลที่ยังมี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C1322-20A1-4679-AFDA-3C6E3146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AI ที่รับข้อมูลจากโลกจริงต้องรู้ว่า</a:t>
            </a:r>
          </a:p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ข้อมูลจากเซนเซอร์น่าเชื่อถือหรือไม่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0A31D-38BE-433C-8EBA-843A6C1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Sensor integrity ก่อนการตัดสินใจ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Concept drift และการปรับโมเดล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Edge AI ที่ประมวลผลใกล้หน้างาน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DF1D-4BEE-45E3-8A80-B73A6A3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LSTM ไม่ใช่โมเดลใหม่ล่าสุด แต่โจทย์ยังไม่ล้าสมัย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CCCFB-2ACD-4D0D-999F-D484CAF6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233168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A4AC9-34DF-4D96-932F-0CF02A8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ข้อจำกัดที่ต้องพูดให้ชัด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81A13-920E-45F6-ADB0-0FD3EB0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B1B43-DFE8-4C38-9988-734C16CD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Recall 56% ยังต่ำสำหรับเหตุที่ false negative มีต้นทุนสูง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ข้อมูล anomaly เป็น synthetic และเก็บข้อมูลปกติ 8 วัน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ต้องมีเซนเซอร์สัมพันธ์กันอย่างน้อย 3 ตัว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Coordinated attack และ model poisoning ยังเป็นความเสี่ยง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35810-2420-439E-8ED5-5F1EBA4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0.532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E2DE7-F710-4149-A77A-9388F7D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เวลาตรวจหนึ่งรอบ</a:t>
            </a:r>
          </a:p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เฉพาะ testbed ของบทความ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6ACC6-0516-4F19-964A-89F83AD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ข้อสรุป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1613-6CF6-43C1-A708-5EE0A75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 ทำให้สัญญาณเตือนมีบริบทมากขึ้น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แต่หลักฐานยังไม่พอสำหรับระบบ safety-critical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8C000-15CF-4240-99A6-3C1A70FA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401822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2026-09-15T03:23:59.8640000Z</dcterms:created>
  <dcterms:modified xsi:type="dcterms:W3CDTF">2026-09-15T03:23:59.8640000Z</dcterms:modified>
</coreProperties>
</file>