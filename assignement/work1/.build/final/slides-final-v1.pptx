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a143148d0c4a4f" /><Relationship Type="http://schemas.openxmlformats.org/officeDocument/2006/relationships/extended-properties" Target="/docProps/app.xml" Id="Rc49647734e2548d1" /><Relationship Type="http://schemas.openxmlformats.org/officeDocument/2006/relationships/officeDocument" Target="/ppt/presentation.xml" Id="R985d11ee847345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34196a64f4c1f"/>
  </p:sldMasterIdLst>
  <p:notesMasterIdLst>
    <p:notesMasterId xmlns:r="http://schemas.openxmlformats.org/officeDocument/2006/relationships" r:id="R19f1a23351044338"/>
  </p:notesMasterIdLst>
  <p:sldIdLst>
    <p:sldId xmlns:r="http://schemas.openxmlformats.org/officeDocument/2006/relationships" id="256" r:id="R8d241c4262b64685"/>
    <p:sldId xmlns:r="http://schemas.openxmlformats.org/officeDocument/2006/relationships" id="257" r:id="R1d78bc7029de46cd"/>
    <p:sldId xmlns:r="http://schemas.openxmlformats.org/officeDocument/2006/relationships" id="258" r:id="Rd7f9dd1f0959460e"/>
    <p:sldId xmlns:r="http://schemas.openxmlformats.org/officeDocument/2006/relationships" id="259" r:id="R99b85ce003a24537"/>
    <p:sldId xmlns:r="http://schemas.openxmlformats.org/officeDocument/2006/relationships" id="260" r:id="Ref1c15b30cff45a5"/>
    <p:sldId xmlns:r="http://schemas.openxmlformats.org/officeDocument/2006/relationships" id="261" r:id="R3a3b44900d6446ca"/>
    <p:sldId xmlns:r="http://schemas.openxmlformats.org/officeDocument/2006/relationships" id="262" r:id="Rdc9ceb29d16048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a1306c5a0f465d" /><Relationship Type="http://schemas.openxmlformats.org/officeDocument/2006/relationships/slideMaster" Target="/ppt/slideMasters/slideMaster1.xml" Id="Rf1134196a64f4c1f" /><Relationship Type="http://schemas.openxmlformats.org/officeDocument/2006/relationships/notesMaster" Target="/ppt/notesMasters/notesMaster1.xml" Id="R19f1a23351044338" /><Relationship Type="http://schemas.openxmlformats.org/officeDocument/2006/relationships/presProps" Target="/ppt/presProps.xml" Id="R1eca2e805aaa45ee" /><Relationship Type="http://schemas.openxmlformats.org/officeDocument/2006/relationships/tableStyles" Target="/ppt/tableStyles.xml" Id="R2be3bff3df4a4c83" /><Relationship Type="http://schemas.openxmlformats.org/officeDocument/2006/relationships/slide" Target="/ppt/slides/slide1.xml" Id="R8d241c4262b64685" /><Relationship Type="http://schemas.openxmlformats.org/officeDocument/2006/relationships/slide" Target="/ppt/slides/slide2.xml" Id="R1d78bc7029de46cd" /><Relationship Type="http://schemas.openxmlformats.org/officeDocument/2006/relationships/slide" Target="/ppt/slides/slide3.xml" Id="Rd7f9dd1f0959460e" /><Relationship Type="http://schemas.openxmlformats.org/officeDocument/2006/relationships/slide" Target="/ppt/slides/slide4.xml" Id="R99b85ce003a24537" /><Relationship Type="http://schemas.openxmlformats.org/officeDocument/2006/relationships/slide" Target="/ppt/slides/slide5.xml" Id="Ref1c15b30cff45a5" /><Relationship Type="http://schemas.openxmlformats.org/officeDocument/2006/relationships/slide" Target="/ppt/slides/slide6.xml" Id="R3a3b44900d6446ca" /><Relationship Type="http://schemas.openxmlformats.org/officeDocument/2006/relationships/slide" Target="/ppt/slides/slide7.xml" Id="Rdc9ceb29d16048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d66a61def849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88b58a72eb4f34" /><Relationship Type="http://schemas.openxmlformats.org/officeDocument/2006/relationships/notesMaster" Target="/ppt/notesMasters/notesMaster1.xml" Id="R1faf7173ede64d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7d14b26e744d75" /><Relationship Type="http://schemas.openxmlformats.org/officeDocument/2006/relationships/notesMaster" Target="/ppt/notesMasters/notesMaster1.xml" Id="Rc26c8f445a454b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e4a5743fef4cbb" /><Relationship Type="http://schemas.openxmlformats.org/officeDocument/2006/relationships/notesMaster" Target="/ppt/notesMasters/notesMaster1.xml" Id="R27d7594eec0145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20873bfdf34b2f" /><Relationship Type="http://schemas.openxmlformats.org/officeDocument/2006/relationships/notesMaster" Target="/ppt/notesMasters/notesMaster1.xml" Id="Rbb16ee3b1c9d49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bb8c7a1514430f" /><Relationship Type="http://schemas.openxmlformats.org/officeDocument/2006/relationships/notesMaster" Target="/ppt/notesMasters/notesMaster1.xml" Id="Re31da37d89854b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34e394b71e4ef8" /><Relationship Type="http://schemas.openxmlformats.org/officeDocument/2006/relationships/notesMaster" Target="/ppt/notesMasters/notesMaster1.xml" Id="R7b53f1a9cc6640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1011899ecb4c1c" /><Relationship Type="http://schemas.openxmlformats.org/officeDocument/2006/relationships/notesMaster" Target="/ppt/notesMasters/notesMaster1.xml" Id="Re8234955055e4c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0:00–0:35 เปิดด้วยคำถามว่า หากเซนเซอร์อุณหภูมิรายงานค่าสูง เราจะรู้ได้อย่างไรว่าเกิดไฟจริงหรือเซนเซอร์เสีย บทความนี้เสนอให้ใช้เซนเซอร์อื่นเป็นพยานบริบทแทนการเชื่อเซนเซอร์ตัวเดียว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0:35–1:20 อธิบาย EA ว่าเป็นเหตุจริงที่ทำให้เซนเซอร์สัมพันธ์กันหลายตัวเปลี่ยนพร้อมกัน ส่วน SDA เกิดที่ตัวอุปกรณ์หรือข้อมูลของอุปกรณ์ จึงมักขัดกับรูปแบบของสมาชิกอื่นในกลุ่ม ภาพนี้เป็น motivational example ของโรงบำบัดน้ำเสียในบทความ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1:20–2:45 อธิบายสี่ขั้นตอน ขั้นแรกแปลงค่าต่างหน่วยเป็นลำดับบิตของการเปลี่ยน ขั้นสองจัดกลุ่มเซนเซอร์ที่มีบริบทร่วม ขั้นสาม LSTM ทำนายพฤติกรรมปกติและ Gaussian ประเมิน error ขั้นสี่ใช้เสียงส่วนใหญ่ในกลุ่มแยก EA กับ SDA พร้อม retrain เมื่อข้อมูลหรือจำนวนเซนเซอร์เปลี่ยน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2:45–3:35 งานนี้มี testbed จริง 62 เซนเซอร์ 13 ชนิด สื่อสารผ่าน IEEE 802.15.4 และ Raspberry Pi แล้วประมวลผลบนแล็ปท็อปที่ทำหน้าที่ fog node ผู้เขียนเก็บข้อมูลปกติ 8 วันประมาณ 2.3 ล้านค่า แต่ความผิดปกติที่ใช้ประเมินเป็นข้อมูลสังเคราะห์ ซึ่งต้องจำไว้ตอนวิจารณ์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3:35–4:30 IoT-CAD ให้ precision 92 เปอร์เซ็นต์ ซึ่งสูงสุดในชุดเปรียบเทียบ และ F1 เท่ากับ 70 เปอร์เซ็นต์ แต่ recall มีเพียง 56 เปอร์เซ็นต์ อย่าพูดว่าโมเดลตรวจได้ถูกต้อง 92 เปอร์เซ็นต์ทุกกรณี ความหมายที่ถูกคือ เมื่อระบบแจ้งเตือน ส่วนใหญ่แจ้งถูก แต่ยังพลาด anomaly จริง 44 เปอร์เซ็นต์ในชุดประเมิน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4:30–5:25 Contribution หลักมีสามข้อ ได้แก่ sensor association ที่รองรับหลาย modality, consensus ที่บอกชนิดและต้นทางของ anomaly และ adaptive model ที่รองรับการเปลี่ยนระบบ ในยุค AI คุณค่าอยู่ที่ความน่าเชื่อถือของข้อมูลก่อน AI ตัดสินใจ รวมถึง concept drift และ edge deployment ไม่ได้อยู่ที่การใช้ LSTM ว่าใหม่ที่สุด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5:25–6:10 วิจารณ์สี่ข้อ Recall 56 เปอร์เซ็นต์ ข้อมูล anomaly สังเคราะห์ ระยะเก็บข้อมูลสั้น และข้อจำกัดของ consensus หากผู้โจมตีควบคุมหลายเซนเซอร์ ปิดด้วยข้อสรุปว่า IoT-CAD ช่วยให้ anomaly detector ใช้บริบททางกายภาพ แต่ต้องมีข้อมูลจริงและการทดสอบด้านความปลอดภัยมากกว่านี้ก่อนใช้ในระบบ safety-critical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f302a631b49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276abd18264b06" /><Relationship Type="http://schemas.openxmlformats.org/officeDocument/2006/relationships/slideLayout" Target="/ppt/slideLayouts/slideLayout1.xml" Id="Rde15aad9eb6141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15aad9eb6141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ed969e1fd4008" /><Relationship Type="http://schemas.openxmlformats.org/officeDocument/2006/relationships/notesSlide" Target="/ppt/notesSlides/notesSlide1.xml" Id="R363d340a1904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680b27bde4c6f" /><Relationship Type="http://schemas.openxmlformats.org/officeDocument/2006/relationships/image" Target="/ppt/media/image.png" Id="R337437c36f074a4d" /><Relationship Type="http://schemas.openxmlformats.org/officeDocument/2006/relationships/notesSlide" Target="/ppt/notesSlides/notesSlide2.xml" Id="R1b20d02655d142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cd8639ae84d71" /><Relationship Type="http://schemas.openxmlformats.org/officeDocument/2006/relationships/notesSlide" Target="/ppt/notesSlides/notesSlide3.xml" Id="Rd0070a8edc5c4a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f5dca30354d66" /><Relationship Type="http://schemas.openxmlformats.org/officeDocument/2006/relationships/image" Target="/ppt/media/image2.png" Id="Rcb2959d1f0b046de" /><Relationship Type="http://schemas.openxmlformats.org/officeDocument/2006/relationships/notesSlide" Target="/ppt/notesSlides/notesSlide4.xml" Id="Rac4ec74deb6046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8585532664d8d" /><Relationship Type="http://schemas.openxmlformats.org/officeDocument/2006/relationships/chart" Target="/ppt/slides/charts/chart1.xml" Id="R28d2d782a1dc4b6a" /><Relationship Type="http://schemas.openxmlformats.org/officeDocument/2006/relationships/notesSlide" Target="/ppt/notesSlides/notesSlide5.xml" Id="Rf8668a5dfdd545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5ef09776a46e5" /><Relationship Type="http://schemas.openxmlformats.org/officeDocument/2006/relationships/notesSlide" Target="/ppt/notesSlides/notesSlide6.xml" Id="Rcf1abd60695d49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e0643eefa4556" /><Relationship Type="http://schemas.openxmlformats.org/officeDocument/2006/relationships/notesSlide" Target="/ppt/notesSlides/notesSlide7.xml" Id="R7f03f7205e0e45d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Precision</c:v>
          </c:tx>
          <c:spPr>
            <a:solidFill xmlns:a="http://schemas.openxmlformats.org/drawingml/2006/main">
              <a:srgbClr val="1E5A7A"/>
            </a:solidFill>
          </c:spPr>
          <c:cat>
            <c:strLit>
              <c:ptCount val="4"/>
              <c:pt idx="0">
                <c:v>IoT-CAD</c:v>
              </c:pt>
              <c:pt idx="1">
                <c:v>LSTM</c:v>
              </c:pt>
              <c:pt idx="2">
                <c:v>ConvLSTM</c:v>
              </c:pt>
              <c:pt idx="3">
                <c:v>One-Class SVM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64</c:v>
              </c:pt>
              <c:pt idx="2">
                <c:v>51</c:v>
              </c:pt>
              <c:pt idx="3">
                <c:v>89</c:v>
              </c:pt>
            </c:numLit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4"/>
              <c:pt idx="0">
                <c:v>IoT-CAD</c:v>
              </c:pt>
              <c:pt idx="1">
                <c:v>LSTM</c:v>
              </c:pt>
              <c:pt idx="2">
                <c:v>ConvLSTM</c:v>
              </c:pt>
              <c:pt idx="3">
                <c:v>One-Class SVM</c:v>
              </c:pt>
            </c:strLit>
          </c:cat>
          <c:val>
            <c:numLit>
              <c:formatCode>General</c:formatCode>
              <c:ptCount val="4"/>
              <c:pt idx="0">
                <c:v>56</c:v>
              </c:pt>
              <c:pt idx="1">
                <c:v>44</c:v>
              </c:pt>
              <c:pt idx="2">
                <c:v>95</c:v>
              </c:pt>
              <c:pt idx="3">
                <c:v>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12B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6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4212B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128FD-DABB-4BA7-9A79-0A9BFC27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IoT-CAD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ED2DE-4424-42C1-B98C-1D4B9358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962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Context-Aware Adaptive Anomaly Detection</a:t>
            </a:r>
          </a:p>
          <a:p xmlns:a="http://schemas.openxmlformats.org/drawingml/2006/main">
            <a:pPr algn="l">
              <a:defRPr sz="255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in IoT Systems Through Sensor Association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DABEE-04D9-4743-AD6F-5CE6B3F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เมื่อเซนเซอร์รายงานค่าผิดปกติ เกิดเหตุจริง หรือเซนเซอร์เสีย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3CFEE-438C-44C9-A5F2-EFE7E7BE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[กรอกชื่อ นามสกุล]   [กรอกรหัสนิสิต]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305432 เครือข่ายเซนเซอร์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83911-7ABD-44D2-9666-CC8C3DBA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72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7C7D2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7C7D2"/>
                </a:solidFill>
                <a:latin typeface="Tahoma"/>
                <a:ea typeface="Tahoma"/>
                <a:cs typeface="Tahoma"/>
              </a:rPr>
              <a:t>IEEE/ACM ICCAD 2020</a:t>
            </a:r>
          </a:p>
        </p:txBody>
      </p:sp>
    </p:spTree>
    <p:extLst>
      <p:ext uri="{BB962C8B-B14F-4D97-AF65-F5344CB8AC3E}">
        <p14:creationId xmlns:p14="http://schemas.microsoft.com/office/powerpoint/2010/main" val="1342878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39FFA-505C-485A-BE6E-6109AE8D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Environmental Anomaly และ Sensing Device Anomaly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7E242-B85F-496F-86E7-8981C9B7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437c36f074a4d"/>
          <a:stretch xmlns:a="http://schemas.openxmlformats.org/drawingml/2006/main"/>
        </p:blipFill>
        <p:spPr>
          <a:xfrm xmlns:a="http://schemas.openxmlformats.org/drawingml/2006/main">
            <a:off x="756557" y="1200150"/>
            <a:ext cx="10678886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7E323-9697-4535-8646-6F9745BD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4B911-6C62-413E-A794-6897F7EF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569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หลายเซนเซอร์เปลี่ยนสอดคล้องกัน</a:t>
            </a:r>
          </a:p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เหตุจากสภาพแวดล้อม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B8681-EAAF-4FEE-BEF7-38C1F7C5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9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คำถามของงาน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112C8-75B6-472A-B008-B79D91BA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768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ค่าผิดปกติมาจากโลกจริง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หรือมาจากอุปกรณ์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7DFCA-892A-4BCE-93CD-5899ABD7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768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C4C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D94C4C"/>
                </a:solidFill>
                <a:latin typeface="Tahoma"/>
                <a:ea typeface="Tahoma"/>
                <a:cs typeface="Tahoma"/>
              </a:rPr>
              <a:t>SDA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BC5AF-1A87-4DCF-A4B9-D106785F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29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บางเซนเซอร์ขัดกับกลุ่ม</a:t>
            </a:r>
          </a:p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เซนเซอร์เสียหรือถูกโจมตี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6D568-2221-410C-B91B-2767134C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Figure 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1443269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62A7A6-84E0-4778-9965-592466FC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วิธีของ IoT-CAD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A76A0-09EF-48E8-B284-47A0E02B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D2B89-0BB3-43CD-975D-C87B8EDC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1E5A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B49BD-EA54-46A3-B884-12ADA897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7A"/>
          </a:solidFill>
          <a:ln xmlns:a="http://schemas.openxmlformats.org/drawingml/2006/main" w="0">
            <a:solidFill>
              <a:srgbClr val="1E5A7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2CEF1-C840-46E9-9442-A1AD7D03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7EC59-D8EB-4141-9B1E-4AFCBA76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Binary fingerprint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7609C-49D4-4B85-8287-5929D394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เก็บรูปแบบการเปลี่ยน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ไม่ยึดหน่วยวัด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D93CF-FDF3-4F5C-AACB-A1D14E40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0F9D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3CECA-1B74-4BAE-9941-9D5ECD61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7CC3F-874E-4409-89F0-B106807D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37A1B-1BB3-4AA4-A51B-228BE553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Sensor association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1608C-61A7-4F40-851D-ED502CAA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Hamming distance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และ clustering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B6B79-5B0F-4A9B-B02E-11ADDC6F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C32EC-B017-4F26-BD53-95C0B494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04D65-63D6-4A77-A7FF-580BB9FF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69E42-0E93-4077-93EC-995E2DC1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85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Predictive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1F3D0-62F8-4BC5-B396-6DABFB8A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LSTM และ Gaussian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ตรวจ reconstruction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FA329-3E64-41EF-ACE6-0F5D4853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D94C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8CE0C-11E9-4591-BE8C-E4719353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DC3BC-22FC-422E-BAFD-6E37DC0F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1829A-A804-4150-9CC9-C47C524F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Consensus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76E71-426D-4F83-B116-902928C3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แยก EA กับ SDA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แล้วปรับแบบจำลอง</a:t>
            </a:r>
          </a:p>
        </p:txBody>
      </p:sp>
      <p:cxnSp>
        <p:nvCxnSpPr>
          <p:cNvPr id="53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480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055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630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025C3-F02B-4D31-8184-8A7D8EE1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ข้อมูลปกติ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32DCF6-2FC5-4EA8-A8BC-E8CECDE9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ฝึกแบบ unsupervised แต่ใช้ validation anomalies เพื่อปรับ threshold 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772D3B-9061-4ABC-B072-CFC38C02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ข้อมูลใหม่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1F9E6E-5F9D-4065-AEA7-0477BB3C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054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ทำนายค่าปกติ ตรวจ anomaly ลงมติใน cluster และ retrain เมื่อระบบเปลี่ยน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30AED9-32D5-4513-B39F-0249C974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Yasaei et al., ICCAD 2020 · 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1978233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7B89B-282D-464A-9203-6053CCF7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Testbed และขอบเขตการทดลอง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CD5C1-F284-4892-A136-6056391F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959d1f0b046de"/>
          <a:stretch xmlns:a="http://schemas.openxmlformats.org/drawingml/2006/main"/>
        </p:blipFill>
        <p:spPr>
          <a:xfrm xmlns:a="http://schemas.openxmlformats.org/drawingml/2006/main">
            <a:off x="723534" y="1257300"/>
            <a:ext cx="4648933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31811-D15A-4E20-AA99-4B38894A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E5A7A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5A7A"/>
                </a:solidFill>
                <a:latin typeface="Tahoma"/>
                <a:ea typeface="Tahoma"/>
                <a:cs typeface="Tahoma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1FA44-B41B-4756-9123-B1CCCEB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เซนเซอร์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4D504-8F99-4F03-87AE-6EA1DCE2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CB1E7-FE70-4F76-B460-68F31309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ตัวแปรทางกายภาพ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F4E8F-EF62-46E8-BE01-EA746F1B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8 วัน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6E9C4-0A00-4A45-8882-4010A2A8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ข้อมูลปกติ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60F26-89F0-4F38-87B7-94F66EA8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ประมาณ 2.3 ล้านค่าการวัด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BEA62-C1E3-40D3-A683-14F2ACF4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IEEE 802.15.4 และ Raspberry Pi gateway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Intel Core i5 และ RAM 8 GB เป็น fog node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ประเมินด้วย synthetic anomalies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807BF-2072-485B-BD16-8DA98A29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Figure 8 และ Section 4.2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228102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00CC4-052E-47B5-83D3-93FB354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ผลเปรียบเทียบ Precision และ 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155E4-1395-4E37-8FF6-543294B9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d2d782a1dc4b6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7B112-1EFA-431D-A6F4-D95BAB6E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E5A7A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E5A7A"/>
                </a:solidFill>
                <a:latin typeface="Tahoma"/>
                <a:ea typeface="Tahoma"/>
                <a:cs typeface="Tahoma"/>
              </a:rPr>
              <a:t>92%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C15AC-6335-4821-8689-16DDC16A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Precision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296C8-5E8D-4BDF-A965-5A316D1F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56%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C56B4-A991-4D2A-82F6-2DD7927F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290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A8C6F-5F79-4DBC-AC33-7F0E26AB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196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แจ้งแล้วมักถูก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แต่ยังพลาด anomaly จริง 44%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E8618-D987-40A7-AB8D-729CBB70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Table 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11768044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942E4-E5A1-479E-A63B-BB78A8EB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Contribution และความเกี่ยวข้องกับ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C6EB1-8795-45D1-A961-BD386A2A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F5B55-CD84-4E88-9E5B-4178AFEF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Contribution ของผู้เขียน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F0665-EFDB-48B2-B8F7-4A6268BE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953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จัดกลุ่มเซนเซอร์ต่างชนิดจาก contextual variation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ใช้ consensus แยก EA กับ SDA และระบุต้นทาง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725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ปรับแบบจำลองเมื่อสภาพแวดล้อมหรือจำนวนโหนดเปลี่ยน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F5262-74D3-4F6C-9E39-3E59174E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เหตุผลที่ยังมี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00B1E-D183-470E-8E2A-2DA9647A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AI ที่รับข้อมูลจากโลกจริงต้องรู้ว่า</a:t>
            </a:r>
          </a:p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ข้อมูลจากเซนเซอร์น่าเชื่อถือหรือไม่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7875A-6E4A-44FE-AA10-C58E71BA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Sensor integrity ก่อนการตัดสินใจ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Concept drift และการปรับโมเดล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Edge AI ที่ประมวลผลใกล้หน้างาน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FEDCC-0CAB-495C-8A51-C5D081C4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4C4C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94C4C"/>
                </a:solidFill>
                <a:latin typeface="Tahoma"/>
                <a:ea typeface="Tahoma"/>
                <a:cs typeface="Tahoma"/>
              </a:rPr>
              <a:t>LSTM ไม่ใช่โมเดลใหม่ล่าสุด แต่โจทย์ยังไม่ล้าสมัย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71CE1-3E95-4DD2-9EC8-5D5B91D9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Yasaei et al., ICCAD 2020 · 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1903885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F98D1-D627-4EE0-A1B0-497FF137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ข้อจำกัดที่ต้องพูดให้ชัด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173EE-0CB2-497A-9370-579E371A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09514-8BBF-4654-81BE-DC4B1359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Recall 56% ยังต่ำสำหรับเหตุที่ false negative มีต้นทุนสูง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ข้อมูล anomaly เป็น synthetic และเก็บข้อมูลปกติ 8 วัน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ต้องมีเซนเซอร์สัมพันธ์กันอย่างน้อย 3 ตัว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Coordinated attack และ model poisoning ยังเป็นความเสี่ยง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768C8-C67D-45B3-A483-1A78C122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0.532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D1589-784B-4742-BE93-6A3417A5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เวลาตรวจหนึ่งรอบ</a:t>
            </a:r>
          </a:p>
          <a:p xmlns:a="http://schemas.openxmlformats.org/drawingml/2006/main">
            <a:pPr algn="ctr">
              <a:defRPr sz="150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เฉพาะ testbed ของบทความ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86D1F-AFDF-4013-8986-E3F9E537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ข้อสรุป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B3566-6B68-434A-BA55-3447A533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IoT-CAD ทำให้สัญญาณเตือนมีบริบทมากขึ้น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แต่หลักฐานยังไม่พอสำหรับระบบ safety-critical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D81CC-AB5E-4E2A-AA53-B2EC9BC5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865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7C7D2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B7C7D2"/>
                </a:solidFill>
                <a:latin typeface="Tahoma"/>
                <a:ea typeface="Tahoma"/>
                <a:cs typeface="Tahoma"/>
              </a:rPr>
              <a:t>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653589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2026-09-15T03:22:30.6000000Z</dcterms:created>
  <dcterms:modified xsi:type="dcterms:W3CDTF">2026-09-15T03:22:30.6000000Z</dcterms:modified>
</coreProperties>
</file>